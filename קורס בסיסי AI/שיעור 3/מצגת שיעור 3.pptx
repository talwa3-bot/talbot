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3-3.svg" ContentType="image/svg+xml"/>
  <Override PartName="/ppt/media/image-13-5.svg" ContentType="image/svg+xml"/>
  <Override PartName="/ppt/media/image-13-7.svg" ContentType="image/svg+xml"/>
  <Override PartName="/ppt/media/image-14-2.svg" ContentType="image/svg+xml"/>
  <Override PartName="/ppt/media/image-14-8.svg" ContentType="image/svg+xml"/>
  <Override PartName="/ppt/media/s3-image-8-3.svg" ContentType="image/svg+xml"/>
  <Override PartName="/ppt/media/s3-image-8-5.svg" ContentType="image/svg+xml"/>
  <Override PartName="/ppt/media/s3-image-8-7.svg" ContentType="image/svg+xml"/>
  <Override PartName="/ppt/media/s3-image-8-9.svg" ContentType="image/svg+xml"/>
  <Override PartName="/ppt/notesMasters/notesMaster1.xml" ContentType="application/vnd.openxmlformats-officedocument.presentationml.notesMaster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00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001.xml" ContentType="application/vnd.openxmlformats-officedocument.presentationml.slide+xml"/>
  <Override PartName="/ppt/slides/slide2002.xml" ContentType="application/vnd.openxmlformats-officedocument.presentationml.slide+xml"/>
  <Override PartName="/ppt/slides/slide2003.xml" ContentType="application/vnd.openxmlformats-officedocument.presentationml.slide+xml"/>
  <Override PartName="/ppt/slides/slide2004.xml" ContentType="application/vnd.openxmlformats-officedocument.presentationml.slide+xml"/>
  <Override PartName="/ppt/slides/slide2005.xml" ContentType="application/vnd.openxmlformats-officedocument.presentationml.slide+xml"/>
  <Override PartName="/ppt/slides/slide2006.xml" ContentType="application/vnd.openxmlformats-officedocument.presentationml.slide+xml"/>
  <Override PartName="/ppt/slides/slide2007.xml" ContentType="application/vnd.openxmlformats-officedocument.presentationml.slide+xml"/>
  <Override PartName="/ppt/slides/slide2008.xml" ContentType="application/vnd.openxmlformats-officedocument.presentationml.slide+xml"/>
  <Override PartName="/ppt/slides/slide2009.xml" ContentType="application/vnd.openxmlformats-officedocument.presentationml.slide+xml"/>
  <Override PartName="/ppt/slides/slide2010.xml" ContentType="application/vnd.openxmlformats-officedocument.presentationml.slide+xml"/>
  <Override PartName="/ppt/slides/slide2011.xml" ContentType="application/vnd.openxmlformats-officedocument.presentationml.slide+xml"/>
  <Override PartName="/ppt/slides/slide2012.xml" ContentType="application/vnd.openxmlformats-officedocument.presentationml.slide+xml"/>
  <Override PartName="/ppt/slides/slide2013.xml" ContentType="application/vnd.openxmlformats-officedocument.presentationml.slide+xml"/>
  <Override PartName="/ppt/slides/slide2014.xml" ContentType="application/vnd.openxmlformats-officedocument.presentationml.slide+xml"/>
  <Override PartName="/ppt/slides/slide2015.xml" ContentType="application/vnd.openxmlformats-officedocument.presentationml.slide+xml"/>
  <Override PartName="/ppt/slides/slide2016.xml" ContentType="application/vnd.openxmlformats-officedocument.presentationml.slide+xml"/>
  <Override PartName="/ppt/slides/slide2017.xml" ContentType="application/vnd.openxmlformats-officedocument.presentationml.slide+xml"/>
  <Override PartName="/ppt/slides/slide2018.xml" ContentType="application/vnd.openxmlformats-officedocument.presentationml.slide+xml"/>
  <Override PartName="/ppt/slides/slide2019.xml" ContentType="application/vnd.openxmlformats-officedocument.presentationml.slide+xml"/>
  <Override PartName="/ppt/slides/slide2020.xml" ContentType="application/vnd.openxmlformats-officedocument.presentationml.slide+xml"/>
  <Override PartName="/ppt/slides/slide2021.xml" ContentType="application/vnd.openxmlformats-officedocument.presentationml.slide+xml"/>
  <Override PartName="/ppt/slides/slide2022.xml" ContentType="application/vnd.openxmlformats-officedocument.presentationml.slide+xml"/>
  <Override PartName="/ppt/slides/slide2023.xml" ContentType="application/vnd.openxmlformats-officedocument.presentationml.slide+xml"/>
  <Override PartName="/ppt/slides/slide2024.xml" ContentType="application/vnd.openxmlformats-officedocument.presentationml.slide+xml"/>
  <Override PartName="/ppt/slides/slide2025.xml" ContentType="application/vnd.openxmlformats-officedocument.presentationml.slide+xml"/>
  <Override PartName="/ppt/slides/slide2026.xml" ContentType="application/vnd.openxmlformats-officedocument.presentationml.slide+xml"/>
  <Override PartName="/ppt/slides/slide2027.xml" ContentType="application/vnd.openxmlformats-officedocument.presentationml.slide+xml"/>
  <Override PartName="/ppt/slides/slide2028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8.xml" ContentType="application/vnd.openxmlformats-officedocument.presentationml.slide+xml"/>
  <Override PartName="/ppt/slides/slide900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true" autoCompressPictures="0" embedTrueTypeFonts="true">
  <p:sldMasterIdLst>
    <p:sldMasterId id="2147483648" r:id="rId1"/>
  </p:sldMasterIdLst>
  <p:sldIdLst>
    <p:sldId id="256" r:id="rId2"/>
    <p:sldId id="296" r:id="rId49"/>
    <p:sldId id="297" r:id="rId50"/>
    <p:sldId id="298" r:id="rId51"/>
    <p:sldId id="299" r:id="rId52"/>
    <p:sldId id="300" r:id="rId53"/>
    <p:sldId id="301" r:id="rId54"/>
    <p:sldId id="302" r:id="rId55"/>
    <p:sldId id="303" r:id="rId56"/>
    <p:sldId id="304" r:id="rId57"/>
    <p:sldId id="305" r:id="rId58"/>
    <p:sldId id="306" r:id="rId59"/>
    <p:sldId id="307" r:id="rId60"/>
    <p:sldId id="308" r:id="rId61"/>
    <p:sldId id="309" r:id="rId62"/>
    <p:sldId id="310" r:id="rId63"/>
    <p:sldId id="311" r:id="rId64"/>
    <p:sldId id="312" r:id="rId65"/>
    <p:sldId id="313" r:id="rId66"/>
    <p:sldId id="314" r:id="rId67"/>
    <p:sldId id="315" r:id="rId68"/>
    <p:sldId id="316" r:id="rId69"/>
    <p:sldId id="317" r:id="rId70"/>
    <p:sldId id="318" r:id="rId71"/>
    <p:sldId id="319" r:id="rId72"/>
    <p:sldId id="320" r:id="rId73"/>
    <p:sldId id="321" r:id="rId74"/>
    <p:sldId id="322" r:id="rId75"/>
    <p:sldId id="323" r:id="rId76"/>
  </p:sldIdLst>
  <p:notesMasterIdLst>
    <p:notesMasterId r:id="rId16"/>
  </p:notesMasterIdLst>
  <p:sldSz cx="12191695" cy="6858000"/>
  <p:notesSz cx="6858000" cy="12191695"/>
  <p:embeddedFontLst>
    <p:embeddedFont>
      <p:font typeface="Geist Bold"/>
      <p:regular r:id="rId201314"/>
    </p:embeddedFont>
    <p:embeddedFont>
      <p:font typeface="Geist"/>
      <p:regular r:id="rId201315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S31" Type="http://schemas.openxmlformats.org/officeDocument/2006/relationships/slide" Target="slides/slide15.xml"/><Relationship Id="rIdS37" Type="http://schemas.openxmlformats.org/officeDocument/2006/relationships/slide" Target="slides/slide21.xml"/><Relationship Id="rIdS38" Type="http://schemas.openxmlformats.org/officeDocument/2006/relationships/slide" Target="slides/slide22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9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40" Type="http://schemas.openxmlformats.org/officeDocument/2006/relationships/slide" Target="slides/slide32.xml"/><Relationship Id="rId41" Type="http://schemas.openxmlformats.org/officeDocument/2006/relationships/slide" Target="slides/slide33.xml"/><Relationship Id="rId42" Type="http://schemas.openxmlformats.org/officeDocument/2006/relationships/slide" Target="slides/slide34.xml"/><Relationship Id="rId44" Type="http://schemas.openxmlformats.org/officeDocument/2006/relationships/slide" Target="slides/slide36.xml"/><Relationship Id="rId45" Type="http://schemas.openxmlformats.org/officeDocument/2006/relationships/slide" Target="slides/slide37.xml"/><Relationship Id="rId49" Type="http://schemas.openxmlformats.org/officeDocument/2006/relationships/slide" Target="slides/slide2001.xml"/><Relationship Id="rId50" Type="http://schemas.openxmlformats.org/officeDocument/2006/relationships/slide" Target="slides/slide2002.xml"/><Relationship Id="rId51" Type="http://schemas.openxmlformats.org/officeDocument/2006/relationships/slide" Target="slides/slide2003.xml"/><Relationship Id="rId52" Type="http://schemas.openxmlformats.org/officeDocument/2006/relationships/slide" Target="slides/slide2004.xml"/><Relationship Id="rId53" Type="http://schemas.openxmlformats.org/officeDocument/2006/relationships/slide" Target="slides/slide2005.xml"/><Relationship Id="rId54" Type="http://schemas.openxmlformats.org/officeDocument/2006/relationships/slide" Target="slides/slide2006.xml"/><Relationship Id="rId55" Type="http://schemas.openxmlformats.org/officeDocument/2006/relationships/slide" Target="slides/slide2007.xml"/><Relationship Id="rId56" Type="http://schemas.openxmlformats.org/officeDocument/2006/relationships/slide" Target="slides/slide2008.xml"/><Relationship Id="rId57" Type="http://schemas.openxmlformats.org/officeDocument/2006/relationships/slide" Target="slides/slide2009.xml"/><Relationship Id="rId58" Type="http://schemas.openxmlformats.org/officeDocument/2006/relationships/slide" Target="slides/slide2010.xml"/><Relationship Id="rId59" Type="http://schemas.openxmlformats.org/officeDocument/2006/relationships/slide" Target="slides/slide2011.xml"/><Relationship Id="rId60" Type="http://schemas.openxmlformats.org/officeDocument/2006/relationships/slide" Target="slides/slide2012.xml"/><Relationship Id="rId61" Type="http://schemas.openxmlformats.org/officeDocument/2006/relationships/slide" Target="slides/slide2013.xml"/><Relationship Id="rId62" Type="http://schemas.openxmlformats.org/officeDocument/2006/relationships/slide" Target="slides/slide2014.xml"/><Relationship Id="rId63" Type="http://schemas.openxmlformats.org/officeDocument/2006/relationships/slide" Target="slides/slide2015.xml"/><Relationship Id="rId64" Type="http://schemas.openxmlformats.org/officeDocument/2006/relationships/slide" Target="slides/slide2016.xml"/><Relationship Id="rId65" Type="http://schemas.openxmlformats.org/officeDocument/2006/relationships/slide" Target="slides/slide2017.xml"/><Relationship Id="rId66" Type="http://schemas.openxmlformats.org/officeDocument/2006/relationships/slide" Target="slides/slide2018.xml"/><Relationship Id="rId67" Type="http://schemas.openxmlformats.org/officeDocument/2006/relationships/slide" Target="slides/slide2019.xml"/><Relationship Id="rId68" Type="http://schemas.openxmlformats.org/officeDocument/2006/relationships/slide" Target="slides/slide2020.xml"/><Relationship Id="rId69" Type="http://schemas.openxmlformats.org/officeDocument/2006/relationships/slide" Target="slides/slide2021.xml"/><Relationship Id="rId70" Type="http://schemas.openxmlformats.org/officeDocument/2006/relationships/slide" Target="slides/slide2022.xml"/><Relationship Id="rId71" Type="http://schemas.openxmlformats.org/officeDocument/2006/relationships/slide" Target="slides/slide2023.xml"/><Relationship Id="rId72" Type="http://schemas.openxmlformats.org/officeDocument/2006/relationships/slide" Target="slides/slide2024.xml"/><Relationship Id="rId73" Type="http://schemas.openxmlformats.org/officeDocument/2006/relationships/slide" Target="slides/slide2025.xml"/><Relationship Id="rId74" Type="http://schemas.openxmlformats.org/officeDocument/2006/relationships/slide" Target="slides/slide2026.xml"/><Relationship Id="rId75" Type="http://schemas.openxmlformats.org/officeDocument/2006/relationships/slide" Target="slides/slide2027.xml"/><Relationship Id="rId76" Type="http://schemas.openxmlformats.org/officeDocument/2006/relationships/slide" Target="slides/slide2028.xml"/><Relationship Id="rId201314" Type="http://schemas.openxmlformats.org/officeDocument/2006/relationships/font" Target="fonts/201314.fntdata"/><Relationship Id="rId201315" Type="http://schemas.openxmlformats.org/officeDocument/2006/relationships/font" Target="fonts/201315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2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3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4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5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6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7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8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9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10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11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12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13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14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15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16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17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18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19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20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21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22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23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24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25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26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27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28.xml"/></Relationships>
</file>

<file path=ppt/notesSlides/_rels/notesSlide9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0.xml"/></Relationship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5 דקות  |  🎯 להראות שהתחום זז מהר, ולחבר חדשות לנושא של היום.</a:t>
            </a:r>
          </a:p>
          <a:p/>
          <a:p>
            <a:r>
              <a:t>🧰 הכנה מראש: לפני המפגש: לעדכן את החדשות בשקופית לשבוע הנוכחי (בקשו מפרפלקסיטי: "5 חדשות AI מהשבוע האחרון למתחילים, עם מקור").</a:t>
            </a:r>
          </a:p>
          <a:p/>
          <a:p>
            <a:r>
              <a:t>🗣 מה לומר:</a:t>
            </a:r>
          </a:p>
          <a:p>
            <a:r>
              <a:t>כמו בכל מפגש, חמש דקות של מה חדש.</a:t>
            </a:r>
          </a:p>
          <a:p>
            <a:r>
              <a:t>הכותרת הגדולה: ElevenLabs הוציאו מודל קול חדש, v4. קול אנושי, עם רגש והדגשות, ב-90 שפות. עוד מעט נשמע אותו.</a:t>
            </a:r>
          </a:p>
          <a:p>
            <a:r>
              <a:t>ובצד: Sora של OpenAI, כלי הווידאו המפורסם, נסגר. זה שיעור חשוב: כלים באים והולכים, אז שומרים עותק של כל מה שיוצרים.</a:t>
            </a:r>
          </a:p>
          <a:p>
            <a:r>
              <a:t>מטא הוציאו Muse, עוזר אישי עם אווטאר מדבר. וגוגל ממשיכה עם Gemini Omni, שהופך כל דבר לווידאו.</a:t>
            </a:r>
          </a:p>
          <a:p>
            <a:r>
              <a:t>כתבו בצ'אט: איזו מהחדשות הכי מסקרנת אתכם?</a:t>
            </a:r>
          </a:p>
          <a:p>
            <a:r>
              <a:t>(מקריאים את המנצחת ומקדישים לה דקה)</a:t>
            </a:r>
          </a:p>
          <a:p/>
          <a:p>
            <a:r>
              <a:t>➡️ מעבר: אז הנה מה שאנחנו בונים היום.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2 דקות  |  🎯 מפת דרך ברורה, והבטחה של ערכה מוחשית בסוף.</a:t>
            </a:r>
          </a:p>
          <a:p/>
          <a:p>
            <a:r>
              <a:t>🗣 מה לומר:</a:t>
            </a:r>
          </a:p>
          <a:p>
            <a:r>
              <a:t>שש תחנות, ובכל אחת תוצר.</a:t>
            </a:r>
          </a:p>
          <a:p>
            <a:r>
              <a:t>מותג בקלוד. אפליקציה ב-Stitch. מצגת והצעת מחיר בגאמה. תמונת פרופיל ולינקדאין. קול ואווטאר. ובסוף וידאו, כתוביות ועריכה.</a:t>
            </a:r>
          </a:p>
          <a:p>
            <a:r>
              <a:t>בצד שמאל, הערכה שלכם בסוף הערב: ערכת מותג, מסך אפליקציה, מצגת, תמונת פרופיל וסרטון אווטאר קצר.</a:t>
            </a:r>
          </a:p>
          <a:p>
            <a:r>
              <a:t>וכל תוצר נכנס לאתגר באפליקציית הקורס. הנקודות מצטברות לטבלה של כל הקורס.</a:t>
            </a:r>
          </a:p>
          <a:p/>
          <a:p>
            <a:r>
              <a:t>➡️ מעבר: ויש כלל אחד שחוסך שעות.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2 דקות  |  🎯 לקבע את העיקרון שהאפיון מוביל את העיצוב.</a:t>
            </a:r>
          </a:p>
          <a:p/>
          <a:p>
            <a:r>
              <a:t>🗣 מה לומר:</a:t>
            </a:r>
          </a:p>
          <a:p>
            <a:r>
              <a:t>הטעות הכי נפוצה בכלים ויזואליים: פותחים כלי ומבקשים "תעשה לי משהו יפה". יוצא יפה, וריק.</a:t>
            </a:r>
          </a:p>
          <a:p>
            <a:r>
              <a:t>הדרך הנכונה: לוקחים את האפיון, מבקשים מה-AI להפוך אותו לשפה ויזואלית, ואז משתמשים באותה שפה בכל הכלים.</a:t>
            </a:r>
          </a:p>
          <a:p>
            <a:r>
              <a:t>אין לכם אפיון? אין בעיה. כתבו עכשיו בצ'אט, או אצלכם בצד, שלוש שורות: מה העסק, למי הוא, ואיך הוא צריך להרגיש.</a:t>
            </a:r>
          </a:p>
          <a:p/>
          <a:p>
            <a:r>
              <a:t>➡️ מעבר: אז נתחיל במותג.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0.5 דקות  |  🎯 מעבר לפרק.</a:t>
            </a:r>
          </a:p>
          <a:p/>
          <a:p>
            <a:r>
              <a:t>🗣 מה לומר:</a:t>
            </a:r>
          </a:p>
          <a:p>
            <a:r>
              <a:t>פרק ראשון: המותג. צבעים, פונטים וטון. עשר דקות.</a:t>
            </a:r>
          </a:p>
          <a:p/>
          <a:p>
            <a:r>
              <a:t>➡️ מעבר: ההנחיה כבר בצ'אט.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9 דקות  |  🎯 שכל משתתף ייצא עם 5 צבעים, 2 פונטים, טון ורעיון ללוגו.</a:t>
            </a:r>
          </a:p>
          <a:p/>
          <a:p>
            <a:r>
              <a:t>🏆 אפליקציית הקורס: פותחים את האתגר "ערכת מותג".</a:t>
            </a:r>
          </a:p>
          <a:p/>
          <a:p>
            <a:r>
              <a:t>🗣 מה לומר:</a:t>
            </a:r>
          </a:p>
          <a:p>
            <a:r>
              <a:t>ההנחיה בצ'אט. העתיקו אותה.</a:t>
            </a:r>
          </a:p>
          <a:p>
            <a:r>
              <a:t>(מדביקים את ההנחיה בצ'אט)</a:t>
            </a:r>
          </a:p>
          <a:p>
            <a:r>
              <a:t>שימו לב איך היא בנויה, לפי מי, מה, איך: האפיון שלכם, ואז בקשה מדויקת: 5 צבעים עם קוד HEX ומה כל צבע מבטא, 2 פונטים חינמיים בעברית, 3 מילים לטון, ורעיון ללוגו. ובסוף: "הצג את הכול כדף ויזואלי אחד".</a:t>
            </a:r>
          </a:p>
          <a:p>
            <a:r>
              <a:t>אני מדגימה על עסק לדוגמה.</a:t>
            </a:r>
          </a:p>
          <a:p>
            <a:r>
              <a:t>(מריצים בקלוד בשידור חי ומראים את דף המותג שנוצר)</a:t>
            </a:r>
          </a:p>
          <a:p>
            <a:r>
              <a:t>ראיתם? הוא לא רק כתב, הוא בנה דף שאפשר לראות. ועכשיו משפרים בשיחה: "פחות רשמי". "צבע ראשי חם יותר".</a:t>
            </a:r>
          </a:p>
          <a:p>
            <a:r>
              <a:t>עכשיו תורכם. שש דקות. ושמרו את קודי הצבע, הם ילוו אותנו כל הערב.</a:t>
            </a:r>
          </a:p>
          <a:p>
            <a:r>
              <a:t>(טיימר של 6 דקות. מי שנתקע כותב "עזרה" בצ'אט)</a:t>
            </a:r>
          </a:p>
          <a:p>
            <a:r>
              <a:t>הדביקו באפליקציה, באתגר "ערכת מותג", את ההנחיה שעבדה לכם הכי טוב.</a:t>
            </a:r>
          </a:p>
          <a:p/>
          <a:p>
            <a:r>
              <a:t>➡️ מעבר: יש מותג. עכשיו נבנה לו אפליקציה.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0.5 דקות  |  🎯 מעבר לפרק.</a:t>
            </a:r>
          </a:p>
          <a:p/>
          <a:p>
            <a:r>
              <a:t>🗣 מה לומר:</a:t>
            </a:r>
          </a:p>
          <a:p>
            <a:r>
              <a:t>פרק שני, ואחד הרגעים הכי מרשימים בקורס: אפליקציה, מתוך תיאור במילים.</a:t>
            </a:r>
          </a:p>
          <a:p/>
          <a:p>
            <a:r>
              <a:t>➡️ מעבר: הכירו את Stitch.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10 דקות  |  🎯 שכל משתתף ייצר לפחות מסך אפליקציה אחד לעסק שלו.</a:t>
            </a:r>
          </a:p>
          <a:p/>
          <a:p>
            <a:r>
              <a:t>🧰 הכנה מראש: Stitch פתוח ומחובר לחשבון גוגל. דוגמה מוכנה מראש לגיבוי.</a:t>
            </a:r>
          </a:p>
          <a:p/>
          <a:p>
            <a:r>
              <a:t>🗣 מה לומר:</a:t>
            </a:r>
          </a:p>
          <a:p>
            <a:r>
              <a:t>Stitch הוא כלי חינמי של גוגל. מתארים לו אפליקציה במילים, והוא מעצב את המסכים.</a:t>
            </a:r>
          </a:p>
          <a:p>
            <a:r>
              <a:t>ארבעה שלבים.</a:t>
            </a:r>
          </a:p>
          <a:p>
            <a:r>
              <a:t>אחת: נכנסים ל-stitch.withgoogle.com עם חשבון גוגל. הקישור בצ'אט.</a:t>
            </a:r>
          </a:p>
          <a:p>
            <a:r>
              <a:t>שתיים: מדביקים את ההנחיה. שימו לב: היא באנגלית, ומבקשת עברית ו-RTL. ככה התוצאה הכי מדויקת. ממלאים בה שורה מהאפיון ואת קודי הצבע מהמותג.</a:t>
            </a:r>
          </a:p>
          <a:p>
            <a:r>
              <a:t>(מדביקים את ההנחיה בצ'אט, ומדגימים בשידור חי)</a:t>
            </a:r>
          </a:p>
          <a:p>
            <a:r>
              <a:t>שלוש: מקבלים שלושה מסכים: בית, מוצר, יצירת קשר.</a:t>
            </a:r>
          </a:p>
          <a:p>
            <a:r>
              <a:t>ארבע: משפרים במילים, "כפתור בולט יותר", ומשתפים קישור.</a:t>
            </a:r>
          </a:p>
          <a:p>
            <a:r>
              <a:t>יש לכם שמונה דקות. מי שמסיים, מוזמן להירשם להגרלה. תכף אסביר.</a:t>
            </a:r>
          </a:p>
          <a:p>
            <a:r>
              <a:t>(טיימר של 8 דקות. עוזרים בצ'אט)</a:t>
            </a:r>
          </a:p>
          <a:p/>
          <a:p>
            <a:r>
              <a:t>➡️ מעבר: ועכשיו, מי רוצה להראות?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6 דקות  |  🎯 שלושה משתתפים מציגים את האפליקציה שבנו, בתחושה של תחרות.</a:t>
            </a:r>
          </a:p>
          <a:p/>
          <a:p>
            <a:r>
              <a:t>🏆 אפליקציית הקורס: פותחים את ההרשמה בלשונית "הגרלה", ואחרי 2 דקות לוחצים "הגרל 3".</a:t>
            </a:r>
          </a:p>
          <a:p/>
          <a:p>
            <a:r>
              <a:t>🗣 מה לומר:</a:t>
            </a:r>
          </a:p>
          <a:p>
            <a:r>
              <a:t>מי רוצה להראות את האפליקציה שבנה? נכנסים לאפליקציית הקורס, ללשונית "הגרלה".</a:t>
            </a:r>
          </a:p>
          <a:p>
            <a:r>
              <a:t>לוחצים "אני רוצה להציג", ומדביקים את קישור השיתוף מ-Stitch.</a:t>
            </a:r>
          </a:p>
          <a:p>
            <a:r>
              <a:t>(מחכים שתי דקות, משתפים את מסך ההגרלה)</a:t>
            </a:r>
          </a:p>
          <a:p>
            <a:r>
              <a:t>ו... מגרילים!</a:t>
            </a:r>
          </a:p>
          <a:p>
            <a:r>
              <a:t>(לוחצים "הגרל 3". כל מוגרל משתף מסך לדקה)</a:t>
            </a:r>
          </a:p>
          <a:p>
            <a:r>
              <a:t>ספר לנו: מה העסק, ומה הכי הפתיע אותך?</a:t>
            </a:r>
          </a:p>
          <a:p>
            <a:r>
              <a:t>(אחרי כל מציג: מחיאות כפיים בתגובות של הזום)</a:t>
            </a:r>
          </a:p>
          <a:p>
            <a:r>
              <a:t>כל מי שהוגרל קיבל 30 נקודות בטבלה של הקורס.</a:t>
            </a:r>
          </a:p>
          <a:p/>
          <a:p>
            <a:r>
              <a:t>➡️ מעבר: מאפליקציה למצגת.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0.5 דקות  |  🎯 מעבר לפרק.</a:t>
            </a:r>
          </a:p>
          <a:p/>
          <a:p>
            <a:r>
              <a:t>🗣 מה לומר:</a:t>
            </a:r>
          </a:p>
          <a:p>
            <a:r>
              <a:t>פרק שלישי: מצגת והצעת מחיר. שני מסמכים שכל עסק צריך.</a:t>
            </a:r>
          </a:p>
          <a:p/>
          <a:p>
            <a:r>
              <a:t>➡️ מעבר: שלושה כלים, ומתי כל אחד.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4 דקות  |  🎯 להבין מתי לבחור גאמה, קנבה או קופיילוט.</a:t>
            </a:r>
          </a:p>
          <a:p/>
          <a:p>
            <a:r>
              <a:t>🗣 מה לומר:</a:t>
            </a:r>
          </a:p>
          <a:p>
            <a:r>
              <a:t>שלושתם בונים מצגת מטקסט. ההבדל הוא מאיפה מתחילים.</a:t>
            </a:r>
          </a:p>
          <a:p>
            <a:r>
              <a:t>גאמה: יש לכם תוכן ורוצים מצגת מהר. מתחילים מטקסט או ממסמך. יש קרדיטים חינמיים בהתחלה.</a:t>
            </a:r>
          </a:p>
          <a:p>
            <a:r>
              <a:t>קנבה: רוצים עיצוב מדויק ומיתוג. יש תבניות לכל דבר, ועברית טובה.</a:t>
            </a:r>
          </a:p>
          <a:p>
            <a:r>
              <a:t>קופיילוט בתוך פאוורפוינט: עובדים בארגון עם אופיס. הופך קובץ וורד למצגת. בתשלום, דרך מיקרוסופט 365.</a:t>
            </a:r>
          </a:p>
          <a:p>
            <a:r>
              <a:t>(אם יש זמן: מראים לעשר שניות את קנבה ואת קופיילוט)</a:t>
            </a:r>
          </a:p>
          <a:p>
            <a:r>
              <a:t>היום עובדים בגאמה, כי הוא הכי מהיר מאפיון למצגת.</a:t>
            </a:r>
          </a:p>
          <a:p/>
          <a:p>
            <a:r>
              <a:t>➡️ מעבר: אז בואו נבנה.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8 דקות  |  🎯 מצגת של 6 שקפים לכל משתתף, בצבעי המותג.</a:t>
            </a:r>
          </a:p>
          <a:p/>
          <a:p>
            <a:r>
              <a:t>🧰 הכנה מראש: חשבון גאמה מחובר. מצגת לדוגמה מוכנה לגיבוי.</a:t>
            </a:r>
          </a:p>
          <a:p/>
          <a:p>
            <a:r>
              <a:t>🗣 מה לומר:</a:t>
            </a:r>
          </a:p>
          <a:p>
            <a:r>
              <a:t>ההנחיה בצ'אט. מבנה של 6 שקפים: הבעיה, הפתרון, למי זה מתאים, איך זה עובד, מחירים, וקריאה לפעולה.</a:t>
            </a:r>
          </a:p>
          <a:p>
            <a:r>
              <a:t>(מדביקים בצ'אט)</a:t>
            </a:r>
          </a:p>
          <a:p>
            <a:r>
              <a:t>בגאמה: Create new, ואז Paste in text. מדביקים, בוחרים ערכת עיצוב ומתאימים לצבעים שלכם.</a:t>
            </a:r>
          </a:p>
          <a:p>
            <a:r>
              <a:t>(מדגימים בשידור חי)</a:t>
            </a:r>
          </a:p>
          <a:p>
            <a:r>
              <a:t>ועכשיו הקסם: לוחצים על שקף, ומבקשים מה-AI "קצר את הטקסט, הוסף אייקון".</a:t>
            </a:r>
          </a:p>
          <a:p>
            <a:r>
              <a:t>יש לכם 8 דקות. לא צריך מושלם, צריך מצגת שהייתם שולחים ללקוח.</a:t>
            </a:r>
          </a:p>
          <a:p>
            <a:r>
              <a:t>(טיימר. בסוף: מדביקים את קישור השיתוף בצ'אט)</a:t>
            </a:r>
          </a:p>
          <a:p/>
          <a:p>
            <a:r>
              <a:t>➡️ מעבר: ומצגת מובילה להצעת מחיר.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6 דקות  |  🎯 ללמד תהליך של שני שלבים: תוכן מדויק, ואז מסמך מעוצב.</a:t>
            </a:r>
          </a:p>
          <a:p/>
          <a:p>
            <a:r>
              <a:t>🗣 מה לומר:</a:t>
            </a:r>
          </a:p>
          <a:p>
            <a:r>
              <a:t>הצעת מחיר בשתי הנחיות.</a:t>
            </a:r>
          </a:p>
          <a:p>
            <a:r>
              <a:t>הראשונה, התוכן, בקלוד או בצ'אט ג'יפיטי. היא בצ'אט: פתיח אישי, טבלת שירותים ומחירים, מה כלול ומה לא, תנאי תשלום ותוקף.</a:t>
            </a:r>
          </a:p>
          <a:p>
            <a:r>
              <a:t>(מדביקים ומריצים בשידור חי)</a:t>
            </a:r>
          </a:p>
          <a:p>
            <a:r>
              <a:t>ואז כלל 5 ממפגש 2: "מה חסר? מה הלקוח ישאל אחרי שיקרא?"</a:t>
            </a:r>
          </a:p>
          <a:p>
            <a:r>
              <a:t>השנייה: מעבירים את התוכן לגאמה או לקנבה, כ-Document, עם צבעי המותג. ומורידים PDF.</a:t>
            </a:r>
          </a:p>
          <a:p>
            <a:r>
              <a:t>ושימו לב למשבצת הצהובה: ה-AI לא יודע את המחירים שלכם. מספרים תמיד ממלאים ובודקים בעצמכם.</a:t>
            </a:r>
          </a:p>
          <a:p/>
          <a:p>
            <a:r>
              <a:t>➡️ מעבר: הפסקה קצרה.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5 דקות  |  🎯 מנוחה ורענון באמצע מפגש עמוס.</a:t>
            </a:r>
          </a:p>
          <a:p/>
          <a:p>
            <a:r>
              <a:t>🗣 מה לומר:</a:t>
            </a:r>
          </a:p>
          <a:p>
            <a:r>
              <a:t>חמש דקות הפסקה. השאירו את הכלים פתוחים. אחרי ההפסקה: תמונות, קול, אווטאר ווידאו.</a:t>
            </a:r>
          </a:p>
          <a:p/>
          <a:p>
            <a:r>
              <a:t>🖐 פעולה: מפעילים טיימר של 5 דקות על המסך.</a:t>
            </a:r>
          </a:p>
          <a:p/>
          <a:p>
            <a:r>
              <a:t>➡️ מעבר: ברוכים השבים. עכשיו, תמונות.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0.5 דקות  |  🎯 מעבר לפרק.</a:t>
            </a:r>
          </a:p>
          <a:p/>
          <a:p>
            <a:r>
              <a:t>🗣 מה לומר:</a:t>
            </a:r>
          </a:p>
          <a:p>
            <a:r>
              <a:t>פרק רביעי: תמונות. תמונה לעסק, ותמונה שלכם.</a:t>
            </a:r>
          </a:p>
          <a:p/>
          <a:p>
            <a:r>
              <a:t>➡️ מעבר: שלושה מחוללים, הנחיה אחת.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3 דקות  |  🎯 להבין את ההיגיון של מחולל תמונות: מרעש לתמונה.</a:t>
            </a:r>
          </a:p>
          <a:p/>
          <a:p>
            <a:r>
              <a:t>🗣 מה לומר:</a:t>
            </a:r>
          </a:p>
          <a:p>
            <a:r>
              <a:t>לפני שמייצרים, רגע של היגיון. איך AI מצייר?</a:t>
            </a:r>
          </a:p>
          <a:p>
            <a:r>
              <a:t>הוא לא מצייר כמו בן אדם. הוא מתחיל מרעש, כמו שלג בטלוויזיה ישנה.</a:t>
            </a:r>
          </a:p>
          <a:p>
            <a:r>
              <a:t>ואז, צעד אחרי צעד, הוא "מנקה" את הרעש לכיוון התיאור שלכם. קודם צורות, אחר כך פרטים, ובסוף תמונה.</a:t>
            </a:r>
          </a:p>
          <a:p>
            <a:r>
              <a:t>המודל למד את זה ממיליוני תמונות עם תיאורים. הוא יודע איך "חתול" נראה, אבל לא סופר אצבעות.</a:t>
            </a:r>
          </a:p>
          <a:p>
            <a:r>
              <a:t>ולכן שלושה דברים: ידיים וטקסט בתמונה נכשלים לפעמים, כל הרצה יוצאת שונה, ותיאור מדויק נותן תמונה מדויקת.</a:t>
            </a:r>
          </a:p>
          <a:p>
            <a:r>
              <a:t>כתבו בצ'אט: מי כבר קיבל פעם יד עם שש אצבעות? 😄</a:t>
            </a:r>
          </a:p>
          <a:p/>
          <a:p>
            <a:r>
              <a:t>➡️ מעבר: ועכשיו, שלושה מחוללים.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5 דקות  |  🎯 להשוות בין המחוללים בשידור חי, ולבחור כלי לפי מטרה.</a:t>
            </a:r>
          </a:p>
          <a:p/>
          <a:p>
            <a:r>
              <a:t>🧰 הכנה מראש: צ'אט ג'יפיטי וג'מיני פתוחים. תוצאה מוכנה מ-Grok Imagine (כלי בתשלום).</a:t>
            </a:r>
          </a:p>
          <a:p/>
          <a:p>
            <a:r>
              <a:t>🗣 מה לומר:</a:t>
            </a:r>
          </a:p>
          <a:p>
            <a:r>
              <a:t>צ'אט ג'יפיטי חזק בטקסט בתוך תמונה, ובעריכה בשיחה. מצוין לבאנרים ולפוסטים.</a:t>
            </a:r>
          </a:p>
          <a:p>
            <a:r>
              <a:t>ג'מיני, עם המודל שנקרא Nano Banana, חזק בעריכת תמונה קיימת ובשמירה על הפנים. מצוין לתמונת פרופיל.</a:t>
            </a:r>
          </a:p>
          <a:p>
            <a:r>
              <a:t>ו-Grok Imagine, נועז ומהיר, גם וידאו. אבל מאז מרץ הוא בתשלום, אז אני מראה תוצאה מוכנה.</a:t>
            </a:r>
          </a:p>
          <a:p>
            <a:r>
              <a:t>אותה הנחיה בשלושתם: "לוגו מינימליסטי לעסק, בצבעי המותג, על רקע לבן, בלי טקסט".</a:t>
            </a:r>
          </a:p>
          <a:p>
            <a:r>
              <a:t>(מריצים בצ'אט ג'יפיטי ובג'מיני, ומראים את התוצאה של גרוק)</a:t>
            </a:r>
          </a:p>
          <a:p>
            <a:r>
              <a:t>הצביעו בצ'אט: 1, 2 או 3. איזו הייתם שמים על כרטיס ביקור?</a:t>
            </a:r>
          </a:p>
          <a:p/>
          <a:p>
            <a:r>
              <a:t>➡️ מעבר: ועכשיו, התמונה הכי חשובה: שלכם.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8 דקות  |  🎯 שכל משתתף ייצר תמונת פרופיל מקצועית מסלפי.</a:t>
            </a:r>
          </a:p>
          <a:p/>
          <a:p>
            <a:r>
              <a:t>🏆 אפליקציית הקורס: פותחים את האתגר "הנחיה לתמונת פרופיל".</a:t>
            </a:r>
          </a:p>
          <a:p/>
          <a:p>
            <a:r>
              <a:t>🗣 מה לומר:</a:t>
            </a:r>
          </a:p>
          <a:p>
            <a:r>
              <a:t>שתי הנחיות, שתיהן בצ'אט.</a:t>
            </a:r>
          </a:p>
          <a:p>
            <a:r>
              <a:t>לינקדאין: רקע אפור מטושטש, תאורה רכה, לבוש מקצועי, חיוך טבעי. והמשפט הכי חשוב: "שמור על הפנים שלי בדיוק כמו שהן".</a:t>
            </a:r>
          </a:p>
          <a:p>
            <a:r>
              <a:t>ופרופיל לעסק: רקע בצבע המותג, בסגנון של העסק.</a:t>
            </a:r>
          </a:p>
          <a:p>
            <a:r>
              <a:t>מצלמים סלפי עכשיו, באור טוב, ומעלים לג'מיני או לצ'אט ג'יפיטי.</a:t>
            </a:r>
          </a:p>
          <a:p>
            <a:r>
              <a:t>(מדגימים על עצמכם בשידור חי)</a:t>
            </a:r>
          </a:p>
          <a:p>
            <a:r>
              <a:t>והכלל במשבצת הצהובה: מעלים רק תמונה של עצמכם.</a:t>
            </a:r>
          </a:p>
          <a:p>
            <a:r>
              <a:t>יש לכם 6 דקות. הדביקו את ההנחיה הכי טובה באתגר.</a:t>
            </a:r>
          </a:p>
          <a:p/>
          <a:p>
            <a:r>
              <a:t>➡️ מעבר: יש לכם פנים. עכשיו קול.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0.5 דקות  |  🎯 מעבר לפרק.</a:t>
            </a:r>
          </a:p>
          <a:p/>
          <a:p>
            <a:r>
              <a:t>🗣 מה לומר:</a:t>
            </a:r>
          </a:p>
          <a:p>
            <a:r>
              <a:t>פרק חמישי: הקול שלכם והפנים שלכם, בדיגיטל.</a:t>
            </a:r>
          </a:p>
          <a:p/>
          <a:p>
            <a:r>
              <a:t>➡️ מעבר: נתחיל בקול.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6 דקות  |  🎯 להכיר יצירת קריינות, ולהבין את ההבדל בין קול מוכן לשכפול קול.</a:t>
            </a:r>
          </a:p>
          <a:p/>
          <a:p>
            <a:r>
              <a:t>🧰 הכנה מראש: ElevenLabs פתוח בחשבון חינמי, עם משפט לדוגמה מוכן.</a:t>
            </a:r>
          </a:p>
          <a:p/>
          <a:p>
            <a:r>
              <a:t>🗣 מה לומר:</a:t>
            </a:r>
          </a:p>
          <a:p>
            <a:r>
              <a:t>ElevenLabs הוא כלי הקול המוביל בעולם.</a:t>
            </a:r>
          </a:p>
          <a:p>
            <a:r>
              <a:t>בחינם: בוחרים קול מוכן מהספרייה, מדביקים טקסט, ובוחרים את המודל החדש, v3 או v4, שתומכים בעברית.</a:t>
            </a:r>
          </a:p>
          <a:p>
            <a:r>
              <a:t>(מדגימים: אותו משפט בשלושה קולות. הקהל מצביע בצ'אט)</a:t>
            </a:r>
          </a:p>
          <a:p>
            <a:r>
              <a:t>רק להכיר: בתשלום אפשר גם לשבט את הקול שלכם מהקלטה של דקה. אנחנו נשארים בחינם, והאווטאר שנבנה עוד רגע ידבר בקול שלכם.</a:t>
            </a:r>
          </a:p>
          <a:p>
            <a:r>
              <a:t>(בשיתוף מסך מסמנים "שיתוף צליל", אחרת לא ישמעו)</a:t>
            </a:r>
          </a:p>
          <a:p>
            <a:r>
              <a:t>והכלל: משבטים רק את הקול שלכם. אף פעם של אדם אחר.</a:t>
            </a:r>
          </a:p>
          <a:p/>
          <a:p>
            <a:r>
              <a:t>➡️ מעבר: ועכשיו, הרגע הכי מטורף של הערב: אתם, בווידאו, בלי מצלמה.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9 דקות  |  🎯 שכל משתתף ייצר סרטון אווטאר קצר שמציג את העסק.</a:t>
            </a:r>
          </a:p>
          <a:p/>
          <a:p>
            <a:r>
              <a:t>🧰 הכנה מראש: HeyGen פתוח. תאום דיגיטלי שלכם מוכן מראש להדגמה.</a:t>
            </a:r>
          </a:p>
          <a:p/>
          <a:p>
            <a:r>
              <a:t>🏆 אפליקציית הקורס: פותחים את האתגר "תסריט 20 שניות לאווטאר".</a:t>
            </a:r>
          </a:p>
          <a:p/>
          <a:p>
            <a:r>
              <a:t>🗣 מה לומר:</a:t>
            </a:r>
          </a:p>
          <a:p>
            <a:r>
              <a:t>שלושה כלים.</a:t>
            </a:r>
          </a:p>
          <a:p>
            <a:r>
              <a:t>HeyGen: יוצרים תאום דיגיטלי שלכם, אווטאר שנראה ומדבר כמוכם. בחינם: אווטאר אחד ושלושה סרטונים בחודש, עד דקה.</a:t>
            </a:r>
          </a:p>
          <a:p>
            <a:r>
              <a:t>D-ID: לוקחים תמונה, והיא מתחילה לדבר. יש ניסיון של 14 יום.</a:t>
            </a:r>
          </a:p>
          <a:p>
            <a:r>
              <a:t>Gemini Omni של גוגל: וידאו מכל דבר, גם אווטאר. חינם בתוך YouTube Create.</a:t>
            </a:r>
          </a:p>
          <a:p>
            <a:r>
              <a:t>(מראים את התאום הדיגיטלי שלכם מדבר)</a:t>
            </a:r>
          </a:p>
          <a:p>
            <a:r>
              <a:t>היום עושים ב-HeyGen. קודם התסריט: ההנחיה בצ'אט, 20 שניות, משפט פתיחה שתופס, תועלת אחת וקריאה לפעולה.</a:t>
            </a:r>
          </a:p>
          <a:p>
            <a:r>
              <a:t>ואז ב-HeyGen: מעלים סרטון קצר או תמונה, מדביקים את התסריט, ומייצרים.</a:t>
            </a:r>
          </a:p>
          <a:p>
            <a:r>
              <a:t>(טיימר של 7 דקות. מי שמסיים מדביק את התסריט באתגר)</a:t>
            </a:r>
          </a:p>
          <a:p/>
          <a:p>
            <a:r>
              <a:t>➡️ מעבר: ועכשיו, וידאו ועריכה.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0.5 דקות  |  🎯 מעבר לפרק.</a:t>
            </a:r>
          </a:p>
          <a:p/>
          <a:p>
            <a:r>
              <a:t>🗣 מה לומר:</a:t>
            </a:r>
          </a:p>
          <a:p>
            <a:r>
              <a:t>פרק אחרון: וידאו ועריכה.</a:t>
            </a:r>
          </a:p>
          <a:p/>
          <a:p>
            <a:r>
              <a:t>➡️ מעבר: שלושה כלים.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4 דקות  |  🎯 להכיר את כלי הווידאו והעריכה, בהדגמה.</a:t>
            </a:r>
          </a:p>
          <a:p/>
          <a:p>
            <a:r>
              <a:t>🗣 מה לומר:</a:t>
            </a:r>
          </a:p>
          <a:p>
            <a:r>
              <a:t>Gemini Omni: הופך תמונה, טקסט או קול לווידאו, ועורכים אותו בשיחה: "עכשיו בלילה", "תוסיף גשם".</a:t>
            </a:r>
          </a:p>
          <a:p>
            <a:r>
              <a:t>Captions: מעלים סרטון גולמי, והוא מוסיף כתוביות, חותך שתיקות ומוסיף זום. ככה סרטון מהטלפון הופך לפוסט.</a:t>
            </a:r>
          </a:p>
          <a:p>
            <a:r>
              <a:t>(מדגימים על סרטון האווטאר מקודם)</a:t>
            </a:r>
          </a:p>
          <a:p>
            <a:r>
              <a:t>ו-Grok Imagine: סרטונים קצרים ונועזים. בתשלום, אז רק בהדגמה.</a:t>
            </a:r>
          </a:p>
          <a:p>
            <a:r>
              <a:t>וזוכרים את Sora? שומרים עותק של כל מה שיוצרים.</a:t>
            </a:r>
          </a:p>
          <a:p/>
          <a:p>
            <a:r>
              <a:t>➡️ מעבר: ולסיום, הפיצ'ר החדש של קלוד.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4 דקות  |  🎯 להכיר את העריכה הישירה של קלוד, כסגירת מעגל עם דף המותג.</a:t>
            </a:r>
          </a:p>
          <a:p/>
          <a:p>
            <a:r>
              <a:t>🧰 הכנה מראש: מנוי קלוד בתשלום, עם עיצוב פתוח להדגמה.</a:t>
            </a:r>
          </a:p>
          <a:p/>
          <a:p>
            <a:r>
              <a:t>🗣 מה לומר:</a:t>
            </a:r>
          </a:p>
          <a:p>
            <a:r>
              <a:t>זוכרים את דף המותג מתחילת הערב? עכשיו הקטע החדש.</a:t>
            </a:r>
          </a:p>
          <a:p>
            <a:r>
              <a:t>ב-Claude Design אפשר ללחוץ על כל אלמנט ולערוך אותו: טקסט, צבע, מיקום. כמו בפיגמה.</a:t>
            </a:r>
          </a:p>
          <a:p>
            <a:r>
              <a:t>או פשוט לבקש בשיחה: "הגדל את הכותרת, החלף לצבע המותג".</a:t>
            </a:r>
          </a:p>
          <a:p>
            <a:r>
              <a:t>ובסוף מייצאים לפאוורפוינט, ל-PDF או לקישור.</a:t>
            </a:r>
          </a:p>
          <a:p>
            <a:r>
              <a:t>(מדגימים: פותחים את דף המותג, ועורכים בקנבס)</a:t>
            </a:r>
          </a:p>
          <a:p>
            <a:r>
              <a:t>זה עדיין בבטא, למנויים בתשלום. אפשר לנסות בחודש ניסיון.</a:t>
            </a:r>
          </a:p>
          <a:p/>
          <a:p>
            <a:r>
              <a:t>➡️ מעבר: ולפני שמפרסמים משהו, ארבעה כללים.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3 דקות  |  🎯 שימוש אחראי: הסכמה, סימון, זכויות ובדיקה.</a:t>
            </a:r>
          </a:p>
          <a:p/>
          <a:p>
            <a:r>
              <a:t>🗣 מה לומר:</a:t>
            </a:r>
          </a:p>
          <a:p>
            <a:r>
              <a:t>ויזואל של AI הוא כוח. ארבעה כללים.</a:t>
            </a:r>
          </a:p>
          <a:p>
            <a:r>
              <a:t>רק אתם: קול ופנים משבטים רק של עצמכם, או באישור בכתב.</a:t>
            </a:r>
          </a:p>
          <a:p>
            <a:r>
              <a:t>מסמנים: בפוסט או בסרטון כותבים שנעשה בעזרת AI.</a:t>
            </a:r>
          </a:p>
          <a:p>
            <a:r>
              <a:t>לא מעתיקים: לא מבקשים "בסגנון של" אמן או מותג קיים.</a:t>
            </a:r>
          </a:p>
          <a:p>
            <a:r>
              <a:t>ובודקים: ידיים, טקסט בתמונה, ומספרים בהצעת מחיר.</a:t>
            </a:r>
          </a:p>
          <a:p>
            <a:r>
              <a:t>והכלל בירוק: אם הייתם מתביישים שהלקוח יגלה איך זה נוצר, אל תפרסמו.</a:t>
            </a:r>
          </a:p>
          <a:p/>
          <a:p>
            <a:r>
              <a:t>➡️ מעבר: ועכשיו, הגלריה.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6 דקות  |  🎯 ללמוד מהתוצרים של המשתתפים, ולסגור את התחרות.</a:t>
            </a:r>
          </a:p>
          <a:p/>
          <a:p>
            <a:r>
              <a:t>🏆 אפליקציית הקורס: פותחים הצבעה על האתגרים של הערב.</a:t>
            </a:r>
          </a:p>
          <a:p/>
          <a:p>
            <a:r>
              <a:t>🗣 מה לומר:</a:t>
            </a:r>
          </a:p>
          <a:p>
            <a:r>
              <a:t>פתחתי הצבעה באפליקציה. יש לכם שלוש הצבעות.</a:t>
            </a:r>
          </a:p>
          <a:p>
            <a:r>
              <a:t>(מחכים דקה וחצי)</a:t>
            </a:r>
          </a:p>
          <a:p>
            <a:r>
              <a:t>שלושה מציגים בחרתי מהצ'אט. דקה לכל אחד: מה בניתם, ומה הפתיע אתכם.</a:t>
            </a:r>
          </a:p>
          <a:p>
            <a:r>
              <a:t>(שלושה מציגים)</a:t>
            </a:r>
          </a:p>
          <a:p>
            <a:r>
              <a:t>מה מחפשים? שפה ויזואלית אחידה בכל התוצרים, מסר ברור תוך 3 שניות, מתאים לקהל, ונראה אמין.</a:t>
            </a:r>
          </a:p>
          <a:p>
            <a:r>
              <a:t>(חושפים תוצאות ומכריזים על המנצחים)</a:t>
            </a:r>
          </a:p>
          <a:p/>
          <a:p>
            <a:r>
              <a:t>➡️ מעבר: וכל הכלים של היום, במקום אחד.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2 דקות  |  🎯 לתת את כל הקישורים להעתקה.</a:t>
            </a:r>
          </a:p>
          <a:p/>
          <a:p>
            <a:r>
              <a:t>🗣 מה לומר:</a:t>
            </a:r>
          </a:p>
          <a:p>
            <a:r>
              <a:t>כל הכלים של היום, עם קישורים להעתקה. חלקם נותנים לכם קרדיטים או ניסיון חינם כשנרשמים דרכם.</a:t>
            </a:r>
          </a:p>
          <a:p>
            <a:r>
              <a:t>הקישורים בצ'אט, בחוברת, ובארגז הכלים באפליקציה.</a:t>
            </a:r>
          </a:p>
          <a:p>
            <a:r>
              <a:t>(מדביקים את רשימת הקישורים בצ'אט)</a:t>
            </a:r>
          </a:p>
          <a:p/>
          <a:p>
            <a:r>
              <a:t>➡️ מעבר: ומשימת הבית.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2 דקות  |  🎯 להשלים את הערכה ולהכין את הקרקע לאוטומציה.</a:t>
            </a:r>
          </a:p>
          <a:p/>
          <a:p>
            <a:r>
              <a:t>🗣 מה לומר:</a:t>
            </a:r>
          </a:p>
          <a:p>
            <a:r>
              <a:t>משימת הבית: להשלים את הערכה.</a:t>
            </a:r>
          </a:p>
          <a:p>
            <a:r>
              <a:t>ערכת מותג. מסך אפליקציה ומצגת. תמונת פרופיל וסרטון אווטאר, ולפחות אחד מהם עולה ללינקדאין או לוואטסאפ.</a:t>
            </a:r>
          </a:p>
          <a:p>
            <a:r>
              <a:t>ודבר רביעי, חשוב: רשמו משימה אחת שחוזרת אצלכם כל שבוע. בשבוע הבא נהפוך אותה לאוטומטית.</a:t>
            </a:r>
          </a:p>
          <a:p>
            <a:r>
              <a:t>ולפני המפגש הבא: פותחים חשבון חינמי ב-Make, ומפעילים בג'מיני את Gmail, בהגדרות, תחת Apps. אשלח הודעה עם הקישורים.</a:t>
            </a:r>
          </a:p>
          <a:p>
            <a:r>
              <a:t>העלו את הערכה לאפליקציה. היא תהיה חלק מיום ההצגות בסוף הקורס.</a:t>
            </a:r>
          </a:p>
          <a:p/>
          <a:p>
            <a:r>
              <a:t>➡️ מעבר: ולסיום, שלושה דברים.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3 דקות  |  🎯 סגירה עם שלושה מסרים, והכרזת מנצחים.</a:t>
            </a:r>
          </a:p>
          <a:p/>
          <a:p>
            <a:r>
              <a:t>🏆 אפליקציית הקורס: משתפים את טבלת הקורס המצטברת.</a:t>
            </a:r>
          </a:p>
          <a:p/>
          <a:p>
            <a:r>
              <a:t>🗣 מה לומר:</a:t>
            </a:r>
          </a:p>
          <a:p>
            <a:r>
              <a:t>שלושה דברים.</a:t>
            </a:r>
          </a:p>
          <a:p>
            <a:r>
              <a:t>קודם תוכן: אפיון טוב יוצר עיצוב טוב.</a:t>
            </a:r>
          </a:p>
          <a:p>
            <a:r>
              <a:t>שפה אחת בכל הכלים: אותם צבעים ואותו טון בכל מקום.</a:t>
            </a:r>
          </a:p>
          <a:p>
            <a:r>
              <a:t>ואתם במרכז: קול ופנים רק שלכם, מסמנים AI, ובודקים לפני שמפרסמים.</a:t>
            </a:r>
          </a:p>
          <a:p>
            <a:r>
              <a:t>ועכשיו: טבלת הקורס!</a:t>
            </a:r>
          </a:p>
          <a:p>
            <a:r>
              <a:t>(משתפים את הטבלה ומכריזים)</a:t>
            </a:r>
          </a:p>
          <a:p>
            <a:r>
              <a:t>היה מדהים. בשבוע הבא העסק שלכם מתחיל לעבוד לבד. נתראה!</a:t>
            </a:r>
          </a:p>
          <a:p/>
          <a:p>
            <a:r>
              <a:t>➡️ מעבר: סוף המפגש. נשארים לשאלות.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3 דקות  |  🎯 לחבר את המפגש לאפיון העסק ממפגש 2 ולהציג את ההבטחה: יוצאים עם ערכה ביד.</a:t>
            </a:r>
          </a:p>
          <a:p/>
          <a:p>
            <a:r>
              <a:t>🧰 הכנה מראש: פותחים מראש: אפליקציית הקורס במסך המרצה, קלוד, Stitch, גאמה, ג'מיני, HeyGen ו-ElevenLabs, כל אחד בלשונית. קובץ ההדבקות לצ'אט פתוח.</a:t>
            </a:r>
          </a:p>
          <a:p/>
          <a:p>
            <a:r>
              <a:t>🗣 מה לומר:</a:t>
            </a:r>
          </a:p>
          <a:p>
            <a:r>
              <a:t>ערב טוב לכולם! היום אחד המפגשים הכי כיפיים בקורס.</a:t>
            </a:r>
          </a:p>
          <a:p>
            <a:r>
              <a:t>במפגש הקודם כתבתם אפיון לעסק שלכם, או למותג שלכם. מילים.</a:t>
            </a:r>
          </a:p>
          <a:p>
            <a:r>
              <a:t>היום המילים האלה מקבלות פנים: צבעים, אפליקציה, מצגת, תמונה, קול, ואפילו אתם בסרטון. בלי מעצב, בלי מצלמה ובלי עורך.</a:t>
            </a:r>
          </a:p>
          <a:p>
            <a:r>
              <a:t>כתבו בצ'אט במילה אחת: על איזה עסק אתם עובדים?</a:t>
            </a:r>
          </a:p>
          <a:p>
            <a:r>
              <a:t>(מקריאים כמה תשובות מהצ'אט)</a:t>
            </a:r>
          </a:p>
          <a:p>
            <a:r>
              <a:t>מעולה. תשאירו את האפיון פתוח, נשתמש בו כל הערב.</a:t>
            </a:r>
          </a:p>
          <a:p/>
          <a:p>
            <a:r>
              <a:t>➡️ מעבר: אבל לפני הכול, מה קרה השבוע בעולם.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620">
              <a:alpha val="95000"/>
            </a:srgbClr>
          </a:solidFill>
          <a:ln/>
        </p:spPr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image" Target="../media/image-13-2.png"/><Relationship Id="rId3" Type="http://schemas.openxmlformats.org/officeDocument/2006/relationships/image" Target="../media/image-13-3.svg"/><Relationship Id="rId4" Type="http://schemas.openxmlformats.org/officeDocument/2006/relationships/image" Target="../media/image-13-4.png"/><Relationship Id="rId5" Type="http://schemas.openxmlformats.org/officeDocument/2006/relationships/image" Target="../media/image-13-5.svg"/><Relationship Id="rId6" Type="http://schemas.openxmlformats.org/officeDocument/2006/relationships/image" Target="../media/image-13-6.png"/><Relationship Id="rId7" Type="http://schemas.openxmlformats.org/officeDocument/2006/relationships/image" Target="../media/image-13-7.sv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image" Target="../media/image-14-1.png"/><Relationship Id="rId4" Type="http://schemas.openxmlformats.org/officeDocument/2006/relationships/image" Target="../media/image-14-2.svg"/><Relationship Id="rId5" Type="http://schemas.openxmlformats.org/officeDocument/2006/relationships/image" Target="../media/image-14-1.png"/><Relationship Id="rId6" Type="http://schemas.openxmlformats.org/officeDocument/2006/relationships/image" Target="../media/image-14-2.svg"/><Relationship Id="rId7" Type="http://schemas.openxmlformats.org/officeDocument/2006/relationships/image" Target="../media/image-14-7.png"/><Relationship Id="rId8" Type="http://schemas.openxmlformats.org/officeDocument/2006/relationships/image" Target="../media/image-14-8.svg"/><Relationship Id="rId9" Type="http://schemas.openxmlformats.org/officeDocument/2006/relationships/image" Target="../media/image-14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s3-image-1-1.jpeg"/><Relationship Id="rId2" Type="http://schemas.openxmlformats.org/officeDocument/2006/relationships/image" Target="../media/s3-image-1-2.png"/><Relationship Id="rId3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s3-image-7-1.png"/><Relationship Id="rId2" Type="http://schemas.openxmlformats.org/officeDocument/2006/relationships/image" Target="../media/s3-image-7-2.png"/><Relationship Id="rId3" Type="http://schemas.openxmlformats.org/officeDocument/2006/relationships/image" Target="../media/s3-image-7-1.png"/><Relationship Id="rId4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s3-image-8-1.jpeg"/><Relationship Id="rId2" Type="http://schemas.openxmlformats.org/officeDocument/2006/relationships/image" Target="../media/s3-image-8-2.png"/><Relationship Id="rId3" Type="http://schemas.openxmlformats.org/officeDocument/2006/relationships/image" Target="../media/s3-image-8-3.svg"/><Relationship Id="rId4" Type="http://schemas.openxmlformats.org/officeDocument/2006/relationships/image" Target="../media/s3-image-8-4.png"/><Relationship Id="rId5" Type="http://schemas.openxmlformats.org/officeDocument/2006/relationships/image" Target="../media/s3-image-8-5.svg"/><Relationship Id="rId6" Type="http://schemas.openxmlformats.org/officeDocument/2006/relationships/image" Target="../media/s3-image-8-6.png"/><Relationship Id="rId7" Type="http://schemas.openxmlformats.org/officeDocument/2006/relationships/image" Target="../media/s3-image-8-7.svg"/><Relationship Id="rId8" Type="http://schemas.openxmlformats.org/officeDocument/2006/relationships/image" Target="../media/s3-image-8-8.png"/><Relationship Id="rId9" Type="http://schemas.openxmlformats.org/officeDocument/2006/relationships/image" Target="../media/s3-image-8-9.svg"/><Relationship Id="rId10" Type="http://schemas.openxmlformats.org/officeDocument/2006/relationships/image" Target="../media/s3-image-8-10.png"/><Relationship Id="rId1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00.xml"/></Relationships>
</file>

<file path=ppt/slides/_rels/slide20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20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20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35.xml"/></Relationships>
</file>

<file path=ppt/slides/_rels/slide20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6.xml"/></Relationships>
</file>

<file path=ppt/slides/_rels/slide20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20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38.xml"/></Relationships>
</file>

<file path=ppt/slides/_rels/slide20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20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0.xml"/></Relationships>
</file>

<file path=ppt/slides/_rels/slide20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41.xml"/></Relationships>
</file>

<file path=ppt/slides/_rels/slide20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20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20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20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45.xml"/></Relationships>
</file>

<file path=ppt/slides/_rels/slide20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46.xml"/></Relationships>
</file>

<file path=ppt/slides/_rels/slide20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47.xml"/></Relationships>
</file>

<file path=ppt/slides/_rels/slide20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20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/Relationships>
</file>

<file path=ppt/slides/_rels/slide20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50.xml"/></Relationships>
</file>

<file path=ppt/slides/_rels/slide20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51.xml"/></Relationships>
</file>

<file path=ppt/slides/_rels/slide20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/Relationships>
</file>

<file path=ppt/slides/_rels/slide20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3.xml"/></Relationships>
</file>

<file path=ppt/slides/_rels/slide20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</Relationships>
</file>

<file path=ppt/slides/_rels/slide20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55.xml"/></Relationships>
</file>

<file path=ppt/slides/_rels/slide20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/Relationships>
</file>

<file path=ppt/slides/_rels/slide20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7.xml"/></Relationships>
</file>

<file path=ppt/slides/_rels/slide20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8.xml"/></Relationships>
</file>

<file path=ppt/slides/_rels/slide20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9.xml"/></Relationships>
</file>

<file path=ppt/slides/_rels/slide20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0.xml"/></Relationships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991394"/>
            <a:ext cx="10868745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ctr" indent="0" marL="0">
              <a:lnSpc>
                <a:spcPct val="108000"/>
              </a:lnSpc>
              <a:buNone/>
            </a:pPr>
            <a:r>
              <a:rPr lang="he-IL" altLang="en-US" sz="3700" b="1" spc="-74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שאתה כותב = מה שאתה מקבל</a:t>
            </a:r>
            <a:endParaRPr lang="he-IL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1681262"/>
            <a:ext cx="10868745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ct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FAC4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שכבה שמוסיפים — התשובה משתפרת</a:t>
            </a:r>
            <a:endParaRPr lang="he-IL" sz="18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1475" y="2271812"/>
          <a:ext cx="9143771" cy="914400"/>
        </p:xfrm>
        <a:graphic>
          <a:graphicData uri="http://schemas.openxmlformats.org/drawingml/2006/table">
            <a:tbl>
              <a:tblPr/>
              <a:tblGrid>
                <a:gridCol w="3622915"/>
                <a:gridCol w="3622915"/>
                <a:gridCol w="3622915"/>
              </a:tblGrid>
              <a:tr h="48834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b="1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מה כותבים</a:t>
                      </a:r>
                      <a:endParaRPr lang="en-US" sz="145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b="1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מה מקבלים</a:t>
                      </a:r>
                      <a:endParaRPr lang="en-US" sz="145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b="1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רמה</a:t>
                      </a:r>
                      <a:endParaRPr lang="en-US" sz="145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77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שאל</a:t>
                      </a:r>
                      <a:endParaRPr lang="en-US" sz="145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תשובה גרועה</a:t>
                      </a:r>
                      <a:endParaRPr lang="en-US" sz="145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 חלש</a:t>
                      </a:r>
                      <a:endParaRPr lang="en-US" sz="1150" dirty="0">
                        <a:latin typeface="Noto Color Emoji" charset="0"/>
                        <a:ea typeface="Noto Color Emoji" charset="0"/>
                        <a:cs typeface="Noto Color Emoji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77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שאל + פרטים + כללים</a:t>
                      </a:r>
                      <a:endParaRPr lang="en-US" sz="145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תשובה טובה יותר</a:t>
                      </a:r>
                      <a:endParaRPr lang="en-US" sz="145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 בינוני</a:t>
                      </a:r>
                      <a:endParaRPr lang="en-US" sz="1150" dirty="0">
                        <a:latin typeface="Noto Color Emoji" charset="0"/>
                        <a:ea typeface="Noto Color Emoji" charset="0"/>
                        <a:cs typeface="Noto Color Emoji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4597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שאל + פרטים + כללים + מטרה</a:t>
                      </a:r>
                      <a:endParaRPr lang="en-US" sz="145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תשובה שימושית ומדויקת</a:t>
                      </a:r>
                      <a:endParaRPr lang="en-US" sz="1450" dirty="0">
                        <a:latin typeface="Geist" charset="0"/>
                        <a:ea typeface="Geist" charset="0"/>
                        <a:cs typeface="Geist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dirty="0">
                          <a:solidFill>
                            <a:srgbClr val="EBEDF0"/>
                          </a:solidFill>
                          <a:latin typeface="Geist" pitchFamily="34" charset="0"/>
                          <a:ea typeface="Geist" pitchFamily="34" charset="-122"/>
                          <a:cs typeface="Geist" pitchFamily="34" charset="-120"/>
                        </a:rPr>
                        <a:t> מנצח</a:t>
                      </a:r>
                      <a:endParaRPr lang="en-US" sz="1150" dirty="0">
                        <a:latin typeface="Noto Color Emoji" charset="0"/>
                        <a:ea typeface="Noto Color Emoji" charset="0"/>
                        <a:cs typeface="Noto Color Emoji" charset="0"/>
                      </a:endParaRPr>
                    </a:p>
                  </a:txBody>
                  <a:tcPr marL="189018" marR="189018" marT="6350" marB="6350" anchor="ctr">
                    <a:lnL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A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1890" y="5408315"/>
            <a:ext cx="11194869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ככל שמוסיפים שכבות — התשובה משתפרת. 30 שניות של כתיבה = פער עצום בתוצאה.</a:t>
            </a:r>
            <a:endParaRPr lang="he-IL" sz="1450" dirty="0"/>
          </a:p>
        </p:txBody>
      </p:sp>
      <p:sp>
        <p:nvSpPr>
          <p:cNvPr id="6" name="Shape 3"/>
          <p:cNvSpPr/>
          <p:nvPr/>
        </p:nvSpPr>
        <p:spPr>
          <a:xfrm>
            <a:off x="11504821" y="5195689"/>
            <a:ext cx="25399" cy="670917"/>
          </a:xfrm>
          <a:prstGeom prst="roundRect">
            <a:avLst>
              <a:gd name="adj" fmla="val 50001"/>
            </a:avLst>
          </a:prstGeom>
          <a:solidFill>
            <a:srgbClr val="6296FF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672902"/>
            <a:ext cx="10868745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3700" b="1" spc="-74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הדגמה חיה: בנייה שכבה-שכבה</a:t>
            </a:r>
            <a:endParaRPr lang="he-IL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1362770"/>
            <a:ext cx="10868745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ct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FAC4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אותה פגישה, ארבע הרצות — רואים את הפער בזמן אמת</a:t>
            </a:r>
            <a:endParaRPr lang="he-IL" sz="1850" dirty="0"/>
          </a:p>
        </p:txBody>
      </p:sp>
      <p:sp>
        <p:nvSpPr>
          <p:cNvPr id="4" name="Text 2"/>
          <p:cNvSpPr/>
          <p:nvPr/>
        </p:nvSpPr>
        <p:spPr>
          <a:xfrm>
            <a:off x="11152206" y="1953320"/>
            <a:ext cx="37801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450" spc="-30" kern="0" dirty="0">
                <a:solidFill>
                  <a:srgbClr val="EBEDF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01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190401" y="2258616"/>
            <a:ext cx="5339820" cy="25400"/>
          </a:xfrm>
          <a:prstGeom prst="rect">
            <a:avLst/>
          </a:prstGeom>
          <a:solidFill>
            <a:srgbClr val="487CFF"/>
          </a:solidFill>
          <a:ln/>
        </p:spPr>
      </p:sp>
      <p:sp>
        <p:nvSpPr>
          <p:cNvPr id="6" name="Text 4"/>
          <p:cNvSpPr/>
          <p:nvPr/>
        </p:nvSpPr>
        <p:spPr>
          <a:xfrm>
            <a:off x="6190401" y="2403872"/>
            <a:ext cx="5339820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בסיס — סכם לי את הפגישה.</a:t>
            </a:r>
            <a:endParaRPr lang="he-IL" sz="1850" dirty="0"/>
          </a:p>
        </p:txBody>
      </p:sp>
      <p:sp>
        <p:nvSpPr>
          <p:cNvPr id="7" name="Text 5"/>
          <p:cNvSpPr/>
          <p:nvPr/>
        </p:nvSpPr>
        <p:spPr>
          <a:xfrm>
            <a:off x="6190401" y="2824361"/>
            <a:ext cx="5339820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תוצאה: סיכום כללי וחסר</a:t>
            </a:r>
            <a:endParaRPr lang="he-IL" sz="1450" dirty="0"/>
          </a:p>
        </p:txBody>
      </p:sp>
      <p:sp>
        <p:nvSpPr>
          <p:cNvPr id="8" name="Text 6"/>
          <p:cNvSpPr/>
          <p:nvPr/>
        </p:nvSpPr>
        <p:spPr>
          <a:xfrm>
            <a:off x="5623380" y="1953320"/>
            <a:ext cx="37801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450" spc="-30" kern="0" dirty="0">
                <a:solidFill>
                  <a:srgbClr val="EBEDF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02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61475" y="2258616"/>
            <a:ext cx="5339919" cy="25400"/>
          </a:xfrm>
          <a:prstGeom prst="rect">
            <a:avLst/>
          </a:prstGeom>
          <a:solidFill>
            <a:srgbClr val="487CFF"/>
          </a:solidFill>
          <a:ln/>
        </p:spPr>
      </p:sp>
      <p:sp>
        <p:nvSpPr>
          <p:cNvPr id="10" name="Text 8"/>
          <p:cNvSpPr/>
          <p:nvPr/>
        </p:nvSpPr>
        <p:spPr>
          <a:xfrm>
            <a:off x="661475" y="2403872"/>
            <a:ext cx="5339919" cy="6141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הקשר — סכם פגישת לקוח שדנה בחריגה מתקציב. ציין מטרות ונקודות מרכזיות.</a:t>
            </a:r>
            <a:endParaRPr lang="he-IL" sz="1850" dirty="0"/>
          </a:p>
        </p:txBody>
      </p:sp>
      <p:sp>
        <p:nvSpPr>
          <p:cNvPr id="11" name="Text 9"/>
          <p:cNvSpPr/>
          <p:nvPr/>
        </p:nvSpPr>
        <p:spPr>
          <a:xfrm>
            <a:off x="661475" y="3131443"/>
            <a:ext cx="5339919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תוצאה: ממוקד יותר</a:t>
            </a:r>
            <a:endParaRPr lang="he-IL" sz="1450" dirty="0"/>
          </a:p>
        </p:txBody>
      </p:sp>
      <p:sp>
        <p:nvSpPr>
          <p:cNvPr id="12" name="Text 10"/>
          <p:cNvSpPr/>
          <p:nvPr/>
        </p:nvSpPr>
        <p:spPr>
          <a:xfrm>
            <a:off x="11152206" y="3707805"/>
            <a:ext cx="37801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450" spc="-30" kern="0" dirty="0">
                <a:solidFill>
                  <a:srgbClr val="EBEDF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03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6190401" y="3994150"/>
            <a:ext cx="5339820" cy="25400"/>
          </a:xfrm>
          <a:prstGeom prst="rect">
            <a:avLst/>
          </a:prstGeom>
          <a:solidFill>
            <a:srgbClr val="487CFF"/>
          </a:solidFill>
          <a:ln/>
        </p:spPr>
      </p:sp>
      <p:sp>
        <p:nvSpPr>
          <p:cNvPr id="14" name="Text 12"/>
          <p:cNvSpPr/>
          <p:nvPr/>
        </p:nvSpPr>
        <p:spPr>
          <a:xfrm>
            <a:off x="6190401" y="4158357"/>
            <a:ext cx="5339820" cy="6141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פורמט — ...בטבלה: נושא | החלטה | אחראי | תאריך יעד.</a:t>
            </a:r>
            <a:endParaRPr lang="he-IL" sz="1850" dirty="0"/>
          </a:p>
        </p:txBody>
      </p:sp>
      <p:sp>
        <p:nvSpPr>
          <p:cNvPr id="15" name="Text 13"/>
          <p:cNvSpPr/>
          <p:nvPr/>
        </p:nvSpPr>
        <p:spPr>
          <a:xfrm>
            <a:off x="6190401" y="4885928"/>
            <a:ext cx="5339820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תוצאה: מוכן לשימוש</a:t>
            </a:r>
            <a:endParaRPr lang="he-IL" sz="1450" dirty="0"/>
          </a:p>
        </p:txBody>
      </p:sp>
      <p:sp>
        <p:nvSpPr>
          <p:cNvPr id="16" name="Text 14"/>
          <p:cNvSpPr/>
          <p:nvPr/>
        </p:nvSpPr>
        <p:spPr>
          <a:xfrm>
            <a:off x="5623380" y="3707805"/>
            <a:ext cx="37801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en-US" sz="1450" spc="-30" kern="0" dirty="0">
                <a:solidFill>
                  <a:srgbClr val="EBEDF0"/>
                </a:solidFill>
                <a:latin typeface="Geist Light" pitchFamily="34" charset="0"/>
                <a:ea typeface="Geist Light" pitchFamily="34" charset="-122"/>
                <a:cs typeface="Geist Light" pitchFamily="34" charset="-120"/>
              </a:rPr>
              <a:t>04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661475" y="4013101"/>
            <a:ext cx="5339919" cy="25400"/>
          </a:xfrm>
          <a:prstGeom prst="rect">
            <a:avLst/>
          </a:prstGeom>
          <a:solidFill>
            <a:srgbClr val="487CFF"/>
          </a:solidFill>
          <a:ln/>
        </p:spPr>
      </p:sp>
      <p:sp>
        <p:nvSpPr>
          <p:cNvPr id="18" name="Text 16"/>
          <p:cNvSpPr/>
          <p:nvPr/>
        </p:nvSpPr>
        <p:spPr>
          <a:xfrm>
            <a:off x="661475" y="4158357"/>
            <a:ext cx="5339919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קהל — ...לשליחה למנהל הפרויקט שלא היה בפגישה.</a:t>
            </a:r>
            <a:endParaRPr lang="he-IL" sz="1850" dirty="0"/>
          </a:p>
        </p:txBody>
      </p:sp>
      <p:sp>
        <p:nvSpPr>
          <p:cNvPr id="19" name="Text 17"/>
          <p:cNvSpPr/>
          <p:nvPr/>
        </p:nvSpPr>
        <p:spPr>
          <a:xfrm>
            <a:off x="661475" y="4578846"/>
            <a:ext cx="5339919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תוצאה: מוכן לשליחה</a:t>
            </a:r>
            <a:endParaRPr lang="he-IL" sz="1450" dirty="0"/>
          </a:p>
        </p:txBody>
      </p:sp>
      <p:sp>
        <p:nvSpPr>
          <p:cNvPr id="20" name="Shape 18"/>
          <p:cNvSpPr/>
          <p:nvPr/>
        </p:nvSpPr>
        <p:spPr>
          <a:xfrm>
            <a:off x="661475" y="5448102"/>
            <a:ext cx="10868745" cy="699195"/>
          </a:xfrm>
          <a:prstGeom prst="roundRect">
            <a:avLst>
              <a:gd name="adj" fmla="val 11354"/>
            </a:avLst>
          </a:prstGeom>
          <a:solidFill>
            <a:srgbClr val="183A13"/>
          </a:solidFill>
          <a:ln/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482" y="5690394"/>
            <a:ext cx="236234" cy="189012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666138" y="5722144"/>
            <a:ext cx="10675075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שלב מוסיף שכבה — ורואים את התשובה משתפרת בזמן אמת.</a:t>
            </a:r>
            <a:endParaRPr lang="he-IL" sz="14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91215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9570" y="0"/>
                </a:moveTo>
                <a:lnTo>
                  <a:pt x="100000" y="0"/>
                </a:lnTo>
                <a:lnTo>
                  <a:pt x="100000" y="100000"/>
                </a:lnTo>
                <a:lnTo>
                  <a:pt x="30760" y="100000"/>
                </a:lnTo>
                <a:lnTo>
                  <a:pt x="26370" y="95510"/>
                </a:lnTo>
                <a:lnTo>
                  <a:pt x="26370" y="95310"/>
                </a:lnTo>
                <a:lnTo>
                  <a:pt x="25490" y="94530"/>
                </a:lnTo>
                <a:lnTo>
                  <a:pt x="25490" y="94340"/>
                </a:lnTo>
                <a:lnTo>
                  <a:pt x="22660" y="91210"/>
                </a:lnTo>
                <a:lnTo>
                  <a:pt x="18360" y="85550"/>
                </a:lnTo>
                <a:lnTo>
                  <a:pt x="15140" y="80660"/>
                </a:lnTo>
                <a:lnTo>
                  <a:pt x="11910" y="75000"/>
                </a:lnTo>
                <a:lnTo>
                  <a:pt x="9280" y="69530"/>
                </a:lnTo>
                <a:lnTo>
                  <a:pt x="6840" y="63380"/>
                </a:lnTo>
                <a:lnTo>
                  <a:pt x="4790" y="56740"/>
                </a:lnTo>
                <a:lnTo>
                  <a:pt x="3320" y="50200"/>
                </a:lnTo>
                <a:lnTo>
                  <a:pt x="2440" y="44140"/>
                </a:lnTo>
                <a:lnTo>
                  <a:pt x="2050" y="39060"/>
                </a:lnTo>
                <a:lnTo>
                  <a:pt x="2050" y="30860"/>
                </a:lnTo>
                <a:lnTo>
                  <a:pt x="2540" y="25000"/>
                </a:lnTo>
                <a:lnTo>
                  <a:pt x="3320" y="19820"/>
                </a:lnTo>
                <a:lnTo>
                  <a:pt x="4880" y="12890"/>
                </a:lnTo>
                <a:lnTo>
                  <a:pt x="6930" y="635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661475" y="1258689"/>
            <a:ext cx="6296860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3700" b="1" spc="-74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התרגיל המרכזי (20 דקות)</a:t>
            </a:r>
            <a:endParaRPr lang="he-IL" sz="3700" dirty="0"/>
          </a:p>
        </p:txBody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69328" y="2222500"/>
            <a:ext cx="189007" cy="189012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3904458" y="2461716"/>
            <a:ext cx="3053877" cy="25400"/>
          </a:xfrm>
          <a:prstGeom prst="rect">
            <a:avLst/>
          </a:prstGeom>
          <a:solidFill>
            <a:srgbClr val="487CFF"/>
          </a:solidFill>
          <a:ln/>
        </p:spPr>
      </p:sp>
      <p:sp>
        <p:nvSpPr>
          <p:cNvPr id="6" name="Text 2"/>
          <p:cNvSpPr/>
          <p:nvPr/>
        </p:nvSpPr>
        <p:spPr>
          <a:xfrm>
            <a:off x="3904458" y="2606973"/>
            <a:ext cx="3053877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כתיבה אישית</a:t>
            </a:r>
            <a:endParaRPr lang="he-IL" sz="1850" dirty="0"/>
          </a:p>
        </p:txBody>
      </p:sp>
      <p:sp>
        <p:nvSpPr>
          <p:cNvPr id="7" name="Text 3"/>
          <p:cNvSpPr/>
          <p:nvPr/>
        </p:nvSpPr>
        <p:spPr>
          <a:xfrm>
            <a:off x="3904458" y="3027462"/>
            <a:ext cx="3053877" cy="7369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משתתף כותב 3 הנחיות אמיתיות מהעבודה שלו לפי הנוסחה, מריץ ומשפר פעם אחת.</a:t>
            </a:r>
            <a:endParaRPr lang="he-IL" sz="145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526444" y="2222500"/>
            <a:ext cx="189007" cy="189012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661475" y="2480667"/>
            <a:ext cx="3053976" cy="25400"/>
          </a:xfrm>
          <a:prstGeom prst="rect">
            <a:avLst/>
          </a:prstGeom>
          <a:solidFill>
            <a:srgbClr val="487CFF"/>
          </a:solidFill>
          <a:ln/>
        </p:spPr>
      </p:sp>
      <p:sp>
        <p:nvSpPr>
          <p:cNvPr id="10" name="Text 5"/>
          <p:cNvSpPr/>
          <p:nvPr/>
        </p:nvSpPr>
        <p:spPr>
          <a:xfrm>
            <a:off x="661475" y="2606973"/>
            <a:ext cx="3053976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עבודה בזוגות</a:t>
            </a:r>
            <a:endParaRPr lang="he-IL" sz="1850" dirty="0"/>
          </a:p>
        </p:txBody>
      </p:sp>
      <p:sp>
        <p:nvSpPr>
          <p:cNvPr id="11" name="Text 6"/>
          <p:cNvSpPr/>
          <p:nvPr/>
        </p:nvSpPr>
        <p:spPr>
          <a:xfrm>
            <a:off x="661475" y="3027462"/>
            <a:ext cx="3053976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אחד מציג לשכן את הלפני-אחרי.</a:t>
            </a:r>
            <a:endParaRPr lang="he-IL" sz="145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769328" y="4123432"/>
            <a:ext cx="189007" cy="189012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661475" y="4381599"/>
            <a:ext cx="6296860" cy="25400"/>
          </a:xfrm>
          <a:prstGeom prst="rect">
            <a:avLst/>
          </a:prstGeom>
          <a:solidFill>
            <a:srgbClr val="487CFF"/>
          </a:solidFill>
          <a:ln/>
        </p:spPr>
      </p:sp>
      <p:sp>
        <p:nvSpPr>
          <p:cNvPr id="14" name="Text 8"/>
          <p:cNvSpPr/>
          <p:nvPr/>
        </p:nvSpPr>
        <p:spPr>
          <a:xfrm>
            <a:off x="661475" y="4545707"/>
            <a:ext cx="6296860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בנק ההנחיות האישי</a:t>
            </a:r>
            <a:endParaRPr lang="he-IL" sz="1850" dirty="0"/>
          </a:p>
        </p:txBody>
      </p:sp>
      <p:sp>
        <p:nvSpPr>
          <p:cNvPr id="15" name="Text 9"/>
          <p:cNvSpPr/>
          <p:nvPr/>
        </p:nvSpPr>
        <p:spPr>
          <a:xfrm>
            <a:off x="661475" y="4966196"/>
            <a:ext cx="6296860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פותחים מסמך שמור – כל הנחיה שעבדה נכנסת פנימה. תוך חודש יש לכם ספריית עבודה משלכם.</a:t>
            </a:r>
            <a:endParaRPr lang="he-IL" sz="14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62967"/>
            <a:ext cx="10868745" cy="5855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3500" b="1" spc="-71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תרגול בית</a:t>
            </a:r>
            <a:endParaRPr lang="he-IL" sz="35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021734" y="1491952"/>
            <a:ext cx="3508486" cy="223658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667980" y="1621631"/>
            <a:ext cx="216093" cy="2809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lnSpc>
                <a:spcPct val="100000"/>
              </a:lnSpc>
              <a:buNone/>
            </a:pPr>
            <a:r>
              <a:rPr lang="en-US" sz="1700" b="1" spc="-28" kern="0" dirty="0">
                <a:solidFill>
                  <a:srgbClr val="00000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1</a:t>
            </a:r>
            <a:endParaRPr lang="en-US" sz="1700" dirty="0"/>
          </a:p>
        </p:txBody>
      </p:sp>
      <p:sp>
        <p:nvSpPr>
          <p:cNvPr id="5" name="Text 2"/>
          <p:cNvSpPr/>
          <p:nvPr/>
        </p:nvSpPr>
        <p:spPr>
          <a:xfrm>
            <a:off x="8227211" y="2212479"/>
            <a:ext cx="3097532" cy="2927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750" b="1" spc="-35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בנו 5 הנחיות לבנק שלכם</a:t>
            </a:r>
            <a:endParaRPr lang="he-IL" sz="1750" dirty="0"/>
          </a:p>
        </p:txBody>
      </p:sp>
      <p:sp>
        <p:nvSpPr>
          <p:cNvPr id="6" name="Text 3"/>
          <p:cNvSpPr/>
          <p:nvPr/>
        </p:nvSpPr>
        <p:spPr>
          <a:xfrm>
            <a:off x="8227211" y="2608262"/>
            <a:ext cx="3097532" cy="9147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6000"/>
              </a:lnSpc>
              <a:buNone/>
            </a:pPr>
            <a:r>
              <a:rPr lang="he-IL" altLang="en-US" sz="140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אספו הנחיות שעובדות. הגדירו מראש איפה נשמר הבנק (Notion / Google Docs / תיקייה) — בלי מיקום קבוע, זה יישאר סיסמה.</a:t>
            </a:r>
            <a:endParaRPr lang="he-IL" sz="14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41605" y="1491952"/>
            <a:ext cx="3508486" cy="2236589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987851" y="1621631"/>
            <a:ext cx="216093" cy="2809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lnSpc>
                <a:spcPct val="100000"/>
              </a:lnSpc>
              <a:buNone/>
            </a:pPr>
            <a:r>
              <a:rPr lang="en-US" sz="1700" b="1" spc="-28" kern="0" dirty="0">
                <a:solidFill>
                  <a:srgbClr val="00000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2</a:t>
            </a:r>
            <a:endParaRPr lang="en-US" sz="1700" dirty="0"/>
          </a:p>
        </p:txBody>
      </p:sp>
      <p:sp>
        <p:nvSpPr>
          <p:cNvPr id="9" name="Text 5"/>
          <p:cNvSpPr/>
          <p:nvPr/>
        </p:nvSpPr>
        <p:spPr>
          <a:xfrm>
            <a:off x="4547082" y="2212479"/>
            <a:ext cx="3097532" cy="2927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750" b="1" spc="-35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אחת לפחות עם תפקיד</a:t>
            </a:r>
            <a:endParaRPr lang="he-IL" sz="1750" dirty="0"/>
          </a:p>
        </p:txBody>
      </p:sp>
      <p:sp>
        <p:nvSpPr>
          <p:cNvPr id="10" name="Text 6"/>
          <p:cNvSpPr/>
          <p:nvPr/>
        </p:nvSpPr>
        <p:spPr>
          <a:xfrm>
            <a:off x="4547082" y="2608262"/>
            <a:ext cx="3097532" cy="4573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6000"/>
              </a:lnSpc>
              <a:buNone/>
            </a:pPr>
            <a:r>
              <a:rPr lang="he-IL" altLang="en-US" sz="140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השתמשו בניסוח "אתה..." כדי לתת לכלי תפקיד ברור.</a:t>
            </a:r>
            <a:endParaRPr lang="he-IL" sz="140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1475" y="1491952"/>
            <a:ext cx="3508486" cy="2236589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2307721" y="1621631"/>
            <a:ext cx="216093" cy="2809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lnSpc>
                <a:spcPct val="100000"/>
              </a:lnSpc>
              <a:buNone/>
            </a:pPr>
            <a:r>
              <a:rPr lang="en-US" sz="1700" b="1" spc="-28" kern="0" dirty="0">
                <a:solidFill>
                  <a:srgbClr val="00000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3</a:t>
            </a:r>
            <a:endParaRPr lang="en-US" sz="1700" dirty="0"/>
          </a:p>
        </p:txBody>
      </p:sp>
      <p:sp>
        <p:nvSpPr>
          <p:cNvPr id="13" name="Text 8"/>
          <p:cNvSpPr/>
          <p:nvPr/>
        </p:nvSpPr>
        <p:spPr>
          <a:xfrm>
            <a:off x="866952" y="2212479"/>
            <a:ext cx="3097532" cy="2927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750" b="1" spc="-35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הביאו את הטובה ביותר</a:t>
            </a:r>
            <a:endParaRPr lang="he-IL" sz="1750" dirty="0"/>
          </a:p>
        </p:txBody>
      </p:sp>
      <p:sp>
        <p:nvSpPr>
          <p:cNvPr id="14" name="Text 9"/>
          <p:cNvSpPr/>
          <p:nvPr/>
        </p:nvSpPr>
        <p:spPr>
          <a:xfrm>
            <a:off x="866952" y="2608262"/>
            <a:ext cx="3097532" cy="4573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6000"/>
              </a:lnSpc>
              <a:buNone/>
            </a:pPr>
            <a:r>
              <a:rPr lang="he-IL" altLang="en-US" sz="140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למפגש הבא – שלושה מציגים ייבחרו להציג את ההנחיה הטובה ביותר שלהם.</a:t>
            </a:r>
            <a:endParaRPr lang="he-IL" sz="140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61475" y="3900190"/>
            <a:ext cx="10868745" cy="1550491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5987851" y="4029869"/>
            <a:ext cx="216093" cy="2809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lnSpc>
                <a:spcPct val="100000"/>
              </a:lnSpc>
              <a:buNone/>
            </a:pPr>
            <a:r>
              <a:rPr lang="en-US" sz="1700" b="1" spc="-28" kern="0" dirty="0">
                <a:solidFill>
                  <a:srgbClr val="00000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4</a:t>
            </a:r>
            <a:endParaRPr lang="en-US" sz="1700" dirty="0"/>
          </a:p>
        </p:txBody>
      </p:sp>
      <p:sp>
        <p:nvSpPr>
          <p:cNvPr id="17" name="Text 11"/>
          <p:cNvSpPr/>
          <p:nvPr/>
        </p:nvSpPr>
        <p:spPr>
          <a:xfrm>
            <a:off x="866952" y="4620716"/>
            <a:ext cx="10457792" cy="2927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750" b="1" spc="-35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הביאו גם כישלון אחד</a:t>
            </a:r>
            <a:endParaRPr lang="he-IL" sz="1750" dirty="0"/>
          </a:p>
        </p:txBody>
      </p:sp>
      <p:sp>
        <p:nvSpPr>
          <p:cNvPr id="18" name="Text 12"/>
          <p:cNvSpPr/>
          <p:nvPr/>
        </p:nvSpPr>
        <p:spPr>
          <a:xfrm>
            <a:off x="866952" y="5016500"/>
            <a:ext cx="10457792" cy="2286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6000"/>
              </a:lnSpc>
              <a:buNone/>
            </a:pPr>
            <a:r>
              <a:rPr lang="he-IL" altLang="en-US" sz="140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הנחיה שניסיתם ועדיין לא עבדה. זה חומר הגלם הכי טוב למפגש הבא.</a:t>
            </a:r>
            <a:endParaRPr lang="he-IL" sz="1400" dirty="0"/>
          </a:p>
        </p:txBody>
      </p:sp>
      <p:sp>
        <p:nvSpPr>
          <p:cNvPr id="19" name="Shape 13"/>
          <p:cNvSpPr/>
          <p:nvPr/>
        </p:nvSpPr>
        <p:spPr>
          <a:xfrm>
            <a:off x="661475" y="5643860"/>
            <a:ext cx="10868745" cy="651073"/>
          </a:xfrm>
          <a:prstGeom prst="roundRect">
            <a:avLst>
              <a:gd name="adj" fmla="val 11622"/>
            </a:avLst>
          </a:prstGeom>
          <a:solidFill>
            <a:srgbClr val="002A80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1552" y="5861546"/>
            <a:ext cx="225122" cy="180082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637167" y="5860455"/>
            <a:ext cx="10712976" cy="2350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6000"/>
              </a:lnSpc>
              <a:buNone/>
            </a:pPr>
            <a:r>
              <a:rPr lang="he-IL" alt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נתראה במפגש הבא עם הנחיות מנצחות! </a:t>
            </a:r>
            <a:pPr rtl="1" algn="r" indent="0" marL="0">
              <a:lnSpc>
                <a:spcPct val="106000"/>
              </a:lnSpc>
              <a:buNone/>
            </a:pPr>
            <a:r>
              <a:rPr lang="he-IL" altLang="en-US" sz="1400" dirty="0">
                <a:solidFill>
                  <a:srgbClr val="000000"/>
                </a:solidFill>
                <a:latin typeface="Noto Color Emoji" pitchFamily="34" charset="0"/>
                <a:ea typeface="Noto Color Emoji" pitchFamily="34" charset="-122"/>
                <a:cs typeface="Noto Color Emoji" pitchFamily="34" charset="-120"/>
              </a:rPr>
              <a:t>🚀</a:t>
            </a:r>
            <a:endParaRPr lang="he-IL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5233360" y="934045"/>
            <a:ext cx="6296860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3700" b="1" spc="-74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מפגש 3: מההנחיה אל השגרה</a:t>
            </a:r>
            <a:endParaRPr lang="he-IL" sz="3700" dirty="0"/>
          </a:p>
        </p:txBody>
      </p:sp>
      <p:sp>
        <p:nvSpPr>
          <p:cNvPr id="4" name="Text 1"/>
          <p:cNvSpPr/>
          <p:nvPr/>
        </p:nvSpPr>
        <p:spPr>
          <a:xfrm>
            <a:off x="5233360" y="1623913"/>
            <a:ext cx="6296860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שלושה מציגים — ההנחיה הכי טובה מהבנק</a:t>
            </a:r>
            <a:endParaRPr lang="he-IL" sz="1850" dirty="0"/>
          </a:p>
        </p:txBody>
      </p:sp>
      <p:sp>
        <p:nvSpPr>
          <p:cNvPr id="5" name="Text 2"/>
          <p:cNvSpPr/>
          <p:nvPr/>
        </p:nvSpPr>
        <p:spPr>
          <a:xfrm>
            <a:off x="4623776" y="2214463"/>
            <a:ext cx="690644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גם: כישלון אחד מהבית. שואלים: חסר מי, מה, או איך?</a:t>
            </a:r>
            <a:endParaRPr lang="he-IL" sz="1450" dirty="0"/>
          </a:p>
        </p:txBody>
      </p:sp>
      <p:sp>
        <p:nvSpPr>
          <p:cNvPr id="6" name="Shape 3"/>
          <p:cNvSpPr/>
          <p:nvPr/>
        </p:nvSpPr>
        <p:spPr>
          <a:xfrm>
            <a:off x="5233360" y="2672755"/>
            <a:ext cx="6296860" cy="944860"/>
          </a:xfrm>
          <a:prstGeom prst="roundRect">
            <a:avLst>
              <a:gd name="adj" fmla="val 8402"/>
            </a:avLst>
          </a:prstGeom>
          <a:solidFill>
            <a:srgbClr val="002A80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2367" y="2915047"/>
            <a:ext cx="236234" cy="18901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847608" y="2908995"/>
            <a:ext cx="5493605" cy="491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מפגש 2: למדנו את הנוסחה. היום — מדביקים אותה על העבודה האמיתית שלכם.</a:t>
            </a:r>
            <a:endParaRPr lang="he-IL" sz="1450" dirty="0"/>
          </a:p>
        </p:txBody>
      </p:sp>
      <p:sp>
        <p:nvSpPr>
          <p:cNvPr id="9" name="Text 5"/>
          <p:cNvSpPr/>
          <p:nvPr/>
        </p:nvSpPr>
        <p:spPr>
          <a:xfrm>
            <a:off x="4623776" y="3830241"/>
            <a:ext cx="690644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מקצוע, לא תבנית אחת.</a:t>
            </a:r>
            <a:endParaRPr lang="he-IL" sz="1450" dirty="0"/>
          </a:p>
        </p:txBody>
      </p:sp>
      <p:sp>
        <p:nvSpPr>
          <p:cNvPr id="10" name="Shape 6"/>
          <p:cNvSpPr/>
          <p:nvPr/>
        </p:nvSpPr>
        <p:spPr>
          <a:xfrm>
            <a:off x="8476343" y="4288532"/>
            <a:ext cx="3053877" cy="723205"/>
          </a:xfrm>
          <a:prstGeom prst="roundRect">
            <a:avLst>
              <a:gd name="adj" fmla="val 10977"/>
            </a:avLst>
          </a:prstGeom>
          <a:solidFill>
            <a:srgbClr val="101620"/>
          </a:solidFill>
          <a:ln w="19050">
            <a:solidFill>
              <a:srgbClr val="002A8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8684400" y="4496594"/>
            <a:ext cx="2637764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הנחיות שמורות בבנק</a:t>
            </a:r>
            <a:endParaRPr lang="he-IL" sz="1850" dirty="0"/>
          </a:p>
        </p:txBody>
      </p:sp>
      <p:sp>
        <p:nvSpPr>
          <p:cNvPr id="12" name="Shape 8"/>
          <p:cNvSpPr/>
          <p:nvPr/>
        </p:nvSpPr>
        <p:spPr>
          <a:xfrm>
            <a:off x="5233360" y="4288532"/>
            <a:ext cx="3053976" cy="723205"/>
          </a:xfrm>
          <a:prstGeom prst="roundRect">
            <a:avLst>
              <a:gd name="adj" fmla="val 10977"/>
            </a:avLst>
          </a:prstGeom>
          <a:solidFill>
            <a:srgbClr val="101620"/>
          </a:solidFill>
          <a:ln w="19050">
            <a:solidFill>
              <a:srgbClr val="002A80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5441417" y="4496594"/>
            <a:ext cx="2637863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תוצר אחד ביד</a:t>
            </a:r>
            <a:endParaRPr lang="he-IL" sz="1850" dirty="0"/>
          </a:p>
        </p:txBody>
      </p:sp>
      <p:sp>
        <p:nvSpPr>
          <p:cNvPr id="14" name="Shape 10"/>
          <p:cNvSpPr/>
          <p:nvPr/>
        </p:nvSpPr>
        <p:spPr>
          <a:xfrm>
            <a:off x="5233360" y="5200749"/>
            <a:ext cx="6296860" cy="723205"/>
          </a:xfrm>
          <a:prstGeom prst="roundRect">
            <a:avLst>
              <a:gd name="adj" fmla="val 10977"/>
            </a:avLst>
          </a:prstGeom>
          <a:solidFill>
            <a:srgbClr val="101620"/>
          </a:solidFill>
          <a:ln w="19050">
            <a:solidFill>
              <a:srgbClr val="002A80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441417" y="5408811"/>
            <a:ext cx="5880747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כלל ברור מתי מחליפים כלי</a:t>
            </a:r>
            <a:endParaRPr lang="he-IL" sz="1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19807"/>
            <a:ext cx="10868745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מ־40 עמודים למוכנות ב־10 דקות</a:t>
            </a:r>
            <a:endParaRPr lang="he-IL" sz="1850" dirty="0"/>
          </a:p>
        </p:txBody>
      </p:sp>
      <p:sp>
        <p:nvSpPr>
          <p:cNvPr id="3" name="Shape 1"/>
          <p:cNvSpPr/>
          <p:nvPr/>
        </p:nvSpPr>
        <p:spPr>
          <a:xfrm>
            <a:off x="661475" y="921345"/>
            <a:ext cx="10868745" cy="229096"/>
          </a:xfrm>
          <a:prstGeom prst="roundRect">
            <a:avLst>
              <a:gd name="adj" fmla="val 17326"/>
            </a:avLst>
          </a:prstGeom>
          <a:solidFill>
            <a:srgbClr val="002A80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5929" y="992188"/>
            <a:ext cx="118067" cy="944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58865" y="992188"/>
            <a:ext cx="11076901" cy="921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81000"/>
              </a:lnSpc>
              <a:buNone/>
            </a:pPr>
            <a:r>
              <a:rPr lang="he-IL" alt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מברק אחד. שלוש הודעות באותו צ'אט — שיחה, לא מברק</a:t>
            </a:r>
            <a:endParaRPr lang="he-IL" sz="7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475" y="1203523"/>
            <a:ext cx="10868745" cy="489098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552069" y="1459569"/>
            <a:ext cx="1902004" cy="3056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ct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סיכום</a:t>
            </a:r>
            <a:endParaRPr lang="he-IL" sz="1850" dirty="0"/>
          </a:p>
        </p:txBody>
      </p:sp>
      <p:sp>
        <p:nvSpPr>
          <p:cNvPr id="8" name="Text 4"/>
          <p:cNvSpPr/>
          <p:nvPr/>
        </p:nvSpPr>
        <p:spPr>
          <a:xfrm>
            <a:off x="7552069" y="1848862"/>
            <a:ext cx="1902004" cy="35271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lnSpc>
                <a:spcPct val="7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נקודות מרכזיות מתוך המסמך</a:t>
            </a:r>
            <a:endParaRPr lang="he-IL" sz="1450" dirty="0"/>
          </a:p>
        </p:txBody>
      </p:sp>
      <p:sp>
        <p:nvSpPr>
          <p:cNvPr id="9" name="Text 5"/>
          <p:cNvSpPr/>
          <p:nvPr/>
        </p:nvSpPr>
        <p:spPr>
          <a:xfrm>
            <a:off x="5137988" y="5127810"/>
            <a:ext cx="1912454" cy="3056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ct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שאלות</a:t>
            </a:r>
            <a:endParaRPr lang="he-IL" sz="1850" dirty="0"/>
          </a:p>
        </p:txBody>
      </p:sp>
      <p:sp>
        <p:nvSpPr>
          <p:cNvPr id="10" name="Text 6"/>
          <p:cNvSpPr/>
          <p:nvPr/>
        </p:nvSpPr>
        <p:spPr>
          <a:xfrm>
            <a:off x="5137988" y="5517104"/>
            <a:ext cx="1912454" cy="35271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lnSpc>
                <a:spcPct val="7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שאלות חכמות לשאול בפגישה</a:t>
            </a:r>
            <a:endParaRPr lang="he-IL" sz="1450" dirty="0"/>
          </a:p>
        </p:txBody>
      </p:sp>
      <p:sp>
        <p:nvSpPr>
          <p:cNvPr id="11" name="Text 7"/>
          <p:cNvSpPr/>
          <p:nvPr/>
        </p:nvSpPr>
        <p:spPr>
          <a:xfrm>
            <a:off x="2817961" y="1422991"/>
            <a:ext cx="1902004" cy="3056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ct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סיכונים</a:t>
            </a:r>
            <a:endParaRPr lang="he-IL" sz="1850" dirty="0"/>
          </a:p>
        </p:txBody>
      </p:sp>
      <p:sp>
        <p:nvSpPr>
          <p:cNvPr id="12" name="Text 8"/>
          <p:cNvSpPr/>
          <p:nvPr/>
        </p:nvSpPr>
        <p:spPr>
          <a:xfrm>
            <a:off x="2817961" y="1812284"/>
            <a:ext cx="1902004" cy="35271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lnSpc>
                <a:spcPct val="7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נקודות במסמך שעלולות לפעול לרעתך</a:t>
            </a:r>
            <a:endParaRPr lang="he-IL" sz="1450" dirty="0"/>
          </a:p>
        </p:txBody>
      </p:sp>
      <p:sp>
        <p:nvSpPr>
          <p:cNvPr id="13" name="Text 9"/>
          <p:cNvSpPr/>
          <p:nvPr/>
        </p:nvSpPr>
        <p:spPr>
          <a:xfrm>
            <a:off x="51890" y="6200676"/>
            <a:ext cx="11336649" cy="921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81000"/>
              </a:lnSpc>
              <a:buNone/>
            </a:pPr>
            <a:r>
              <a:rPr lang="he-IL" altLang="en-US" sz="70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מי: אני [תפקיד], הפגישה בעוד שעה, אני לא מומחית למסמך הזה</a:t>
            </a:r>
            <a:endParaRPr lang="he-IL" sz="700" dirty="0"/>
          </a:p>
        </p:txBody>
      </p:sp>
      <p:sp>
        <p:nvSpPr>
          <p:cNvPr id="14" name="Shape 10"/>
          <p:cNvSpPr/>
          <p:nvPr/>
        </p:nvSpPr>
        <p:spPr>
          <a:xfrm>
            <a:off x="11517520" y="6147594"/>
            <a:ext cx="12700" cy="198338"/>
          </a:xfrm>
          <a:prstGeom prst="roundRect">
            <a:avLst>
              <a:gd name="adj" fmla="val 49999"/>
            </a:avLst>
          </a:prstGeom>
          <a:solidFill>
            <a:srgbClr val="6296FF"/>
          </a:solidFill>
          <a:ln/>
        </p:spPr>
      </p:sp>
      <p:sp>
        <p:nvSpPr>
          <p:cNvPr id="15" name="Shape 11"/>
          <p:cNvSpPr/>
          <p:nvPr/>
        </p:nvSpPr>
        <p:spPr>
          <a:xfrm>
            <a:off x="661475" y="6399014"/>
            <a:ext cx="10868745" cy="229096"/>
          </a:xfrm>
          <a:prstGeom prst="roundRect">
            <a:avLst>
              <a:gd name="adj" fmla="val 17326"/>
            </a:avLst>
          </a:prstGeom>
          <a:solidFill>
            <a:srgbClr val="002A80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929" y="6469856"/>
            <a:ext cx="118067" cy="9445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358865" y="6469856"/>
            <a:ext cx="11076901" cy="921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81000"/>
              </a:lnSpc>
              <a:buNone/>
            </a:pPr>
            <a:r>
              <a:rPr lang="he-IL" alt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כלי: הקובץ בתוך Claude. עובדה חיצונית → Perplexity, ואז חזרה</a:t>
            </a:r>
            <a:endParaRPr lang="he-IL" sz="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5233360" y="684808"/>
            <a:ext cx="6296860" cy="5758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3450" b="1" spc="-70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ארבעה כלי כתיבה — מתי כל אחד</a:t>
            </a:r>
            <a:endParaRPr lang="he-IL" sz="3450" dirty="0"/>
          </a:p>
        </p:txBody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33360" y="1509812"/>
            <a:ext cx="443001" cy="443012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884021" y="1509812"/>
            <a:ext cx="5646199" cy="2879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700" b="1" spc="-35" kern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ChatGPT</a:t>
            </a:r>
            <a:endParaRPr lang="en-US" sz="1700" dirty="0"/>
          </a:p>
        </p:txBody>
      </p:sp>
      <p:sp>
        <p:nvSpPr>
          <p:cNvPr id="6" name="Text 2"/>
          <p:cNvSpPr/>
          <p:nvPr/>
        </p:nvSpPr>
        <p:spPr>
          <a:xfrm>
            <a:off x="5884021" y="1897360"/>
            <a:ext cx="5646199" cy="2231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3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ניסוח, כיוונים, סיבוב שני. אין קובץ כבד</a:t>
            </a:r>
            <a:endParaRPr lang="he-IL" sz="135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33360" y="2452687"/>
            <a:ext cx="443001" cy="443012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5884021" y="2452687"/>
            <a:ext cx="5646199" cy="2879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700" b="1" spc="-35" kern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Claude</a:t>
            </a:r>
            <a:endParaRPr lang="en-US" sz="1700" dirty="0"/>
          </a:p>
        </p:txBody>
      </p:sp>
      <p:sp>
        <p:nvSpPr>
          <p:cNvPr id="9" name="Text 4"/>
          <p:cNvSpPr/>
          <p:nvPr/>
        </p:nvSpPr>
        <p:spPr>
          <a:xfrm>
            <a:off x="5884021" y="2840236"/>
            <a:ext cx="5646199" cy="2231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he-IL" altLang="en-US" sz="13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PDF, מסמך ארוך, דיוק על מה שכתוב בקובץ</a:t>
            </a:r>
            <a:endParaRPr lang="he-IL" sz="1350" dirty="0"/>
          </a:p>
        </p:txBody>
      </p:sp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233360" y="3395563"/>
            <a:ext cx="443001" cy="443012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5884021" y="3395563"/>
            <a:ext cx="5646199" cy="2879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700" b="1" spc="-35" kern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Gemini (Google)</a:t>
            </a:r>
            <a:endParaRPr lang="en-US" sz="1700" dirty="0"/>
          </a:p>
        </p:txBody>
      </p:sp>
      <p:sp>
        <p:nvSpPr>
          <p:cNvPr id="12" name="Text 6"/>
          <p:cNvSpPr/>
          <p:nvPr/>
        </p:nvSpPr>
        <p:spPr>
          <a:xfrm>
            <a:off x="5884021" y="3783112"/>
            <a:ext cx="5646199" cy="2231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3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המשימה כבר ב־Gmail / Docs / Drive — לא מעתיקים החוצה</a:t>
            </a:r>
            <a:endParaRPr lang="he-IL" sz="1350" dirty="0"/>
          </a:p>
        </p:txBody>
      </p:sp>
      <p:pic>
        <p:nvPicPr>
          <p:cNvPr id="13" name="Image 4" descr="preencoded.png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233360" y="4338439"/>
            <a:ext cx="443001" cy="443012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5884021" y="4338439"/>
            <a:ext cx="5646199" cy="2879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700" b="1" spc="-35" kern="0" dirty="0">
                <a:solidFill>
                  <a:srgbClr val="EBEDF0"/>
                </a:solidFill>
                <a:latin typeface="Geist Bold" pitchFamily="34" charset="0"/>
                <a:ea typeface="Geist Bold" pitchFamily="34" charset="-122"/>
                <a:cs typeface="Geist Bold" pitchFamily="34" charset="-120"/>
              </a:rPr>
              <a:t>Copilot</a:t>
            </a:r>
            <a:endParaRPr lang="en-US" sz="1700" dirty="0"/>
          </a:p>
        </p:txBody>
      </p:sp>
      <p:sp>
        <p:nvSpPr>
          <p:cNvPr id="15" name="Text 8"/>
          <p:cNvSpPr/>
          <p:nvPr/>
        </p:nvSpPr>
        <p:spPr>
          <a:xfrm>
            <a:off x="5884021" y="4725988"/>
            <a:ext cx="5646199" cy="2231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3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המשימה כבר ב־Word / Outlook / Excel, ויש רישיון. אין רישיון — לא השקף הזה</a:t>
            </a:r>
            <a:endParaRPr lang="he-IL" sz="1350" dirty="0"/>
          </a:p>
        </p:txBody>
      </p:sp>
      <p:sp>
        <p:nvSpPr>
          <p:cNvPr id="16" name="Text 9"/>
          <p:cNvSpPr/>
          <p:nvPr/>
        </p:nvSpPr>
        <p:spPr>
          <a:xfrm>
            <a:off x="4623776" y="5135959"/>
            <a:ext cx="6906444" cy="2231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3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נשארים באותו צ'אט עד שהמשימה נגמרה. מחליפים כלי רק כשהמשימה התחלפה</a:t>
            </a:r>
            <a:endParaRPr lang="he-IL" sz="1350" dirty="0"/>
          </a:p>
        </p:txBody>
      </p:sp>
      <p:sp>
        <p:nvSpPr>
          <p:cNvPr id="17" name="Shape 10"/>
          <p:cNvSpPr/>
          <p:nvPr/>
        </p:nvSpPr>
        <p:spPr>
          <a:xfrm>
            <a:off x="5233360" y="5545931"/>
            <a:ext cx="6296860" cy="627162"/>
          </a:xfrm>
          <a:prstGeom prst="roundRect">
            <a:avLst>
              <a:gd name="adj" fmla="val 11867"/>
            </a:avLst>
          </a:prstGeom>
          <a:solidFill>
            <a:srgbClr val="002A80"/>
          </a:solidFill>
          <a:ln/>
        </p:spPr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10561" y="5759946"/>
            <a:ext cx="221451" cy="177205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5199627" y="5756275"/>
            <a:ext cx="6153393" cy="2231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he-IL" alt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סודי: כלי ארגוני, או מוחקים שמות ומספרים לפני ההעלאה</a:t>
            </a:r>
            <a:endParaRPr lang="he-IL" sz="13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תנו לו חומר לעבוד איתו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הנחיה טובה + חומר אמיתי = תוצאה מדויקת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156448" y="1920240"/>
            <a:ext cx="3383280" cy="329184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9436608" y="2148840"/>
            <a:ext cx="822960" cy="82296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2600" b="1" i="0" lang="he-IL">
                <a:solidFill>
                  <a:srgbClr val="F2F5FA"/>
                </a:solidFill>
                <a:latin typeface="Arial"/>
                <a:cs typeface="Arial"/>
              </a:rPr>
              <a:t>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57616" y="3154680"/>
            <a:ext cx="2980944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800" b="1" i="0" lang="he-IL">
                <a:solidFill>
                  <a:srgbClr val="EBEDF0"/>
                </a:solidFill>
                <a:latin typeface="Arial"/>
                <a:cs typeface="Arial"/>
              </a:rPr>
              <a:t>הדבקת טקסט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30768" y="3657600"/>
            <a:ext cx="2834640" cy="14630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מדביקים מייל, תמלול או מסמך:</a:t>
            </a:r>
          </a:p>
          <a:p>
            <a:pPr rtl="1" algn="ct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"סכם ב-3 נקודות וכתוב טיוטת תשובה."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7408" y="1920240"/>
            <a:ext cx="3383280" cy="329184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5687568" y="2148840"/>
            <a:ext cx="822960" cy="82296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2600" b="1" i="0" lang="he-IL">
                <a:solidFill>
                  <a:srgbClr val="F2F5FA"/>
                </a:solidFill>
                <a:latin typeface="Arial"/>
                <a:cs typeface="Arial"/>
              </a:rPr>
              <a:t>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08576" y="3154680"/>
            <a:ext cx="2980944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800" b="1" i="0" lang="he-IL">
                <a:solidFill>
                  <a:srgbClr val="EBEDF0"/>
                </a:solidFill>
                <a:latin typeface="Arial"/>
                <a:cs typeface="Arial"/>
              </a:rPr>
              <a:t>קובץ מצורף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1728" y="3657600"/>
            <a:ext cx="2834640" cy="14630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PDF, וורד או אקסל:</a:t>
            </a:r>
          </a:p>
          <a:p>
            <a:pPr rtl="1" algn="ct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"מה שלושת הסיכונים בחוזה המצורף?"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1920240"/>
            <a:ext cx="3383280" cy="329184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1938528" y="2148840"/>
            <a:ext cx="822960" cy="82296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2600" b="1" i="0" lang="he-IL">
                <a:solidFill>
                  <a:srgbClr val="F2F5FA"/>
                </a:solidFill>
                <a:latin typeface="Arial"/>
                <a:cs typeface="Arial"/>
              </a:rPr>
              <a:t>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" y="3154680"/>
            <a:ext cx="2980944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800" b="1" i="0" lang="he-IL">
                <a:solidFill>
                  <a:srgbClr val="EBEDF0"/>
                </a:solidFill>
                <a:latin typeface="Arial"/>
                <a:cs typeface="Arial"/>
              </a:rPr>
              <a:t>תמונה או צילום מסך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3657600"/>
            <a:ext cx="2834640" cy="14630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spcAft>
                <a:spcPts val="400"/>
              </a:spcAft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קבלה, לוח, גרף או פתק:</a:t>
            </a:r>
          </a:p>
          <a:p>
            <a:pPr rtl="1" algn="ct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"הפוך את הצילום הזה לטבלה מסודרת."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5532120"/>
            <a:ext cx="10872216" cy="640080"/>
          </a:xfrm>
          <a:prstGeom prst="roundRect">
            <a:avLst>
              <a:gd name="adj" fmla="val 3000"/>
            </a:avLst>
          </a:prstGeom>
          <a:solidFill>
            <a:srgbClr val="4B3F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86968" y="5532120"/>
            <a:ext cx="10415016" cy="64008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⚠️  לפני שמעלים: מוחקים שמות, מספרי זהות ופרטי לקוחות. זוכרים את תיקון 13?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טריק: תנו ל-AI לשפר את ההנחיה שלכם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הוא יודע בדיוק מה הוא צריך לשמוע. פשוט תשאלו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156448" y="1920240"/>
            <a:ext cx="3383280" cy="310896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9528048" y="210312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2000" b="1" i="0" lang="he-IL">
                <a:solidFill>
                  <a:srgbClr val="F2F5FA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57616" y="2926080"/>
            <a:ext cx="2980944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כותבים הנחיה רגילה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30768" y="3429000"/>
            <a:ext cx="2834640" cy="14630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20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"כתוב פוסט על הסדנה שלי"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324612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2600" b="1" i="0" lang="he-IL">
                <a:solidFill>
                  <a:srgbClr val="6296FF"/>
                </a:solidFill>
                <a:latin typeface="Arial"/>
                <a:cs typeface="Arial"/>
              </a:rPr>
              <a:t>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07408" y="1920240"/>
            <a:ext cx="3383280" cy="310896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5779008" y="210312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2000" b="1" i="0" lang="he-IL">
                <a:solidFill>
                  <a:srgbClr val="F2F5FA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08576" y="2926080"/>
            <a:ext cx="2980944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מבקשים לשפר אותה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1728" y="3429000"/>
            <a:ext cx="2834640" cy="14630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20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"שפר את ההנחיה הזו כדי שאקבל תוצאה מדויקת. שאל אותי מה חסר."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0" y="324612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2600" b="1" i="0" lang="he-IL">
                <a:solidFill>
                  <a:srgbClr val="6296FF"/>
                </a:solidFill>
                <a:latin typeface="Arial"/>
                <a:cs typeface="Arial"/>
              </a:rPr>
              <a:t>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1920240"/>
            <a:ext cx="3383280" cy="310896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2029968" y="210312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2000" b="1" i="0" lang="he-IL">
                <a:solidFill>
                  <a:srgbClr val="F2F5FA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" y="2926080"/>
            <a:ext cx="2980944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עונים ומריצים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3429000"/>
            <a:ext cx="2834640" cy="14630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20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מקבלים הנחיה מקצועית, ומריצים אותה בשיחה חדשה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5349240"/>
            <a:ext cx="10872216" cy="82296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86968" y="5349240"/>
            <a:ext cx="10415016" cy="8229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💡  שימו לב: ההנחיה המשופרת היא בדיוק החומר לבנק ההנחיות שלכם. שומרים, ומשתמשים שוב.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התבנית: הנחיה בשש שורות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מעתיקים, ממלאים את הסוגריים, ומריצים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874519"/>
            <a:ext cx="10872216" cy="352044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9646920" y="2029968"/>
            <a:ext cx="1691640" cy="420624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646920" y="2029968"/>
            <a:ext cx="1691640" cy="420624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50" b="1" i="0" lang="he-IL">
                <a:solidFill>
                  <a:srgbClr val="6296FF"/>
                </a:solidFill>
                <a:latin typeface="Arial"/>
                <a:cs typeface="Arial"/>
              </a:rPr>
              <a:t>תפקיד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29968"/>
            <a:ext cx="8549640" cy="420624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0" i="0" lang="he-IL">
                <a:solidFill>
                  <a:srgbClr val="F2F5FA"/>
                </a:solidFill>
                <a:latin typeface="Arial"/>
                <a:cs typeface="Arial"/>
              </a:rPr>
              <a:t>אתה [יועץ / עורך / מורה] מנוסה.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46920" y="2578608"/>
            <a:ext cx="1691640" cy="420624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46920" y="2578608"/>
            <a:ext cx="1691640" cy="420624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50" b="1" i="0" lang="he-IL">
                <a:solidFill>
                  <a:srgbClr val="6296FF"/>
                </a:solidFill>
                <a:latin typeface="Arial"/>
                <a:cs typeface="Arial"/>
              </a:rPr>
              <a:t>הקשר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8549640" cy="420624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0" i="0" lang="he-IL">
                <a:solidFill>
                  <a:srgbClr val="F2F5FA"/>
                </a:solidFill>
                <a:latin typeface="Arial"/>
                <a:cs typeface="Arial"/>
              </a:rPr>
              <a:t>אני [מי אני, ומה המצב].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46920" y="3127248"/>
            <a:ext cx="1691640" cy="420624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646920" y="3127248"/>
            <a:ext cx="1691640" cy="420624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50" b="1" i="0" lang="he-IL">
                <a:solidFill>
                  <a:srgbClr val="6296FF"/>
                </a:solidFill>
                <a:latin typeface="Arial"/>
                <a:cs typeface="Arial"/>
              </a:rPr>
              <a:t>משימה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127248"/>
            <a:ext cx="8549640" cy="420624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0" i="0" lang="he-IL">
                <a:solidFill>
                  <a:srgbClr val="F2F5FA"/>
                </a:solidFill>
                <a:latin typeface="Arial"/>
                <a:cs typeface="Arial"/>
              </a:rPr>
              <a:t>אני צריך [מה בדיוק, ולמי].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46920" y="3675887"/>
            <a:ext cx="1691640" cy="420624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646920" y="3675887"/>
            <a:ext cx="1691640" cy="420624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50" b="1" i="0" lang="he-IL">
                <a:solidFill>
                  <a:srgbClr val="6296FF"/>
                </a:solidFill>
                <a:latin typeface="Arial"/>
                <a:cs typeface="Arial"/>
              </a:rPr>
              <a:t>פורמט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675887"/>
            <a:ext cx="8549640" cy="420624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0" i="0" lang="he-IL">
                <a:solidFill>
                  <a:srgbClr val="F2F5FA"/>
                </a:solidFill>
                <a:latin typeface="Arial"/>
                <a:cs typeface="Arial"/>
              </a:rPr>
              <a:t>התוצאה: [מייל / טבלה / 5 נקודות], באורך [...].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46920" y="4224528"/>
            <a:ext cx="1691640" cy="420624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646920" y="4224528"/>
            <a:ext cx="1691640" cy="420624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50" b="1" i="0" lang="he-IL">
                <a:solidFill>
                  <a:srgbClr val="6296FF"/>
                </a:solidFill>
                <a:latin typeface="Arial"/>
                <a:cs typeface="Arial"/>
              </a:rPr>
              <a:t>גבולות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224528"/>
            <a:ext cx="8549640" cy="420624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0" i="0" lang="he-IL">
                <a:solidFill>
                  <a:srgbClr val="F2F5FA"/>
                </a:solidFill>
                <a:latin typeface="Arial"/>
                <a:cs typeface="Arial"/>
              </a:rPr>
              <a:t>בלי [הקדמה / סימני קריאה / מונחים מקצועיים].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46920" y="4773168"/>
            <a:ext cx="1691640" cy="420624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646920" y="4773168"/>
            <a:ext cx="1691640" cy="420624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50" b="1" i="0" lang="he-IL">
                <a:solidFill>
                  <a:srgbClr val="6296FF"/>
                </a:solidFill>
                <a:latin typeface="Arial"/>
                <a:cs typeface="Arial"/>
              </a:rPr>
              <a:t>דוגמה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773168"/>
            <a:ext cx="8549640" cy="420624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0" i="0" lang="he-IL">
                <a:solidFill>
                  <a:srgbClr val="F2F5FA"/>
                </a:solidFill>
                <a:latin typeface="Arial"/>
                <a:cs typeface="Arial"/>
              </a:rPr>
              <a:t>הנה דוגמה לסגנון שאני אוהב: [...]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557784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183A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86968" y="557784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📌  התבנית נשלחת עכשיו בצ'אט. שמרו אותה: זו ההנחיה הראשונה בבנק שלכם.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🔍 נחשו את ההנחיה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זה מה שה-AI כתב. איזו הנחיה הובילה לזה?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0" y="1920240"/>
            <a:ext cx="6958584" cy="342900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846320" y="2084831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A9B4C6"/>
                </a:solidFill>
                <a:latin typeface="Arial"/>
                <a:cs typeface="Arial"/>
              </a:rPr>
              <a:t>💬  התשובה של ה-AI: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46320" y="2606040"/>
            <a:ext cx="6400800" cy="2651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spcAft>
                <a:spcPts val="600"/>
              </a:spcAft>
              <a:buNone/>
            </a:pPr>
            <a:r>
              <a:rPr sz="1600" b="0" i="0" lang="he-IL">
                <a:solidFill>
                  <a:srgbClr val="F2F5FA"/>
                </a:solidFill>
                <a:latin typeface="Arial"/>
                <a:cs typeface="Arial"/>
              </a:rPr>
              <a:t>שלושה רעיונות לארוחת ערב טבעונית לזוג, עד 20 דקות הכנה:</a:t>
            </a:r>
          </a:p>
          <a:p>
            <a:pPr rtl="1" algn="r" marL="0" indent="0">
              <a:lnSpc>
                <a:spcPct val="108000"/>
              </a:lnSpc>
              <a:spcAft>
                <a:spcPts val="600"/>
              </a:spcAft>
              <a:buNone/>
            </a:pPr>
            <a:r>
              <a:rPr sz="1600" b="0" i="0" lang="he-IL">
                <a:solidFill>
                  <a:srgbClr val="F2F5FA"/>
                </a:solidFill>
                <a:latin typeface="Arial"/>
                <a:cs typeface="Arial"/>
              </a:rPr>
              <a:t>1. פסטה עם עגבניות שרי, שום ובזיליקום</a:t>
            </a:r>
          </a:p>
          <a:p>
            <a:pPr rtl="1" algn="r" marL="0" indent="0">
              <a:lnSpc>
                <a:spcPct val="108000"/>
              </a:lnSpc>
              <a:spcAft>
                <a:spcPts val="600"/>
              </a:spcAft>
              <a:buNone/>
            </a:pPr>
            <a:r>
              <a:rPr sz="1600" b="0" i="0" lang="he-IL">
                <a:solidFill>
                  <a:srgbClr val="F2F5FA"/>
                </a:solidFill>
                <a:latin typeface="Arial"/>
                <a:cs typeface="Arial"/>
              </a:rPr>
              <a:t>2. טורטייה עם חומוס וירקות קלויים</a:t>
            </a:r>
          </a:p>
          <a:p>
            <a:pPr rtl="1" algn="r" marL="0" indent="0">
              <a:lnSpc>
                <a:spcPct val="108000"/>
              </a:lnSpc>
              <a:buNone/>
            </a:pPr>
            <a:r>
              <a:rPr sz="1600" b="0" i="0" lang="he-IL">
                <a:solidFill>
                  <a:srgbClr val="F2F5FA"/>
                </a:solidFill>
                <a:latin typeface="Arial"/>
                <a:cs typeface="Arial"/>
              </a:rPr>
              <a:t>3. מוקפץ טופו עם אורז מוכן ובוטנים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920240"/>
            <a:ext cx="3657600" cy="34290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68680" y="2084831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EBEDF0"/>
                </a:solidFill>
                <a:latin typeface="Arial"/>
                <a:cs typeface="Arial"/>
              </a:rPr>
              <a:t>🕵️  רמזים לחפש: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606040"/>
            <a:ext cx="3246120" cy="2651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285750" indent="-28575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sz="1550" b="0" i="0" lang="he-IL">
                <a:solidFill>
                  <a:srgbClr val="EBEDF0"/>
                </a:solidFill>
                <a:latin typeface="Arial"/>
                <a:cs typeface="Arial"/>
              </a:rPr>
              <a:t>מי הקהל?</a:t>
            </a:r>
          </a:p>
          <a:p>
            <a:pPr rtl="1" algn="r" marL="285750" indent="-28575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sz="1550" b="0" i="0" lang="he-IL">
                <a:solidFill>
                  <a:srgbClr val="EBEDF0"/>
                </a:solidFill>
                <a:latin typeface="Arial"/>
                <a:cs typeface="Arial"/>
              </a:rPr>
              <a:t>כמה פריטים?</a:t>
            </a:r>
          </a:p>
          <a:p>
            <a:pPr rtl="1" algn="r" marL="285750" indent="-28575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sz="1550" b="0" i="0" lang="he-IL">
                <a:solidFill>
                  <a:srgbClr val="EBEDF0"/>
                </a:solidFill>
                <a:latin typeface="Arial"/>
                <a:cs typeface="Arial"/>
              </a:rPr>
              <a:t>איזו מגבלה?</a:t>
            </a:r>
          </a:p>
          <a:p>
            <a:pPr rtl="1" algn="r" marL="285750" indent="-285750">
              <a:lnSpc>
                <a:spcPct val="108000"/>
              </a:lnSpc>
              <a:buSzPct val="100000"/>
              <a:buChar char="•"/>
            </a:pPr>
            <a:r>
              <a:rPr sz="1550" b="0" i="0" lang="he-IL">
                <a:solidFill>
                  <a:srgbClr val="EBEDF0"/>
                </a:solidFill>
                <a:latin typeface="Arial"/>
                <a:cs typeface="Arial"/>
              </a:rPr>
              <a:t>איזה פורמט?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557784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183A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86968" y="557784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✍️  כתבו במשחק או בצ'אט את ההנחיה שלדעתכם יצרה את זה. הכי קרובה מנצחת.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🎯 כרטיסי משימה למעבדה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בחרו משימה, או הביאו משימה אמיתית משלכם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874519"/>
            <a:ext cx="5312664" cy="1600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10799064" y="2057400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112263"/>
            <a:ext cx="4352544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גבייה בנימוס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624327"/>
            <a:ext cx="4946904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EBEDF0"/>
                </a:solidFill>
                <a:latin typeface="Arial"/>
                <a:cs typeface="Arial"/>
              </a:rPr>
              <a:t>מייל ללקוח שמאחר 45 יום בתשלום של 3,200 ₪. אדיב, אבל ברור.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874519"/>
            <a:ext cx="5312664" cy="1600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5239512" y="2057400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112263"/>
            <a:ext cx="4352544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סיכום פגישה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624327"/>
            <a:ext cx="4946904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EBEDF0"/>
                </a:solidFill>
                <a:latin typeface="Arial"/>
                <a:cs typeface="Arial"/>
              </a:rPr>
              <a:t>הפכו את תמליל הפגישה (בצ'אט) לטבלה: נושא, החלטה, אחראי, תאריך.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675887"/>
            <a:ext cx="5312664" cy="1600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10799064" y="3858768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913631"/>
            <a:ext cx="4352544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פוסט לעסק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4425696"/>
            <a:ext cx="4946904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EBEDF0"/>
                </a:solidFill>
                <a:latin typeface="Arial"/>
                <a:cs typeface="Arial"/>
              </a:rPr>
              <a:t>פוסט לאינסטגרם על מבצע סוף עונה. שלוש גרסאות בשלושה טונים.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675887"/>
            <a:ext cx="5312664" cy="1600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5239512" y="3858768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3913631"/>
            <a:ext cx="4352544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השוואת הצעות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4425696"/>
            <a:ext cx="4946904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EBEDF0"/>
                </a:solidFill>
                <a:latin typeface="Arial"/>
                <a:cs typeface="Arial"/>
              </a:rPr>
              <a:t>טבלת השוואה בין שלוש הצעות מחיר (בצ'אט), עם המלצה מנומקת.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557784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86968" y="557784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⏱️  15 דקות בחדרי עבודה. בסוף מדביקים במשחק את ההנחיה הכי טובה, לפני ואחרי.</a:t>
            </a:r>
          </a:p>
        </p:txBody>
      </p:sp>
    </p:spTree>
  </p:cSld>
  <p:clrMapOvr>
    <a:masterClrMapping/>
  </p:clrMapOvr>
</p:sld>
</file>

<file path=ppt/slides/slide9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ext 0"/>
          <p:cNvSpPr/>
          <p:nvPr/>
        </p:nvSpPr>
        <p:spPr>
          <a:xfrm>
            <a:off x="5233360" y="2209998"/>
            <a:ext cx="6296860" cy="614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3700" b="1" spc="-74" kern="0" dirty="0">
                <a:solidFill>
                  <a:srgbClr val="F2F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קורס AI בסיסי למתחילים</a:t>
            </a:r>
            <a:endParaRPr lang="he-IL" sz="3700" dirty="0"/>
          </a:p>
        </p:txBody>
      </p:sp>
      <p:sp>
        <p:nvSpPr>
          <p:cNvPr id="4" name="Text 1"/>
          <p:cNvSpPr/>
          <p:nvPr/>
        </p:nvSpPr>
        <p:spPr>
          <a:xfrm>
            <a:off x="5233360" y="2899866"/>
            <a:ext cx="6296860" cy="3070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ctr" indent="0" marL="0">
              <a:lnSpc>
                <a:spcPct val="108000"/>
              </a:lnSpc>
              <a:buNone/>
            </a:pPr>
            <a:r>
              <a:rPr lang="he-IL" altLang="en-US" sz="1850" b="1" spc="-37" kern="0" dirty="0">
                <a:solidFill>
                  <a:srgbClr val="FAC4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מפגש 3: העסק שלכם מקבל פנים</a:t>
            </a:r>
            <a:endParaRPr lang="he-IL" sz="1850" dirty="0"/>
          </a:p>
        </p:txBody>
      </p:sp>
      <p:sp>
        <p:nvSpPr>
          <p:cNvPr id="5" name="Text 2"/>
          <p:cNvSpPr/>
          <p:nvPr/>
        </p:nvSpPr>
        <p:spPr>
          <a:xfrm>
            <a:off x="4928568" y="3490416"/>
            <a:ext cx="6906444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ct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EBE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מותג, אפליקציה, מצגת, תמונה, קול ווידאו. הכול היום</a:t>
            </a:r>
            <a:endParaRPr lang="he-IL" sz="1450" dirty="0"/>
          </a:p>
        </p:txBody>
      </p:sp>
      <p:sp>
        <p:nvSpPr>
          <p:cNvPr id="6" name="Shape 3"/>
          <p:cNvSpPr/>
          <p:nvPr/>
        </p:nvSpPr>
        <p:spPr>
          <a:xfrm>
            <a:off x="5233360" y="3948708"/>
            <a:ext cx="6296860" cy="699195"/>
          </a:xfrm>
          <a:prstGeom prst="roundRect">
            <a:avLst>
              <a:gd name="adj" fmla="val 11354"/>
            </a:avLst>
          </a:prstGeom>
          <a:solidFill>
            <a:srgbClr val="002A80"/>
          </a:solidFill>
          <a:ln/>
        </p:spPr>
        <p:txBody>
          <a:bodyPr/>
          <a:p/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2367" y="4191000"/>
            <a:ext cx="236234" cy="18901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238024" y="4184948"/>
            <a:ext cx="6103190" cy="245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he-IL" altLang="en-US" sz="14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הכלל של היום: קודם אפיון, אחר כך עיצוב. ואתם יוצאים עם ערכה ביד.</a:t>
            </a:r>
            <a:endParaRPr lang="he-IL" sz="1450" dirty="0"/>
          </a:p>
        </p:txBody>
      </p:sp>
      <p:sp>
        <p:nvSpPr>
          <p:cNvPr id="9" name="TextBox 8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📰 מה חדש השבוע ב-AI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מה קרה בעולם ה-AI מאז שנפגשנו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874519"/>
            <a:ext cx="4572000" cy="352044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86968" y="205740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00" b="1" i="0" lang="he-IL">
                <a:solidFill>
                  <a:srgbClr val="FAC496"/>
                </a:solidFill>
                <a:latin typeface="Arial"/>
                <a:cs typeface="Arial"/>
              </a:rPr>
              <a:t>ElevenLabs · 28.9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2468880"/>
            <a:ext cx="4114800" cy="11887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10000"/>
              </a:lnSpc>
              <a:buNone/>
            </a:pPr>
            <a:r>
              <a:rPr sz="2400" b="1" i="0" lang="he-IL">
                <a:solidFill>
                  <a:srgbClr val="F2F5FA"/>
                </a:solidFill>
                <a:latin typeface="Arial"/>
                <a:cs typeface="Arial"/>
              </a:rPr>
              <a:t>Eleven v4: קול אנושי ומלא רגש ב-90 שפות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3794760"/>
            <a:ext cx="4114800" cy="14630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20000"/>
              </a:lnSpc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מודל הקול החדש מקריא עם רגש והדגשות. היום נשמע אותו, וננסה ליצור קול לעסק שלכם.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40680" y="1874519"/>
            <a:ext cx="6089904" cy="621792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829800" y="1874519"/>
            <a:ext cx="1600200" cy="62179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150" b="1" i="0" lang="he-IL">
                <a:solidFill>
                  <a:srgbClr val="FAC496"/>
                </a:solidFill>
                <a:latin typeface="Arial"/>
                <a:cs typeface="Arial"/>
              </a:rPr>
              <a:t>OpenAI · 24.9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7840" y="1874519"/>
            <a:ext cx="4206240" cy="62179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1" i="0" lang="he-IL">
                <a:solidFill>
                  <a:srgbClr val="EBEDF0"/>
                </a:solidFill>
                <a:latin typeface="Arial"/>
                <a:cs typeface="Arial"/>
              </a:rPr>
              <a:t>Sora נסגר: שומרים עותק של מה שיוצרים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2596896"/>
            <a:ext cx="6089904" cy="621792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829800" y="2596896"/>
            <a:ext cx="1600200" cy="62179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150" b="1" i="0" lang="he-IL">
                <a:solidFill>
                  <a:srgbClr val="FAC496"/>
                </a:solidFill>
                <a:latin typeface="Arial"/>
                <a:cs typeface="Arial"/>
              </a:rPr>
              <a:t>Meta · 23.9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596896"/>
            <a:ext cx="4206240" cy="62179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1" i="0" lang="he-IL">
                <a:solidFill>
                  <a:srgbClr val="EBEDF0"/>
                </a:solidFill>
                <a:latin typeface="Arial"/>
                <a:cs typeface="Arial"/>
              </a:rPr>
              <a:t>Muse: עוזר אישי עם אווטאר מדבר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40680" y="3319272"/>
            <a:ext cx="6089904" cy="621792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829800" y="3319272"/>
            <a:ext cx="1600200" cy="62179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150" b="1" i="0" lang="he-IL">
                <a:solidFill>
                  <a:srgbClr val="FAC496"/>
                </a:solidFill>
                <a:latin typeface="Arial"/>
                <a:cs typeface="Arial"/>
              </a:rPr>
              <a:t>Google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77840" y="3319272"/>
            <a:ext cx="4206240" cy="62179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1" i="0" lang="he-IL">
                <a:solidFill>
                  <a:srgbClr val="EBEDF0"/>
                </a:solidFill>
                <a:latin typeface="Arial"/>
                <a:cs typeface="Arial"/>
              </a:rPr>
              <a:t>Gemini Omni: וידאו מכל דבר, חינם ב-YouTube Create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40680" y="4041648"/>
            <a:ext cx="6089904" cy="621792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829800" y="4041648"/>
            <a:ext cx="1600200" cy="62179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150" b="1" i="0" lang="he-IL">
                <a:solidFill>
                  <a:srgbClr val="FAC496"/>
                </a:solidFill>
                <a:latin typeface="Arial"/>
                <a:cs typeface="Arial"/>
              </a:rPr>
              <a:t>Anthropic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4041648"/>
            <a:ext cx="4206240" cy="62179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1" i="0" lang="he-IL">
                <a:solidFill>
                  <a:srgbClr val="EBEDF0"/>
                </a:solidFill>
                <a:latin typeface="Arial"/>
                <a:cs typeface="Arial"/>
              </a:rPr>
              <a:t>Claude Design: עורכים עיצוב ישירות על הקנבס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40680" y="4764024"/>
            <a:ext cx="6089904" cy="621792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829800" y="4764024"/>
            <a:ext cx="1600200" cy="62179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150" b="1" i="0" lang="he-IL">
                <a:solidFill>
                  <a:srgbClr val="FAC496"/>
                </a:solidFill>
                <a:latin typeface="Arial"/>
                <a:cs typeface="Arial"/>
              </a:rPr>
              <a:t>ישראל · ספטמבר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77840" y="4764024"/>
            <a:ext cx="4206240" cy="62179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1" i="0" lang="he-IL">
                <a:solidFill>
                  <a:srgbClr val="EBEDF0"/>
                </a:solidFill>
                <a:latin typeface="Arial"/>
                <a:cs typeface="Arial"/>
              </a:rPr>
              <a:t>הייטק ישראלי גייס 2.5 מיליארד דולר בחודש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557784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183A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86968" y="557784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💬  כתבו בצ'אט: איזו מהחדשות הכי מסקרנת אתכם? על המנצחת נדבר דקה.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המסע של היום: מאפיון לערכת עסק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את האפיון כתבתם במפגש הקודם. היום הוא מקבל פנים, קול ותנועה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045952" y="1874519"/>
            <a:ext cx="438912" cy="438912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0" y="1920239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מותג: צבעים, פונטים וטון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1947672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6296FF"/>
                </a:solidFill>
                <a:latin typeface="Arial"/>
                <a:cs typeface="Arial"/>
              </a:rPr>
              <a:t>קלוד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045952" y="2478024"/>
            <a:ext cx="438912" cy="438912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2523744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אפליקציה מהאפיון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551176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6296FF"/>
                </a:solidFill>
                <a:latin typeface="Arial"/>
                <a:cs typeface="Arial"/>
              </a:rPr>
              <a:t>סטיץ' של גוגל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045952" y="3081528"/>
            <a:ext cx="438912" cy="438912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3127248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מצגת והצעת מחיר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15468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6296FF"/>
                </a:solidFill>
                <a:latin typeface="Arial"/>
                <a:cs typeface="Arial"/>
              </a:rPr>
              <a:t>גאמה, קנבה, קופיילוט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045952" y="3685031"/>
            <a:ext cx="438912" cy="438912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3730751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תמונת פרופיל ולינקדאין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758183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6296FF"/>
                </a:solidFill>
                <a:latin typeface="Arial"/>
                <a:cs typeface="Arial"/>
              </a:rPr>
              <a:t>ג'מיני, צ'אט ג'יפיטי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045952" y="4288536"/>
            <a:ext cx="438912" cy="438912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0" y="4334255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קול ואווטאר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4361688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6296FF"/>
                </a:solidFill>
                <a:latin typeface="Arial"/>
                <a:cs typeface="Arial"/>
              </a:rPr>
              <a:t>הייג'ן, אילבן לאבס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045952" y="4892040"/>
            <a:ext cx="438912" cy="438912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0" y="4937759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וידאו, כתוביות ועריכה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4965192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6296FF"/>
                </a:solidFill>
                <a:latin typeface="Arial"/>
                <a:cs typeface="Arial"/>
              </a:rPr>
              <a:t>Omni, Captions, Claude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1874519"/>
            <a:ext cx="3566160" cy="352044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68680" y="2057400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00" b="1" i="0" lang="he-IL">
                <a:solidFill>
                  <a:srgbClr val="F2F5FA"/>
                </a:solidFill>
                <a:latin typeface="Arial"/>
                <a:cs typeface="Arial"/>
              </a:rPr>
              <a:t>🎒 הערכה שלכם בסוף היום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2560320"/>
            <a:ext cx="3154680" cy="274320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285750" indent="-28575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sz="1500" b="0" i="0" lang="he-IL">
                <a:solidFill>
                  <a:srgbClr val="EBEDF0"/>
                </a:solidFill>
                <a:latin typeface="Arial"/>
                <a:cs typeface="Arial"/>
              </a:rPr>
              <a:t>ערכת מותג</a:t>
            </a:r>
          </a:p>
          <a:p>
            <a:pPr rtl="1" algn="r" marL="285750" indent="-28575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sz="1500" b="0" i="0" lang="he-IL">
                <a:solidFill>
                  <a:srgbClr val="EBEDF0"/>
                </a:solidFill>
                <a:latin typeface="Arial"/>
                <a:cs typeface="Arial"/>
              </a:rPr>
              <a:t>מסך אפליקציה</a:t>
            </a:r>
          </a:p>
          <a:p>
            <a:pPr rtl="1" algn="r" marL="285750" indent="-28575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sz="1500" b="0" i="0" lang="he-IL">
                <a:solidFill>
                  <a:srgbClr val="EBEDF0"/>
                </a:solidFill>
                <a:latin typeface="Arial"/>
                <a:cs typeface="Arial"/>
              </a:rPr>
              <a:t>מצגת של 6 שקפים</a:t>
            </a:r>
          </a:p>
          <a:p>
            <a:pPr rtl="1" algn="r" marL="285750" indent="-28575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sz="1500" b="0" i="0" lang="he-IL">
                <a:solidFill>
                  <a:srgbClr val="EBEDF0"/>
                </a:solidFill>
                <a:latin typeface="Arial"/>
                <a:cs typeface="Arial"/>
              </a:rPr>
              <a:t>תמונת פרופיל</a:t>
            </a:r>
          </a:p>
          <a:p>
            <a:pPr rtl="1" algn="r" marL="285750" indent="-285750">
              <a:lnSpc>
                <a:spcPct val="108000"/>
              </a:lnSpc>
              <a:buSzPct val="100000"/>
              <a:buChar char="•"/>
            </a:pPr>
            <a:r>
              <a:rPr sz="1500" b="0" i="0" lang="he-IL">
                <a:solidFill>
                  <a:srgbClr val="EBEDF0"/>
                </a:solidFill>
                <a:latin typeface="Arial"/>
                <a:cs typeface="Arial"/>
              </a:rPr>
              <a:t>סרטון אווטאר קצר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7784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183A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86968" y="557784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🏆  כל תוצר נכנס לאתגר באפליקציית הקורס. בסוף נכריז על הערכה של הערב.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p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itle"/>
          <p:cNvSpPr txBox="1"/>
          <p:nvPr/>
        </p:nvSpPr>
        <p:spPr>
          <a:xfrm>
            <a:off x="5230368" y="502920"/>
            <a:ext cx="6300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הכלל שחוסך שעות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30368" y="1280160"/>
            <a:ext cx="6300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קודם תוכן, אחר כך עיצוב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027664" y="20116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30368" y="2039112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האפיון ממפגש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30368" y="2432304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מי הלקוח, מה מוכרים, מה הטון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027664" y="297180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30368" y="2999232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AI הופך אותו לשפה ויזואלית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30368" y="3392424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צבעים, פונטים, סגנון תמונות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027664" y="393192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30368" y="3959352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אותה שפה בכל הכלים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30368" y="4352544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אפליקציה, מצגת, תמונות ווידאו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30368" y="5120640"/>
            <a:ext cx="6300216" cy="914400"/>
          </a:xfrm>
          <a:prstGeom prst="roundRect">
            <a:avLst>
              <a:gd name="adj" fmla="val 3000"/>
            </a:avLst>
          </a:prstGeom>
          <a:solidFill>
            <a:srgbClr val="4B3F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458968" y="5120640"/>
            <a:ext cx="5843016" cy="91440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💡  בלי אפיון? כתבו עכשיו 3 שורות בצ'אט: מה העסק, למי הוא, ואיך הוא צריך להרגיש.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lett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extBox 2"/>
          <p:cNvSpPr txBox="1"/>
          <p:nvPr/>
        </p:nvSpPr>
        <p:spPr>
          <a:xfrm>
            <a:off x="5230368" y="2011680"/>
            <a:ext cx="6300216" cy="91440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6000" b="1" i="0" lang="he-IL">
                <a:solidFill>
                  <a:srgbClr val="6296FF"/>
                </a:solidFill>
                <a:latin typeface="Arial"/>
                <a:cs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30368" y="3017520"/>
            <a:ext cx="6300216" cy="8229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4000" b="1" i="0" lang="he-IL">
                <a:solidFill>
                  <a:srgbClr val="F2F5FA"/>
                </a:solidFill>
                <a:latin typeface="Arial"/>
                <a:cs typeface="Arial"/>
              </a:rPr>
              <a:t>המותג שלכם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30368" y="3931920"/>
            <a:ext cx="6300216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0" i="0" lang="he-IL">
                <a:solidFill>
                  <a:srgbClr val="FAC496"/>
                </a:solidFill>
                <a:latin typeface="Arial"/>
                <a:cs typeface="Arial"/>
              </a:rPr>
              <a:t>צבעים, פונטים וטון, בעשר דקות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🎨 ערכת מותג בקלוד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מדביקים את האפיון, ומקבלים שפה ויזואלית שלמה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874519"/>
            <a:ext cx="5669280" cy="352044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86968" y="205740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📋  ההנחיה (בצ'אט ובחוברת)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2532887"/>
            <a:ext cx="5212080" cy="26974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25000"/>
              </a:lnSpc>
              <a:buNone/>
            </a:pPr>
            <a:r>
              <a:rPr sz="1500" b="0" i="0" lang="he-IL">
                <a:solidFill>
                  <a:srgbClr val="EBEDF0"/>
                </a:solidFill>
                <a:latin typeface="Arial"/>
                <a:cs typeface="Arial"/>
              </a:rPr>
              <a:t>"הנה האפיון של העסק שלי: [מדביקים]. בנה לי ערכת מותג: 5 צבעים עם קוד HEX ומה כל אחד מבטא, 2 פונטים חינמיים בעברית, 3 מילים שמתארות את הטון, ורעיון ללוגו. בסוף הצג את הכול כדף ויזואלי אחד."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027664" y="19202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947672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מדביקים את האפיון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340864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מהמפגש הקודם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027664" y="280720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83464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מקבלים דף מותג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3227832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קלוד מציג אותו כעמוד חי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027664" y="36941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3721608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משפרים בשיחה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4114800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"פחות רשמי", "צבע ראשי חם יותר"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027664" y="458114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4608576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שומרים את קודי הצבע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5001768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נשתמש בהם בכל כלי היום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57784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183A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86968" y="557784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🏆  אתגר באפליקציה: "ערכת מותג". הדביקו את ההנחיה הכי טובה שלכם.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hon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extBox 2"/>
          <p:cNvSpPr txBox="1"/>
          <p:nvPr/>
        </p:nvSpPr>
        <p:spPr>
          <a:xfrm>
            <a:off x="5230368" y="2011680"/>
            <a:ext cx="6300216" cy="91440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6000" b="1" i="0" lang="he-IL">
                <a:solidFill>
                  <a:srgbClr val="6296FF"/>
                </a:solidFill>
                <a:latin typeface="Arial"/>
                <a:cs typeface="Arial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30368" y="3017520"/>
            <a:ext cx="6300216" cy="8229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4000" b="1" i="0" lang="he-IL">
                <a:solidFill>
                  <a:srgbClr val="F2F5FA"/>
                </a:solidFill>
                <a:latin typeface="Arial"/>
                <a:cs typeface="Arial"/>
              </a:rPr>
              <a:t>האפליקציה שלכם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30368" y="3931920"/>
            <a:ext cx="6300216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0" i="0" lang="he-IL">
                <a:solidFill>
                  <a:srgbClr val="FAC496"/>
                </a:solidFill>
                <a:latin typeface="Arial"/>
                <a:cs typeface="Arial"/>
              </a:rPr>
              <a:t>מאפיון למסך אמיתי עם Google Stitch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📱 Google Stitch: מתארים, והוא מעצב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כלי חינמי של גוגל שהופך תיאור במילים למסכי אפליקציה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027664" y="19202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94767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נכנסים ל-Stitch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340864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stitch.withgoogle.com, עם חשבון גוגל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027664" y="280720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28346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מדביקים את ההנחיה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3227832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האפיון + צבעי המותג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027664" y="36941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3721608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מקבלים 3 מסכים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4114800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בית, מוצר, יצירת קשר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027664" y="458114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4608576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משפרים ומשתפים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5001768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"כפתור בולט יותר", ואז קישור שיתוף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1874519"/>
            <a:ext cx="5394960" cy="352044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86968" y="20574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📋  ההנחיה ל-Stitch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2532887"/>
            <a:ext cx="4937760" cy="26974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25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"Design a mobile app for my business: [one line from the spec]. Screens: home, product, contact. Brand colors: [HEX codes]. Style: [3 tone words]. Hebrew, right-to-left."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57784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86968" y="557784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💡  כותבים באנגלית ומבקשים עברית ו-RTL. כך מקבלים את התוצאה הכי מדויקת.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hon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itle"/>
          <p:cNvSpPr txBox="1"/>
          <p:nvPr/>
        </p:nvSpPr>
        <p:spPr>
          <a:xfrm>
            <a:off x="5230368" y="502920"/>
            <a:ext cx="6300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🎰 הגרלת מציגים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30368" y="1280160"/>
            <a:ext cx="6300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מי רוצה להראות את האפליקציה שבנה?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230368" y="1874519"/>
            <a:ext cx="6300216" cy="123444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413248" y="1965960"/>
            <a:ext cx="5934456" cy="3200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350" b="1" i="0" lang="he-IL">
                <a:solidFill>
                  <a:srgbClr val="A9B4C6"/>
                </a:solidFill>
                <a:latin typeface="Arial"/>
                <a:cs typeface="Arial"/>
              </a:rPr>
              <a:t>נרשמים באפליקציית הקורס, בלשונית "הגרלה":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13248" y="2331720"/>
            <a:ext cx="5934456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2000" b="1" i="0" lang="he-IL">
                <a:solidFill>
                  <a:srgbClr val="F2F5FA"/>
                </a:solidFill>
                <a:latin typeface="Arial"/>
                <a:cs typeface="Arial"/>
              </a:rPr>
              <a:t>ai-quiz-live.lovable.app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027664" y="333756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30368" y="3364991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לוחצים "אני רוצה להציג"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30368" y="3758184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ומדביקים את קישור השיתוף מ-Stitch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027664" y="408736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30368" y="411480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המחשב מגריל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30368" y="4507992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בשידור חי, על המסך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027664" y="48371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30368" y="4864608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דקה לכל מציג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30368" y="5257800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משתפים מסך ומספרים מה בנו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230368" y="5715000"/>
            <a:ext cx="6300216" cy="548640"/>
          </a:xfrm>
          <a:prstGeom prst="roundRect">
            <a:avLst>
              <a:gd name="adj" fmla="val 3000"/>
            </a:avLst>
          </a:prstGeom>
          <a:solidFill>
            <a:srgbClr val="183A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458968" y="5715000"/>
            <a:ext cx="5843016" cy="54864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EBEDF0"/>
                </a:solidFill>
                <a:latin typeface="Arial"/>
                <a:cs typeface="Arial"/>
              </a:rPr>
              <a:t>👏  מי שהוגרל מקבל 30 נקודות בטבלה של הקורס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l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extBox 2"/>
          <p:cNvSpPr txBox="1"/>
          <p:nvPr/>
        </p:nvSpPr>
        <p:spPr>
          <a:xfrm>
            <a:off x="5230368" y="2011680"/>
            <a:ext cx="6300216" cy="91440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6000" b="1" i="0" lang="he-IL">
                <a:solidFill>
                  <a:srgbClr val="6296FF"/>
                </a:solidFill>
                <a:latin typeface="Arial"/>
                <a:cs typeface="Arial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30368" y="3017520"/>
            <a:ext cx="6300216" cy="8229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4000" b="1" i="0" lang="he-IL">
                <a:solidFill>
                  <a:srgbClr val="F2F5FA"/>
                </a:solidFill>
                <a:latin typeface="Arial"/>
                <a:cs typeface="Arial"/>
              </a:rPr>
              <a:t>מצגת והצעת מחיר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30368" y="3931920"/>
            <a:ext cx="6300216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0" i="0" lang="he-IL">
                <a:solidFill>
                  <a:srgbClr val="FAC496"/>
                </a:solidFill>
                <a:latin typeface="Arial"/>
                <a:cs typeface="Arial"/>
              </a:rPr>
              <a:t>גאמה, קנבה וקופיילוט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שלושה כלים למצגות: מתי כל אחד?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כולם בונים מצגת מטקסט. ההבדל הוא מאיפה מתחילים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63455" y="1874519"/>
            <a:ext cx="2139696" cy="502920"/>
          </a:xfrm>
          <a:prstGeom prst="roundRect">
            <a:avLst>
              <a:gd name="adj" fmla="val 15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427463" y="1874519"/>
            <a:ext cx="2011679" cy="50292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00" b="1" i="0" lang="he-IL">
                <a:solidFill>
                  <a:srgbClr val="F2F5FA"/>
                </a:solidFill>
                <a:latin typeface="Arial"/>
                <a:cs typeface="Arial"/>
              </a:rPr>
              <a:t/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83095" y="1874519"/>
            <a:ext cx="2825496" cy="502920"/>
          </a:xfrm>
          <a:prstGeom prst="roundRect">
            <a:avLst>
              <a:gd name="adj" fmla="val 15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547103" y="1874519"/>
            <a:ext cx="2697479" cy="50292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00" b="1" i="0" lang="he-IL">
                <a:solidFill>
                  <a:srgbClr val="F2F5FA"/>
                </a:solidFill>
                <a:latin typeface="Arial"/>
                <a:cs typeface="Arial"/>
              </a:rPr>
              <a:t>Gamma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02735" y="1874519"/>
            <a:ext cx="2825496" cy="502920"/>
          </a:xfrm>
          <a:prstGeom prst="roundRect">
            <a:avLst>
              <a:gd name="adj" fmla="val 15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666743" y="1874519"/>
            <a:ext cx="2697479" cy="50292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00" b="1" i="0" lang="he-IL">
                <a:solidFill>
                  <a:srgbClr val="F2F5FA"/>
                </a:solidFill>
                <a:latin typeface="Arial"/>
                <a:cs typeface="Arial"/>
              </a:rPr>
              <a:t>Canva AI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799" y="1874519"/>
            <a:ext cx="2862072" cy="502920"/>
          </a:xfrm>
          <a:prstGeom prst="roundRect">
            <a:avLst>
              <a:gd name="adj" fmla="val 15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49807" y="1874519"/>
            <a:ext cx="2734056" cy="50292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00" b="1" i="0" lang="he-IL">
                <a:solidFill>
                  <a:srgbClr val="F2F5FA"/>
                </a:solidFill>
                <a:latin typeface="Arial"/>
                <a:cs typeface="Arial"/>
              </a:rPr>
              <a:t>Copilot ב-PowerPoint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63455" y="2450591"/>
            <a:ext cx="2139696" cy="640080"/>
          </a:xfrm>
          <a:prstGeom prst="roundRect">
            <a:avLst>
              <a:gd name="adj" fmla="val 12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427463" y="2450591"/>
            <a:ext cx="2011679" cy="64008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00" b="1" i="0" lang="he-IL">
                <a:solidFill>
                  <a:srgbClr val="F2F5FA"/>
                </a:solidFill>
                <a:latin typeface="Arial"/>
                <a:cs typeface="Arial"/>
              </a:rPr>
              <a:t>מתאים כש...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83095" y="2450591"/>
            <a:ext cx="2825496" cy="640080"/>
          </a:xfrm>
          <a:prstGeom prst="roundRect">
            <a:avLst>
              <a:gd name="adj" fmla="val 12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547103" y="2450591"/>
            <a:ext cx="2697479" cy="64008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יש לכם תוכן ורוצים מצגת מהר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02735" y="2450591"/>
            <a:ext cx="2825496" cy="640080"/>
          </a:xfrm>
          <a:prstGeom prst="roundRect">
            <a:avLst>
              <a:gd name="adj" fmla="val 12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666743" y="2450591"/>
            <a:ext cx="2697479" cy="64008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רוצים עיצוב מדויק ומיתוג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799" y="2450591"/>
            <a:ext cx="2862072" cy="640080"/>
          </a:xfrm>
          <a:prstGeom prst="roundRect">
            <a:avLst>
              <a:gd name="adj" fmla="val 12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49807" y="2450591"/>
            <a:ext cx="2734056" cy="64008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עובדים בארגון עם אופיס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63455" y="3145535"/>
            <a:ext cx="2139696" cy="640080"/>
          </a:xfrm>
          <a:prstGeom prst="roundRect">
            <a:avLst>
              <a:gd name="adj" fmla="val 12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427463" y="3145535"/>
            <a:ext cx="2011679" cy="64008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00" b="1" i="0" lang="he-IL">
                <a:solidFill>
                  <a:srgbClr val="F2F5FA"/>
                </a:solidFill>
                <a:latin typeface="Arial"/>
                <a:cs typeface="Arial"/>
              </a:rPr>
              <a:t>נקודת התחלה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83095" y="3145535"/>
            <a:ext cx="2825496" cy="640080"/>
          </a:xfrm>
          <a:prstGeom prst="roundRect">
            <a:avLst>
              <a:gd name="adj" fmla="val 12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547103" y="3145535"/>
            <a:ext cx="2697479" cy="64008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טקסט או מסמך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02735" y="3145535"/>
            <a:ext cx="2825496" cy="640080"/>
          </a:xfrm>
          <a:prstGeom prst="roundRect">
            <a:avLst>
              <a:gd name="adj" fmla="val 12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3666743" y="3145535"/>
            <a:ext cx="2697479" cy="64008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תבנית או טקסט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799" y="3145535"/>
            <a:ext cx="2862072" cy="640080"/>
          </a:xfrm>
          <a:prstGeom prst="roundRect">
            <a:avLst>
              <a:gd name="adj" fmla="val 12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49807" y="3145535"/>
            <a:ext cx="2734056" cy="64008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קובץ וורד או הנחיה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63455" y="3840479"/>
            <a:ext cx="2139696" cy="640080"/>
          </a:xfrm>
          <a:prstGeom prst="roundRect">
            <a:avLst>
              <a:gd name="adj" fmla="val 12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9427463" y="3840479"/>
            <a:ext cx="2011679" cy="64008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00" b="1" i="0" lang="he-IL">
                <a:solidFill>
                  <a:srgbClr val="F2F5FA"/>
                </a:solidFill>
                <a:latin typeface="Arial"/>
                <a:cs typeface="Arial"/>
              </a:rPr>
              <a:t>חינם?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83095" y="3840479"/>
            <a:ext cx="2825496" cy="640080"/>
          </a:xfrm>
          <a:prstGeom prst="roundRect">
            <a:avLst>
              <a:gd name="adj" fmla="val 12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547103" y="3840479"/>
            <a:ext cx="2697479" cy="64008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כן, קרדיטים התחלתיים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02735" y="3840479"/>
            <a:ext cx="2825496" cy="640080"/>
          </a:xfrm>
          <a:prstGeom prst="roundRect">
            <a:avLst>
              <a:gd name="adj" fmla="val 12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3666743" y="3840479"/>
            <a:ext cx="2697479" cy="64008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כן, עם הגבלות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85799" y="3840479"/>
            <a:ext cx="2862072" cy="640080"/>
          </a:xfrm>
          <a:prstGeom prst="roundRect">
            <a:avLst>
              <a:gd name="adj" fmla="val 12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49807" y="3840479"/>
            <a:ext cx="2734056" cy="64008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בתשלום (מיקרוסופט 365)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363455" y="4535424"/>
            <a:ext cx="2139696" cy="640080"/>
          </a:xfrm>
          <a:prstGeom prst="roundRect">
            <a:avLst>
              <a:gd name="adj" fmla="val 12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9427463" y="4535424"/>
            <a:ext cx="2011679" cy="64008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00" b="1" i="0" lang="he-IL">
                <a:solidFill>
                  <a:srgbClr val="F2F5FA"/>
                </a:solidFill>
                <a:latin typeface="Arial"/>
                <a:cs typeface="Arial"/>
              </a:rPr>
              <a:t>עברית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83095" y="4535424"/>
            <a:ext cx="2825496" cy="640080"/>
          </a:xfrm>
          <a:prstGeom prst="roundRect">
            <a:avLst>
              <a:gd name="adj" fmla="val 12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547103" y="4535424"/>
            <a:ext cx="2697479" cy="64008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חלקית, בבטא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602735" y="4535424"/>
            <a:ext cx="2825496" cy="640080"/>
          </a:xfrm>
          <a:prstGeom prst="roundRect">
            <a:avLst>
              <a:gd name="adj" fmla="val 12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3666743" y="4535424"/>
            <a:ext cx="2697479" cy="64008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טובה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85799" y="4535424"/>
            <a:ext cx="2862072" cy="640080"/>
          </a:xfrm>
          <a:prstGeom prst="roundRect">
            <a:avLst>
              <a:gd name="adj" fmla="val 12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749807" y="4535424"/>
            <a:ext cx="2734056" cy="64008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טובה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8368" y="557784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886968" y="557784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💡  היום עובדים בגאמה, כי הוא הכי מהיר מאפיון למצגת. קנבה וקופיילוט בהדגמה.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🖥️ מצגת לעסק בגאמה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6 שקפים מהאפיון, עם צבעי המותג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874519"/>
            <a:ext cx="5669280" cy="352044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86968" y="205740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📋  ההנחיה לגאמה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2532887"/>
            <a:ext cx="5212080" cy="26974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25000"/>
              </a:lnSpc>
              <a:buNone/>
            </a:pPr>
            <a:r>
              <a:rPr sz="1500" b="0" i="0" lang="he-IL">
                <a:solidFill>
                  <a:srgbClr val="EBEDF0"/>
                </a:solidFill>
                <a:latin typeface="Arial"/>
                <a:cs typeface="Arial"/>
              </a:rPr>
              <a:t>"בנה מצגת של 6 שקפים שמציגה את העסק שלי ללקוח חדש. האפיון: [מדביקים]. שקף 1 הבעיה, 2 הפתרון, 3 למי זה מתאים, 4 איך זה עובד, 5 מחירים, 6 קריאה לפעולה. צבעים: [HEX]. עברית, משפטים קצרים."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027664" y="19202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947672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Create new, ואז Paste in text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340864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מדביקים את ההנחיה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027664" y="280720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83464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בוחרים ערכת עיצוב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3227832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ומתאימים לצבעי המותג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027664" y="36941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3721608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עורכים שקף אחד בעזרת 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4114800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"קצר את הטקסט, הוסף אייקון"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027664" y="458114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4608576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משתפים קישור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5001768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ומדביקים באתגר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57784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183A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86968" y="557784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⏱️  8 דקות. לא צריך מושלם, צריך מצגת שהייתם שולחים ללקוח.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💰 הצעת מחיר ללקוח, בשתי הנחיות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קודם תוכן מדויק, אחר כך מסמך יפה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027664" y="19202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94767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התוכן: בקלוד או בצ'אט ג'יפיטי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340864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שירותים, מחירים, תנאים ותוקף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027664" y="280720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28346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בדיקה: "מה חסר? מה הלקוח ישאל?"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3227832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כלל 5 ממפגש 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027664" y="36941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3721608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המסמך: בגאמה או בקנבה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4114800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Document, עם צבעי המותג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027664" y="458114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4608576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PDF ושליחה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5001768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ובודקים כל מספר לפני ששולחים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1874519"/>
            <a:ext cx="5394960" cy="352044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86968" y="20574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📋  הנחיה 1: התוכן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2532887"/>
            <a:ext cx="4937760" cy="26974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25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"אתה יועץ עסקי. כתוב הצעת מחיר ל[לקוח] עבור [שירות]. כלול: פתיח אישי של 2 שורות, טבלת שירותים ומחירים, מה כלול ומה לא, תנאי תשלום, תוקף של 14 יום. טון: [מהמותג]."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57784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4B3F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86968" y="557784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⚠️  ה-AI לא יודע את המחירים שלכם. מספרים תמיד ממלאים ובודקים בעצמכם.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p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extBox 2"/>
          <p:cNvSpPr txBox="1"/>
          <p:nvPr/>
        </p:nvSpPr>
        <p:spPr>
          <a:xfrm>
            <a:off x="5230368" y="2194560"/>
            <a:ext cx="6300216" cy="91440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5400" b="1" i="0" lang="he-IL">
                <a:solidFill>
                  <a:srgbClr val="F2F5FA"/>
                </a:solidFill>
                <a:latin typeface="Arial"/>
                <a:cs typeface="Arial"/>
              </a:rPr>
              <a:t>☕ הפסקה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30368" y="3200400"/>
            <a:ext cx="6300216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2000" b="0" i="0" lang="he-IL">
                <a:solidFill>
                  <a:srgbClr val="FAC496"/>
                </a:solidFill>
                <a:latin typeface="Arial"/>
                <a:cs typeface="Arial"/>
              </a:rPr>
              <a:t>5 דקות. משאירים את גאמה פתוח.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30368" y="3931920"/>
            <a:ext cx="6300216" cy="10972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0" i="0" lang="he-IL">
                <a:solidFill>
                  <a:srgbClr val="A9B4C6"/>
                </a:solidFill>
                <a:latin typeface="Arial"/>
                <a:cs typeface="Arial"/>
              </a:rPr>
              <a:t>בחזרה: תמונות, קול, אווטאר ווידאו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vata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extBox 2"/>
          <p:cNvSpPr txBox="1"/>
          <p:nvPr/>
        </p:nvSpPr>
        <p:spPr>
          <a:xfrm>
            <a:off x="5230368" y="2011680"/>
            <a:ext cx="6300216" cy="91440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6000" b="1" i="0" lang="he-IL">
                <a:solidFill>
                  <a:srgbClr val="6296FF"/>
                </a:solidFill>
                <a:latin typeface="Arial"/>
                <a:cs typeface="Arial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30368" y="3017520"/>
            <a:ext cx="6300216" cy="8229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4000" b="1" i="0" lang="he-IL">
                <a:solidFill>
                  <a:srgbClr val="F2F5FA"/>
                </a:solidFill>
                <a:latin typeface="Arial"/>
                <a:cs typeface="Arial"/>
              </a:rPr>
              <a:t>תמונות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30368" y="3931920"/>
            <a:ext cx="6300216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0" i="0" lang="he-IL">
                <a:solidFill>
                  <a:srgbClr val="FAC496"/>
                </a:solidFill>
                <a:latin typeface="Arial"/>
                <a:cs typeface="Arial"/>
              </a:rPr>
              <a:t>תמונת פרופיל, לינקדאין ותמונות לעסק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🎨 איך AI מצייר? מרעש לתמונה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ההיגיון: המודל לא "מצייר". הוא מנקה רעש, צעד אחרי צעד, לפי התיאור שלכם</a:t>
            </a:r>
          </a:p>
        </p:txBody>
      </p:sp>
      <p:pic>
        <p:nvPicPr>
          <p:cNvPr id="4" name="Picture 3" descr="diffus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8448" y="1783080"/>
            <a:ext cx="9601200" cy="33101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499348" y="5166360"/>
            <a:ext cx="24003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00" b="1" i="0" lang="he-IL">
                <a:solidFill>
                  <a:srgbClr val="FAC496"/>
                </a:solidFill>
                <a:latin typeface="Arial"/>
                <a:cs typeface="Arial"/>
              </a:rPr>
              <a:t>1. רעש אקראי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9048" y="5166360"/>
            <a:ext cx="24003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00" b="1" i="0" lang="he-IL">
                <a:solidFill>
                  <a:srgbClr val="FAC496"/>
                </a:solidFill>
                <a:latin typeface="Arial"/>
                <a:cs typeface="Arial"/>
              </a:rPr>
              <a:t>2. צורות ראשונות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98748" y="5166360"/>
            <a:ext cx="24003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00" b="1" i="0" lang="he-IL">
                <a:solidFill>
                  <a:srgbClr val="FAC496"/>
                </a:solidFill>
                <a:latin typeface="Arial"/>
                <a:cs typeface="Arial"/>
              </a:rPr>
              <a:t>3. פרטים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98448" y="5166360"/>
            <a:ext cx="24003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00" b="1" i="0" lang="he-IL">
                <a:solidFill>
                  <a:srgbClr val="FAC496"/>
                </a:solidFill>
                <a:latin typeface="Arial"/>
                <a:cs typeface="Arial"/>
              </a:rPr>
              <a:t>4. תמונה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5669280"/>
            <a:ext cx="10872216" cy="54864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86968" y="5669280"/>
            <a:ext cx="10415016" cy="54864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EBEDF0"/>
                </a:solidFill>
                <a:latin typeface="Arial"/>
                <a:cs typeface="Arial"/>
              </a:rPr>
              <a:t>💡  לכן ידיים וטקסט בתמונה נכשלים לפעמים, ולכן כל הרצה יוצאת שונה. מתארים מדויק ומריצים כמה פעמים.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שלושה מחוללי תמונות, הנחיה אחת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מריצים את אותה הנחיה בשלושתם, והקהל מצביע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63455" y="1874519"/>
            <a:ext cx="2139696" cy="502920"/>
          </a:xfrm>
          <a:prstGeom prst="roundRect">
            <a:avLst>
              <a:gd name="adj" fmla="val 15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427463" y="1874519"/>
            <a:ext cx="2011679" cy="50292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00" b="1" i="0" lang="he-IL">
                <a:solidFill>
                  <a:srgbClr val="F2F5FA"/>
                </a:solidFill>
                <a:latin typeface="Arial"/>
                <a:cs typeface="Arial"/>
              </a:rPr>
              <a:t/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83095" y="1874519"/>
            <a:ext cx="2825496" cy="502920"/>
          </a:xfrm>
          <a:prstGeom prst="roundRect">
            <a:avLst>
              <a:gd name="adj" fmla="val 15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547103" y="1874519"/>
            <a:ext cx="2697479" cy="50292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00" b="1" i="0" lang="he-IL">
                <a:solidFill>
                  <a:srgbClr val="F2F5FA"/>
                </a:solidFill>
                <a:latin typeface="Arial"/>
                <a:cs typeface="Arial"/>
              </a:rPr>
              <a:t>ChatGPT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02735" y="1874519"/>
            <a:ext cx="2825496" cy="502920"/>
          </a:xfrm>
          <a:prstGeom prst="roundRect">
            <a:avLst>
              <a:gd name="adj" fmla="val 15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666743" y="1874519"/>
            <a:ext cx="2697479" cy="50292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00" b="1" i="0" lang="he-IL">
                <a:solidFill>
                  <a:srgbClr val="F2F5FA"/>
                </a:solidFill>
                <a:latin typeface="Arial"/>
                <a:cs typeface="Arial"/>
              </a:rPr>
              <a:t>Gemini (Nano Banana)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799" y="1874519"/>
            <a:ext cx="2862072" cy="502920"/>
          </a:xfrm>
          <a:prstGeom prst="roundRect">
            <a:avLst>
              <a:gd name="adj" fmla="val 15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49807" y="1874519"/>
            <a:ext cx="2734056" cy="50292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00" b="1" i="0" lang="he-IL">
                <a:solidFill>
                  <a:srgbClr val="F2F5FA"/>
                </a:solidFill>
                <a:latin typeface="Arial"/>
                <a:cs typeface="Arial"/>
              </a:rPr>
              <a:t>Grok Imagine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63455" y="2450591"/>
            <a:ext cx="2139696" cy="713232"/>
          </a:xfrm>
          <a:prstGeom prst="roundRect">
            <a:avLst>
              <a:gd name="adj" fmla="val 12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427463" y="2450591"/>
            <a:ext cx="2011679" cy="71323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00" b="1" i="0" lang="he-IL">
                <a:solidFill>
                  <a:srgbClr val="F2F5FA"/>
                </a:solidFill>
                <a:latin typeface="Arial"/>
                <a:cs typeface="Arial"/>
              </a:rPr>
              <a:t>חזק ב...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83095" y="2450591"/>
            <a:ext cx="2825496" cy="713232"/>
          </a:xfrm>
          <a:prstGeom prst="roundRect">
            <a:avLst>
              <a:gd name="adj" fmla="val 12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547103" y="2450591"/>
            <a:ext cx="2697479" cy="71323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טקסט בתוך תמונה, עריכה בשיחה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02735" y="2450591"/>
            <a:ext cx="2825496" cy="713232"/>
          </a:xfrm>
          <a:prstGeom prst="roundRect">
            <a:avLst>
              <a:gd name="adj" fmla="val 12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666743" y="2450591"/>
            <a:ext cx="2697479" cy="71323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עריכת תמונה קיימת ושמירה על פנים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799" y="2450591"/>
            <a:ext cx="2862072" cy="713232"/>
          </a:xfrm>
          <a:prstGeom prst="roundRect">
            <a:avLst>
              <a:gd name="adj" fmla="val 12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49807" y="2450591"/>
            <a:ext cx="2734056" cy="71323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סגנון נועז ומהיר, גם וידאו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63455" y="3218687"/>
            <a:ext cx="2139696" cy="713232"/>
          </a:xfrm>
          <a:prstGeom prst="roundRect">
            <a:avLst>
              <a:gd name="adj" fmla="val 12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427463" y="3218687"/>
            <a:ext cx="2011679" cy="71323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00" b="1" i="0" lang="he-IL">
                <a:solidFill>
                  <a:srgbClr val="F2F5FA"/>
                </a:solidFill>
                <a:latin typeface="Arial"/>
                <a:cs typeface="Arial"/>
              </a:rPr>
              <a:t>חינם?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83095" y="3218687"/>
            <a:ext cx="2825496" cy="713232"/>
          </a:xfrm>
          <a:prstGeom prst="roundRect">
            <a:avLst>
              <a:gd name="adj" fmla="val 12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547103" y="3218687"/>
            <a:ext cx="2697479" cy="71323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כן, מכסה יומית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02735" y="3218687"/>
            <a:ext cx="2825496" cy="713232"/>
          </a:xfrm>
          <a:prstGeom prst="roundRect">
            <a:avLst>
              <a:gd name="adj" fmla="val 12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3666743" y="3218687"/>
            <a:ext cx="2697479" cy="71323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כן, מכסה יומית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799" y="3218687"/>
            <a:ext cx="2862072" cy="713232"/>
          </a:xfrm>
          <a:prstGeom prst="roundRect">
            <a:avLst>
              <a:gd name="adj" fmla="val 12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49807" y="3218687"/>
            <a:ext cx="2734056" cy="71323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לא, רק בתשלום (מרץ 2026)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63455" y="3986783"/>
            <a:ext cx="2139696" cy="713232"/>
          </a:xfrm>
          <a:prstGeom prst="roundRect">
            <a:avLst>
              <a:gd name="adj" fmla="val 12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9427463" y="3986783"/>
            <a:ext cx="2011679" cy="71323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00" b="1" i="0" lang="he-IL">
                <a:solidFill>
                  <a:srgbClr val="F2F5FA"/>
                </a:solidFill>
                <a:latin typeface="Arial"/>
                <a:cs typeface="Arial"/>
              </a:rPr>
              <a:t>הכי טוב ל...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83095" y="3986783"/>
            <a:ext cx="2825496" cy="713232"/>
          </a:xfrm>
          <a:prstGeom prst="roundRect">
            <a:avLst>
              <a:gd name="adj" fmla="val 12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547103" y="3986783"/>
            <a:ext cx="2697479" cy="71323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באנרים ופוסטים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02735" y="3986783"/>
            <a:ext cx="2825496" cy="713232"/>
          </a:xfrm>
          <a:prstGeom prst="roundRect">
            <a:avLst>
              <a:gd name="adj" fmla="val 12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3666743" y="3986783"/>
            <a:ext cx="2697479" cy="71323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תמונת פרופיל מסלפי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85799" y="3986783"/>
            <a:ext cx="2862072" cy="713232"/>
          </a:xfrm>
          <a:prstGeom prst="roundRect">
            <a:avLst>
              <a:gd name="adj" fmla="val 12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49807" y="3986783"/>
            <a:ext cx="2734056" cy="71323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השראה ורעיונות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8368" y="4983480"/>
            <a:ext cx="10872216" cy="54864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886968" y="4983480"/>
            <a:ext cx="10415016" cy="54864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🧪  ההנחיה להשוואה: "לוגו מינימליסטי לעסק [שם], בצבעים [HEX], על רקע לבן, בלי טקסט"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58368" y="5623560"/>
            <a:ext cx="10872216" cy="548640"/>
          </a:xfrm>
          <a:prstGeom prst="roundRect">
            <a:avLst>
              <a:gd name="adj" fmla="val 3000"/>
            </a:avLst>
          </a:prstGeom>
          <a:solidFill>
            <a:srgbClr val="183A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886968" y="5623560"/>
            <a:ext cx="10415016" cy="54864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🗳️  הצבעה בצ'אט: 1, 2 או 3. איזו תוצאה הייתם שמים על כרטיס ביקור?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📸 תמונת פרופיל ותמונה ללינקדאין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מסלפי רגיל לתמונה מקצועית, בג'מיני או בצ'אט ג'יפיטי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09360" y="1874519"/>
            <a:ext cx="5221224" cy="352044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37960" y="2057400"/>
            <a:ext cx="4764024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👔  לינקדאין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37960" y="2532887"/>
            <a:ext cx="4764024" cy="26974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25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"מצרף/ת סלפי. צור ממנו תמונת פרופיל מקצועית ללינקדאין: רקע אפור בהיר מטושטש, תאורה רכה, חולצה מכופתרת, חיוך טבעי. שמור על הפנים שלי בדיוק כמו שהן."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874519"/>
            <a:ext cx="5394960" cy="352044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574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✨  פרופיל לעסק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532887"/>
            <a:ext cx="4937760" cy="26974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25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"מצרף/ת סלפי. צור תמונת פרופיל לעסק שלי ב[תחום]: רקע בצבע [HEX], סגנון [טון המותג], חצי גוף, מבט למצלמה. שמור על הפנים שלי כמו שהן."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557784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4B3F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86968" y="557784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🔒  מעלים רק תמונה של עצמכם. תמונה של אדם אחר רק באישור שלו.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wav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extBox 2"/>
          <p:cNvSpPr txBox="1"/>
          <p:nvPr/>
        </p:nvSpPr>
        <p:spPr>
          <a:xfrm>
            <a:off x="5230368" y="2011680"/>
            <a:ext cx="6300216" cy="91440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6000" b="1" i="0" lang="he-IL">
                <a:solidFill>
                  <a:srgbClr val="6296FF"/>
                </a:solidFill>
                <a:latin typeface="Arial"/>
                <a:cs typeface="Arial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30368" y="3017520"/>
            <a:ext cx="6300216" cy="8229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4000" b="1" i="0" lang="he-IL">
                <a:solidFill>
                  <a:srgbClr val="F2F5FA"/>
                </a:solidFill>
                <a:latin typeface="Arial"/>
                <a:cs typeface="Arial"/>
              </a:rPr>
              <a:t>קול ואווטאר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30368" y="3931920"/>
            <a:ext cx="6300216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0" i="0" lang="he-IL">
                <a:solidFill>
                  <a:srgbClr val="FAC496"/>
                </a:solidFill>
                <a:latin typeface="Arial"/>
                <a:cs typeface="Arial"/>
              </a:rPr>
              <a:t>הקול שלכם והפנים שלכם, בדיגיטל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wav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itle"/>
          <p:cNvSpPr txBox="1"/>
          <p:nvPr/>
        </p:nvSpPr>
        <p:spPr>
          <a:xfrm>
            <a:off x="5230368" y="502920"/>
            <a:ext cx="6300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🎙️ ElevenLabs: קול לעסק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30368" y="1280160"/>
            <a:ext cx="6300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קריינות אנושית לסרטונים, מצגות ופודקאסט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027664" y="20116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30368" y="2039112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בחינם: קול מוכן מהספרייה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30368" y="2432304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מדביקים טקסט ובוחרים מודל v3 או v4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027664" y="29260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30368" y="2953512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רק להכיר: שכפול הקול שלכם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30368" y="3346704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בתשלום. בחינם עושים את זה עם האווטאר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027664" y="38404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30368" y="3867912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מורידים קובץ שמע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30368" y="4261104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ומשלבים במצגת או בסרטון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30368" y="4892040"/>
            <a:ext cx="6300216" cy="54864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458968" y="4892040"/>
            <a:ext cx="5843016" cy="54864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EBEDF0"/>
                </a:solidFill>
                <a:latin typeface="Arial"/>
                <a:cs typeface="Arial"/>
              </a:rPr>
              <a:t>🎧  נסו בחינם: אותו משפט בשלושה קולות. הצביעו בצ'אט.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30368" y="5577840"/>
            <a:ext cx="6300216" cy="548640"/>
          </a:xfrm>
          <a:prstGeom prst="roundRect">
            <a:avLst>
              <a:gd name="adj" fmla="val 3000"/>
            </a:avLst>
          </a:prstGeom>
          <a:solidFill>
            <a:srgbClr val="4B3F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458968" y="5577840"/>
            <a:ext cx="5843016" cy="54864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EBEDF0"/>
                </a:solidFill>
                <a:latin typeface="Arial"/>
                <a:cs typeface="Arial"/>
              </a:rPr>
              <a:t>🔒  משבטים רק את הקול שלכם. אף פעם קול של אדם אחר.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🧑‍💻 אווטאר: אתם, מדברים, בלי מצלמה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שלושה כלים, מה כל אחד נותן בחינם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63455" y="1874519"/>
            <a:ext cx="2139696" cy="502920"/>
          </a:xfrm>
          <a:prstGeom prst="roundRect">
            <a:avLst>
              <a:gd name="adj" fmla="val 15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427463" y="1874519"/>
            <a:ext cx="2011679" cy="50292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00" b="1" i="0" lang="he-IL">
                <a:solidFill>
                  <a:srgbClr val="F2F5FA"/>
                </a:solidFill>
                <a:latin typeface="Arial"/>
                <a:cs typeface="Arial"/>
              </a:rPr>
              <a:t/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83095" y="1874519"/>
            <a:ext cx="2825496" cy="502920"/>
          </a:xfrm>
          <a:prstGeom prst="roundRect">
            <a:avLst>
              <a:gd name="adj" fmla="val 15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547103" y="1874519"/>
            <a:ext cx="2697479" cy="50292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00" b="1" i="0" lang="he-IL">
                <a:solidFill>
                  <a:srgbClr val="F2F5FA"/>
                </a:solidFill>
                <a:latin typeface="Arial"/>
                <a:cs typeface="Arial"/>
              </a:rPr>
              <a:t>HeyGen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02735" y="1874519"/>
            <a:ext cx="2825496" cy="502920"/>
          </a:xfrm>
          <a:prstGeom prst="roundRect">
            <a:avLst>
              <a:gd name="adj" fmla="val 15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666743" y="1874519"/>
            <a:ext cx="2697479" cy="50292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00" b="1" i="0" lang="he-IL">
                <a:solidFill>
                  <a:srgbClr val="F2F5FA"/>
                </a:solidFill>
                <a:latin typeface="Arial"/>
                <a:cs typeface="Arial"/>
              </a:rPr>
              <a:t>D-ID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799" y="1874519"/>
            <a:ext cx="2862072" cy="502920"/>
          </a:xfrm>
          <a:prstGeom prst="roundRect">
            <a:avLst>
              <a:gd name="adj" fmla="val 15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49807" y="1874519"/>
            <a:ext cx="2734056" cy="50292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00" b="1" i="0" lang="he-IL">
                <a:solidFill>
                  <a:srgbClr val="F2F5FA"/>
                </a:solidFill>
                <a:latin typeface="Arial"/>
                <a:cs typeface="Arial"/>
              </a:rPr>
              <a:t>Gemini Omni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63455" y="2450591"/>
            <a:ext cx="2139696" cy="713232"/>
          </a:xfrm>
          <a:prstGeom prst="roundRect">
            <a:avLst>
              <a:gd name="adj" fmla="val 12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427463" y="2450591"/>
            <a:ext cx="2011679" cy="71323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00" b="1" i="0" lang="he-IL">
                <a:solidFill>
                  <a:srgbClr val="F2F5FA"/>
                </a:solidFill>
                <a:latin typeface="Arial"/>
                <a:cs typeface="Arial"/>
              </a:rPr>
              <a:t>מה מקבלים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83095" y="2450591"/>
            <a:ext cx="2825496" cy="713232"/>
          </a:xfrm>
          <a:prstGeom prst="roundRect">
            <a:avLst>
              <a:gd name="adj" fmla="val 12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547103" y="2450591"/>
            <a:ext cx="2697479" cy="71323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תאום דיגיטלי שלכם, מדבר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02735" y="2450591"/>
            <a:ext cx="2825496" cy="713232"/>
          </a:xfrm>
          <a:prstGeom prst="roundRect">
            <a:avLst>
              <a:gd name="adj" fmla="val 12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666743" y="2450591"/>
            <a:ext cx="2697479" cy="71323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תמונה שמתחילה לדבר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799" y="2450591"/>
            <a:ext cx="2862072" cy="713232"/>
          </a:xfrm>
          <a:prstGeom prst="roundRect">
            <a:avLst>
              <a:gd name="adj" fmla="val 12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49807" y="2450591"/>
            <a:ext cx="2734056" cy="71323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וידאו מכל קלט, גם אווטאר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63455" y="3218687"/>
            <a:ext cx="2139696" cy="713232"/>
          </a:xfrm>
          <a:prstGeom prst="roundRect">
            <a:avLst>
              <a:gd name="adj" fmla="val 12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427463" y="3218687"/>
            <a:ext cx="2011679" cy="71323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00" b="1" i="0" lang="he-IL">
                <a:solidFill>
                  <a:srgbClr val="F2F5FA"/>
                </a:solidFill>
                <a:latin typeface="Arial"/>
                <a:cs typeface="Arial"/>
              </a:rPr>
              <a:t>בחינם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83095" y="3218687"/>
            <a:ext cx="2825496" cy="713232"/>
          </a:xfrm>
          <a:prstGeom prst="roundRect">
            <a:avLst>
              <a:gd name="adj" fmla="val 12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547103" y="3218687"/>
            <a:ext cx="2697479" cy="71323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אווטאר אחד, 3 סרטונים בחודש, עד דקה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02735" y="3218687"/>
            <a:ext cx="2825496" cy="713232"/>
          </a:xfrm>
          <a:prstGeom prst="roundRect">
            <a:avLst>
              <a:gd name="adj" fmla="val 12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3666743" y="3218687"/>
            <a:ext cx="2697479" cy="71323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ניסיון של 14 יום, עם סימן מים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799" y="3218687"/>
            <a:ext cx="2862072" cy="713232"/>
          </a:xfrm>
          <a:prstGeom prst="roundRect">
            <a:avLst>
              <a:gd name="adj" fmla="val 12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49807" y="3218687"/>
            <a:ext cx="2734056" cy="71323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בתוך YouTube Create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63455" y="3986783"/>
            <a:ext cx="2139696" cy="713232"/>
          </a:xfrm>
          <a:prstGeom prst="roundRect">
            <a:avLst>
              <a:gd name="adj" fmla="val 12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9427463" y="3986783"/>
            <a:ext cx="2011679" cy="71323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00" b="1" i="0" lang="he-IL">
                <a:solidFill>
                  <a:srgbClr val="F2F5FA"/>
                </a:solidFill>
                <a:latin typeface="Arial"/>
                <a:cs typeface="Arial"/>
              </a:rPr>
              <a:t>היום עושים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83095" y="3986783"/>
            <a:ext cx="2825496" cy="713232"/>
          </a:xfrm>
          <a:prstGeom prst="roundRect">
            <a:avLst>
              <a:gd name="adj" fmla="val 12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547103" y="3986783"/>
            <a:ext cx="2697479" cy="71323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✅  סרטון של 20 שניות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02735" y="3986783"/>
            <a:ext cx="2825496" cy="713232"/>
          </a:xfrm>
          <a:prstGeom prst="roundRect">
            <a:avLst>
              <a:gd name="adj" fmla="val 12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3666743" y="3986783"/>
            <a:ext cx="2697479" cy="71323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הדגמה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85799" y="3986783"/>
            <a:ext cx="2862072" cy="713232"/>
          </a:xfrm>
          <a:prstGeom prst="roundRect">
            <a:avLst>
              <a:gd name="adj" fmla="val 12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49807" y="3986783"/>
            <a:ext cx="2734056" cy="713232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300" b="0" i="0" lang="he-IL">
                <a:solidFill>
                  <a:srgbClr val="EBEDF0"/>
                </a:solidFill>
                <a:latin typeface="Arial"/>
                <a:cs typeface="Arial"/>
              </a:rPr>
              <a:t>הדגמה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8368" y="4983480"/>
            <a:ext cx="10872216" cy="54864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886968" y="4983480"/>
            <a:ext cx="10415016" cy="54864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EBEDF0"/>
                </a:solidFill>
                <a:latin typeface="Arial"/>
                <a:cs typeface="Arial"/>
              </a:rPr>
              <a:t>📋  התסריט: "כתוב תסריט של 20 שניות שבו אני מציג/ה את העסק שלי: [אפיון]. משפט פתיחה שתופס, תועלת אחת, קריאה לפעולה."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58368" y="5623560"/>
            <a:ext cx="10872216" cy="548640"/>
          </a:xfrm>
          <a:prstGeom prst="roundRect">
            <a:avLst>
              <a:gd name="adj" fmla="val 3000"/>
            </a:avLst>
          </a:prstGeom>
          <a:solidFill>
            <a:srgbClr val="183A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886968" y="5623560"/>
            <a:ext cx="10415016" cy="54864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🏆  אתגר באפליקציה: "תסריט 20 שניות לאווטאר"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l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extBox 2"/>
          <p:cNvSpPr txBox="1"/>
          <p:nvPr/>
        </p:nvSpPr>
        <p:spPr>
          <a:xfrm>
            <a:off x="5230368" y="2011680"/>
            <a:ext cx="6300216" cy="91440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6000" b="1" i="0" lang="he-IL">
                <a:solidFill>
                  <a:srgbClr val="6296FF"/>
                </a:solidFill>
                <a:latin typeface="Arial"/>
                <a:cs typeface="Arial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30368" y="3017520"/>
            <a:ext cx="6300216" cy="8229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4000" b="1" i="0" lang="he-IL">
                <a:solidFill>
                  <a:srgbClr val="F2F5FA"/>
                </a:solidFill>
                <a:latin typeface="Arial"/>
                <a:cs typeface="Arial"/>
              </a:rPr>
              <a:t>וידאו ועריכה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30368" y="3931920"/>
            <a:ext cx="6300216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0" i="0" lang="he-IL">
                <a:solidFill>
                  <a:srgbClr val="FAC496"/>
                </a:solidFill>
                <a:latin typeface="Arial"/>
                <a:cs typeface="Arial"/>
              </a:rPr>
              <a:t>מתמונה לסרטון, ומסרטון לפוסט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🎬 וידאו בלי מצלמה ובלי עורך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שלושה כלים שכדאי להכיר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071104" y="1874519"/>
            <a:ext cx="3459480" cy="2743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10799064" y="2057400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🎞️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53984" y="2112263"/>
            <a:ext cx="249936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Gemini Omni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3984" y="2624327"/>
            <a:ext cx="3093720" cy="1874519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וידאו מתמונה, טקסט או קול. עורכים בשיחה: "עכשיו בלילה". חינם ב-YouTube Create.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64736" y="1874519"/>
            <a:ext cx="3459480" cy="2743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7092696" y="2057400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47616" y="2112263"/>
            <a:ext cx="249936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Captions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7616" y="2624327"/>
            <a:ext cx="3093720" cy="1874519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כתוביות אוטומטיות, חיתוך שתיקות וזום. הופך סרטון גולמי לפוסט.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1874519"/>
            <a:ext cx="3459480" cy="2743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3386328" y="2057400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2112263"/>
            <a:ext cx="249936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Grok Imagine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2624327"/>
            <a:ext cx="3093720" cy="1874519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סרטונים קצרים ונועזים מהנחיה. בתשלום, נראה בהדגמה.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892040"/>
            <a:ext cx="10872216" cy="54864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86968" y="4892040"/>
            <a:ext cx="10415016" cy="54864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🧠  טיפ: כמו בכתיבה, גם כאן מי, מה, איך: נושא, תנועה, סגנון, אורך.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557784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4B3F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86968" y="557784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⚠️  כלי וידאו מופיעים ונעלמים (Sora נסגר בספטמבר). שומרים עותק של כל מה שיוצרים.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lett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80048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90530" y="100"/>
                </a:lnTo>
                <a:lnTo>
                  <a:pt x="93070" y="6350"/>
                </a:lnTo>
                <a:lnTo>
                  <a:pt x="94920" y="12210"/>
                </a:lnTo>
                <a:lnTo>
                  <a:pt x="96680" y="19820"/>
                </a:lnTo>
                <a:lnTo>
                  <a:pt x="97560" y="25880"/>
                </a:lnTo>
                <a:lnTo>
                  <a:pt x="97950" y="30960"/>
                </a:lnTo>
                <a:lnTo>
                  <a:pt x="97950" y="39060"/>
                </a:lnTo>
                <a:lnTo>
                  <a:pt x="97270" y="46480"/>
                </a:lnTo>
                <a:lnTo>
                  <a:pt x="96190" y="52640"/>
                </a:lnTo>
                <a:lnTo>
                  <a:pt x="94730" y="58500"/>
                </a:lnTo>
                <a:lnTo>
                  <a:pt x="92480" y="65230"/>
                </a:lnTo>
                <a:lnTo>
                  <a:pt x="89550" y="72070"/>
                </a:lnTo>
                <a:lnTo>
                  <a:pt x="86820" y="77340"/>
                </a:lnTo>
                <a:lnTo>
                  <a:pt x="83500" y="82810"/>
                </a:lnTo>
                <a:lnTo>
                  <a:pt x="79200" y="88870"/>
                </a:lnTo>
                <a:lnTo>
                  <a:pt x="75880" y="92770"/>
                </a:lnTo>
                <a:lnTo>
                  <a:pt x="75880" y="92970"/>
                </a:lnTo>
                <a:lnTo>
                  <a:pt x="74510" y="94340"/>
                </a:lnTo>
                <a:lnTo>
                  <a:pt x="74510" y="94530"/>
                </a:lnTo>
                <a:lnTo>
                  <a:pt x="69240" y="100000"/>
                </a:lnTo>
                <a:lnTo>
                  <a:pt x="0" y="100000"/>
                </a:lnTo>
                <a:close/>
              </a:path>
            </a:pathLst>
          </a:custGeom>
        </p:spPr>
      </p:pic>
      <p:sp>
        <p:nvSpPr>
          <p:cNvPr id="3" name="Title"/>
          <p:cNvSpPr txBox="1"/>
          <p:nvPr/>
        </p:nvSpPr>
        <p:spPr>
          <a:xfrm>
            <a:off x="5230368" y="502920"/>
            <a:ext cx="6300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✏️ Claude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30368" y="1280160"/>
            <a:ext cx="6300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הפיצ'ר החדש של קלוד: עורכים ישירות על הקנבס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027664" y="20116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30368" y="2039112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מבקשים עיצוב, מצגת או דף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30368" y="2432304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בתוך שיחה רגילה עם קלוד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027664" y="28346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30368" y="2862072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לוחצים על כל אלמנט ועורכים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30368" y="3255264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טקסט, צבע, מיקום, כמו בפיגמה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027664" y="365760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30368" y="3685032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או מבקשים בשיחה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30368" y="4078224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"הגדל את הכותרת, החלף לצבע המותג"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027664" y="448056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30368" y="4507992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מייצאים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30368" y="4901184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PowerPoint, PDF או קישור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230368" y="5486400"/>
            <a:ext cx="6300216" cy="64008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458968" y="5486400"/>
            <a:ext cx="5843016" cy="64008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EBEDF0"/>
                </a:solidFill>
                <a:latin typeface="Arial"/>
                <a:cs typeface="Arial"/>
              </a:rPr>
              <a:t>💡  בבטא, למנויים בתשלום. נראה בהדגמה, ואפשר לנסות בחודש ניסיון.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⚖️ ארבעה כללים לפני שמפרסמים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ויזואל של AI הוא כוח. הנה איך משתמשים בו נכון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874519"/>
            <a:ext cx="5312664" cy="1600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10799064" y="2057400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112263"/>
            <a:ext cx="4352544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רק אתם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624327"/>
            <a:ext cx="4946904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EBEDF0"/>
                </a:solidFill>
                <a:latin typeface="Arial"/>
                <a:cs typeface="Arial"/>
              </a:rPr>
              <a:t>קול ופנים משבטים רק של עצמכם, או באישור בכתב.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874519"/>
            <a:ext cx="5312664" cy="1600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5239512" y="2057400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🏷️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112263"/>
            <a:ext cx="4352544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מסמנים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624327"/>
            <a:ext cx="4946904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EBEDF0"/>
                </a:solidFill>
                <a:latin typeface="Arial"/>
                <a:cs typeface="Arial"/>
              </a:rPr>
              <a:t>בפוסט או בסרטון כותבים שנעשה בעזרת AI.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675887"/>
            <a:ext cx="5312664" cy="1600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10799064" y="3858768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©️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913631"/>
            <a:ext cx="4352544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לא מעתיקים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4425696"/>
            <a:ext cx="4946904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EBEDF0"/>
                </a:solidFill>
                <a:latin typeface="Arial"/>
                <a:cs typeface="Arial"/>
              </a:rPr>
              <a:t>לא מבקשים "בסגנון של" אמן או מותג קיים.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675887"/>
            <a:ext cx="5312664" cy="160020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5239512" y="3858768"/>
            <a:ext cx="548640" cy="548640"/>
          </a:xfrm>
          <a:prstGeom prst="ellipse">
            <a:avLst/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F2F5FA"/>
                </a:solidFill>
                <a:latin typeface="Arial"/>
                <a:cs typeface="Arial"/>
              </a:rPr>
              <a:t>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3913631"/>
            <a:ext cx="4352544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50" b="1" i="0" lang="he-IL">
                <a:solidFill>
                  <a:srgbClr val="EBEDF0"/>
                </a:solidFill>
                <a:latin typeface="Arial"/>
                <a:cs typeface="Arial"/>
              </a:rPr>
              <a:t>בודקים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4425696"/>
            <a:ext cx="4946904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EBEDF0"/>
                </a:solidFill>
                <a:latin typeface="Arial"/>
                <a:cs typeface="Arial"/>
              </a:rPr>
              <a:t>ידיים, טקסט בתמונה, מספרים בהצעת מחיר.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557784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183A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86968" y="557784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🧭  הכלל: אם הייתם מתביישים שהלקוח יגלה איך זה נוצר, אל תפרסמו.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🖼️ גלריית הערכות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הכי טובות של הערב, על המסך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027664" y="19202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94767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מצביעים באפליקציה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340864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על הערכה, המצגת והתמונה הכי טובות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027664" y="280720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28346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שלושה מציגים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3227832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דקה לכל אחד: מה בניתם, ומה הפתיע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027664" y="36941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3721608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מכריזים על המנצחים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4114800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וטבלת הקורס מתעדכנת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1920240"/>
            <a:ext cx="5120640" cy="338328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210312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00" b="1" i="0" lang="he-IL">
                <a:solidFill>
                  <a:srgbClr val="EBEDF0"/>
                </a:solidFill>
                <a:latin typeface="Arial"/>
                <a:cs typeface="Arial"/>
              </a:rPr>
              <a:t>✅  מה מחפשים: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2651760"/>
            <a:ext cx="4663440" cy="25603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285750" indent="-28575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sz="1550" b="0" i="0" lang="he-IL">
                <a:solidFill>
                  <a:srgbClr val="EBEDF0"/>
                </a:solidFill>
                <a:latin typeface="Arial"/>
                <a:cs typeface="Arial"/>
              </a:rPr>
              <a:t>שפה ויזואלית אחידה בכל התוצרים</a:t>
            </a:r>
          </a:p>
          <a:p>
            <a:pPr rtl="1" algn="r" marL="285750" indent="-28575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sz="1550" b="0" i="0" lang="he-IL">
                <a:solidFill>
                  <a:srgbClr val="EBEDF0"/>
                </a:solidFill>
                <a:latin typeface="Arial"/>
                <a:cs typeface="Arial"/>
              </a:rPr>
              <a:t>מסר ברור תוך 3 שניות</a:t>
            </a:r>
          </a:p>
          <a:p>
            <a:pPr rtl="1" algn="r" marL="285750" indent="-28575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sz="1550" b="0" i="0" lang="he-IL">
                <a:solidFill>
                  <a:srgbClr val="EBEDF0"/>
                </a:solidFill>
                <a:latin typeface="Arial"/>
                <a:cs typeface="Arial"/>
              </a:rPr>
              <a:t>מתאים לקהל של העסק</a:t>
            </a:r>
          </a:p>
          <a:p>
            <a:pPr rtl="1" algn="r" marL="285750" indent="-285750">
              <a:lnSpc>
                <a:spcPct val="108000"/>
              </a:lnSpc>
              <a:buSzPct val="100000"/>
              <a:buChar char="•"/>
            </a:pPr>
            <a:r>
              <a:rPr sz="1550" b="0" i="0" lang="he-IL">
                <a:solidFill>
                  <a:srgbClr val="EBEDF0"/>
                </a:solidFill>
                <a:latin typeface="Arial"/>
                <a:cs typeface="Arial"/>
              </a:rPr>
              <a:t>נראה אמין, לא "AI מדי"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557784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183A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86968" y="557784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👏  כל תוצר שיצרתם היום הוא נכס לעסק. שמרו הכול בתיקייה אחת.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🧰 ארגז הכלים של היום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הקישורים להעתקה. חלקם נותנים לכם קרדיטים או ניסיון חינם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058912" y="1874519"/>
            <a:ext cx="3471672" cy="566928"/>
          </a:xfrm>
          <a:prstGeom prst="roundRect">
            <a:avLst>
              <a:gd name="adj" fmla="val 25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935321" y="1874519"/>
            <a:ext cx="1458102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1" i="0" lang="he-IL">
                <a:solidFill>
                  <a:srgbClr val="F2F5FA"/>
                </a:solidFill>
                <a:latin typeface="Arial"/>
                <a:cs typeface="Arial"/>
              </a:rPr>
              <a:t>Claude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68640" y="1874519"/>
            <a:ext cx="1739249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150" b="0" i="0" lang="he-IL">
                <a:solidFill>
                  <a:srgbClr val="6296FF"/>
                </a:solidFill>
                <a:latin typeface="Arial"/>
                <a:cs typeface="Arial"/>
              </a:rPr>
              <a:t>claude.ai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58912" y="2569463"/>
            <a:ext cx="3471672" cy="566928"/>
          </a:xfrm>
          <a:prstGeom prst="roundRect">
            <a:avLst>
              <a:gd name="adj" fmla="val 25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935321" y="2569463"/>
            <a:ext cx="1458102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1" i="0" lang="he-IL">
                <a:solidFill>
                  <a:srgbClr val="F2F5FA"/>
                </a:solidFill>
                <a:latin typeface="Arial"/>
                <a:cs typeface="Arial"/>
              </a:rPr>
              <a:t>Google Stitch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68640" y="2569463"/>
            <a:ext cx="1739249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150" b="0" i="0" lang="he-IL">
                <a:solidFill>
                  <a:srgbClr val="6296FF"/>
                </a:solidFill>
                <a:latin typeface="Arial"/>
                <a:cs typeface="Arial"/>
              </a:rPr>
              <a:t>stitch.withgoogle.com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58912" y="3264408"/>
            <a:ext cx="3471672" cy="566928"/>
          </a:xfrm>
          <a:prstGeom prst="roundRect">
            <a:avLst>
              <a:gd name="adj" fmla="val 25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935321" y="3264408"/>
            <a:ext cx="1458102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1" i="0" lang="he-IL">
                <a:solidFill>
                  <a:srgbClr val="F2F5FA"/>
                </a:solidFill>
                <a:latin typeface="Arial"/>
                <a:cs typeface="Arial"/>
              </a:rPr>
              <a:t>Gamma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68640" y="3264408"/>
            <a:ext cx="1739249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150" b="0" i="0" lang="he-IL">
                <a:solidFill>
                  <a:srgbClr val="6296FF"/>
                </a:solidFill>
                <a:latin typeface="Arial"/>
                <a:cs typeface="Arial"/>
              </a:rPr>
              <a:t>gamma.app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58912" y="3959352"/>
            <a:ext cx="3471672" cy="566928"/>
          </a:xfrm>
          <a:prstGeom prst="roundRect">
            <a:avLst>
              <a:gd name="adj" fmla="val 25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935321" y="3959352"/>
            <a:ext cx="1458102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1" i="0" lang="he-IL">
                <a:solidFill>
                  <a:srgbClr val="F2F5FA"/>
                </a:solidFill>
                <a:latin typeface="Arial"/>
                <a:cs typeface="Arial"/>
              </a:rPr>
              <a:t>Canva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68640" y="3959352"/>
            <a:ext cx="1739249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150" b="0" i="0" lang="he-IL">
                <a:solidFill>
                  <a:srgbClr val="6296FF"/>
                </a:solidFill>
                <a:latin typeface="Arial"/>
                <a:cs typeface="Arial"/>
              </a:rPr>
              <a:t>canva.com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58640" y="1874519"/>
            <a:ext cx="3471672" cy="566928"/>
          </a:xfrm>
          <a:prstGeom prst="roundRect">
            <a:avLst>
              <a:gd name="adj" fmla="val 25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235049" y="1874519"/>
            <a:ext cx="1458102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1" i="0" lang="he-IL">
                <a:solidFill>
                  <a:srgbClr val="F2F5FA"/>
                </a:solidFill>
                <a:latin typeface="Arial"/>
                <a:cs typeface="Arial"/>
              </a:rPr>
              <a:t>Gemini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8368" y="1874519"/>
            <a:ext cx="1739249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150" b="0" i="0" lang="he-IL">
                <a:solidFill>
                  <a:srgbClr val="6296FF"/>
                </a:solidFill>
                <a:latin typeface="Arial"/>
                <a:cs typeface="Arial"/>
              </a:rPr>
              <a:t>gemini.google.com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58640" y="2569463"/>
            <a:ext cx="3471672" cy="566928"/>
          </a:xfrm>
          <a:prstGeom prst="roundRect">
            <a:avLst>
              <a:gd name="adj" fmla="val 25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235049" y="2569463"/>
            <a:ext cx="1458102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1" i="0" lang="he-IL">
                <a:solidFill>
                  <a:srgbClr val="F2F5FA"/>
                </a:solidFill>
                <a:latin typeface="Arial"/>
                <a:cs typeface="Arial"/>
              </a:rPr>
              <a:t>ChatGPT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68368" y="2569463"/>
            <a:ext cx="1739249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150" b="0" i="0" lang="he-IL">
                <a:solidFill>
                  <a:srgbClr val="6296FF"/>
                </a:solidFill>
                <a:latin typeface="Arial"/>
                <a:cs typeface="Arial"/>
              </a:rPr>
              <a:t>chatgpt.com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58640" y="3264408"/>
            <a:ext cx="3471672" cy="566928"/>
          </a:xfrm>
          <a:prstGeom prst="roundRect">
            <a:avLst>
              <a:gd name="adj" fmla="val 25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235049" y="3264408"/>
            <a:ext cx="1458102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1" i="0" lang="he-IL">
                <a:solidFill>
                  <a:srgbClr val="F2F5FA"/>
                </a:solidFill>
                <a:latin typeface="Arial"/>
                <a:cs typeface="Arial"/>
              </a:rPr>
              <a:t>ElevenLabs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68368" y="3264408"/>
            <a:ext cx="1739249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150" b="0" i="0" lang="he-IL">
                <a:solidFill>
                  <a:srgbClr val="6296FF"/>
                </a:solidFill>
                <a:latin typeface="Arial"/>
                <a:cs typeface="Arial"/>
              </a:rPr>
              <a:t>elevenlabs.io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58640" y="3959352"/>
            <a:ext cx="3471672" cy="566928"/>
          </a:xfrm>
          <a:prstGeom prst="roundRect">
            <a:avLst>
              <a:gd name="adj" fmla="val 25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235049" y="3959352"/>
            <a:ext cx="1458102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1" i="0" lang="he-IL">
                <a:solidFill>
                  <a:srgbClr val="F2F5FA"/>
                </a:solidFill>
                <a:latin typeface="Arial"/>
                <a:cs typeface="Arial"/>
              </a:rPr>
              <a:t>HeyGen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68368" y="3959352"/>
            <a:ext cx="1739249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150" b="0" i="0" lang="he-IL">
                <a:solidFill>
                  <a:srgbClr val="6296FF"/>
                </a:solidFill>
                <a:latin typeface="Arial"/>
                <a:cs typeface="Arial"/>
              </a:rPr>
              <a:t>heygen.com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1874519"/>
            <a:ext cx="3471672" cy="566928"/>
          </a:xfrm>
          <a:prstGeom prst="roundRect">
            <a:avLst>
              <a:gd name="adj" fmla="val 25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2534777" y="1874519"/>
            <a:ext cx="1458102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1" i="0" lang="he-IL">
                <a:solidFill>
                  <a:srgbClr val="F2F5FA"/>
                </a:solidFill>
                <a:latin typeface="Arial"/>
                <a:cs typeface="Arial"/>
              </a:rPr>
              <a:t>D-ID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" y="1874519"/>
            <a:ext cx="1739249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150" b="0" i="0" lang="he-IL">
                <a:solidFill>
                  <a:srgbClr val="6296FF"/>
                </a:solidFill>
                <a:latin typeface="Arial"/>
                <a:cs typeface="Arial"/>
              </a:rPr>
              <a:t>d-id.com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2569463"/>
            <a:ext cx="3471672" cy="566928"/>
          </a:xfrm>
          <a:prstGeom prst="roundRect">
            <a:avLst>
              <a:gd name="adj" fmla="val 25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2534777" y="2569463"/>
            <a:ext cx="1458102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1" i="0" lang="he-IL">
                <a:solidFill>
                  <a:srgbClr val="F2F5FA"/>
                </a:solidFill>
                <a:latin typeface="Arial"/>
                <a:cs typeface="Arial"/>
              </a:rPr>
              <a:t>YouTube Create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8096" y="2569463"/>
            <a:ext cx="1739249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150" b="0" i="0" lang="he-IL">
                <a:solidFill>
                  <a:srgbClr val="6296FF"/>
                </a:solidFill>
                <a:latin typeface="Arial"/>
                <a:cs typeface="Arial"/>
              </a:rPr>
              <a:t>youtube.com/create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" y="3264408"/>
            <a:ext cx="3471672" cy="566928"/>
          </a:xfrm>
          <a:prstGeom prst="roundRect">
            <a:avLst>
              <a:gd name="adj" fmla="val 25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2534777" y="3264408"/>
            <a:ext cx="1458102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1" i="0" lang="he-IL">
                <a:solidFill>
                  <a:srgbClr val="F2F5FA"/>
                </a:solidFill>
                <a:latin typeface="Arial"/>
                <a:cs typeface="Arial"/>
              </a:rPr>
              <a:t>Captions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8096" y="3264408"/>
            <a:ext cx="1739249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150" b="0" i="0" lang="he-IL">
                <a:solidFill>
                  <a:srgbClr val="6296FF"/>
                </a:solidFill>
                <a:latin typeface="Arial"/>
                <a:cs typeface="Arial"/>
              </a:rPr>
              <a:t>captions.ai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3959352"/>
            <a:ext cx="3471672" cy="566928"/>
          </a:xfrm>
          <a:prstGeom prst="roundRect">
            <a:avLst>
              <a:gd name="adj" fmla="val 25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2534777" y="3959352"/>
            <a:ext cx="1458102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1" i="0" lang="he-IL">
                <a:solidFill>
                  <a:srgbClr val="F2F5FA"/>
                </a:solidFill>
                <a:latin typeface="Arial"/>
                <a:cs typeface="Arial"/>
              </a:rPr>
              <a:t>Grok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8096" y="3959352"/>
            <a:ext cx="1739249" cy="566928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l" marL="0" indent="0">
              <a:lnSpc>
                <a:spcPct val="108000"/>
              </a:lnSpc>
              <a:buNone/>
            </a:pPr>
            <a:r>
              <a:rPr sz="1150" b="0" i="0" lang="he-IL">
                <a:solidFill>
                  <a:srgbClr val="6296FF"/>
                </a:solidFill>
                <a:latin typeface="Arial"/>
                <a:cs typeface="Arial"/>
              </a:rPr>
              <a:t>grok.com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8368" y="557784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886968" y="557784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EBEDF0"/>
                </a:solidFill>
                <a:latin typeface="Arial"/>
                <a:cs typeface="Arial"/>
              </a:rPr>
              <a:t>📋  כל הקישורים נמצאים גם בארגז הכלים באפליקציית הקורס ובחוברת.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📌 משימת בית: ערכת העסק המלאה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משלימים את מה שלא הספקתם, ומביאים למפגש האחרון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027664" y="19202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94767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ערכת מותג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340864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צבעים, פונטים, טון ולוגו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027664" y="280720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28346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מסך אפליקציה ומצגת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3227832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קישורי שיתוף מ-Stitch ומגאמה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027664" y="36941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3721608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תמונת פרופיל + סרטון אווטאר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4114800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אחד לפחות עלה ללינקדאין או לוואטסאפ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027664" y="458114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500" b="1" i="0" lang="he-IL">
                <a:solidFill>
                  <a:srgbClr val="F2F5FA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4608576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700" b="1" i="0" lang="he-IL">
                <a:solidFill>
                  <a:srgbClr val="EBEDF0"/>
                </a:solidFill>
                <a:latin typeface="Arial"/>
                <a:cs typeface="Arial"/>
              </a:rPr>
              <a:t>משימה אחת שחוזרת אצלכם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5001768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350" b="0" i="0" lang="he-IL">
                <a:solidFill>
                  <a:srgbClr val="A9B4C6"/>
                </a:solidFill>
                <a:latin typeface="Arial"/>
                <a:cs typeface="Arial"/>
              </a:rPr>
              <a:t>שבוע הבא נהפוך אותה לאוטומטית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1920240"/>
            <a:ext cx="5120640" cy="3383280"/>
          </a:xfrm>
          <a:prstGeom prst="roundRect">
            <a:avLst>
              <a:gd name="adj" fmla="val 3000"/>
            </a:avLst>
          </a:prstGeom>
          <a:solidFill>
            <a:srgbClr val="022349"/>
          </a:solidFill>
          <a:ln w="19050">
            <a:solidFill>
              <a:srgbClr val="487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86968" y="210312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600" b="1" i="0" lang="he-IL">
                <a:solidFill>
                  <a:srgbClr val="F2F5FA"/>
                </a:solidFill>
                <a:latin typeface="Arial"/>
                <a:cs typeface="Arial"/>
              </a:rPr>
              <a:t>🔮  רמז למפגש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2651760"/>
            <a:ext cx="4663440" cy="25603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25000"/>
              </a:lnSpc>
              <a:buNone/>
            </a:pPr>
            <a:r>
              <a:rPr sz="1600" b="0" i="0" lang="he-IL">
                <a:solidFill>
                  <a:srgbClr val="EBEDF0"/>
                </a:solidFill>
                <a:latin typeface="Arial"/>
                <a:cs typeface="Arial"/>
              </a:rPr>
              <a:t>בנינו את העסק במילים ובתמונות. בפעם הבאה הוא יתחיל לעבוד לבד: מיילים, תזכורות ואוטומציות, בלי שתיגעו.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577840"/>
            <a:ext cx="10872216" cy="594360"/>
          </a:xfrm>
          <a:prstGeom prst="roundRect">
            <a:avLst>
              <a:gd name="adj" fmla="val 3000"/>
            </a:avLst>
          </a:prstGeom>
          <a:solidFill>
            <a:srgbClr val="183A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86968" y="5577840"/>
            <a:ext cx="10415016" cy="59436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📲  לפני המפגש הבא: פותחים חשבון ב-Make ומפעילים Gmail בג'מיני. הקישורים בחוברת ובהודעה.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slides/slide20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58368" y="50292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3700" b="1" i="0" lang="he-IL">
                <a:solidFill>
                  <a:srgbClr val="F2F5FA"/>
                </a:solidFill>
                <a:latin typeface="Arial"/>
                <a:cs typeface="Arial"/>
              </a:rPr>
              <a:t>שלושה דברים לקחת הביתה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872216" cy="3657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FAC496"/>
                </a:solidFill>
                <a:latin typeface="Arial"/>
                <a:cs typeface="Arial"/>
              </a:rPr>
              <a:t>אם תזכרו רק את זה, המפגש הצליח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156448" y="1920240"/>
            <a:ext cx="3383280" cy="329184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156448" y="2148840"/>
            <a:ext cx="3383280" cy="8229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4000" b="1" i="0" lang="he-IL">
                <a:solidFill>
                  <a:srgbClr val="6296FF"/>
                </a:solidFill>
                <a:latin typeface="Arial"/>
                <a:cs typeface="Arial"/>
              </a:rPr>
              <a:t>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57616" y="3154680"/>
            <a:ext cx="2980944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800" b="1" i="0" lang="he-IL">
                <a:solidFill>
                  <a:srgbClr val="EBEDF0"/>
                </a:solidFill>
                <a:latin typeface="Arial"/>
                <a:cs typeface="Arial"/>
              </a:rPr>
              <a:t>קודם תוכן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30768" y="3977639"/>
            <a:ext cx="2834640" cy="10972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A9B4C6"/>
                </a:solidFill>
                <a:latin typeface="Arial"/>
                <a:cs typeface="Arial"/>
              </a:rPr>
              <a:t>אפיון טוב = עיצוב טוב. בלי אפיון, יוצא יפה וריק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7408" y="1920240"/>
            <a:ext cx="3383280" cy="329184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407408" y="2148840"/>
            <a:ext cx="3383280" cy="8229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4000" b="1" i="0" lang="he-IL">
                <a:solidFill>
                  <a:srgbClr val="6296FF"/>
                </a:solidFill>
                <a:latin typeface="Arial"/>
                <a:cs typeface="Arial"/>
              </a:rPr>
              <a:t>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08576" y="3154680"/>
            <a:ext cx="2980944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800" b="1" i="0" lang="he-IL">
                <a:solidFill>
                  <a:srgbClr val="EBEDF0"/>
                </a:solidFill>
                <a:latin typeface="Arial"/>
                <a:cs typeface="Arial"/>
              </a:rPr>
              <a:t>שפה אחת בכל הכלים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1728" y="3977639"/>
            <a:ext cx="2834640" cy="10972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A9B4C6"/>
                </a:solidFill>
                <a:latin typeface="Arial"/>
                <a:cs typeface="Arial"/>
              </a:rPr>
              <a:t>אותם צבעים וטון במותג, באפליקציה, במצגת ובווידאו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1920240"/>
            <a:ext cx="3383280" cy="3291840"/>
          </a:xfrm>
          <a:prstGeom prst="roundRect">
            <a:avLst>
              <a:gd name="adj" fmla="val 3000"/>
            </a:avLst>
          </a:prstGeom>
          <a:solidFill>
            <a:srgbClr val="101620"/>
          </a:solidFill>
          <a:ln w="19050">
            <a:solidFill>
              <a:srgbClr val="002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8368" y="2148840"/>
            <a:ext cx="3383280" cy="82296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4000" b="1" i="0" lang="he-IL">
                <a:solidFill>
                  <a:srgbClr val="6296FF"/>
                </a:solidFill>
                <a:latin typeface="Arial"/>
                <a:cs typeface="Arial"/>
              </a:rPr>
              <a:t>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" y="3154680"/>
            <a:ext cx="2980944" cy="73152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800" b="1" i="0" lang="he-IL">
                <a:solidFill>
                  <a:srgbClr val="EBEDF0"/>
                </a:solidFill>
                <a:latin typeface="Arial"/>
                <a:cs typeface="Arial"/>
              </a:rPr>
              <a:t>אתם במרכז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3977639"/>
            <a:ext cx="2834640" cy="1097280"/>
          </a:xfrm>
          <a:prstGeom prst="rect">
            <a:avLst/>
          </a:prstGeom>
          <a:noFill/>
        </p:spPr>
        <p:txBody>
          <a:bodyPr wrap="square" lIns="0" rIns="0" tIns="0" bIns="0" anchor="t" rtlCol="0">
            <a:spAutoFit/>
          </a:bodyPr>
          <a:lstStyle/>
          <a:p>
            <a:pPr rtl="1" algn="ctr" marL="0" indent="0">
              <a:lnSpc>
                <a:spcPct val="108000"/>
              </a:lnSpc>
              <a:buNone/>
            </a:pPr>
            <a:r>
              <a:rPr sz="1400" b="0" i="0" lang="he-IL">
                <a:solidFill>
                  <a:srgbClr val="A9B4C6"/>
                </a:solidFill>
                <a:latin typeface="Arial"/>
                <a:cs typeface="Arial"/>
              </a:rPr>
              <a:t>קול ופנים רק שלכם, מסמנים AI, ובודקים לפני שמפרסמים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5532120"/>
            <a:ext cx="10872216" cy="640080"/>
          </a:xfrm>
          <a:prstGeom prst="roundRect">
            <a:avLst>
              <a:gd name="adj" fmla="val 3000"/>
            </a:avLst>
          </a:prstGeom>
          <a:solidFill>
            <a:srgbClr val="183A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86968" y="5532120"/>
            <a:ext cx="10415016" cy="640080"/>
          </a:xfrm>
          <a:prstGeom prst="rect">
            <a:avLst/>
          </a:prstGeom>
          <a:noFill/>
        </p:spPr>
        <p:txBody>
          <a:bodyPr wrap="square" lIns="0" rIns="0" tIns="0" bIns="0" anchor="ctr" rtlCol="0">
            <a:spAutoFit/>
          </a:bodyPr>
          <a:lstStyle/>
          <a:p>
            <a:pPr rtl="1" algn="r" marL="0" indent="0">
              <a:lnSpc>
                <a:spcPct val="108000"/>
              </a:lnSpc>
              <a:buNone/>
            </a:pPr>
            <a:r>
              <a:rPr sz="1450" b="0" i="0" lang="he-IL">
                <a:solidFill>
                  <a:srgbClr val="EBEDF0"/>
                </a:solidFill>
                <a:latin typeface="Arial"/>
                <a:cs typeface="Arial"/>
              </a:rPr>
              <a:t>🏆  ועכשיו: טבלת הקורס, והמנצחים של הערב!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6473952"/>
            <a:ext cx="484632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 rtl="1"/>
            <a:r>
              <a:rPr sz="1000">
                <a:solidFill>
                  <a:srgbClr val="8A96AA"/>
                </a:solidFill>
                <a:latin typeface="Arial"/>
                <a:cs typeface="Arial"/>
              </a:rPr>
              <a:t>© נערך על ידי AI Finance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/>
  <cp:revision>1</cp:revision>
  <dcterms:created xsi:type="dcterms:W3CDTF">2026-09-29T21:49:57Z</dcterms:created>
  <dcterms:modified xsi:type="dcterms:W3CDTF">2026-09-29T21:49:57Z</dcterms:modified>
</cp:coreProperties>
</file>