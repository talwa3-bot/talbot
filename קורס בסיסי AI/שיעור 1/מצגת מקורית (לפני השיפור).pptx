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7.png"/><Relationship Id="rId10" Type="http://schemas.openxmlformats.org/officeDocument/2006/relationships/image" Target="../media/image-14-8.sv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19352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AI בסיסי למתחילים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83396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1: היכרות עם בינה מלאכותית</a:t>
            </a:r>
            <a:endParaRPr lang="he-IL" sz="1850" dirty="0"/>
          </a:p>
        </p:txBody>
      </p:sp>
      <p:sp>
        <p:nvSpPr>
          <p:cNvPr id="5" name="Shape 2"/>
          <p:cNvSpPr/>
          <p:nvPr/>
        </p:nvSpPr>
        <p:spPr>
          <a:xfrm>
            <a:off x="5233360" y="3473946"/>
            <a:ext cx="6296860" cy="1190526"/>
          </a:xfrm>
          <a:prstGeom prst="roundRect">
            <a:avLst>
              <a:gd name="adj" fmla="val 6668"/>
            </a:avLst>
          </a:prstGeom>
          <a:solidFill>
            <a:srgbClr val="002A8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371623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3710186"/>
            <a:ext cx="549360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ההבטחה: לא תיאוריה. כל מפגש = תרגול על משימות אמיתיות. היום עוד תשלחו הודעה ראשונה ל-AI ותקבלו עזרה במשימה אמיתית מהעבודה שלכם.</a:t>
            </a:r>
            <a:endParaRPr lang="he-IL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690886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בכלל AI? (בלי באזוורדים)</a:t>
            </a:r>
            <a:endParaRPr lang="he-IL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801243"/>
            <a:ext cx="2917851" cy="21532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47767" y="3015655"/>
            <a:ext cx="238744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שפה</a:t>
            </a:r>
            <a:endParaRPr lang="he-IL" sz="1850" dirty="0"/>
          </a:p>
        </p:txBody>
      </p:sp>
      <p:sp>
        <p:nvSpPr>
          <p:cNvPr id="6" name="Text 2"/>
          <p:cNvSpPr/>
          <p:nvPr/>
        </p:nvSpPr>
        <p:spPr>
          <a:xfrm>
            <a:off x="5447767" y="3511748"/>
            <a:ext cx="2387441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מכונה שקראה מיליארדי טקסטים ולמדה לחזות את המילה הבאה. היא לא "מבינה" כמו אדם – אבל התוצאה מרשימה.</a:t>
            </a:r>
            <a:endParaRPr lang="he-IL" sz="1450" dirty="0"/>
          </a:p>
        </p:txBody>
      </p:sp>
      <p:sp>
        <p:nvSpPr>
          <p:cNvPr id="7" name="Text 3"/>
          <p:cNvSpPr/>
          <p:nvPr/>
        </p:nvSpPr>
        <p:spPr>
          <a:xfrm>
            <a:off x="8618719" y="2971304"/>
            <a:ext cx="263439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המשל: מלצר שקרא את כל ספרי הבישול בעולם. מעולם לא טעם אף מנה – אבל ההמלצה שלו מצוינת.</a:t>
            </a:r>
            <a:endParaRPr lang="he-IL" sz="1450" dirty="0"/>
          </a:p>
        </p:txBody>
      </p:sp>
      <p:sp>
        <p:nvSpPr>
          <p:cNvPr id="8" name="Shape 4"/>
          <p:cNvSpPr/>
          <p:nvPr/>
        </p:nvSpPr>
        <p:spPr>
          <a:xfrm>
            <a:off x="11511171" y="2801243"/>
            <a:ext cx="25399" cy="1077119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674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ההבדל בין AI לגוגל?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57103"/>
            <a:ext cx="5203794" cy="1157883"/>
          </a:xfrm>
          <a:prstGeom prst="roundRect">
            <a:avLst>
              <a:gd name="adj" fmla="val 685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531" y="3065165"/>
            <a:ext cx="478768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גוגל</a:t>
            </a:r>
            <a:endParaRPr lang="he-IL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3561259"/>
            <a:ext cx="4787681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מוצא דפים קיימים – אתם קוראים ומסכמים לבד.</a:t>
            </a:r>
            <a:endParaRPr lang="he-IL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2857103"/>
            <a:ext cx="5203794" cy="1157883"/>
          </a:xfrm>
          <a:prstGeom prst="roundRect">
            <a:avLst>
              <a:gd name="adj" fmla="val 685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0832" y="3065165"/>
            <a:ext cx="478768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AI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540832" y="3561259"/>
            <a:ext cx="4787681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מייצר תשובה חדשה עבורכם – מסכם, מנסח, מנתח.</a:t>
            </a:r>
            <a:endParaRPr lang="he-IL" sz="1450" dirty="0"/>
          </a:p>
        </p:txBody>
      </p:sp>
      <p:sp>
        <p:nvSpPr>
          <p:cNvPr id="9" name="Text 7"/>
          <p:cNvSpPr/>
          <p:nvPr/>
        </p:nvSpPr>
        <p:spPr>
          <a:xfrm>
            <a:off x="51890" y="4652863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במשפט אחד: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גוגל = ספרייה. AI = עוזר אישי שקרא את כל הספרייה.</a:t>
            </a:r>
            <a:endParaRPr lang="he-IL" sz="1450" dirty="0"/>
          </a:p>
        </p:txBody>
      </p:sp>
      <p:sp>
        <p:nvSpPr>
          <p:cNvPr id="10" name="Shape 8"/>
          <p:cNvSpPr/>
          <p:nvPr/>
        </p:nvSpPr>
        <p:spPr>
          <a:xfrm>
            <a:off x="11504821" y="4440238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80926"/>
            <a:ext cx="6296860" cy="48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2950" b="1" spc="-59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חמשת הגדולים</a:t>
            </a:r>
            <a:endParaRPr lang="he-IL" sz="2950" dirty="0"/>
          </a:p>
        </p:txBody>
      </p:sp>
      <p:sp>
        <p:nvSpPr>
          <p:cNvPr id="4" name="Shape 1"/>
          <p:cNvSpPr/>
          <p:nvPr/>
        </p:nvSpPr>
        <p:spPr>
          <a:xfrm>
            <a:off x="3869931" y="1250355"/>
            <a:ext cx="3088404" cy="1390948"/>
          </a:xfrm>
          <a:prstGeom prst="roundRect">
            <a:avLst>
              <a:gd name="adj" fmla="val 454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43194" y="1413669"/>
            <a:ext cx="451831" cy="451842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7512" y="1537891"/>
            <a:ext cx="203294" cy="2032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33241" y="1985466"/>
            <a:ext cx="2761784" cy="2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spc="-30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קלוד (אנתרופיק)</a:t>
            </a:r>
            <a:endParaRPr lang="he-IL" sz="1450" dirty="0"/>
          </a:p>
        </p:txBody>
      </p:sp>
      <p:sp>
        <p:nvSpPr>
          <p:cNvPr id="8" name="Text 4"/>
          <p:cNvSpPr/>
          <p:nvPr/>
        </p:nvSpPr>
        <p:spPr>
          <a:xfrm>
            <a:off x="4033241" y="2302173"/>
            <a:ext cx="2761784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7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מסמכים ארוכים, כתיבה מדויקת ומנומקת</a:t>
            </a:r>
            <a:endParaRPr lang="he-IL" sz="1150" dirty="0"/>
          </a:p>
        </p:txBody>
      </p:sp>
      <p:sp>
        <p:nvSpPr>
          <p:cNvPr id="9" name="Shape 5"/>
          <p:cNvSpPr/>
          <p:nvPr/>
        </p:nvSpPr>
        <p:spPr>
          <a:xfrm>
            <a:off x="661475" y="1250355"/>
            <a:ext cx="3088503" cy="1390948"/>
          </a:xfrm>
          <a:prstGeom prst="roundRect">
            <a:avLst>
              <a:gd name="adj" fmla="val 454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134837" y="1413669"/>
            <a:ext cx="451831" cy="451842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9155" y="1537891"/>
            <a:ext cx="203294" cy="2032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4785" y="1985466"/>
            <a:ext cx="2761883" cy="2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spc="-30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צ'אט ג'יפיטי (OpenAI)</a:t>
            </a:r>
            <a:endParaRPr lang="he-IL" sz="1450" dirty="0"/>
          </a:p>
        </p:txBody>
      </p:sp>
      <p:sp>
        <p:nvSpPr>
          <p:cNvPr id="13" name="Text 8"/>
          <p:cNvSpPr/>
          <p:nvPr/>
        </p:nvSpPr>
        <p:spPr>
          <a:xfrm>
            <a:off x="824785" y="2302173"/>
            <a:ext cx="2761883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7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הכי מוכר, רב-גוני, כתיבה יומיומית</a:t>
            </a:r>
            <a:endParaRPr lang="he-IL" sz="1150" dirty="0"/>
          </a:p>
        </p:txBody>
      </p:sp>
      <p:sp>
        <p:nvSpPr>
          <p:cNvPr id="14" name="Shape 9"/>
          <p:cNvSpPr/>
          <p:nvPr/>
        </p:nvSpPr>
        <p:spPr>
          <a:xfrm>
            <a:off x="3869931" y="2761258"/>
            <a:ext cx="3088404" cy="1390948"/>
          </a:xfrm>
          <a:prstGeom prst="roundRect">
            <a:avLst>
              <a:gd name="adj" fmla="val 454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43194" y="2924572"/>
            <a:ext cx="451831" cy="451842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7512" y="3048794"/>
            <a:ext cx="203294" cy="2032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33241" y="3496370"/>
            <a:ext cx="2761784" cy="2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spc="-30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ג'מיני (גוגל)</a:t>
            </a:r>
            <a:endParaRPr lang="he-IL" sz="1450" dirty="0"/>
          </a:p>
        </p:txBody>
      </p:sp>
      <p:sp>
        <p:nvSpPr>
          <p:cNvPr id="18" name="Text 12"/>
          <p:cNvSpPr/>
          <p:nvPr/>
        </p:nvSpPr>
        <p:spPr>
          <a:xfrm>
            <a:off x="4033241" y="3813076"/>
            <a:ext cx="2761784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7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מידע עדכני מהרשת, חיבור לג'ימייל ולדרייב</a:t>
            </a:r>
            <a:endParaRPr lang="he-IL" sz="1150" dirty="0"/>
          </a:p>
        </p:txBody>
      </p:sp>
      <p:sp>
        <p:nvSpPr>
          <p:cNvPr id="19" name="Shape 13"/>
          <p:cNvSpPr/>
          <p:nvPr/>
        </p:nvSpPr>
        <p:spPr>
          <a:xfrm>
            <a:off x="661475" y="2761258"/>
            <a:ext cx="3088503" cy="1390948"/>
          </a:xfrm>
          <a:prstGeom prst="roundRect">
            <a:avLst>
              <a:gd name="adj" fmla="val 454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134837" y="2924572"/>
            <a:ext cx="451831" cy="451842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59155" y="3048794"/>
            <a:ext cx="203294" cy="20329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785" y="3496370"/>
            <a:ext cx="2761883" cy="2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spc="-30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קופיילוט (מיקרוסופט)</a:t>
            </a:r>
            <a:endParaRPr lang="he-IL" sz="1450" dirty="0"/>
          </a:p>
        </p:txBody>
      </p:sp>
      <p:sp>
        <p:nvSpPr>
          <p:cNvPr id="23" name="Text 16"/>
          <p:cNvSpPr/>
          <p:nvPr/>
        </p:nvSpPr>
        <p:spPr>
          <a:xfrm>
            <a:off x="824785" y="3813076"/>
            <a:ext cx="2761883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7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משולב ב-Office, Word, Excel ו-Teams</a:t>
            </a:r>
            <a:endParaRPr lang="he-IL" sz="1150" dirty="0"/>
          </a:p>
        </p:txBody>
      </p:sp>
      <p:sp>
        <p:nvSpPr>
          <p:cNvPr id="24" name="Shape 17"/>
          <p:cNvSpPr/>
          <p:nvPr/>
        </p:nvSpPr>
        <p:spPr>
          <a:xfrm>
            <a:off x="661475" y="4272161"/>
            <a:ext cx="6296860" cy="1390948"/>
          </a:xfrm>
          <a:prstGeom prst="roundRect">
            <a:avLst>
              <a:gd name="adj" fmla="val 454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343194" y="4435475"/>
            <a:ext cx="451831" cy="451842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67512" y="4559697"/>
            <a:ext cx="203294" cy="20329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4785" y="5007273"/>
            <a:ext cx="5970240" cy="2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spc="-30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דיפסיק (DeepSeek)</a:t>
            </a:r>
            <a:endParaRPr lang="he-IL" sz="1450" dirty="0"/>
          </a:p>
        </p:txBody>
      </p:sp>
      <p:sp>
        <p:nvSpPr>
          <p:cNvPr id="28" name="Text 20"/>
          <p:cNvSpPr/>
          <p:nvPr/>
        </p:nvSpPr>
        <p:spPr>
          <a:xfrm>
            <a:off x="824785" y="5323979"/>
            <a:ext cx="5970240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7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סיני חזק במיוחד, קוד פתוח, מצוין לניתוח ולוגיקה</a:t>
            </a:r>
            <a:endParaRPr lang="he-IL" sz="1150" dirty="0"/>
          </a:p>
        </p:txBody>
      </p:sp>
      <p:sp>
        <p:nvSpPr>
          <p:cNvPr id="29" name="Shape 21"/>
          <p:cNvSpPr/>
          <p:nvPr/>
        </p:nvSpPr>
        <p:spPr>
          <a:xfrm>
            <a:off x="661475" y="5798046"/>
            <a:ext cx="6296860" cy="478929"/>
          </a:xfrm>
          <a:prstGeom prst="roundRect">
            <a:avLst>
              <a:gd name="adj" fmla="val 13209"/>
            </a:avLst>
          </a:prstGeom>
          <a:solidFill>
            <a:srgbClr val="183A1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085" y="5955605"/>
            <a:ext cx="188213" cy="15061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41324" y="5955605"/>
            <a:ext cx="6266400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7000"/>
              </a:lnSpc>
              <a:buNone/>
            </a:pPr>
            <a:r>
              <a:rPr lang="he-IL" alt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כולם חינמיים ברמה הבסיסית. כולם מדברים עברית.</a:t>
            </a:r>
            <a:endParaRPr lang="he-IL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42925"/>
            <a:ext cx="6296860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50" b="1" spc="-73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צ'אט ג'יפיטי – OpenAI</a:t>
            </a:r>
            <a:endParaRPr lang="he-IL" sz="3650" dirty="0"/>
          </a:p>
        </p:txBody>
      </p:sp>
      <p:sp>
        <p:nvSpPr>
          <p:cNvPr id="4" name="Text 1"/>
          <p:cNvSpPr/>
          <p:nvPr/>
        </p:nvSpPr>
        <p:spPr>
          <a:xfrm>
            <a:off x="4623776" y="1422301"/>
            <a:ext cx="690644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 על ידי OpenAI, חברה אמריקאית שהוקמה ב-2015. המשקיע הגדול: מיקרוסופט.</a:t>
            </a:r>
            <a:endParaRPr lang="he-IL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074168"/>
            <a:ext cx="2921522" cy="3148112"/>
          </a:xfrm>
          <a:prstGeom prst="roundRect">
            <a:avLst>
              <a:gd name="adj" fmla="val 2675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4790" y="2285603"/>
            <a:ext cx="2498662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יתרונות</a:t>
            </a:r>
            <a:endParaRPr lang="he-IL" sz="1800" dirty="0"/>
          </a:p>
        </p:txBody>
      </p:sp>
      <p:sp>
        <p:nvSpPr>
          <p:cNvPr id="7" name="Text 4"/>
          <p:cNvSpPr/>
          <p:nvPr/>
        </p:nvSpPr>
        <p:spPr>
          <a:xfrm>
            <a:off x="5444790" y="2771080"/>
            <a:ext cx="2498662" cy="2239764"/>
          </a:xfrm>
          <a:prstGeom prst="rect">
            <a:avLst/>
          </a:prstGeom>
          <a:noFill/>
          <a:ln/>
        </p:spPr>
        <p:txBody>
          <a:bodyPr wrap="square" lIns="0" tIns="0" rIns="74426" bIns="0" rtlCol="0" anchor="t">
            <a:normAutofit/>
          </a:bodyPr>
          <a:lstStyle/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הכי מוכר ונפוץ בעולם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פשוט ואינטואיטיבי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רב-גוני: כתיבה, קוד, ניתוח, תמונות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בעברית טובה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אינטגרציות רבות עם כלים חיצוניים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גרסת GPT-4o חינמית</a:t>
            </a:r>
            <a:endParaRPr lang="he-IL" sz="1450" dirty="0"/>
          </a:p>
        </p:txBody>
      </p:sp>
      <p:sp>
        <p:nvSpPr>
          <p:cNvPr id="8" name="Shape 5"/>
          <p:cNvSpPr/>
          <p:nvPr/>
        </p:nvSpPr>
        <p:spPr>
          <a:xfrm>
            <a:off x="8615048" y="2074168"/>
            <a:ext cx="2921522" cy="2780010"/>
          </a:xfrm>
          <a:prstGeom prst="roundRect">
            <a:avLst>
              <a:gd name="adj" fmla="val 2811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6478" y="2285603"/>
            <a:ext cx="2498662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חסרונות</a:t>
            </a:r>
            <a:endParaRPr lang="he-IL" sz="1800" dirty="0"/>
          </a:p>
        </p:txBody>
      </p:sp>
      <p:sp>
        <p:nvSpPr>
          <p:cNvPr id="10" name="Text 7"/>
          <p:cNvSpPr/>
          <p:nvPr/>
        </p:nvSpPr>
        <p:spPr>
          <a:xfrm>
            <a:off x="8826478" y="2771080"/>
            <a:ext cx="2498662" cy="1871663"/>
          </a:xfrm>
          <a:prstGeom prst="rect">
            <a:avLst/>
          </a:prstGeom>
          <a:noFill/>
          <a:ln/>
        </p:spPr>
        <p:txBody>
          <a:bodyPr wrap="square" lIns="0" tIns="0" rIns="74426" bIns="0" rtlCol="0" anchor="t">
            <a:normAutofit/>
          </a:bodyPr>
          <a:lstStyle/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לפעמים "מסכים" יותר מדי עם המשתמש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הזיות בעובדות ספציפיות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גרסה חינמית מוגבלת בשימוש אינטנסיבי</a:t>
            </a:r>
            <a:endParaRPr lang="he-IL" sz="1450" dirty="0"/>
          </a:p>
          <a:p>
            <a:pPr rtl="1" algn="r" marL="294640" indent="-294640">
              <a:lnSpc>
                <a:spcPct val="107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מדויק במסמכים ארוכים מאוד</a:t>
            </a:r>
            <a:endParaRPr lang="he-IL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5634236"/>
            <a:ext cx="6296860" cy="680740"/>
          </a:xfrm>
          <a:prstGeom prst="roundRect">
            <a:avLst>
              <a:gd name="adj" fmla="val 11480"/>
            </a:avLst>
          </a:prstGeom>
          <a:solidFill>
            <a:srgbClr val="0223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391" y="5866110"/>
            <a:ext cx="232563" cy="1860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28400" y="5863828"/>
            <a:ext cx="611579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ל: כתיבה יומיומית, רעיונות, ניסוח, שאלות כלליות</a:t>
            </a:r>
            <a:endParaRPr lang="he-IL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70818"/>
            <a:ext cx="6296860" cy="57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450" b="1" spc="-70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קלוד – Anthropic</a:t>
            </a:r>
            <a:endParaRPr lang="he-IL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1495822"/>
            <a:ext cx="6296860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 על ידי Anthropic, חברה שהוקמה ב-2021 על ידי לשעבר עובדי OpenAI. מתמקדת ב-AI בטוח ואחראי.</a:t>
            </a:r>
            <a:endParaRPr lang="he-IL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2315766"/>
            <a:ext cx="2932337" cy="2870597"/>
          </a:xfrm>
          <a:prstGeom prst="roundRect">
            <a:avLst>
              <a:gd name="adj" fmla="val 2593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7725" y="2512020"/>
            <a:ext cx="2539837" cy="294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יתרונות</a:t>
            </a:r>
            <a:endParaRPr lang="he-IL" sz="1700" dirty="0"/>
          </a:p>
        </p:txBody>
      </p:sp>
      <p:sp>
        <p:nvSpPr>
          <p:cNvPr id="7" name="Text 4"/>
          <p:cNvSpPr/>
          <p:nvPr/>
        </p:nvSpPr>
        <p:spPr>
          <a:xfrm>
            <a:off x="857725" y="2972395"/>
            <a:ext cx="2539837" cy="2017713"/>
          </a:xfrm>
          <a:prstGeom prst="rect">
            <a:avLst/>
          </a:prstGeom>
          <a:noFill/>
          <a:ln/>
        </p:spPr>
        <p:txBody>
          <a:bodyPr wrap="square" lIns="0" tIns="0" rIns="70882" bIns="0" rtlCol="0" anchor="t">
            <a:normAutofit/>
          </a:bodyPr>
          <a:lstStyle/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מצטיין בניתוח מסמכים ארוכים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כתיבה מנוסחת, מדויקת ועמוקה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"מסכים" – אומר את האמת גם אם לא נוחה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חלון הקשר גדול מאוד (עד 200K טוקנים)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מצוין לניתוח חוזים, דוחות, מחקרים</a:t>
            </a:r>
            <a:endParaRPr lang="he-IL" sz="1350" dirty="0"/>
          </a:p>
        </p:txBody>
      </p:sp>
      <p:sp>
        <p:nvSpPr>
          <p:cNvPr id="8" name="Shape 5"/>
          <p:cNvSpPr/>
          <p:nvPr/>
        </p:nvSpPr>
        <p:spPr>
          <a:xfrm>
            <a:off x="4032348" y="2315766"/>
            <a:ext cx="2932337" cy="2589312"/>
          </a:xfrm>
          <a:prstGeom prst="roundRect">
            <a:avLst>
              <a:gd name="adj" fmla="val 2874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28597" y="2512020"/>
            <a:ext cx="2539837" cy="294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חסרונות</a:t>
            </a:r>
            <a:endParaRPr lang="he-IL" sz="1700" dirty="0"/>
          </a:p>
        </p:txBody>
      </p:sp>
      <p:sp>
        <p:nvSpPr>
          <p:cNvPr id="10" name="Text 7"/>
          <p:cNvSpPr/>
          <p:nvPr/>
        </p:nvSpPr>
        <p:spPr>
          <a:xfrm>
            <a:off x="4228597" y="2972395"/>
            <a:ext cx="2539837" cy="1736427"/>
          </a:xfrm>
          <a:prstGeom prst="rect">
            <a:avLst/>
          </a:prstGeom>
          <a:noFill/>
          <a:ln/>
        </p:spPr>
        <p:txBody>
          <a:bodyPr wrap="square" lIns="0" tIns="0" rIns="70882" bIns="0" rtlCol="0" anchor="t">
            <a:normAutofit/>
          </a:bodyPr>
          <a:lstStyle/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מוכר ונפוץ מ-ChatGPT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יצירת תמונות בגרסה הבסיסית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לפעמים "זהיר" מדי ומסרב לבקשות תמימות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פחות עשיר מבחינת אינטגרציות</a:t>
            </a:r>
            <a:endParaRPr lang="he-IL" sz="1350" dirty="0"/>
          </a:p>
        </p:txBody>
      </p:sp>
      <p:sp>
        <p:nvSpPr>
          <p:cNvPr id="11" name="Shape 8"/>
          <p:cNvSpPr/>
          <p:nvPr/>
        </p:nvSpPr>
        <p:spPr>
          <a:xfrm>
            <a:off x="661475" y="5560020"/>
            <a:ext cx="6296860" cy="627162"/>
          </a:xfrm>
          <a:prstGeom prst="roundRect">
            <a:avLst>
              <a:gd name="adj" fmla="val 11867"/>
            </a:avLst>
          </a:prstGeom>
          <a:solidFill>
            <a:srgbClr val="0223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75" y="5774035"/>
            <a:ext cx="221451" cy="1772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7741" y="5770364"/>
            <a:ext cx="6153393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ל: ניתוח מסמכים, כתיבה מקצועית, עבודה עם טקסטים ארוכים</a:t>
            </a:r>
            <a:endParaRPr lang="he-IL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88268"/>
            <a:ext cx="6296860" cy="57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450" b="1" spc="-70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ג'מיני – Google</a:t>
            </a:r>
            <a:endParaRPr lang="he-IL" sz="3450" dirty="0"/>
          </a:p>
        </p:txBody>
      </p:sp>
      <p:sp>
        <p:nvSpPr>
          <p:cNvPr id="4" name="Text 1"/>
          <p:cNvSpPr/>
          <p:nvPr/>
        </p:nvSpPr>
        <p:spPr>
          <a:xfrm>
            <a:off x="5233360" y="1413272"/>
            <a:ext cx="6296860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 על ידי Google DeepMind. גוגל – חברת הטכנולוגיה הגדולה בעולם – משלבת את ג'מיני בכל מוצריה.</a:t>
            </a:r>
            <a:endParaRPr lang="he-IL" sz="1350" dirty="0"/>
          </a:p>
        </p:txBody>
      </p:sp>
      <p:sp>
        <p:nvSpPr>
          <p:cNvPr id="5" name="Shape 2"/>
          <p:cNvSpPr/>
          <p:nvPr/>
        </p:nvSpPr>
        <p:spPr>
          <a:xfrm>
            <a:off x="5233360" y="2233216"/>
            <a:ext cx="2932337" cy="2647454"/>
          </a:xfrm>
          <a:prstGeom prst="roundRect">
            <a:avLst>
              <a:gd name="adj" fmla="val 2811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9610" y="2429470"/>
            <a:ext cx="2539837" cy="294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יתרונות</a:t>
            </a:r>
            <a:endParaRPr lang="he-IL" sz="1700" dirty="0"/>
          </a:p>
        </p:txBody>
      </p:sp>
      <p:sp>
        <p:nvSpPr>
          <p:cNvPr id="7" name="Text 4"/>
          <p:cNvSpPr/>
          <p:nvPr/>
        </p:nvSpPr>
        <p:spPr>
          <a:xfrm>
            <a:off x="5429610" y="2889845"/>
            <a:ext cx="2539837" cy="1794570"/>
          </a:xfrm>
          <a:prstGeom prst="rect">
            <a:avLst/>
          </a:prstGeom>
          <a:noFill/>
          <a:ln/>
        </p:spPr>
        <p:txBody>
          <a:bodyPr wrap="square" lIns="0" tIns="0" rIns="70882" bIns="0" rtlCol="0" anchor="t">
            <a:normAutofit/>
          </a:bodyPr>
          <a:lstStyle/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 למידע עדכני מהאינטרנט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משולב עם Gmail, Drive, Docs ו-Calendar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מצוין לחיפוש ואיסוף מידע עדכני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בעברית טובה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חינמי עם גישה לגרסה חזקה (Gemini 1.5)</a:t>
            </a:r>
            <a:endParaRPr lang="he-IL" sz="1350" dirty="0"/>
          </a:p>
        </p:txBody>
      </p:sp>
      <p:sp>
        <p:nvSpPr>
          <p:cNvPr id="8" name="Shape 5"/>
          <p:cNvSpPr/>
          <p:nvPr/>
        </p:nvSpPr>
        <p:spPr>
          <a:xfrm>
            <a:off x="8604233" y="2233216"/>
            <a:ext cx="2932337" cy="2812455"/>
          </a:xfrm>
          <a:prstGeom prst="roundRect">
            <a:avLst>
              <a:gd name="adj" fmla="val 264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00483" y="2429470"/>
            <a:ext cx="2539837" cy="294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5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חסרונות</a:t>
            </a:r>
            <a:endParaRPr lang="he-IL" sz="1700" dirty="0"/>
          </a:p>
        </p:txBody>
      </p:sp>
      <p:sp>
        <p:nvSpPr>
          <p:cNvPr id="10" name="Text 7"/>
          <p:cNvSpPr/>
          <p:nvPr/>
        </p:nvSpPr>
        <p:spPr>
          <a:xfrm>
            <a:off x="8800483" y="2889845"/>
            <a:ext cx="2539837" cy="1959570"/>
          </a:xfrm>
          <a:prstGeom prst="rect">
            <a:avLst/>
          </a:prstGeom>
          <a:noFill/>
          <a:ln/>
        </p:spPr>
        <p:txBody>
          <a:bodyPr wrap="square" lIns="0" tIns="0" rIns="70882" bIns="0" rtlCol="0" anchor="t">
            <a:normAutofit/>
          </a:bodyPr>
          <a:lstStyle/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לפעמים פחות עמוק בניתוח טקסטים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האינטגרציה עם Google Workspace דורשת הגדרה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יצירתי בכתיבה לעומת ChatGPT וקלוד</a:t>
            </a:r>
            <a:endParaRPr lang="he-IL" sz="1350" dirty="0"/>
          </a:p>
          <a:p>
            <a:pPr rtl="1" algn="r" marL="274320" indent="-274320">
              <a:lnSpc>
                <a:spcPct val="105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שיחה פחות טבעי לפעמים</a:t>
            </a:r>
            <a:endParaRPr lang="he-IL" sz="1350" dirty="0"/>
          </a:p>
        </p:txBody>
      </p:sp>
      <p:sp>
        <p:nvSpPr>
          <p:cNvPr id="11" name="Shape 8"/>
          <p:cNvSpPr/>
          <p:nvPr/>
        </p:nvSpPr>
        <p:spPr>
          <a:xfrm>
            <a:off x="5233360" y="5419328"/>
            <a:ext cx="6296860" cy="850305"/>
          </a:xfrm>
          <a:prstGeom prst="roundRect">
            <a:avLst>
              <a:gd name="adj" fmla="val 8753"/>
            </a:avLst>
          </a:prstGeom>
          <a:solidFill>
            <a:srgbClr val="0223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561" y="5633343"/>
            <a:ext cx="221451" cy="1772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9212" y="5629672"/>
            <a:ext cx="5543808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ל: חיפוש מידע עדכני, עבודה עם Google Workspace, שאלות על אירועים שוטפים</a:t>
            </a:r>
            <a:endParaRPr lang="he-IL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26058"/>
            <a:ext cx="6296860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400" b="1" spc="-69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קופיילוט – Microsoft</a:t>
            </a:r>
            <a:endParaRPr lang="he-IL" sz="3400" dirty="0"/>
          </a:p>
        </p:txBody>
      </p:sp>
      <p:sp>
        <p:nvSpPr>
          <p:cNvPr id="4" name="Text 1"/>
          <p:cNvSpPr/>
          <p:nvPr/>
        </p:nvSpPr>
        <p:spPr>
          <a:xfrm>
            <a:off x="661475" y="1333302"/>
            <a:ext cx="6296860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 על ידי מיקרוסופט, בשיתוף עם OpenAI (שבה מיקרוסופט השקיעה מיליארדים). מובנה ישירות בתוך חבילת Office 365.</a:t>
            </a:r>
            <a:endParaRPr lang="he-IL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2129830"/>
            <a:ext cx="2935909" cy="3013174"/>
          </a:xfrm>
          <a:prstGeom prst="roundRect">
            <a:avLst>
              <a:gd name="adj" fmla="val 2493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748" y="2323108"/>
            <a:ext cx="2549362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יתרונות:</a:t>
            </a:r>
            <a:endParaRPr lang="he-IL" sz="1700" dirty="0"/>
          </a:p>
        </p:txBody>
      </p:sp>
      <p:sp>
        <p:nvSpPr>
          <p:cNvPr id="7" name="Text 4"/>
          <p:cNvSpPr/>
          <p:nvPr/>
        </p:nvSpPr>
        <p:spPr>
          <a:xfrm>
            <a:off x="854748" y="2766814"/>
            <a:ext cx="2549362" cy="2182912"/>
          </a:xfrm>
          <a:prstGeom prst="rect">
            <a:avLst/>
          </a:prstGeom>
          <a:noFill/>
          <a:ln/>
        </p:spPr>
        <p:txBody>
          <a:bodyPr wrap="square" lIns="0" tIns="0" rIns="69700" bIns="0" rtlCol="0" anchor="t">
            <a:normAutofit/>
          </a:bodyPr>
          <a:lstStyle/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משולב ישירות ב-Word, Excel, PowerPoint, Teams ו-Outlook</a:t>
            </a:r>
            <a:endParaRPr lang="he-IL" sz="1350" dirty="0"/>
          </a:p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מצוין לסיכום פגישות ב-Teams</a:t>
            </a:r>
            <a:endParaRPr lang="he-IL" sz="1350" dirty="0"/>
          </a:p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יוצר מצגות מטקסט ב-PowerPoint</a:t>
            </a:r>
            <a:endParaRPr lang="he-IL" sz="1350" dirty="0"/>
          </a:p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מנתח נתונים ב-Excel אוטומטית</a:t>
            </a:r>
            <a:endParaRPr lang="he-IL" sz="1350" dirty="0"/>
          </a:p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על GPT-4 – איכות גבוהה</a:t>
            </a:r>
            <a:endParaRPr lang="he-IL" sz="1350" dirty="0"/>
          </a:p>
        </p:txBody>
      </p:sp>
      <p:sp>
        <p:nvSpPr>
          <p:cNvPr id="8" name="Shape 5"/>
          <p:cNvSpPr/>
          <p:nvPr/>
        </p:nvSpPr>
        <p:spPr>
          <a:xfrm>
            <a:off x="4028776" y="2129830"/>
            <a:ext cx="2935909" cy="2739430"/>
          </a:xfrm>
          <a:prstGeom prst="roundRect">
            <a:avLst>
              <a:gd name="adj" fmla="val 2672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22049" y="2323108"/>
            <a:ext cx="2549362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חסרונות:</a:t>
            </a:r>
            <a:endParaRPr lang="he-IL" sz="1700" dirty="0"/>
          </a:p>
        </p:txBody>
      </p:sp>
      <p:sp>
        <p:nvSpPr>
          <p:cNvPr id="10" name="Text 7"/>
          <p:cNvSpPr/>
          <p:nvPr/>
        </p:nvSpPr>
        <p:spPr>
          <a:xfrm>
            <a:off x="4222049" y="2766814"/>
            <a:ext cx="2549362" cy="1909167"/>
          </a:xfrm>
          <a:prstGeom prst="rect">
            <a:avLst/>
          </a:prstGeom>
          <a:noFill/>
          <a:ln/>
        </p:spPr>
        <p:txBody>
          <a:bodyPr wrap="square" lIns="0" tIns="0" rIns="69700" bIns="0" rtlCol="0" anchor="t">
            <a:normAutofit/>
          </a:bodyPr>
          <a:lstStyle/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דורש רישיון Microsoft 365 (לא חינמי לחלוטין)</a:t>
            </a:r>
            <a:endParaRPr lang="he-IL" sz="1350" dirty="0"/>
          </a:p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הגרסה החינמית (copilot.microsoft.com) מוגבלת יותר</a:t>
            </a:r>
            <a:endParaRPr lang="he-IL" sz="1350" dirty="0"/>
          </a:p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גמיש לשיחות חופשיות</a:t>
            </a:r>
            <a:endParaRPr lang="he-IL" sz="1350" dirty="0"/>
          </a:p>
          <a:p>
            <a:pPr rtl="1" algn="r" marL="274320" indent="-274320">
              <a:lnSpc>
                <a:spcPct val="10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תלוי בסביבת Microsoft – פחות שימושי מחוצה לה</a:t>
            </a:r>
            <a:endParaRPr lang="he-IL" sz="1350" dirty="0"/>
          </a:p>
        </p:txBody>
      </p:sp>
      <p:sp>
        <p:nvSpPr>
          <p:cNvPr id="11" name="Shape 8"/>
          <p:cNvSpPr/>
          <p:nvPr/>
        </p:nvSpPr>
        <p:spPr>
          <a:xfrm>
            <a:off x="661475" y="5504359"/>
            <a:ext cx="6296860" cy="827484"/>
          </a:xfrm>
          <a:prstGeom prst="roundRect">
            <a:avLst>
              <a:gd name="adj" fmla="val 8844"/>
            </a:avLst>
          </a:prstGeom>
          <a:solidFill>
            <a:srgbClr val="4B3F0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9" y="5714802"/>
            <a:ext cx="217780" cy="1742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27702" y="5708551"/>
            <a:ext cx="5556409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חשוב: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הגרסה המשולבת ב-Office דורשת רישיון Copilot for Microsoft 365 – בדקו עם מחלקת IT</a:t>
            </a:r>
            <a:endParaRPr lang="he-IL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61975"/>
            <a:ext cx="6296860" cy="527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150" b="1" spc="-6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דיפסיק – DeepSeek</a:t>
            </a:r>
            <a:endParaRPr lang="he-IL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299170"/>
            <a:ext cx="6296860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 על ידי חברת DeepSeek הסינית ב-2023. מודל קוד פתוח שהפתיע את עולם ה-AI בביצועים גבוהים במחיר נמוך בהרבה ממתחריו האמריקאים.</a:t>
            </a:r>
            <a:endParaRPr lang="he-IL" sz="1250" dirty="0"/>
          </a:p>
        </p:txBody>
      </p:sp>
      <p:sp>
        <p:nvSpPr>
          <p:cNvPr id="5" name="Shape 2"/>
          <p:cNvSpPr/>
          <p:nvPr/>
        </p:nvSpPr>
        <p:spPr>
          <a:xfrm>
            <a:off x="5233360" y="2005608"/>
            <a:ext cx="2950295" cy="2538115"/>
          </a:xfrm>
          <a:prstGeom prst="roundRect">
            <a:avLst>
              <a:gd name="adj" fmla="val 2688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4827" y="2187079"/>
            <a:ext cx="2587362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יתרונות:</a:t>
            </a:r>
            <a:endParaRPr lang="he-IL" sz="1550" dirty="0"/>
          </a:p>
        </p:txBody>
      </p:sp>
      <p:sp>
        <p:nvSpPr>
          <p:cNvPr id="7" name="Text 4"/>
          <p:cNvSpPr/>
          <p:nvPr/>
        </p:nvSpPr>
        <p:spPr>
          <a:xfrm>
            <a:off x="5414827" y="2596952"/>
            <a:ext cx="2587362" cy="1765300"/>
          </a:xfrm>
          <a:prstGeom prst="rect">
            <a:avLst/>
          </a:prstGeom>
          <a:noFill/>
          <a:ln/>
        </p:spPr>
        <p:txBody>
          <a:bodyPr wrap="square" lIns="0" tIns="0" rIns="64975" bIns="0" rtlCol="0" anchor="t">
            <a:normAutofit/>
          </a:bodyPr>
          <a:lstStyle/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פתוח – ניתן להריץ מקומית בארגון</a:t>
            </a:r>
            <a:endParaRPr lang="he-IL" sz="1250" dirty="0"/>
          </a:p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ביצועים גבוהים מאוד בניתוח לוגי וקוד</a:t>
            </a:r>
            <a:endParaRPr lang="he-IL" sz="1250" dirty="0"/>
          </a:p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חינמי לחלוטין בגרסת הווב</a:t>
            </a:r>
            <a:endParaRPr lang="he-IL" sz="1250" dirty="0"/>
          </a:p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מצוין למשימות מורכבות של חשיבה שלב-אחר-שלב</a:t>
            </a:r>
            <a:endParaRPr lang="he-IL" sz="1250" dirty="0"/>
          </a:p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בעברית סבירה</a:t>
            </a:r>
            <a:endParaRPr lang="he-IL" sz="1250" dirty="0"/>
          </a:p>
        </p:txBody>
      </p:sp>
      <p:sp>
        <p:nvSpPr>
          <p:cNvPr id="8" name="Shape 5"/>
          <p:cNvSpPr/>
          <p:nvPr/>
        </p:nvSpPr>
        <p:spPr>
          <a:xfrm>
            <a:off x="8586275" y="2005608"/>
            <a:ext cx="2950295" cy="2096790"/>
          </a:xfrm>
          <a:prstGeom prst="roundRect">
            <a:avLst>
              <a:gd name="adj" fmla="val 3254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7742" y="2187079"/>
            <a:ext cx="2587362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חסרונות:</a:t>
            </a:r>
            <a:endParaRPr lang="he-IL" sz="1550" dirty="0"/>
          </a:p>
        </p:txBody>
      </p:sp>
      <p:sp>
        <p:nvSpPr>
          <p:cNvPr id="10" name="Text 7"/>
          <p:cNvSpPr/>
          <p:nvPr/>
        </p:nvSpPr>
        <p:spPr>
          <a:xfrm>
            <a:off x="8767742" y="2596952"/>
            <a:ext cx="2587362" cy="1323975"/>
          </a:xfrm>
          <a:prstGeom prst="rect">
            <a:avLst/>
          </a:prstGeom>
          <a:noFill/>
          <a:ln/>
        </p:spPr>
        <p:txBody>
          <a:bodyPr wrap="square" lIns="0" tIns="0" rIns="64975" bIns="0" rtlCol="0" anchor="t">
            <a:normAutofit/>
          </a:bodyPr>
          <a:lstStyle/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שרתים ממוקמים בסין – שיקולי פרטיות ואבטחה</a:t>
            </a:r>
            <a:endParaRPr lang="he-IL" sz="1250" dirty="0"/>
          </a:p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מוכר ונפוץ בישראל</a:t>
            </a:r>
            <a:endParaRPr lang="he-IL" sz="1250" dirty="0"/>
          </a:p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פחות מלוטש מ-ChatGPT</a:t>
            </a:r>
            <a:endParaRPr lang="he-IL" sz="1250" dirty="0"/>
          </a:p>
          <a:p>
            <a:pPr rtl="1" algn="r" marL="254000" indent="-254000">
              <a:lnSpc>
                <a:spcPct val="101000"/>
              </a:lnSpc>
              <a:buSzPct val="100000"/>
              <a:buChar char="•"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לפעמים מסרב לנושאים פוליטיים רגישים</a:t>
            </a:r>
            <a:endParaRPr lang="he-IL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4857651"/>
            <a:ext cx="6296860" cy="738783"/>
          </a:xfrm>
          <a:prstGeom prst="roundRect">
            <a:avLst>
              <a:gd name="adj" fmla="val 9235"/>
            </a:avLst>
          </a:prstGeom>
          <a:solidFill>
            <a:srgbClr val="4B3F0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778" y="5037733"/>
            <a:ext cx="202996" cy="1624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1191" y="5037733"/>
            <a:ext cx="5606612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לב:</a:t>
            </a:r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מידע שמוזן ל-DeepSeek עשוי להישמר על שרתים בסין. לא מומלץ להזין מידע ארגוני רגיש.</a:t>
            </a:r>
            <a:endParaRPr lang="he-IL" sz="1250" dirty="0"/>
          </a:p>
        </p:txBody>
      </p:sp>
      <p:sp>
        <p:nvSpPr>
          <p:cNvPr id="14" name="Shape 10"/>
          <p:cNvSpPr/>
          <p:nvPr/>
        </p:nvSpPr>
        <p:spPr>
          <a:xfrm>
            <a:off x="5233360" y="5753398"/>
            <a:ext cx="6296860" cy="542528"/>
          </a:xfrm>
          <a:prstGeom prst="roundRect">
            <a:avLst>
              <a:gd name="adj" fmla="val 12575"/>
            </a:avLst>
          </a:prstGeom>
          <a:solidFill>
            <a:srgbClr val="02234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778" y="5933480"/>
            <a:ext cx="202996" cy="1624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1606" y="5933480"/>
            <a:ext cx="621619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ל: ניתוח לוגי, פתרון בעיות מורכבות, קוד, ארגונים שרוצים להריץ מודל מקומי</a:t>
            </a:r>
            <a:endParaRPr lang="he-IL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470"/>
            <a:ext cx="108687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900" b="1" spc="-38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חיה: אותה שאלה, חמישה כלים</a:t>
            </a:r>
            <a:endParaRPr lang="he-IL" sz="1900" dirty="0"/>
          </a:p>
        </p:txBody>
      </p:sp>
      <p:sp>
        <p:nvSpPr>
          <p:cNvPr id="3" name="Text 1"/>
          <p:cNvSpPr/>
          <p:nvPr/>
        </p:nvSpPr>
        <p:spPr>
          <a:xfrm>
            <a:off x="51890" y="998141"/>
            <a:ext cx="1133218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2000"/>
              </a:lnSpc>
              <a:buNone/>
            </a:pPr>
            <a:r>
              <a:rPr lang="he-IL" altLang="en-US" sz="7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ההנחיה: </a:t>
            </a:r>
            <a:pPr rtl="1" algn="r" indent="0" marL="0">
              <a:lnSpc>
                <a:spcPct val="82000"/>
              </a:lnSpc>
              <a:buNone/>
            </a:pPr>
            <a:r>
              <a:rPr lang="he-IL" altLang="en-US" sz="7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"הסבר לי מה זה ריבית דריבית, במשפט אחד, כאילו אני בן 12"</a:t>
            </a:r>
            <a:endParaRPr lang="he-IL" sz="750" dirty="0"/>
          </a:p>
        </p:txBody>
      </p:sp>
      <p:sp>
        <p:nvSpPr>
          <p:cNvPr id="4" name="Shape 2"/>
          <p:cNvSpPr/>
          <p:nvPr/>
        </p:nvSpPr>
        <p:spPr>
          <a:xfrm>
            <a:off x="11517520" y="941685"/>
            <a:ext cx="12700" cy="208855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06996"/>
            <a:ext cx="10868745" cy="4974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4562" y="1980696"/>
            <a:ext cx="2404268" cy="31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8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הרצה ב-ג'מיני</a:t>
            </a:r>
            <a:endParaRPr lang="he-IL" sz="1850" dirty="0"/>
          </a:p>
        </p:txBody>
      </p:sp>
      <p:sp>
        <p:nvSpPr>
          <p:cNvPr id="7" name="Text 4"/>
          <p:cNvSpPr/>
          <p:nvPr/>
        </p:nvSpPr>
        <p:spPr>
          <a:xfrm>
            <a:off x="918792" y="2378746"/>
            <a:ext cx="2650038" cy="182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79000"/>
              </a:lnSpc>
              <a:buNone/>
            </a:pPr>
            <a:r>
              <a:rPr lang="he-IL" altLang="en-US" sz="15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סגנון שונה עם דגש מתמטי קל</a:t>
            </a:r>
            <a:endParaRPr lang="he-IL" sz="1500" dirty="0"/>
          </a:p>
        </p:txBody>
      </p:sp>
      <p:sp>
        <p:nvSpPr>
          <p:cNvPr id="8" name="Text 5"/>
          <p:cNvSpPr/>
          <p:nvPr/>
        </p:nvSpPr>
        <p:spPr>
          <a:xfrm>
            <a:off x="8836849" y="3524642"/>
            <a:ext cx="2404268" cy="31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l" indent="0" marL="0">
              <a:lnSpc>
                <a:spcPct val="108000"/>
              </a:lnSpc>
              <a:buNone/>
            </a:pPr>
            <a:r>
              <a:rPr lang="he-IL" altLang="en-US" sz="1850" b="1" spc="-38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הרצה ב-קלוד</a:t>
            </a:r>
            <a:endParaRPr lang="he-IL" sz="1850" dirty="0"/>
          </a:p>
        </p:txBody>
      </p:sp>
      <p:sp>
        <p:nvSpPr>
          <p:cNvPr id="9" name="Text 6"/>
          <p:cNvSpPr/>
          <p:nvPr/>
        </p:nvSpPr>
        <p:spPr>
          <a:xfrm>
            <a:off x="8836849" y="3922692"/>
            <a:ext cx="2436325" cy="36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79000"/>
              </a:lnSpc>
              <a:buNone/>
            </a:pPr>
            <a:r>
              <a:rPr lang="he-IL" altLang="en-US" sz="15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תשובה תמציתית, סגנון ידידותי ומנוסח פשוט</a:t>
            </a:r>
            <a:endParaRPr lang="he-IL" sz="1500" dirty="0"/>
          </a:p>
        </p:txBody>
      </p:sp>
      <p:sp>
        <p:nvSpPr>
          <p:cNvPr id="10" name="Text 7"/>
          <p:cNvSpPr/>
          <p:nvPr/>
        </p:nvSpPr>
        <p:spPr>
          <a:xfrm>
            <a:off x="1164562" y="4459825"/>
            <a:ext cx="2404268" cy="31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8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הרצה ב-ChatGPT</a:t>
            </a:r>
            <a:endParaRPr lang="he-IL" sz="1850" dirty="0"/>
          </a:p>
        </p:txBody>
      </p:sp>
      <p:sp>
        <p:nvSpPr>
          <p:cNvPr id="11" name="Text 8"/>
          <p:cNvSpPr/>
          <p:nvPr/>
        </p:nvSpPr>
        <p:spPr>
          <a:xfrm>
            <a:off x="918792" y="4857876"/>
            <a:ext cx="2650038" cy="182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79000"/>
              </a:lnSpc>
              <a:buNone/>
            </a:pPr>
            <a:r>
              <a:rPr lang="he-IL" altLang="en-US" sz="15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 ברור עם דוגמה קצרה</a:t>
            </a:r>
            <a:endParaRPr lang="he-IL" sz="1500" dirty="0"/>
          </a:p>
        </p:txBody>
      </p:sp>
      <p:sp>
        <p:nvSpPr>
          <p:cNvPr id="12" name="Text 9"/>
          <p:cNvSpPr/>
          <p:nvPr/>
        </p:nvSpPr>
        <p:spPr>
          <a:xfrm>
            <a:off x="51890" y="6237585"/>
            <a:ext cx="11478330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2000"/>
              </a:lnSpc>
              <a:buNone/>
            </a:pPr>
            <a:r>
              <a:rPr lang="he-IL" altLang="en-US" sz="7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המסקנה: חמש תשובות נכונות, חמישה סגנונות. אין "תשובה אחת נכונה" – בוחרים כלי לפי משימה.</a:t>
            </a:r>
            <a:endParaRPr lang="he-IL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207195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ידיים על המקלדת: פתיחת חשבון + תרגיל ראשון</a:t>
            </a:r>
            <a:endParaRPr lang="he-IL" sz="3700" dirty="0"/>
          </a:p>
        </p:txBody>
      </p:sp>
      <p:sp>
        <p:nvSpPr>
          <p:cNvPr id="4" name="Shape 1"/>
          <p:cNvSpPr/>
          <p:nvPr/>
        </p:nvSpPr>
        <p:spPr>
          <a:xfrm>
            <a:off x="11104979" y="271918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175869" y="2747566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233360" y="2778224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חשבון</a:t>
            </a:r>
            <a:endParaRPr lang="he-IL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3198713"/>
            <a:ext cx="568261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כולם פותחים חשבון עכשיו (הרשמה עם ג'ימייל).</a:t>
            </a:r>
            <a:endParaRPr lang="he-IL" sz="1450" dirty="0"/>
          </a:p>
        </p:txBody>
      </p:sp>
      <p:sp>
        <p:nvSpPr>
          <p:cNvPr id="8" name="Shape 5"/>
          <p:cNvSpPr/>
          <p:nvPr/>
        </p:nvSpPr>
        <p:spPr>
          <a:xfrm>
            <a:off x="11104979" y="382240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75869" y="3850779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33360" y="3881438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ההודעה הראשונה</a:t>
            </a:r>
            <a:endParaRPr lang="he-IL" sz="1850" dirty="0"/>
          </a:p>
        </p:txBody>
      </p:sp>
      <p:sp>
        <p:nvSpPr>
          <p:cNvPr id="11" name="Text 8"/>
          <p:cNvSpPr/>
          <p:nvPr/>
        </p:nvSpPr>
        <p:spPr>
          <a:xfrm>
            <a:off x="5233360" y="4301927"/>
            <a:ext cx="568261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"הצג את עצמך בשלושה משפטים ותן לי טיפ אחד לשימוש נכון בך"</a:t>
            </a:r>
            <a:endParaRPr lang="he-IL" sz="1450" dirty="0"/>
          </a:p>
        </p:txBody>
      </p:sp>
      <p:sp>
        <p:nvSpPr>
          <p:cNvPr id="12" name="Shape 9"/>
          <p:cNvSpPr/>
          <p:nvPr/>
        </p:nvSpPr>
        <p:spPr>
          <a:xfrm>
            <a:off x="11104979" y="492561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75869" y="4953992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33360" y="4984651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</a:t>
            </a:r>
            <a:endParaRPr lang="he-IL" sz="1850" dirty="0"/>
          </a:p>
        </p:txBody>
      </p:sp>
      <p:sp>
        <p:nvSpPr>
          <p:cNvPr id="15" name="Text 12"/>
          <p:cNvSpPr/>
          <p:nvPr/>
        </p:nvSpPr>
        <p:spPr>
          <a:xfrm>
            <a:off x="5233360" y="5405140"/>
            <a:ext cx="568261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קיבל תשובה שונה. זה לא באג – זה האופי של הכלי.</a:t>
            </a:r>
            <a:endParaRPr lang="he-IL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108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חידה: כשה-AI ממציא עובדות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01504"/>
            <a:ext cx="492033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שאלתי כלי AI מתי הוקמה שופרסל. הוא ענה בביטחון מלא: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"1946"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התשובה הנכונה: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1958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he-IL" sz="1450" dirty="0"/>
          </a:p>
        </p:txBody>
      </p:sp>
      <p:sp>
        <p:nvSpPr>
          <p:cNvPr id="4" name="Shape 2"/>
          <p:cNvSpPr/>
          <p:nvPr/>
        </p:nvSpPr>
        <p:spPr>
          <a:xfrm>
            <a:off x="5839870" y="3131443"/>
            <a:ext cx="25399" cy="831453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4175522"/>
            <a:ext cx="520379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קרה כאן?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הזיה (Hallucination): המודל לא שולף עובדות – הוא מנבא טקסט סביר. כשחסר לו מידע, הוא ממציא באותו ביטחון בדיוק.</a:t>
            </a:r>
            <a:endParaRPr lang="he-IL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2776" y="3131443"/>
            <a:ext cx="5203794" cy="11705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47182" y="3345855"/>
            <a:ext cx="467338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כלל הברזל</a:t>
            </a:r>
            <a:endParaRPr lang="he-IL" sz="1850" dirty="0"/>
          </a:p>
        </p:txBody>
      </p:sp>
      <p:sp>
        <p:nvSpPr>
          <p:cNvPr id="8" name="Text 5"/>
          <p:cNvSpPr/>
          <p:nvPr/>
        </p:nvSpPr>
        <p:spPr>
          <a:xfrm>
            <a:off x="6547182" y="3841948"/>
            <a:ext cx="467338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עובדות, מספרים, תאריכים, שמות – תמיד מאמתים.</a:t>
            </a:r>
            <a:endParaRPr lang="he-IL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333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AI עושה מצוין ומה גרוע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63688"/>
            <a:ext cx="5203794" cy="3028355"/>
          </a:xfrm>
          <a:prstGeom prst="roundRect">
            <a:avLst>
              <a:gd name="adj" fmla="val 262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531" y="2571750"/>
            <a:ext cx="478768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מצוין</a:t>
            </a:r>
            <a:endParaRPr lang="he-IL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3067844"/>
            <a:ext cx="4787681" cy="2116138"/>
          </a:xfrm>
          <a:prstGeom prst="rect">
            <a:avLst/>
          </a:prstGeom>
          <a:noFill/>
          <a:ln/>
        </p:spPr>
        <p:txBody>
          <a:bodyPr wrap="square" lIns="0" tIns="0" rIns="75608" bIns="0" rtlCol="0" anchor="t">
            <a:normAutofit/>
          </a:bodyPr>
          <a:lstStyle/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ניסוח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תרגום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רעיונות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הסברים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טיוטות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טקסט שנתתם לו</a:t>
            </a:r>
            <a:endParaRPr lang="he-IL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2363688"/>
            <a:ext cx="5203794" cy="2105819"/>
          </a:xfrm>
          <a:prstGeom prst="roundRect">
            <a:avLst>
              <a:gd name="adj" fmla="val 3770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7182" y="2578100"/>
            <a:ext cx="477498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גרוע</a:t>
            </a:r>
            <a:endParaRPr lang="he-IL" sz="1850" dirty="0"/>
          </a:p>
        </p:txBody>
      </p:sp>
      <p:sp>
        <p:nvSpPr>
          <p:cNvPr id="8" name="Text 6"/>
          <p:cNvSpPr/>
          <p:nvPr/>
        </p:nvSpPr>
        <p:spPr>
          <a:xfrm>
            <a:off x="6547182" y="3074194"/>
            <a:ext cx="4774981" cy="1180902"/>
          </a:xfrm>
          <a:prstGeom prst="rect">
            <a:avLst/>
          </a:prstGeom>
          <a:noFill/>
          <a:ln/>
        </p:spPr>
        <p:txBody>
          <a:bodyPr wrap="square" lIns="0" tIns="0" rIns="75608" bIns="0" rtlCol="0" anchor="t">
            <a:normAutofit/>
          </a:bodyPr>
          <a:lstStyle/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עובדות עדכניות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חישובים מורכבים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ידע על החברה שלכם (אם לא סיפרתם)</a:t>
            </a:r>
            <a:endParaRPr lang="he-IL" sz="1450" dirty="0"/>
          </a:p>
          <a:p>
            <a:pPr rtl="1" algn="r" marL="294640" indent="-294640">
              <a:lnSpc>
                <a:spcPct val="108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במקומכם</a:t>
            </a:r>
            <a:endParaRPr lang="he-IL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769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250" b="1" spc="-65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תיקון 13 לחוק הגנת הפרטיות – מה זה אומר עלינו?</a:t>
            </a:r>
            <a:endParaRPr lang="he-IL" sz="3250" dirty="0"/>
          </a:p>
        </p:txBody>
      </p:sp>
      <p:sp>
        <p:nvSpPr>
          <p:cNvPr id="3" name="Text 1"/>
          <p:cNvSpPr/>
          <p:nvPr/>
        </p:nvSpPr>
        <p:spPr>
          <a:xfrm>
            <a:off x="51890" y="1516658"/>
            <a:ext cx="1147833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התיקון המקיף ביותר לחוק הגנת הפרטיות מאז 1981. נחקק באוגוסט 2024, נכנס לתוקף אוגוסט 2025.</a:t>
            </a:r>
            <a:endParaRPr lang="he-IL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43609"/>
            <a:ext cx="5232666" cy="9836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19" y="2227957"/>
            <a:ext cx="478778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מינוי ממונה פרטיות</a:t>
            </a:r>
            <a:endParaRPr lang="he-IL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2641402"/>
            <a:ext cx="478778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ארגונים בעלי מאגרי מידע גדולים חייבים למנות ממונה על הגנת הפרטיות.</a:t>
            </a:r>
            <a:endParaRPr lang="he-IL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71924"/>
            <a:ext cx="5232666" cy="9836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19" y="3356273"/>
            <a:ext cx="478778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פיצוי ללא הוכחת נזק</a:t>
            </a:r>
            <a:endParaRPr lang="he-IL" sz="1600" dirty="0"/>
          </a:p>
        </p:txBody>
      </p:sp>
      <p:sp>
        <p:nvSpPr>
          <p:cNvPr id="9" name="Text 5"/>
          <p:cNvSpPr/>
          <p:nvPr/>
        </p:nvSpPr>
        <p:spPr>
          <a:xfrm>
            <a:off x="845819" y="3769717"/>
            <a:ext cx="478778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אזרחים יכולים לתבוע פיצוי על הפרת פרטיות גם בלי להוכיח נזק ממשי.</a:t>
            </a:r>
            <a:endParaRPr lang="he-IL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00240"/>
            <a:ext cx="5232666" cy="9836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5819" y="4484588"/>
            <a:ext cx="478778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הרחבת הגדרת 'מידע אישי'</a:t>
            </a:r>
            <a:endParaRPr lang="he-IL" sz="1600" dirty="0"/>
          </a:p>
        </p:txBody>
      </p:sp>
      <p:sp>
        <p:nvSpPr>
          <p:cNvPr id="12" name="Text 7"/>
          <p:cNvSpPr/>
          <p:nvPr/>
        </p:nvSpPr>
        <p:spPr>
          <a:xfrm>
            <a:off x="845819" y="4898033"/>
            <a:ext cx="478778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נתון שמאפשר זיהוי אדם – גם עקיף – נחשב מידע אישי מוגן.</a:t>
            </a:r>
            <a:endParaRPr lang="he-IL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2566" y="2043609"/>
            <a:ext cx="2544004" cy="16554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76909" y="2227957"/>
            <a:ext cx="2099119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עיצומים כספיים כבדים</a:t>
            </a:r>
            <a:endParaRPr lang="he-IL" sz="1600" dirty="0"/>
          </a:p>
        </p:txBody>
      </p:sp>
      <p:sp>
        <p:nvSpPr>
          <p:cNvPr id="15" name="Text 9"/>
          <p:cNvSpPr/>
          <p:nvPr/>
        </p:nvSpPr>
        <p:spPr>
          <a:xfrm>
            <a:off x="9176909" y="2910185"/>
            <a:ext cx="2099119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קנסות מנהליים משמעותיים על הפרות – כולל הפרות של תקנות אבטחת מידע.</a:t>
            </a:r>
            <a:endParaRPr lang="he-IL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3904" y="2043609"/>
            <a:ext cx="2544004" cy="165546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88248" y="2227957"/>
            <a:ext cx="209911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600" b="1" spc="-33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רלוונטי ישירות ל-AI</a:t>
            </a:r>
            <a:endParaRPr lang="he-IL" sz="1600" dirty="0"/>
          </a:p>
        </p:txBody>
      </p:sp>
      <p:sp>
        <p:nvSpPr>
          <p:cNvPr id="18" name="Text 11"/>
          <p:cNvSpPr/>
          <p:nvPr/>
        </p:nvSpPr>
        <p:spPr>
          <a:xfrm>
            <a:off x="6488248" y="2641402"/>
            <a:ext cx="2099119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הזנת מידע אישי של לקוחות, עובדים או מטופלים לכלי AI עלולה להיות הפרה של החוק.</a:t>
            </a:r>
            <a:endParaRPr lang="he-IL" sz="1300" dirty="0"/>
          </a:p>
        </p:txBody>
      </p:sp>
      <p:sp>
        <p:nvSpPr>
          <p:cNvPr id="19" name="Shape 12"/>
          <p:cNvSpPr/>
          <p:nvPr/>
        </p:nvSpPr>
        <p:spPr>
          <a:xfrm>
            <a:off x="661475" y="5609332"/>
            <a:ext cx="10868745" cy="558899"/>
          </a:xfrm>
          <a:prstGeom prst="roundRect">
            <a:avLst>
              <a:gd name="adj" fmla="val 12429"/>
            </a:avLst>
          </a:prstGeom>
          <a:solidFill>
            <a:srgbClr val="4B3F0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69" y="5796657"/>
            <a:ext cx="206667" cy="16529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89146" y="5795268"/>
            <a:ext cx="1077578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פשוט: לפני שמזינים מידע ל-AI – שאלו: האם הייתי מפרסם את זה ברבים? אם לא – אל תזינו.</a:t>
            </a:r>
            <a:endParaRPr lang="he-IL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7274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בטיחות: מה לא נכנס לצ'אט לעולם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65028"/>
            <a:ext cx="10868745" cy="1408311"/>
          </a:xfrm>
          <a:prstGeom prst="roundRect">
            <a:avLst>
              <a:gd name="adj" fmla="val 563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0988" y="2784078"/>
            <a:ext cx="3610182" cy="685105"/>
          </a:xfrm>
          <a:custGeom>
            <a:avLst/>
            <a:gdLst/>
            <a:ahLst/>
            <a:cxnLst/>
            <a:rect l="l" t="t" r="r" b="b"/>
            <a:pathLst>
              <a:path w="3610182" h="685105">
                <a:moveTo>
                  <a:pt x="66156" y="0"/>
                </a:moveTo>
                <a:lnTo>
                  <a:pt x="3610182" y="0"/>
                </a:lnTo>
                <a:lnTo>
                  <a:pt x="3610182" y="685105"/>
                </a:lnTo>
                <a:lnTo>
                  <a:pt x="0" y="685105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5" name="Text 3"/>
          <p:cNvSpPr/>
          <p:nvPr/>
        </p:nvSpPr>
        <p:spPr>
          <a:xfrm>
            <a:off x="8089995" y="2973090"/>
            <a:ext cx="32321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🪪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תעודות זהות</a:t>
            </a:r>
            <a:endParaRPr lang="he-IL" sz="1850" dirty="0"/>
          </a:p>
        </p:txBody>
      </p:sp>
      <p:sp>
        <p:nvSpPr>
          <p:cNvPr id="6" name="Shape 4"/>
          <p:cNvSpPr/>
          <p:nvPr/>
        </p:nvSpPr>
        <p:spPr>
          <a:xfrm>
            <a:off x="4290806" y="2784078"/>
            <a:ext cx="3610182" cy="685105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7" name="Shape 5"/>
          <p:cNvSpPr/>
          <p:nvPr/>
        </p:nvSpPr>
        <p:spPr>
          <a:xfrm>
            <a:off x="4290806" y="2784078"/>
            <a:ext cx="25399" cy="685105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8" name="Text 6"/>
          <p:cNvSpPr/>
          <p:nvPr/>
        </p:nvSpPr>
        <p:spPr>
          <a:xfrm>
            <a:off x="4479813" y="2973090"/>
            <a:ext cx="32321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🔑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סיסמאות</a:t>
            </a:r>
            <a:endParaRPr lang="he-IL" sz="1850" dirty="0"/>
          </a:p>
        </p:txBody>
      </p:sp>
      <p:sp>
        <p:nvSpPr>
          <p:cNvPr id="9" name="Shape 7"/>
          <p:cNvSpPr/>
          <p:nvPr/>
        </p:nvSpPr>
        <p:spPr>
          <a:xfrm>
            <a:off x="680524" y="2784078"/>
            <a:ext cx="3610282" cy="685105"/>
          </a:xfrm>
          <a:custGeom>
            <a:avLst/>
            <a:gdLst/>
            <a:ahLst/>
            <a:cxnLst/>
            <a:rect l="l" t="t" r="r" b="b"/>
            <a:pathLst>
              <a:path w="3610282" h="685105">
                <a:moveTo>
                  <a:pt x="0" y="0"/>
                </a:moveTo>
                <a:lnTo>
                  <a:pt x="3544125" y="0"/>
                </a:lnTo>
                <a:arcTo hR="66158" wR="66156" stAng="16200000" swAng="5400000"/>
                <a:lnTo>
                  <a:pt x="3610282" y="685105"/>
                </a:lnTo>
                <a:lnTo>
                  <a:pt x="0" y="685105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Shape 8"/>
          <p:cNvSpPr/>
          <p:nvPr/>
        </p:nvSpPr>
        <p:spPr>
          <a:xfrm>
            <a:off x="680524" y="2784078"/>
            <a:ext cx="25399" cy="685105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1" name="Text 9"/>
          <p:cNvSpPr/>
          <p:nvPr/>
        </p:nvSpPr>
        <p:spPr>
          <a:xfrm>
            <a:off x="869531" y="2973090"/>
            <a:ext cx="32322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🏥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מידע רפואי של אחרים</a:t>
            </a:r>
            <a:endParaRPr lang="he-IL" sz="1850" dirty="0"/>
          </a:p>
        </p:txBody>
      </p:sp>
      <p:sp>
        <p:nvSpPr>
          <p:cNvPr id="12" name="Shape 10"/>
          <p:cNvSpPr/>
          <p:nvPr/>
        </p:nvSpPr>
        <p:spPr>
          <a:xfrm>
            <a:off x="6095848" y="3469184"/>
            <a:ext cx="5415323" cy="685105"/>
          </a:xfrm>
          <a:custGeom>
            <a:avLst/>
            <a:gdLst/>
            <a:ahLst/>
            <a:cxnLst/>
            <a:rect l="l" t="t" r="r" b="b"/>
            <a:pathLst>
              <a:path w="5415323" h="685105">
                <a:moveTo>
                  <a:pt x="0" y="0"/>
                </a:moveTo>
                <a:lnTo>
                  <a:pt x="5415323" y="0"/>
                </a:lnTo>
                <a:lnTo>
                  <a:pt x="5415323" y="685105"/>
                </a:lnTo>
                <a:lnTo>
                  <a:pt x="66156" y="685105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3469184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4" name="Text 12"/>
          <p:cNvSpPr/>
          <p:nvPr/>
        </p:nvSpPr>
        <p:spPr>
          <a:xfrm>
            <a:off x="6284854" y="3658195"/>
            <a:ext cx="50373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🏢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סודות מסחריים</a:t>
            </a:r>
            <a:endParaRPr lang="he-IL" sz="1850" dirty="0"/>
          </a:p>
        </p:txBody>
      </p:sp>
      <p:sp>
        <p:nvSpPr>
          <p:cNvPr id="15" name="Shape 13"/>
          <p:cNvSpPr/>
          <p:nvPr/>
        </p:nvSpPr>
        <p:spPr>
          <a:xfrm>
            <a:off x="680524" y="3469184"/>
            <a:ext cx="5415323" cy="685105"/>
          </a:xfrm>
          <a:custGeom>
            <a:avLst/>
            <a:gdLst/>
            <a:ahLst/>
            <a:cxnLst/>
            <a:rect l="l" t="t" r="r" b="b"/>
            <a:pathLst>
              <a:path w="5415323" h="685105">
                <a:moveTo>
                  <a:pt x="0" y="0"/>
                </a:moveTo>
                <a:lnTo>
                  <a:pt x="5415323" y="0"/>
                </a:lnTo>
                <a:lnTo>
                  <a:pt x="5415323" y="618947"/>
                </a:lnTo>
                <a:arcTo hR="66158" wR="66156" stAng="0" swAng="5400000"/>
                <a:lnTo>
                  <a:pt x="0" y="685105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6" name="Shape 14"/>
          <p:cNvSpPr/>
          <p:nvPr/>
        </p:nvSpPr>
        <p:spPr>
          <a:xfrm>
            <a:off x="680524" y="3469184"/>
            <a:ext cx="25399" cy="685105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7" name="Shape 15"/>
          <p:cNvSpPr/>
          <p:nvPr/>
        </p:nvSpPr>
        <p:spPr>
          <a:xfrm>
            <a:off x="680524" y="3469184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8" name="Text 16"/>
          <p:cNvSpPr/>
          <p:nvPr/>
        </p:nvSpPr>
        <p:spPr>
          <a:xfrm>
            <a:off x="869531" y="3658195"/>
            <a:ext cx="50373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👤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פרטי לקוחות</a:t>
            </a:r>
            <a:endParaRPr lang="he-IL" sz="1850" dirty="0"/>
          </a:p>
        </p:txBody>
      </p:sp>
      <p:sp>
        <p:nvSpPr>
          <p:cNvPr id="19" name="Shape 17"/>
          <p:cNvSpPr/>
          <p:nvPr/>
        </p:nvSpPr>
        <p:spPr>
          <a:xfrm>
            <a:off x="661475" y="4385965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4B3F0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628257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6138" y="4622205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אצבע: מה שלא הייתם כותבים במייל לאדם זר – לא כותבים ל-AI.</a:t>
            </a:r>
            <a:endParaRPr lang="he-IL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813719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1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מסכם + תרגול בית</a:t>
            </a:r>
            <a:endParaRPr lang="he-IL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924076"/>
            <a:ext cx="2917851" cy="1416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47767" y="3138488"/>
            <a:ext cx="238744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עכשיו</a:t>
            </a:r>
            <a:endParaRPr lang="he-IL" sz="1850" dirty="0"/>
          </a:p>
        </p:txBody>
      </p:sp>
      <p:sp>
        <p:nvSpPr>
          <p:cNvPr id="6" name="Text 2"/>
          <p:cNvSpPr/>
          <p:nvPr/>
        </p:nvSpPr>
        <p:spPr>
          <a:xfrm>
            <a:off x="5447767" y="3634581"/>
            <a:ext cx="238744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בחרו משימה אמיתית מהשבוע שלכם ובקשו עזרה מהכלי.</a:t>
            </a:r>
            <a:endParaRPr lang="he-IL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8719" y="2924076"/>
            <a:ext cx="2917851" cy="19075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33125" y="3138488"/>
            <a:ext cx="238744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📝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1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תרגול בית</a:t>
            </a:r>
            <a:endParaRPr lang="he-IL" sz="1850" dirty="0"/>
          </a:p>
        </p:txBody>
      </p:sp>
      <p:sp>
        <p:nvSpPr>
          <p:cNvPr id="9" name="Text 4"/>
          <p:cNvSpPr/>
          <p:nvPr/>
        </p:nvSpPr>
        <p:spPr>
          <a:xfrm>
            <a:off x="8833125" y="3634581"/>
            <a:ext cx="2387441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אחד ביום, כל יום, עד המפגש הבא. רשמו מה עבד ומה אכזב – נפתח עם זה את מפגש 2.</a:t>
            </a:r>
            <a:endParaRPr lang="he-IL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2026-10-03T13:43:15Z</dcterms:created>
  <dcterms:modified xsi:type="dcterms:W3CDTF">2026-10-03T13:43:15Z</dcterms:modified>
</cp:coreProperties>
</file>