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media/image-12-2.svg" ContentType="image/svg+xml"/>
  <Override PartName="/ppt/media/image-14-2.svg" ContentType="image/svg+xml"/>
  <Override PartName="/ppt/media/image-14-8.svg" ContentType="image/svg+xml"/>
  <Override PartName="/ppt/media/image-16-3.svg" ContentType="image/svg+xml"/>
  <Override PartName="/ppt/media/image-16-5.svg" ContentType="image/svg+xml"/>
  <Override PartName="/ppt/media/image-2-3.svg" ContentType="image/svg+xml"/>
  <Override PartName="/ppt/media/image-4-11.svg" ContentType="image/svg+xml"/>
  <Override PartName="/ppt/media/image-4-3.svg" ContentType="image/svg+xml"/>
  <Override PartName="/ppt/media/image-4-5.svg" ContentType="image/svg+xml"/>
  <Override PartName="/ppt/media/image-4-7.svg" ContentType="image/svg+xml"/>
  <Override PartName="/ppt/media/image-4-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72" r:id="rId25"/>
    <p:sldId id="273" r:id="rId26"/>
    <p:sldId id="274" r:id="rId27"/>
    <p:sldId id="275" r:id="rId28"/>
    <p:sldId id="257" r:id="rId3"/>
    <p:sldId id="276" r:id="rId29"/>
    <p:sldId id="277" r:id="rId30"/>
    <p:sldId id="278" r:id="rId31"/>
    <p:sldId id="258" r:id="rId4"/>
    <p:sldId id="279" r:id="rId32"/>
    <p:sldId id="259" r:id="rId5"/>
    <p:sldId id="260" r:id="rId6"/>
    <p:sldId id="261" r:id="rId7"/>
    <p:sldId id="262" r:id="rId8"/>
    <p:sldId id="263" r:id="rId9"/>
    <p:sldId id="264" r:id="rId10"/>
    <p:sldId id="280" r:id="rId33"/>
    <p:sldId id="265" r:id="rId11"/>
    <p:sldId id="281" r:id="rId34"/>
    <p:sldId id="282" r:id="rId35"/>
    <p:sldId id="283" r:id="rId36"/>
    <p:sldId id="284" r:id="rId37"/>
    <p:sldId id="285" r:id="rId38"/>
    <p:sldId id="286" r:id="rId39"/>
    <p:sldId id="287" r:id="rId40"/>
    <p:sldId id="288" r:id="rId41"/>
    <p:sldId id="266" r:id="rId12"/>
    <p:sldId id="289" r:id="rId42"/>
    <p:sldId id="267" r:id="rId13"/>
    <p:sldId id="290" r:id="rId43"/>
    <p:sldId id="268" r:id="rId14"/>
    <p:sldId id="269" r:id="rId15"/>
    <p:sldId id="270" r:id="rId16"/>
    <p:sldId id="291" r:id="rId44"/>
    <p:sldId id="292" r:id="rId45"/>
    <p:sldId id="271" r:id="rId17"/>
  </p:sldIdLst>
  <p:notesMasterIdLst>
    <p:notesMasterId r:id="rId18"/>
  </p:notesMasterIdLst>
  <p:sldSz cx="12191695" cy="6858000"/>
  <p:notesSz cx="6858000" cy="12191695"/>
  <p:embeddedFontLst>
    <p:embeddedFont>
      <p:font typeface="Geist Bold"/>
      <p:regular r:id="rId201314"/>
    </p:embeddedFont>
    <p:embeddedFont>
      <p:font typeface="Geist"/>
      <p:regular r:id="rId2013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6.xml"/><Relationship Id="rId4" Type="http://schemas.openxmlformats.org/officeDocument/2006/relationships/slide" Target="slides/slide10.xml"/><Relationship Id="rId5" Type="http://schemas.openxmlformats.org/officeDocument/2006/relationships/slide" Target="slides/slide12.xml"/><Relationship Id="rId6" Type="http://schemas.openxmlformats.org/officeDocument/2006/relationships/slide" Target="slides/slide13.xml"/><Relationship Id="rId7" Type="http://schemas.openxmlformats.org/officeDocument/2006/relationships/slide" Target="slides/slide14.xml"/><Relationship Id="rId8" Type="http://schemas.openxmlformats.org/officeDocument/2006/relationships/slide" Target="slides/slide15.xml"/><Relationship Id="rId9" Type="http://schemas.openxmlformats.org/officeDocument/2006/relationships/slide" Target="slides/slide16.xml"/><Relationship Id="rId10" Type="http://schemas.openxmlformats.org/officeDocument/2006/relationships/slide" Target="slides/slide17.xml"/><Relationship Id="rId11" Type="http://schemas.openxmlformats.org/officeDocument/2006/relationships/slide" Target="slides/slide19.xml"/><Relationship Id="rId12" Type="http://schemas.openxmlformats.org/officeDocument/2006/relationships/slide" Target="slides/slide28.xml"/><Relationship Id="rId13" Type="http://schemas.openxmlformats.org/officeDocument/2006/relationships/slide" Target="slides/slide30.xml"/><Relationship Id="rId14" Type="http://schemas.openxmlformats.org/officeDocument/2006/relationships/slide" Target="slides/slide32.xml"/><Relationship Id="rId15" Type="http://schemas.openxmlformats.org/officeDocument/2006/relationships/slide" Target="slides/slide33.xml"/><Relationship Id="rId16" Type="http://schemas.openxmlformats.org/officeDocument/2006/relationships/slide" Target="slides/slide34.xml"/><Relationship Id="rId17" Type="http://schemas.openxmlformats.org/officeDocument/2006/relationships/slide" Target="slides/slide37.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5" Type="http://schemas.openxmlformats.org/officeDocument/2006/relationships/slide" Target="slides/slide2.xml"/><Relationship Id="rId26" Type="http://schemas.openxmlformats.org/officeDocument/2006/relationships/slide" Target="slides/slide3.xml"/><Relationship Id="rId27" Type="http://schemas.openxmlformats.org/officeDocument/2006/relationships/slide" Target="slides/slide4.xml"/><Relationship Id="rId28" Type="http://schemas.openxmlformats.org/officeDocument/2006/relationships/slide" Target="slides/slide5.xml"/><Relationship Id="rId29" Type="http://schemas.openxmlformats.org/officeDocument/2006/relationships/slide" Target="slides/slide7.xml"/><Relationship Id="rId30" Type="http://schemas.openxmlformats.org/officeDocument/2006/relationships/slide" Target="slides/slide8.xml"/><Relationship Id="rId31" Type="http://schemas.openxmlformats.org/officeDocument/2006/relationships/slide" Target="slides/slide9.xml"/><Relationship Id="rId32" Type="http://schemas.openxmlformats.org/officeDocument/2006/relationships/slide" Target="slides/slide11.xml"/><Relationship Id="rId33" Type="http://schemas.openxmlformats.org/officeDocument/2006/relationships/slide" Target="slides/slide18.xml"/><Relationship Id="rId34" Type="http://schemas.openxmlformats.org/officeDocument/2006/relationships/slide" Target="slides/slide20.xml"/><Relationship Id="rId35" Type="http://schemas.openxmlformats.org/officeDocument/2006/relationships/slide" Target="slides/slide21.xml"/><Relationship Id="rId36" Type="http://schemas.openxmlformats.org/officeDocument/2006/relationships/slide" Target="slides/slide22.xml"/><Relationship Id="rId37" Type="http://schemas.openxmlformats.org/officeDocument/2006/relationships/slide" Target="slides/slide23.xml"/><Relationship Id="rId38" Type="http://schemas.openxmlformats.org/officeDocument/2006/relationships/slide" Target="slides/slide24.xml"/><Relationship Id="rId39" Type="http://schemas.openxmlformats.org/officeDocument/2006/relationships/slide" Target="slides/slide25.xml"/><Relationship Id="rId40" Type="http://schemas.openxmlformats.org/officeDocument/2006/relationships/slide" Target="slides/slide26.xml"/><Relationship Id="rId41" Type="http://schemas.openxmlformats.org/officeDocument/2006/relationships/slide" Target="slides/slide27.xml"/><Relationship Id="rId42" Type="http://schemas.openxmlformats.org/officeDocument/2006/relationships/slide" Target="slides/slide29.xml"/><Relationship Id="rId43" Type="http://schemas.openxmlformats.org/officeDocument/2006/relationships/slide" Target="slides/slide31.xml"/><Relationship Id="rId44" Type="http://schemas.openxmlformats.org/officeDocument/2006/relationships/slide" Target="slides/slide35.xml"/><Relationship Id="rId45" Type="http://schemas.openxmlformats.org/officeDocument/2006/relationships/slide" Target="slides/slide36.xml"/><Relationship Id="rId201314" Type="http://schemas.openxmlformats.org/officeDocument/2006/relationships/font" Target="fonts/201314.fntdata"/><Relationship Id="rId201315" Type="http://schemas.openxmlformats.org/officeDocument/2006/relationships/font" Target="fonts/201315.fntdata"/></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סבירות</c:v>
                </c:pt>
              </c:strCache>
            </c:strRef>
          </c:tx>
          <c:spPr>
            <a:solidFill>
              <a:srgbClr val="002A80"/>
            </a:solidFill>
          </c:spPr>
          <c:dPt>
            <c:idx val="0"/>
            <c:spPr>
              <a:solidFill>
                <a:srgbClr val="487CFF"/>
              </a:solidFill>
            </c:spPr>
          </c:dPt>
          <c:cat>
            <c:strRef>
              <c:f>Sheet1!$A$2:$A$6</c:f>
              <c:strCache>
                <c:ptCount val="5"/>
                <c:pt idx="0">
                  <c:v>שלומך</c:v>
                </c:pt>
                <c:pt idx="1">
                  <c:v>נשמע</c:v>
                </c:pt>
                <c:pt idx="2">
                  <c:v>קורה</c:v>
                </c:pt>
                <c:pt idx="3">
                  <c:v>המצב</c:v>
                </c:pt>
                <c:pt idx="4">
                  <c:v>אחר</c:v>
                </c:pt>
              </c:strCache>
            </c:strRef>
          </c:cat>
          <c:val>
            <c:numRef>
              <c:f>Sheet1!$B$2:$B$6</c:f>
              <c:numCache>
                <c:formatCode>General</c:formatCode>
                <c:ptCount val="5"/>
                <c:pt idx="0">
                  <c:v>0.62</c:v>
                </c:pt>
                <c:pt idx="1">
                  <c:v>0.21</c:v>
                </c:pt>
                <c:pt idx="2">
                  <c:v>0.09</c:v>
                </c:pt>
                <c:pt idx="3">
                  <c:v>0.06</c:v>
                </c:pt>
                <c:pt idx="4">
                  <c:v>0.02</c:v>
                </c:pt>
              </c:numCache>
            </c:numRef>
          </c:val>
        </c:ser>
        <c:dLbls>
          <c:numFmt formatCode="0%" sourceLinked="0"/>
          <c:txPr>
            <a:bodyPr/>
            <a:lstStyle/>
            <a:p>
              <a:pPr>
                <a:defRPr sz="1300" b="1">
                  <a:solidFill>
                    <a:srgbClr val="EBEDF0"/>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2A3550"/>
            </a:solidFill>
          </a:ln>
        </c:spPr>
        <c:txPr>
          <a:bodyPr/>
          <a:lstStyle/>
          <a:p>
            <a:pPr>
              <a:defRPr sz="1400">
                <a:solidFill>
                  <a:srgbClr val="EBEDF0"/>
                </a:solidFill>
              </a:defRPr>
            </a:pPr>
          </a:p>
        </c:txPr>
        <c:crossAx val="-2113994440"/>
        <c:crosses val="autoZero"/>
        <c:auto val="1"/>
        <c:lblAlgn val="ctr"/>
        <c:lblOffset val="100"/>
        <c:noMultiLvlLbl val="0"/>
      </c:catAx>
      <c:valAx>
        <c:axId val="-2113994440"/>
        <c:scaling>
          <c:max val="0.75"/>
          <c:min val="0.0"/>
        </c:scaling>
        <c:delete/>
        <c:axPos val="b"/>
        <c:majorTickMark val="out"/>
        <c:minorTickMark val="none"/>
        <c:tickLblPos val="nextTo"/>
        <c:crossAx val="-2068027336"/>
        <c:crosses val="autoZero"/>
      </c:valAx>
    </c:plotArea>
    <c:dispBlanksAs val="gap"/>
  </c:chart>
  <c:txPr>
    <a:bodyPr/>
    <a:lstStyle/>
    <a:p>
      <a:pPr>
        <a:defRPr sz="1300">
          <a:solidFill>
            <a:srgbClr val="EBEDF0"/>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ימים</c:v>
                </c:pt>
              </c:strCache>
            </c:strRef>
          </c:tx>
          <c:spPr>
            <a:solidFill>
              <a:srgbClr val="002A80"/>
            </a:solidFill>
          </c:spPr>
          <c:dPt>
            <c:idx val="3"/>
            <c:spPr>
              <a:solidFill>
                <a:srgbClr val="487CFF"/>
              </a:solidFill>
            </c:spPr>
          </c:dPt>
          <c:dLbls>
            <c:dLbl>
              <c:idx val="0"/>
              <c:tx>
                <c:rich>
                  <a:bodyPr/>
                  <a:lstStyle/>
                  <a:p>
                    <a:pPr rtl="1"/>
                    <a:r>
                      <a:rPr sz="1400" b="1">
                        <a:solidFill>
                          <a:srgbClr val="EBEDF0"/>
                        </a:solidFill>
                      </a:rPr>
                      <a:t>שלוש שנים וחצי</a:t>
                    </a:r>
                  </a:p>
                </c:rich>
              </c:tx>
              <c:dLblPos val="outEnd"/>
              <c:showLegendKey val="0"/>
              <c:showVal val="1"/>
              <c:showCatName val="0"/>
              <c:showSerName val="0"/>
              <c:showPercent val="0"/>
              <c:showBubbleSize val="0"/>
            </c:dLbl>
            <c:dLbl>
              <c:idx val="1"/>
              <c:tx>
                <c:rich>
                  <a:bodyPr/>
                  <a:lstStyle/>
                  <a:p>
                    <a:pPr rtl="1"/>
                    <a:r>
                      <a:rPr sz="1400" b="1">
                        <a:solidFill>
                          <a:srgbClr val="EBEDF0"/>
                        </a:solidFill>
                      </a:rPr>
                      <a:t>עשרה חודשים</a:t>
                    </a:r>
                  </a:p>
                </c:rich>
              </c:tx>
              <c:dLblPos val="outEnd"/>
              <c:showLegendKey val="0"/>
              <c:showVal val="1"/>
              <c:showCatName val="0"/>
              <c:showSerName val="0"/>
              <c:showPercent val="0"/>
              <c:showBubbleSize val="0"/>
            </c:dLbl>
            <c:dLbl>
              <c:idx val="2"/>
              <c:tx>
                <c:rich>
                  <a:bodyPr/>
                  <a:lstStyle/>
                  <a:p>
                    <a:pPr rtl="1"/>
                    <a:r>
                      <a:rPr sz="1400" b="1">
                        <a:solidFill>
                          <a:srgbClr val="EBEDF0"/>
                        </a:solidFill>
                      </a:rPr>
                      <a:t>חודשיים וחצי</a:t>
                    </a:r>
                  </a:p>
                </c:rich>
              </c:tx>
              <c:dLblPos val="outEnd"/>
              <c:showLegendKey val="0"/>
              <c:showVal val="1"/>
              <c:showCatName val="0"/>
              <c:showSerName val="0"/>
              <c:showPercent val="0"/>
              <c:showBubbleSize val="0"/>
            </c:dLbl>
            <c:dLbl>
              <c:idx val="3"/>
              <c:tx>
                <c:rich>
                  <a:bodyPr/>
                  <a:lstStyle/>
                  <a:p>
                    <a:pPr rtl="1"/>
                    <a:r>
                      <a:rPr sz="1400" b="1">
                        <a:solidFill>
                          <a:srgbClr val="6296FF"/>
                        </a:solidFill>
                      </a:rPr>
                      <a:t>חמישה ימים</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נטפליקס</c:v>
                </c:pt>
                <c:pt idx="1">
                  <c:v>פייסבוק</c:v>
                </c:pt>
                <c:pt idx="2">
                  <c:v>אינסטגרם</c:v>
                </c:pt>
                <c:pt idx="3">
                  <c:v>צ'אט ג'יפיטי</c:v>
                </c:pt>
              </c:strCache>
            </c:strRef>
          </c:cat>
          <c:val>
            <c:numRef>
              <c:f>Sheet1!$B$2:$B$5</c:f>
              <c:numCache>
                <c:formatCode>General</c:formatCode>
                <c:ptCount val="4"/>
                <c:pt idx="0">
                  <c:v>1278</c:v>
                </c:pt>
                <c:pt idx="1">
                  <c:v>300</c:v>
                </c:pt>
                <c:pt idx="2">
                  <c:v>75</c:v>
                </c:pt>
                <c:pt idx="3">
                  <c:v>5</c:v>
                </c:pt>
              </c:numCache>
            </c:numRef>
          </c:val>
        </c:ser>
        <c:gapWidth val="60"/>
        <c:axId val="-2068027336"/>
        <c:axId val="-2113994440"/>
      </c:barChart>
      <c:catAx>
        <c:axId val="-2068027336"/>
        <c:scaling>
          <c:orientation val="maxMin"/>
        </c:scaling>
        <c:delete val="0"/>
        <c:axPos val="l"/>
        <c:majorTickMark val="out"/>
        <c:minorTickMark val="none"/>
        <c:tickLblPos val="nextTo"/>
        <c:spPr>
          <a:ln>
            <a:solidFill>
              <a:srgbClr val="2A3550"/>
            </a:solidFill>
          </a:ln>
        </c:spPr>
        <c:txPr>
          <a:bodyPr/>
          <a:lstStyle/>
          <a:p>
            <a:pPr>
              <a:defRPr sz="1400">
                <a:solidFill>
                  <a:srgbClr val="EBEDF0"/>
                </a:solidFill>
              </a:defRPr>
            </a:pPr>
          </a:p>
        </c:txPr>
        <c:crossAx val="-2113994440"/>
        <c:crosses val="autoZero"/>
        <c:auto val="1"/>
        <c:lblAlgn val="ctr"/>
        <c:lblOffset val="100"/>
        <c:noMultiLvlLbl val="0"/>
      </c:catAx>
      <c:valAx>
        <c:axId val="-2113994440"/>
        <c:scaling>
          <c:max val="2300.0"/>
          <c:min val="0.0"/>
        </c:scaling>
        <c:delete/>
        <c:axPos val="b"/>
        <c:majorTickMark val="out"/>
        <c:minorTickMark val="none"/>
        <c:tickLblPos val="nextTo"/>
        <c:crossAx val="-2068027336"/>
        <c:crosses val="autoZero"/>
      </c:valAx>
    </c:plotArea>
    <c:dispBlanksAs val="gap"/>
  </c:chart>
  <c:txPr>
    <a:bodyPr/>
    <a:lstStyle/>
    <a:p>
      <a:pPr>
        <a:defRPr sz="1300">
          <a:solidFill>
            <a:srgbClr val="EBEDF0"/>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3 דקות  |  🎯 ליצור חיבור ראשוני, להציג את ההבטחה של הקורס ולקבל תמונת מצב על הקבוצה.</a:t>
            </a:r>
          </a:p>
          <a:p/>
          <a:p>
            <a:r>
              <a:t>🧰 הכנה מראש: מקרן מחובר, אינטרנט יציב, חשבונות פתוחים בכל הכלים שיודגמו (צ'אט ג'יפיטי, קלוד, ג'מיני, Perplexity, NotebookLM, Suno). הגיבויים להדגמות שמורים על שולחן העבודה.</a:t>
            </a:r>
          </a:p>
          <a:p/>
          <a:p>
            <a:r>
              <a:t>🗣 מה לומר:</a:t>
            </a:r>
          </a:p>
          <a:p>
            <a:r>
              <a:t>ערב טוב לכולם, ותודה שבאתם.</a:t>
            </a:r>
          </a:p>
          <a:p>
            <a:r>
              <a:t>אני רוצה להתחיל בהבטחה אחת, וזה מה שכתוב כאן על המסך: זה לא קורס תיאוריה. אף אחד לא יצא מכאן עם ראש מלא במונחים ובלי לדעת מה לעשות איתם. בכל מפגש נעבוד על משימות אמיתיות, מהעבודה ומהחיים שלכם.</a:t>
            </a:r>
          </a:p>
          <a:p>
            <a:r>
              <a:t>כבר היום, בעוד פחות משעה, כל אחד ואחת מכם ישלח הודעה ראשונה לכלי בינה מלאכותית, ויקבל עזרה במשימה אמיתית.</a:t>
            </a:r>
          </a:p>
          <a:p>
            <a:r>
              <a:t>שלוש בקשות קטנות לזום: מצלמה פתוחה אם אפשר, מיקרופון מושתק כשלא מדברים, ושאלות כותבים בצ'אט בכל רגע. ולפני שמתחילים, אני רוצה להכיר אתכם קצת. לחצו על "הרמת יד" בתגובות בזום: מי כבר ניסה פעם צ'אט ג'יפיטי או כלי דומה?</a:t>
            </a:r>
          </a:p>
          <a:p>
            <a:r>
              <a:t>(מחכים לידיים, ואחר כך מבקשים מכולם להוריד יד)</a:t>
            </a:r>
          </a:p>
          <a:p>
            <a:r>
              <a:t>ועכשיו, הרימו שוב יד: מי משתמש בזה כמעט כל יום?</a:t>
            </a:r>
          </a:p>
          <a:p>
            <a:r>
              <a:t>(מחכים)</a:t>
            </a:r>
          </a:p>
          <a:p>
            <a:r>
              <a:t>מצוין. אז יש פה מגוון: יש מי שכבר מכירים, ויש מי שזו הפעם הראשונה. שתי הקבוצות נמצאות בדיוק במקום הנכון.</a:t>
            </a:r>
          </a:p>
          <a:p/>
          <a:p>
            <a:r>
              <a:t>🖐 פעולה: מסתכלים ברשימת המשתתפים כמה ידיים מורמות בכל שאלה. זה יעזור להחליט כמה לפרט בתרגיל פתיחת החשבון.</a:t>
            </a:r>
          </a:p>
          <a:p/>
          <a:p>
            <a:r>
              <a:t>➡️ מעבר: אז בואו נראה מה מחכה לנו בשעתיים הקרובות.</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3 דקות  |  🎯 הגדרה פשוטה וזכירה באמצעות משל.</a:t>
            </a:r>
          </a:p>
          <a:p/>
          <a:p>
            <a:r>
              <a:t>🗣 מה לומר:</a:t>
            </a:r>
          </a:p>
          <a:p>
            <a:r>
              <a:t>אני רוצה לתת לכם משל אחד שילווה אותנו כל הקורס.</a:t>
            </a:r>
          </a:p>
          <a:p>
            <a:r>
              <a:t>תדמיינו מלצר שקרא את כל ספרי הבישול שנכתבו אי פעם בעולם. כל מתכון, כל ביקורת מסעדה, כל בלוג אוכל. הוא מעולם לא טעם אף מנה. אבל אם תשאלו אותו מה להזמין, ההמלצה שלו תהיה מצוינת. כי הוא קרא מה כולם כתבו.</a:t>
            </a:r>
          </a:p>
          <a:p>
            <a:r>
              <a:t>זה בדיוק מה שנקרא מודל שפה. מכונה שקראה מיליארדי טקסטים ולמדה לחזות את המילה הבאה.</a:t>
            </a:r>
          </a:p>
          <a:p>
            <a:r>
              <a:t>והמשל הזה מלמד אותנו גם משהו חשוב על החולשה: המלצר לא טעם. הוא לא באמת יודע אם המנה טעימה היום. הוא יודע מה בדרך כלל כותבים עליה.</a:t>
            </a:r>
          </a:p>
          <a:p>
            <a:r>
              <a:t>אז ה-AI לא מבין כמו בן אדם. אבל התוצאה, כמו שראיתם בחימום, מרשימה מאוד.</a:t>
            </a:r>
          </a:p>
          <a:p/>
          <a:p>
            <a:r>
              <a:t>➡️ מעבר: בואו נראה איך זה עובד בפועל, עם משחק.</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2 דקות  |  🎯 להבחין בין חיפוש ליצירה.</a:t>
            </a:r>
          </a:p>
          <a:p/>
          <a:p>
            <a:r>
              <a:t>🎮 שאלון חי: אחרי ההסבר, עוברים לשאלה 5 ולוחצים 'חשפו תוצאות' כשרוב המחוברים ענו.</a:t>
            </a:r>
          </a:p>
          <a:p/>
          <a:p>
            <a:r>
              <a:t>🗣 מה לומר:</a:t>
            </a:r>
          </a:p>
          <a:p>
            <a:r>
              <a:t>זו השאלה שאני הכי הרבה נשאלת.</a:t>
            </a:r>
          </a:p>
          <a:p>
            <a:r>
              <a:t>גוגל מוצא דפים שכבר קיימים. אתם מקבלים עשרה קישורים, ואתם אלה שקוראים, משווים ומסכמים.</a:t>
            </a:r>
          </a:p>
          <a:p>
            <a:r>
              <a:t>AI מייצר תשובה חדשה, במיוחד בשבילכם. הוא מסכם, מנסח, מנתח, ומתאים את עצמו לשאלה שלכם.</a:t>
            </a:r>
          </a:p>
          <a:p>
            <a:r>
              <a:t>במשפט אחד: גוגל הוא ספרייה. AI הוא עוזר אישי שקרא את כל הספרייה.</a:t>
            </a:r>
          </a:p>
          <a:p>
            <a:r>
              <a:t>ושימו לב, היום הקווים מיטשטשים. יש כלים שמשלבים את שני העולמות, כמו ג'מיני ו-Perplexity, שמחפשים ברשת וגם כותבים תשובה. נראה אותם עוד מעט.</a:t>
            </a:r>
          </a:p>
          <a:p/>
          <a:p>
            <a:r>
              <a:t>➡️ מעבר: ועכשיו, בואו נפתח את המפה של כל העולם הזה.</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2 דקות  |  🎯 היכרות ראשונית עם חמשת עוזרי השיחה.</a:t>
            </a:r>
          </a:p>
          <a:p/>
          <a:p>
            <a:r>
              <a:t>🗣 מה לומר:</a:t>
            </a:r>
          </a:p>
          <a:p>
            <a:r>
              <a:t>אלה חמשת עוזרי השיחה המרכזיים היום.</a:t>
            </a:r>
          </a:p>
          <a:p>
            <a:r>
              <a:t>צ'אט ג'יפיטי של OpenAI, הכי מוכר.</a:t>
            </a:r>
          </a:p>
          <a:p>
            <a:r>
              <a:t>קלוד של אנתרופיק, חזק במסמכים ארוכים ובכתיבה מדויקת.</a:t>
            </a:r>
          </a:p>
          <a:p>
            <a:r>
              <a:t>ג'מיני של גוגל, מחובר למידע עדכני ולג'ימייל ולדרייב.</a:t>
            </a:r>
          </a:p>
          <a:p>
            <a:r>
              <a:t>קופיילוט של מיקרוסופט, משולב בוורד, אקסל ובטימס.</a:t>
            </a:r>
          </a:p>
          <a:p>
            <a:r>
              <a:t>ודיפסיק, מודל סיני שהפתיע את העולם.</a:t>
            </a:r>
          </a:p>
          <a:p>
            <a:r>
              <a:t>החדשות הטובות למטה: כולם חינמיים ברמה הבסיסית, וכולם מדברים עברית.</a:t>
            </a:r>
          </a:p>
          <a:p>
            <a:r>
              <a:t>כתבו בצ'אט: עם מי מהם כבר עבדתם?</a:t>
            </a:r>
          </a:p>
          <a:p/>
          <a:p>
            <a:r>
              <a:t>➡️ מעבר: בואו נכיר כל אחד מהם בקצרה.</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2.5 דקות  |  🎯 להכיר את היתרונות והחסרונות.</a:t>
            </a:r>
          </a:p>
          <a:p/>
          <a:p>
            <a:r>
              <a:t>🗣 מה לומר:</a:t>
            </a:r>
          </a:p>
          <a:p>
            <a:r>
              <a:t>צ'אט ג'יפיטי. הכלי שהתחיל את המהפכה. החברה שמאחוריו, OpenAI, הוקמה ב-2015, והמשקיעה הגדולה בה היא מיקרוסופט.</a:t>
            </a:r>
          </a:p>
          <a:p>
            <a:r>
              <a:t>היתרונות: הוא הכי מוכר, הממשק פשוט מאוד, והוא רב-גוני. כתיבה, קוד, ניתוח, יצירת תמונות. גם העברית שלו טובה.</a:t>
            </a:r>
          </a:p>
          <a:p>
            <a:r>
              <a:t>החסרונות: קודם כל, הוא נוטה להסכים איתכם יותר מדי. אם תגידו לו שמשהו נכון, הוא לפעמים ישתכנע גם כשאתם טועים. שנית, הוא יכול להמציא עובדות ספציפיות. ושלישית, בגרסה החינמית יש מגבלה על שימוש אינטנסיבי.</a:t>
            </a:r>
          </a:p>
          <a:p>
            <a:r>
              <a:t>מתי להשתמש בו? כתיבה יומיומית, רעיונות, ניסוחים ושאלות כלליות.</a:t>
            </a:r>
          </a:p>
          <a:p>
            <a:r>
              <a:t>טיפ: באפליקציה בטלפון אפשר לדבר איתו בקול, כמו בשיחת טלפון. נסו את זה בדרך הביתה.</a:t>
            </a:r>
          </a:p>
          <a:p/>
          <a:p>
            <a:r>
              <a:t>🖐 פעולה: אם יש זמן: משתפים מסך ומראים את הממשק לעשר שניות.</a:t>
            </a:r>
          </a:p>
          <a:p/>
          <a:p>
            <a:r>
              <a:t>➡️ מעבר: מה שמביא אותנו לקלוד.</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2.5 דקות  |  🎯 להכיר את היתרונות והחסרונות.</a:t>
            </a:r>
          </a:p>
          <a:p/>
          <a:p>
            <a:r>
              <a:t>🗣 מה לומר:</a:t>
            </a:r>
          </a:p>
          <a:p>
            <a:r>
              <a:t>קלוד, של חברת אנתרופיק. החברה הוקמה ב-2021 על ידי עובדים לשעבר של OpenAI, שרצו להתמקד ב-AI בטוח ואחראי.</a:t>
            </a:r>
          </a:p>
          <a:p>
            <a:r>
              <a:t>החוזקה הגדולה שלו: מסמכים ארוכים וכתיבה מדויקת. אפשר להעלות לו חוזה של עשרות עמודים, והוא יקרא את כולו בבת אחת. הוא גם פחות נוטה להחמיא, ויגיד לכם את האמת גם כשהיא לא נוחה.</a:t>
            </a:r>
          </a:p>
          <a:p>
            <a:r>
              <a:t>החסרונות: הוא פחות מוכר, הוא לא יוצר תמונות, ולפעמים הוא זהיר מדי ומסרב לבקשות תמימות. וגם, המכסה החינמית שלו נגמרת מהר יחסית.</a:t>
            </a:r>
          </a:p>
          <a:p>
            <a:r>
              <a:t>מתי להשתמש בו? ניתוח מסמכים, כתיבה מקצועית, וכל עבודה עם טקסטים ארוכים.</a:t>
            </a:r>
          </a:p>
          <a:p>
            <a:r>
              <a:t>דוגמה: מעלים חוזה ושואלים "מה הסעיפים שכדאי לי לשים לב אליהם?". זה חוסך שעות.</a:t>
            </a:r>
          </a:p>
          <a:p/>
          <a:p>
            <a:r>
              <a:t>➡️ מעבר: הבא בתור: ג'מיני של גוגל.</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2.5 דקות  |  🎯 להכיר את היתרונות והחסרונות.</a:t>
            </a:r>
          </a:p>
          <a:p/>
          <a:p>
            <a:r>
              <a:t>🗣 מה לומר:</a:t>
            </a:r>
          </a:p>
          <a:p>
            <a:r>
              <a:t>ג'מיני, של גוגל. והיתרון הגדול שלו נובע בדיוק מזה: הוא מחובר לעולם של גוגל.</a:t>
            </a:r>
          </a:p>
          <a:p>
            <a:r>
              <a:t>הוא ניגש למידע עדכני מהאינטרנט, והוא משולב בג'ימייל, בדרייב, במסמכים וביומן. מי שחי בתוך גוגל ירגיש בבית. הוא גם יודע ליצור ולערוך תמונות, וזה בחינם.</a:t>
            </a:r>
          </a:p>
          <a:p>
            <a:r>
              <a:t>החסרונות: לפעמים הוא פחות עמוק בניתוח טקסטים, והחיבור לכלים של גוגל דורש הגדרה ראשונית.</a:t>
            </a:r>
          </a:p>
          <a:p>
            <a:r>
              <a:t>מתי להשתמש בו? כשצריך מידע עדכני, כשעובדים בכלים של גוגל, וכששואלים על אירועים אקטואליים.</a:t>
            </a:r>
          </a:p>
          <a:p/>
          <a:p>
            <a:r>
              <a:t>➡️ מעבר: ומי שעובד בעולם של מיקרוסופט, צריך להכיר את קופיילוט.</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2.5 דקות  |  🎯 להכיר את היתרונות והחסרונות, ובעיקר את נושא הרישוי.</a:t>
            </a:r>
          </a:p>
          <a:p/>
          <a:p>
            <a:r>
              <a:t>🎮 שאלון חי: אחרי ההסבר, עוברים לשאלה 6 ולוחצים 'חשפו תוצאות' כשרוב המחוברים ענו.</a:t>
            </a:r>
          </a:p>
          <a:p/>
          <a:p>
            <a:r>
              <a:t>🗣 מה לומר:</a:t>
            </a:r>
          </a:p>
          <a:p>
            <a:r>
              <a:t>קופיילוט, של מיקרוסופט. הוא מבוסס על המודלים של OpenAI, ומשולב ישירות בתוך חבילת האופיס.</a:t>
            </a:r>
          </a:p>
          <a:p>
            <a:r>
              <a:t>מה זה אומר בפועל? הוא יכול לסכם לכם פגישה בטימס, ליצור מצגת בפאוורפוינט מתוך מסמך, ולנתח נתונים באקסל.</a:t>
            </a:r>
          </a:p>
          <a:p>
            <a:r>
              <a:t>אבל, וזה אבל חשוב, תסתכלו על המשבצת הצהובה: הגרסה המשולבת באופיס דורשת רישיון מיוחד. הגרסה החינמית באתר מוגבלת יותר.</a:t>
            </a:r>
          </a:p>
          <a:p>
            <a:r>
              <a:t>לכן ההמלצה שלי: מי שעובד בארגון, תבדקו עם מחלקת ה-IT מה כבר יש לכם, ומה מותר. הרבה פעמים יש לכם כלי חזק בתוך המחשב ואתם לא יודעים.</a:t>
            </a:r>
          </a:p>
          <a:p/>
          <a:p>
            <a:r>
              <a:t>➡️ מעבר: והאחרון ברשימה, זה שעשה הכי הרבה רעש: דיפסיק.</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2.5 דקות  |  🎯 להכיר את הכלי ואת שיקול הפרטיות.</a:t>
            </a:r>
          </a:p>
          <a:p/>
          <a:p>
            <a:r>
              <a:t>🎮 שאלון חי: אחרי ההסבר, עוברים לשאלה 7 ולוחצים 'חשפו תוצאות' כשרוב המחוברים ענו.</a:t>
            </a:r>
          </a:p>
          <a:p/>
          <a:p>
            <a:r>
              <a:t>🗣 מה לומר:</a:t>
            </a:r>
          </a:p>
          <a:p>
            <a:r>
              <a:t>דיפסיק. חברה סינית, והמודל שלה הפתיע את כל העולם בתחילת 2025. הוא הגיע לביצועים קרובים לאמריקאים, בעלות נמוכה בהרבה.</a:t>
            </a:r>
          </a:p>
          <a:p>
            <a:r>
              <a:t>היתרונות: הוא חינמי לגמרי, הוא חזק מאוד בחשיבה לוגית ובקוד, והוא קוד פתוח. זאת אומרת שארגון יכול להריץ אותו על השרתים שלו.</a:t>
            </a:r>
          </a:p>
          <a:p>
            <a:r>
              <a:t>אבל, תסתכלו על המשבצת הצהובה. כשמשתמשים באתר או באפליקציה שלהם, המידע עשוי להישמר על שרתים בסין. לכן: לא מזינים לשם שום מידע ארגוני או אישי רגיש.</a:t>
            </a:r>
          </a:p>
          <a:p>
            <a:r>
              <a:t>ויש עוד נקודה מעניינת: הוא מסרב לענות על נושאים פוליטיים שרגישים בסין. נסו לשאול אותו על כיכר טיאננמן ותראו.</a:t>
            </a:r>
          </a:p>
          <a:p/>
          <a:p>
            <a:r>
              <a:t>➡️ מעבר: אז איך כל החמישה האלה עומדים אחד מול השני?</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3 דקות  |  🎯 להראות בפועל שכל כלי עונה בסגנון אחר.</a:t>
            </a:r>
          </a:p>
          <a:p/>
          <a:p>
            <a:r>
              <a:t>🧰 הכנה מראש: שלוש לשוניות פתוחות מראש: צ'אט ג'יפיטי, קלוד, ג'מיני. בזום משתפים חלון דפדפן אחד ועוברים בין הלשוניות.</a:t>
            </a:r>
          </a:p>
          <a:p/>
          <a:p>
            <a:r>
              <a:t>🗣 מה לומר:</a:t>
            </a:r>
          </a:p>
          <a:p>
            <a:r>
              <a:t>אני כותבת את אותה הנחיה בדיוק בשלושה כלים: "הסבר לי מה זה ריבית דריבית, במשפט אחד, כאילו אני בן 12".</a:t>
            </a:r>
          </a:p>
          <a:p>
            <a:r>
              <a:t>(מריצים בשלושתם ומקריאים)</a:t>
            </a:r>
          </a:p>
          <a:p>
            <a:r>
              <a:t>מה אתם רואים? כל התשובות נכונות. אבל הסגנון שונה: אחד נותן דוגמה, אחד תמציתי וידידותי, אחד מוסיף מתמטיקה.</a:t>
            </a:r>
          </a:p>
          <a:p>
            <a:r>
              <a:t>אין תשובה אחת נכונה. בוחרים כלי לפי המשימה, ולפי הסגנון שמתאים לכם.</a:t>
            </a:r>
          </a:p>
          <a:p/>
          <a:p>
            <a:r>
              <a:t>➡️ מעבר: ועכשיו נעלה הילוך. קרב כלים, ואתם השופטים.</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7 דקות  |  🎯 שכל משתתף יפתח חשבון וישלח הודעה ראשונה.</a:t>
            </a:r>
          </a:p>
          <a:p/>
          <a:p>
            <a:r>
              <a:t>🗣 מה לומר:</a:t>
            </a:r>
          </a:p>
          <a:p>
            <a:r>
              <a:t>עכשיו אתם עובדים, ואני כאן בצ'אט.</a:t>
            </a:r>
          </a:p>
          <a:p>
            <a:r>
              <a:t>שלב ראשון: כולם פותחים חשבון. הכי פשוט להירשם עם חשבון ג'ימייל. מי שכבר יש לו חשבון בצ'אט ג'יפיטי, פתחו חשבון בכלי נוסף, קלוד או ג'מיני.</a:t>
            </a:r>
          </a:p>
          <a:p>
            <a:r>
              <a:t>שלב שני: ההודעה הראשונה. כתבו בדיוק את זה: "הצג את עצמך בשלושה משפטים ותן לי טיפ אחד לשימוש נכון בך".</a:t>
            </a:r>
          </a:p>
          <a:p>
            <a:r>
              <a:t>(מי שנתקע כותב "עזרה" בצ'אט. עוזרים בשיתוף מסך של המשתתף, או בעזרת מנחה שני אם יש)</a:t>
            </a:r>
          </a:p>
          <a:p>
            <a:r>
              <a:t>שלב שלישי, שימו לב: הדביקו בצ'אט משפט אחד מהתשובה שקיבלתם. תראו, כל אחד קיבל תשובה קצת שונה. זה לא באג, זה האופי של הכלי. זוכרים את משחק המילה הבאה? הוא בוחר כל פעם מחדש.</a:t>
            </a:r>
          </a:p>
          <a:p/>
          <a:p>
            <a:r>
              <a:t>🖐 פעולה: מבקשים מכל מי שהצליח לשלוח 👍 בתגובות, ומוודאים שאף אחד לא נשאר בלי חשבון פעיל.</a:t>
            </a:r>
          </a:p>
          <a:p/>
          <a:p>
            <a:r>
              <a:t>➡️ מעבר: ועכשיו, תרגיל קצת יותר רציני.</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3 דקות  |  🎯 להבין הזיות ואת כלל הברזל של אימות.</a:t>
            </a:r>
          </a:p>
          <a:p/>
          <a:p>
            <a:r>
              <a:t>🎮 שאלון חי: אחרי ההסבר, עוברים לשאלה 12 ולוחצים 'חשפו תוצאות' כשרוב המחוברים ענו.</a:t>
            </a:r>
          </a:p>
          <a:p/>
          <a:p>
            <a:r>
              <a:t>🗣 מה לומר:</a:t>
            </a:r>
          </a:p>
          <a:p>
            <a:r>
              <a:t>חידה. שאלתי כלי AI מתי הוקמה שופרסל. הוא ענה בביטחון מלא: 1946. בלי היסוס, בלי "אני לא בטוח".</a:t>
            </a:r>
          </a:p>
          <a:p>
            <a:r>
              <a:t>התשובה הנכונה: 1958.</a:t>
            </a:r>
          </a:p>
          <a:p>
            <a:r>
              <a:t>מה קרה כאן? זה נקרא הזיה. זוכרים את משחק המילה הבאה? המודל לא שולף עובדה ממאגר. הוא מנבא טקסט שנשמע סביר. וכשחסר לו מידע, הוא ממציא, באותו ביטחון בדיוק שבו הוא אומר דברים נכונים.</a:t>
            </a:r>
          </a:p>
          <a:p>
            <a:r>
              <a:t>ולכן כלל הברזל: עובדות, מספרים, תאריכים ושמות, תמיד מאמתים. במיוחד אם אתם הולכים לשלוח את זה למישהו.</a:t>
            </a:r>
          </a:p>
          <a:p/>
          <a:p>
            <a:r>
              <a:t>➡️ מעבר: והזיות הן רק אחת מארבע מלכודות.</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2 דקות  |  🎯 סיכום מעשי של מתי כן ומתי לא.</a:t>
            </a:r>
          </a:p>
          <a:p/>
          <a:p>
            <a:r>
              <a:t>🗣 מה לומר:</a:t>
            </a:r>
          </a:p>
          <a:p>
            <a:r>
              <a:t>מימין, מה ש-AI עושה מצוין: ניסוח, סיכום, תרגום, רעיונות, הסברים, טיוטות, וניתוח של טקסט שנתתם לו.</a:t>
            </a:r>
          </a:p>
          <a:p>
            <a:r>
              <a:t>משמאל, מה שהוא עושה גרוע: עובדות עדכניות, חישובים מורכבים, ידע על החברה שלכם אם לא סיפרתם לו, והחלטות במקומכם.</a:t>
            </a:r>
          </a:p>
          <a:p>
            <a:r>
              <a:t>שימו לב לשורה האחרונה. ה-AI הוא יועץ, לא מקבל החלטות. האחריות נשארת אצלכם.</a:t>
            </a:r>
          </a:p>
          <a:p>
            <a:r>
              <a:t>מסכימים? מי שיש לו דוגמה מהעבודה, הרימו יד בזום או כתבו בצ'אט.</a:t>
            </a:r>
          </a:p>
          <a:p/>
          <a:p>
            <a:r>
              <a:t>➡️ מעבר: ועכשיו, נושא שכל מי שעובד בישראל חייב להכיר.</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3 דקות  |  🎯 מודעות לרגולציה, בלי להיכנס לפרטים משפטיים.</a:t>
            </a:r>
          </a:p>
          <a:p/>
          <a:p>
            <a:r>
              <a:t>🎮 שאלון חי: אחרי ההסבר, עוברים לשאלה 14 ולוחצים 'חשפו תוצאות' כשרוב המחוברים ענו.</a:t>
            </a:r>
          </a:p>
          <a:p/>
          <a:p>
            <a:r>
              <a:t>🗣 מה לומר:</a:t>
            </a:r>
          </a:p>
          <a:p>
            <a:r>
              <a:t>תיקון 13 לחוק הגנת הפרטיות. זה התיקון המקיף ביותר לחוק מאז 1981. הוא נכנס לתוקף באוגוסט 2025.</a:t>
            </a:r>
          </a:p>
          <a:p>
            <a:r>
              <a:t>לא ניכנס לפרטים המשפטיים, אבל חמש נקודות שכדאי להכיר.</a:t>
            </a:r>
          </a:p>
          <a:p>
            <a:r>
              <a:t>יש עכשיו עיצומים כספיים משמעותיים, קנסות מנהליים, על הפרות.</a:t>
            </a:r>
          </a:p>
          <a:p>
            <a:r>
              <a:t>וזה רלוונטי ישירות ל-AI: הזנת מידע אישי של לקוחות, עובדים או מטופלים לכלי AI עלולה להיות הפרה של החוק.</a:t>
            </a:r>
          </a:p>
          <a:p>
            <a:r>
              <a:t>ארגונים עם מאגרי מידע גדולים חייבים למנות ממונה על הגנת הפרטיות.</a:t>
            </a:r>
          </a:p>
          <a:p>
            <a:r>
              <a:t>אנשים יכולים לתבוע פיצוי גם בלי להוכיח נזק.</a:t>
            </a:r>
          </a:p>
          <a:p>
            <a:r>
              <a:t>והגדרת מידע אישי הורחבה: כל נתון שמאפשר לזהות אדם, גם בעקיפין.</a:t>
            </a:r>
          </a:p>
          <a:p>
            <a:r>
              <a:t>והכלל הפשוט, במשבצת הצהובה: לפני שאתם מזינים מידע ל-AI, שאלו את עצמכם, האם הייתי מפרסם את זה ברבים? אם לא, אל תזינו.</a:t>
            </a:r>
          </a:p>
          <a:p/>
          <a:p>
            <a:r>
              <a:t>➡️ מעבר: ובאופן מעשי, מה בדיוק אסור להכניס?</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2 דקות  |  🎯 רשימה ברורה של מה אסור להזין.</a:t>
            </a:r>
          </a:p>
          <a:p/>
          <a:p>
            <a:r>
              <a:t>🎮 שאלון חי: אחרי ההסבר, עוברים לשאלה 15 ולוחצים 'חשפו תוצאות' כשרוב המחוברים ענו.</a:t>
            </a:r>
          </a:p>
          <a:p/>
          <a:p>
            <a:r>
              <a:t>🗣 מה לומר:</a:t>
            </a:r>
          </a:p>
          <a:p>
            <a:r>
              <a:t>חמישה דברים שלעולם לא נכנסים לצ'אט.</a:t>
            </a:r>
          </a:p>
          <a:p>
            <a:r>
              <a:t>תעודות זהות. סיסמאות. מידע רפואי של אחרים. פרטי לקוחות. וסודות מסחריים.</a:t>
            </a:r>
          </a:p>
          <a:p>
            <a:r>
              <a:t>וכלל האצבע: מה שלא הייתם כותבים במייל לאדם זר, לא כותבים ל-AI.</a:t>
            </a:r>
          </a:p>
          <a:p>
            <a:r>
              <a:t>כתבו בצ'אט: מה עוד לא הייתם מזינים?</a:t>
            </a:r>
          </a:p>
          <a:p>
            <a:r>
              <a:t>(אוספים תשובות מהצ'אט: משכורות, חוזים חסויים, תמונות של ילדים)</a:t>
            </a:r>
          </a:p>
          <a:p>
            <a:r>
              <a:t>ואם בכל זאת צריך לעבוד עם מסמך רגיש? מחליפים שמות ופרטים מזהים לפני שמעלים. במקום "משה כהן, ת"ז..." כותבים "לקוח א'".</a:t>
            </a:r>
          </a:p>
          <a:p/>
          <a:p>
            <a:r>
              <a:t>➡️ מעבר: ואחרי כל ההזהרות, בואו נחזור לחלק המרגש: מה נבנה יחד.</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3 דקות  |  🎯 לסגור מעגל ולתת משימה ברורה לשבוע.</a:t>
            </a:r>
          </a:p>
          <a:p/>
          <a:p>
            <a:r>
              <a:t>🗣 מה לומר:</a:t>
            </a:r>
          </a:p>
          <a:p>
            <a:r>
              <a:t>שני דברים לפני שנפרדים.</a:t>
            </a:r>
          </a:p>
          <a:p>
            <a:r>
              <a:t>עכשיו, לפני שאתם קמים: בחרו משימה אמיתית אחת מהשבוע שלכם, ובקשו עזרה מהכלי. דקה אחת.</a:t>
            </a:r>
          </a:p>
          <a:p>
            <a:r>
              <a:t>ותרגול בית (אשלח אותו גם בצ'אט ובמייל אחרי המפגש): שימוש אחד ביום, בשני כלים שונים לפחות, עד המפגש הבא. ורשמו לעצמכם: מה עבד, ומה אכזב.</a:t>
            </a:r>
          </a:p>
          <a:p>
            <a:r>
              <a:t>אנחנו נפתח את המפגש הבא בדיוק עם זה, עם מה שגיליתם.</a:t>
            </a:r>
          </a:p>
          <a:p>
            <a:r>
              <a:t>ורגע לפני שנפרדים, גילוי קטן: השאלון החי ששיחקתם בו היום? לא קניתי אותו ולא תכנתתי אותו. תיארתי ל-AI במילים מה אני רוצה, והוא בנה אותו תוך כמה דקות. עד סוף הקורס, גם אתם תדעו לעשות את זה. תודה רבה לכולם. היה כיף, ונתראה בשבוע הבא.</a:t>
            </a:r>
          </a:p>
          <a:p/>
          <a:p>
            <a:r>
              <a:t>➡️ מעבר: סוף המפגש. נשארים לשאלות אישיות.</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 דקות  |  🎯 לתת מפת דרך ותחושת ביטחון וסקרנות.</a:t>
            </a:r>
          </a:p>
          <a:p/>
          <a:p>
            <a:r>
              <a:t>🗣 מה לומר:</a:t>
            </a:r>
          </a:p>
          <a:p>
            <a:r>
              <a:t>זה סדר היום שלנו. שבע תחנות, שעתיים.</a:t>
            </a:r>
          </a:p>
          <a:p>
            <a:r>
              <a:t>נתחיל בשאלה מה זה בכלל AI ואיך זה עובד, בלי מתמטיקה ובלי מילים מפוצצות.</a:t>
            </a:r>
          </a:p>
          <a:p>
            <a:r>
              <a:t>אחר כך נכיר את חמשת הכלים הגדולים, ונעשה ביניהם קרב חי, על המסך, שבו אתם השופטים.</a:t>
            </a:r>
          </a:p>
          <a:p>
            <a:r>
              <a:t>משם נצא לארגז הכלים: כלים שמייצרים תמונות, סרטונים, קול, מוזיקה ואפילו אפליקציות. זה החלק שבדרך כלל אנשים יוצאים ממנו עם עיניים נוצצות.</a:t>
            </a:r>
          </a:p>
          <a:p>
            <a:r>
              <a:t>אחרי זה ידיים על המקלדת: אתם עובדים, לא אני.</a:t>
            </a:r>
          </a:p>
          <a:p>
            <a:r>
              <a:t>ונסיים בגבולות ובבטיחות, כי חשוב לדעת גם מה לא עושים, ובטעימה ממה שנבנה יחד בהמשך הקורס.</a:t>
            </a:r>
          </a:p>
          <a:p>
            <a:r>
              <a:t>שימו לב לריבוע הזה למטה: אפס שקופיות של תיאוריה יבשה. תחזיקו אותי לזה.</a:t>
            </a:r>
          </a:p>
          <a:p/>
          <a:p>
            <a:r>
              <a:t>➡️ מעבר: ונתחיל במשחק קטן.</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 דקות  |  🎯 פתיחה אינטראקטיבית שממחישה עד כמה הכלים כותבים טוב.</a:t>
            </a:r>
          </a:p>
          <a:p/>
          <a:p>
            <a:r>
              <a:t>🎮 שאלון חי: אחרי ההסבר, עוברים לשאלה 1 ולוחצים 'חשפו תוצאות' כשרוב המחוברים ענו.</a:t>
            </a:r>
          </a:p>
          <a:p/>
          <a:p>
            <a:r>
              <a:t>🗣 מה לומר:</a:t>
            </a:r>
          </a:p>
          <a:p>
            <a:r>
              <a:t>לפניכם שלושה טקסטים קצרים. אני אקרא אותם בקול.</a:t>
            </a:r>
          </a:p>
          <a:p>
            <a:r>
              <a:t>(קוראים את א, ב, ג)</a:t>
            </a:r>
          </a:p>
          <a:p>
            <a:r>
              <a:t>עכשיו השאלה: מי מהם נכתב על ידי בינה מלאכותית?</a:t>
            </a:r>
          </a:p>
          <a:p>
            <a:r>
              <a:t>עברו לשאלון החי, לשאלה 1, ובחרו: כמה מהטקסטים נכתבו על ידי AI?</a:t>
            </a:r>
          </a:p>
          <a:p>
            <a:r>
              <a:t>(מעבירים את השאלון לשאלה 1. מחכים שרוב המחוברים יענו)</a:t>
            </a:r>
          </a:p>
          <a:p>
            <a:r>
              <a:t>(לוחצים "חשפו תוצאות" ומשתפים את המסך של השאלון)</a:t>
            </a:r>
          </a:p>
          <a:p>
            <a:r>
              <a:t>(שואלים משתתף או שניים לפתוח מיקרופון: למה בחרת דווקא את זה?)</a:t>
            </a:r>
          </a:p>
          <a:p>
            <a:r>
              <a:t>אז הנה התשובה: כל השלושה נכתבו על ידי AI. כל אחד מהם לקח פחות מעשר שניות.</a:t>
            </a:r>
          </a:p>
          <a:p>
            <a:r>
              <a:t>שימו לב מה גרם לכם לחשוב שזה אדם: רגש בשיר, פרטים קונקרטיים כמו שעה ואחוז הנחה בשירות הלקוחות, וסיפור אישי בפוסט. היום הכלים האלה יודעים לעשות את כל זה.</a:t>
            </a:r>
          </a:p>
          <a:p>
            <a:r>
              <a:t>וזה המסר הראשון של הקורס: הכלים כבר כותבים ברמה שקשה להבדיל. השאלה היא לא אם להשתמש בהם, אלא איך להשתמש בהם נכון.</a:t>
            </a:r>
          </a:p>
          <a:p/>
          <a:p>
            <a:r>
              <a:t>➡️ מעבר: ורוב האנשים לא יודעים שהם כבר משתמשים ב-AI כל יום.</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 דקות  |  🎯 להוריד חשש: הם לא מתחילים מאפס.</a:t>
            </a:r>
          </a:p>
          <a:p/>
          <a:p>
            <a:r>
              <a:t>🎮 שאלון חי: אחרי ההסבר, עוברים לשאלה 2 ולוחצים 'חשפו תוצאות' כשרוב המחוברים ענו.</a:t>
            </a:r>
          </a:p>
          <a:p/>
          <a:p>
            <a:r>
              <a:t>🗣 מה לומר:</a:t>
            </a:r>
          </a:p>
          <a:p>
            <a:r>
              <a:t>תנו לי 👍 בתגובות בזום אם נסעתם היום עם וויז.</a:t>
            </a:r>
          </a:p>
          <a:p>
            <a:r>
              <a:t>ועוד 👍 אם ראיתם סדרה בנטפליקס או שמעתם פלייליסט בספוטיפיי השבוע.</a:t>
            </a:r>
          </a:p>
          <a:p>
            <a:r>
              <a:t>ועוד אחד אם פתחתם היום את הטלפון עם הפנים.</a:t>
            </a:r>
          </a:p>
          <a:p>
            <a:r>
              <a:t>כל אלה זה בינה מלאכותית. וויז מנבא מתי תגיעו לפי מיליוני נהגים אחרים. נטפליקס מנחש מה תאהבו לפי מה שראיתם. הג'ימייל שלכם מסנן ספאם בלי שתשימו לב. המקלדת בטלפון מנחשת את המילה הבאה שלכם. ובגוגל תרגום אפשר לכוון את המצלמה לתפריט ביפנית ולקרוא אותו בעברית.</a:t>
            </a:r>
          </a:p>
          <a:p>
            <a:r>
              <a:t>אז אתם לא מתחילים מאפס. אתם כבר משתמשים ב-AI עשרות פעמים ביום.</a:t>
            </a:r>
          </a:p>
          <a:p>
            <a:r>
              <a:t>מה השתנה? תסתכלו על המשפט למטה. בסוף 2022, לראשונה, אפשר לדבר עם ה-AI בשפה חופשית. לא ללחוץ על כפתורים, לא לבחור מתפריט. פשוט לכתוב לו, כמו שכותבים לחבר, ולבקש כמעט כל דבר.</a:t>
            </a:r>
          </a:p>
          <a:p/>
          <a:p>
            <a:r>
              <a:t>➡️ מעבר: אז מה זה בעצם הדבר הזה שאנחנו מדברים איתו?</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 דקות  |  🎯 להבין את מנגנון הניבוי ולשתול את הבסיס להבנת הזיות.</a:t>
            </a:r>
          </a:p>
          <a:p/>
          <a:p>
            <a:r>
              <a:t>🎮 שאלון חי: אחרי ההסבר, עוברים לשאלה 3 ולוחצים 'חשפו תוצאות' כשרוב המחוברים ענו.</a:t>
            </a:r>
          </a:p>
          <a:p/>
          <a:p>
            <a:r>
              <a:t>🗣 מה לומר:</a:t>
            </a:r>
          </a:p>
          <a:p>
            <a:r>
              <a:t>אני אגיד התחלה של משפט, ואתם כותבים בצ'אט את המילה הבאה. אבל לא לוחצים אנטר עד שאגיד "עכשיו". מוכנים?</a:t>
            </a:r>
          </a:p>
          <a:p>
            <a:r>
              <a:t>"בוקר טוב, מה..."</a:t>
            </a:r>
          </a:p>
          <a:p>
            <a:r>
              <a:t>(אומרים "עכשיו!" ומחכים שהצ'אט יתמלא. רוב הקהל יכתוב "שלומך" או "נשמע")</a:t>
            </a:r>
          </a:p>
          <a:p>
            <a:r>
              <a:t>תסתכלו על הצ'אט. רובכם כתבתם "שלומך". חלק "נשמע". אף אחד לא כתב "מקרר".</a:t>
            </a:r>
          </a:p>
          <a:p>
            <a:r>
              <a:t>מה עשיתם עכשיו? ניחשתם את המילה הסבירה ביותר, לפי כל מה ששמעתם בחיים. זה בדיוק מה שהמודל עושה. תסתכלו על הגרף: "שלומך" הכי סביר, "נשמע" אחריו, וכן הלאה.</a:t>
            </a:r>
          </a:p>
          <a:p>
            <a:r>
              <a:t>שלושה שלבים:</a:t>
            </a:r>
          </a:p>
          <a:p>
            <a:r>
              <a:t>אחת, הוא קרא כמויות עצומות של טקסט, יותר ממה שאדם יקרא באלף חיים.</a:t>
            </a:r>
          </a:p>
          <a:p>
            <a:r>
              <a:t>שתיים, הוא למד דפוסים: איזו מילה מגיעה אחרי איזו, ובאיזה הקשר.</a:t>
            </a:r>
          </a:p>
          <a:p>
            <a:r>
              <a:t>שלוש, כשאתם שואלים אותו משהו, הוא כותב את התשובה מילה אחר מילה. כל פעם בוחר את ההמשך הסביר ביותר.</a:t>
            </a:r>
          </a:p>
          <a:p>
            <a:r>
              <a:t>ועכשיו הנקודה החשובה, במשבצת הצהובה: בגלל זה הוא שוטף ומשכנע. וגם בגלל זה הוא יכול לטעות בביטחון מלא. הוא לא בודק אם זה נכון. הוא בודק אם זה נשמע סביר. תזכרו את זה, נחזור לזה בהמשך.</a:t>
            </a:r>
          </a:p>
          <a:p/>
          <a:p>
            <a:r>
              <a:t>➡️ מעבר: ואיך בכלל הגענו לרגע הזה?</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 דקות  |  🎯 תחושת קצב: עשרות שנים של איטיות, ואז קפיצה.</a:t>
            </a:r>
          </a:p>
          <a:p/>
          <a:p>
            <a:r>
              <a:t>🗣 מה לומר:</a:t>
            </a:r>
          </a:p>
          <a:p>
            <a:r>
              <a:t>ב-1950, מתמטיקאי בשם אלן טיורינג שאל: האם מכונה יכולה לחשוב?</a:t>
            </a:r>
          </a:p>
          <a:p>
            <a:r>
              <a:t>ב-1997 מחשב של IBM ניצח את אלוף העולם בשחמט.</a:t>
            </a:r>
          </a:p>
          <a:p>
            <a:r>
              <a:t>ב-2011 סירי נכנסה לאייפון.</a:t>
            </a:r>
          </a:p>
          <a:p>
            <a:r>
              <a:t>ב-2016 AI ניצח את אלוף העולם בגו, משחק שנחשב קשה הרבה יותר משחמט.</a:t>
            </a:r>
          </a:p>
          <a:p>
            <a:r>
              <a:t>ובנובמבר 2022 יצא צ'אט ג'יפיטי, ולראשונה כל אחד יכול לשוחח עם AI.</a:t>
            </a:r>
          </a:p>
          <a:p>
            <a:r>
              <a:t>והיום, הכלים כבר רואים תמונות, שומעים, מדברים, ומבצעים משימות בעצמם.</a:t>
            </a:r>
          </a:p>
          <a:p>
            <a:r>
              <a:t>ופרט שאני אוהבת: מחשב ניצח את אלוף העולם בשחמט כבר ב-1997. אבל לנהל שיחה פשוטה בעברית לקח עוד 25 שנה. שפה, מסתבר, קשה למחשב הרבה יותר משחמט.</a:t>
            </a:r>
          </a:p>
          <a:p/>
          <a:p>
            <a:r>
              <a:t>➡️ מעבר: וכשזה סוף סוף הגיע, זה התפשט במהירות שלא נראתה מעולם.</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 דקות  |  🎯 להמחיש שזה שינוי עמוק ולא אופנה.</a:t>
            </a:r>
          </a:p>
          <a:p/>
          <a:p>
            <a:r>
              <a:t>🎮 שאלון חי: אחרי ההסבר, עוברים לשאלה 4 ולוחצים 'חשפו תוצאות' כשרוב המחוברים ענו.</a:t>
            </a:r>
          </a:p>
          <a:p/>
          <a:p>
            <a:r>
              <a:t>🗣 מה לומר:</a:t>
            </a:r>
          </a:p>
          <a:p>
            <a:r>
              <a:t>כמה זמן לקח לשירותים מוכרים להגיע למיליון משתמשים?</a:t>
            </a:r>
          </a:p>
          <a:p>
            <a:r>
              <a:t>נטפליקס: שלוש שנים וחצי. פייסבוק: עשרה חודשים. אינסטגרם: חודשיים וחצי.</a:t>
            </a:r>
          </a:p>
          <a:p>
            <a:r>
              <a:t>צ'אט ג'יפיטי? חמישה ימים.</a:t>
            </a:r>
          </a:p>
          <a:p>
            <a:r>
              <a:t>ותוך חודשיים הוא הגיע למאה מיליון משתמשים. והיום מדובר במאות מיליוני משתמשים בכל שבוע.</a:t>
            </a:r>
          </a:p>
          <a:p>
            <a:r>
              <a:t>מה זה אומר עבורנו? שזו לא אופנה חולפת. זה שינוי בסדר גודל של האינטרנט או הסמארטפון. ומי שלומד להשתמש בזה עכשיו, מקדים את רוב הסביבה שלו.</a:t>
            </a:r>
          </a:p>
          <a:p/>
          <a:p>
            <a:r>
              <a:t>➡️ מעבר: אז מה ההבדל בין זה לבין גוגל שכולנו מכירים?</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 דקות  |  🎯 לתת מסגרת לכל המפגש.</a:t>
            </a:r>
          </a:p>
          <a:p/>
          <a:p>
            <a:r>
              <a:t>🗣 מה לומר:</a:t>
            </a:r>
          </a:p>
          <a:p>
            <a:r>
              <a:t>רוב האנשים חושבים ש-AI זה צ'אט. אבל צ'אט הוא רק ההתחלה.</a:t>
            </a:r>
          </a:p>
          <a:p>
            <a:r>
              <a:t>יש שש משפחות של כלים.</a:t>
            </a:r>
          </a:p>
          <a:p>
            <a:r>
              <a:t>עוזרי שיחה: כותבים, מסבירים, מנתחים. זה צ'אט ג'יפיטי, קלוד, ג'מיני וחבריהם.</a:t>
            </a:r>
          </a:p>
          <a:p>
            <a:r>
              <a:t>תמונות ועיצוב: כותבים במילים מה רוצים לראות ומקבלים תמונה.</a:t>
            </a:r>
          </a:p>
          <a:p>
            <a:r>
              <a:t>וידאו: סרטון קצר מתוך תיאור או מתמונה.</a:t>
            </a:r>
          </a:p>
          <a:p>
            <a:r>
              <a:t>קול ומוזיקה: הקראה, דיבוב, ואפילו שיר שלם בדקה.</a:t>
            </a:r>
          </a:p>
          <a:p>
            <a:r>
              <a:t>מחקר ולמידה: תשובות עם מקורות, ולמידה מתוך המסמכים שלכם.</a:t>
            </a:r>
          </a:p>
          <a:p>
            <a:r>
              <a:t>ופרודוקטיביות ובנייה: מצגות, עיצובים, ואפילו אפליקציות.</a:t>
            </a:r>
          </a:p>
          <a:p>
            <a:r>
              <a:t>היום נכיר את כולם על קצה המזלג. בהמשך הקורס נעבוד לעומק עם הנבחרים.</a:t>
            </a:r>
          </a:p>
          <a:p/>
          <a:p>
            <a:r>
              <a:t>➡️ מעבר: נתחיל במשפחה הראשונה והחשובה ביותר: עוזרי השיחה.</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 דקות  |  🎯 סיכום ויזואלי של ההבדלים.</a:t>
            </a:r>
          </a:p>
          <a:p/>
          <a:p>
            <a:r>
              <a:t>🎮 שאלון חי: אחרי ההסבר, עוברים לשאלה 8 ולוחצים 'חשפו תוצאות' כשרוב המחוברים ענו.</a:t>
            </a:r>
          </a:p>
          <a:p/>
          <a:p>
            <a:r>
              <a:t>🗣 מה לומר:</a:t>
            </a:r>
          </a:p>
          <a:p>
            <a:r>
              <a:t>הטבלה הזו מסכמת את כל מה שראינו. שלוש נקודות זה מצוין, שתיים זה טוב, אחת זה בסיסי, ואיקס זה לא קיים.</a:t>
            </a:r>
          </a:p>
          <a:p>
            <a:r>
              <a:t>תסתכלו על השורות וכתבו בצ'אט, כן או לא: יש כלי אחד שמנצח בכל השורות?</a:t>
            </a:r>
          </a:p>
          <a:p>
            <a:r>
              <a:t>(מחכים)</a:t>
            </a:r>
          </a:p>
          <a:p>
            <a:r>
              <a:t>לא. בכתיבה בעברית צ'אט ג'יפיטי וקלוד מובילים. במסמכים ארוכים קלוד וג'מיני. במידע עדכני ג'מיני וקופיילוט. בתמונות צ'אט ג'יפיטי וג'מיני. ובחיבור לכלי העבודה, תלוי איפה אתם חיים: גוגל או אופיס.</a:t>
            </a:r>
          </a:p>
          <a:p>
            <a:r>
              <a:t>ושורה אחרונה, פרטיות. בגרסאות החינמיות כדאי להיכנס להגדרות ולבדוק אם השיחות שלכם משמשות לאימון המודל. ברוב הכלים אפשר לכבות את זה.</a:t>
            </a:r>
          </a:p>
          <a:p>
            <a:r>
              <a:t>חשוב: זו הערכה כללית. הכלים מתעדכנים כל כמה חודשים, אז מה שנכון היום יכול להשתנות.</a:t>
            </a:r>
          </a:p>
          <a:p/>
          <a:p>
            <a:r>
              <a:t>➡️ מעבר: אבל טבלה זה טבלה. בואו נראה את זה בעיניים.</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9 דקות  |  🎯 חוויה תחרותית שממחישה שלכל משימה יש מנצח אחר.</a:t>
            </a:r>
          </a:p>
          <a:p/>
          <a:p>
            <a:r>
              <a:t>🎮 שאלון חי: אחרי ההסבר, עוברים לשאלה 9 ולוחצים 'חשפו תוצאות' כשרוב המחוברים ענו.</a:t>
            </a:r>
          </a:p>
          <a:p/>
          <a:p>
            <a:r>
              <a:t>🧰 הכנה מראש: קובץ PDF ארוך (דוח או מאמר של כ-20 עמודים). שני חלונות זה לצד זה על המסך שמשתפים. אם האינטרנט איטי, צילומי מסך מוכנים של התוצאות.</a:t>
            </a:r>
          </a:p>
          <a:p/>
          <a:p>
            <a:r>
              <a:t>🗣 מה לומר:</a:t>
            </a:r>
          </a:p>
          <a:p>
            <a:r>
              <a:t>שלושה סיבובים. בכל סיבוב, אותה משימה בשני כלים, זה לצד זה. אתם שופטים לפי שלושה קריטריונים: דיוק, סגנון ומהירות.</a:t>
            </a:r>
          </a:p>
          <a:p>
            <a:r>
              <a:t>סיבוב ראשון: סיכום מסמך ארוך. אני מעלה דוח של 20 עמודים לקלוד ולצ'אט ג'יפיטי ומבקשת: "סכם לי את המסמך הזה בחמש נקודות".</a:t>
            </a:r>
          </a:p>
          <a:p>
            <a:r>
              <a:t>(מריצים, מקריאים את שתי התשובות)</a:t>
            </a:r>
          </a:p>
          <a:p>
            <a:r>
              <a:t>מי לדעתכם ניצח? כתבו בצ'אט: 1 לקלוד, 2 לצ'אט ג'יפיטי.</a:t>
            </a:r>
          </a:p>
          <a:p>
            <a:r>
              <a:t>סיבוב שני: מידע עדכני. ג'מיני מול Perplexity: "מה קרה השבוע בשוק הנדל"ן בישראל? תן מקורות".</a:t>
            </a:r>
          </a:p>
          <a:p>
            <a:r>
              <a:t>(מריצים. מראים שב-Perplexity ליד כל משפט יש מספר, ולוחצים עליו כדי להראות את הכתבה המקורית)</a:t>
            </a:r>
          </a:p>
          <a:p>
            <a:r>
              <a:t>שימו לב לזה: אפשר ללחוץ ולבדוק. זה בדיוק מה שמונע את ההזיות שדיברנו עליהן.</a:t>
            </a:r>
          </a:p>
          <a:p>
            <a:r>
              <a:t>הצבעה בצ'אט: 1 לג'מיני, 2 ל-Perplexity.</a:t>
            </a:r>
          </a:p>
          <a:p>
            <a:r>
              <a:t>סיבוב שלישי, הכיפי: יצירת תמונה. צ'אט ג'יפיטי מול ג'מיני: "צור הזמנה למסיבת יום הולדת 40 בסגנון שנות ה-80".</a:t>
            </a:r>
          </a:p>
          <a:p>
            <a:r>
              <a:t>(מריצים, מציגים)</a:t>
            </a:r>
          </a:p>
          <a:p>
            <a:r>
              <a:t>הצבעה בצ'אט: 1 לצ'אט ג'יפיטי, 2 לג'מיני.</a:t>
            </a:r>
          </a:p>
          <a:p>
            <a:r>
              <a:t>אז מה למדנו? לכל משימה היה מנצח אחר. וזה המסר: לא מחפשים את הכלי הכי טוב, מחפשים את הכלי הכי טוב למשימה.</a:t>
            </a:r>
          </a:p>
          <a:p/>
          <a:p>
            <a:r>
              <a:t>🖐 פעולה: אחרי כל סיבוב, מבקשים ממשתתף אחד לפתוח מיקרופון: איזו תשובה היית שולח לבוס שלך?</a:t>
            </a:r>
          </a:p>
          <a:p/>
          <a:p>
            <a:r>
              <a:t>➡️ מעבר: ובשביל שלא תצטרכו לזכור את כל זה, הכנתי לכם מדריך כיס.</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 דקות  |  🎯 כלי שימושי לקחת הביתה.</a:t>
            </a:r>
          </a:p>
          <a:p/>
          <a:p>
            <a:r>
              <a:t>🗣 מה לומר:</a:t>
            </a:r>
          </a:p>
          <a:p>
            <a:r>
              <a:t>זו אולי השקופית הכי שימושית היום. צלמו מסך, ובכל מקרה אני שולחת לכם אותה עכשיו בצ'אט.</a:t>
            </a:r>
          </a:p>
          <a:p>
            <a:r>
              <a:t>(מחכים)</a:t>
            </a:r>
          </a:p>
          <a:p>
            <a:r>
              <a:t>מימין המשימה, משמאל הכלי שמתאים לה.</a:t>
            </a:r>
          </a:p>
          <a:p>
            <a:r>
              <a:t>מייל רגיש ללקוח? צ'אט ג'יפיטי או קלוד. חוזה של 40 עמודים? קלוד. סיכום פגישה בטימס? קופיילוט. מה חדש בתחום שלי השבוע? ג'מיני או Perplexity. ולמידה מתוך המסמכים שלכם, NotebookLM, שנכיר עוד רגע.</a:t>
            </a:r>
          </a:p>
          <a:p>
            <a:r>
              <a:t>והמשפט למטה הוא הסוד: אין כלי אחד שמנצח בכל. משתמשים מקצועיים עובדים עם שניים או שלושה כלים קבועים.</a:t>
            </a:r>
          </a:p>
          <a:p>
            <a:r>
              <a:t>כתבו בצ'אט: איזו משימה מהרשימה הייתם רוצים לעשות כבר מחר בבוקר?</a:t>
            </a:r>
          </a:p>
          <a:p/>
          <a:p>
            <a:r>
              <a:t>➡️ מעבר: עד עכשיו דיברנו על טקסט. אבל ה-AI יודע לעשות הרבה יותר.</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דקות  |  🎯 מעבר אנרגטי לחלק היצירתי.</a:t>
            </a:r>
          </a:p>
          <a:p/>
          <a:p>
            <a:r>
              <a:t>🗣 מה לומר:</a:t>
            </a:r>
          </a:p>
          <a:p>
            <a:r>
              <a:t>עכשיו מתחיל החלק הכיפי.</a:t>
            </a:r>
          </a:p>
          <a:p>
            <a:r>
              <a:t>כלים שיוצרים תמונות, וידאו, קול, מוזיקה ואפילו אפליקציות. דברים שלפני שלוש שנים דרשו סטודיו שלם, צלם, שחקן ומתכנת.</a:t>
            </a:r>
          </a:p>
          <a:p>
            <a:r>
              <a:t>כל כלי יקבל דקה או שתיים. המטרה היא היכרות, לא שליטה. את השליטה נבנה בהמשך הקורס.</a:t>
            </a:r>
          </a:p>
          <a:p/>
          <a:p>
            <a:r>
              <a:t>➡️ מעבר: נתחיל בתמונות.</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 דקות  |  🎯 הדגמת וואו ראשונה ויצירת חוויה אישית.</a:t>
            </a:r>
          </a:p>
          <a:p/>
          <a:p>
            <a:r>
              <a:t>🗣 מה לומר:</a:t>
            </a:r>
          </a:p>
          <a:p>
            <a:r>
              <a:t>ארבעה כלים שכדאי להכיר.</a:t>
            </a:r>
          </a:p>
          <a:p>
            <a:r>
              <a:t>צ'אט ג'יפיטי יוצר ועורך תמונות תוך כדי שיחה. אומרים לו "תעשה את הרקע כחול" וזה קורה.</a:t>
            </a:r>
          </a:p>
          <a:p>
            <a:r>
              <a:t>ג'מיני מצוין בעריכת תמונות קיימות, ויודע לשמור על אותה דמות לאורך כמה תמונות.</a:t>
            </a:r>
          </a:p>
          <a:p>
            <a:r>
              <a:t>מידג'רני הוא האומנותי מכולם, עם מראה קולנועי. אבל הוא בתשלום בלבד.</a:t>
            </a:r>
          </a:p>
          <a:p>
            <a:r>
              <a:t>וקנבה מכניס את התמונה ישר לתוך עיצוב: פוסט, הזמנה, פלאייר.</a:t>
            </a:r>
          </a:p>
          <a:p>
            <a:r>
              <a:t>עכשיו תורכם. פתחו לשונית חדשה בדפדפן, צ'אט ג'יפיטי או ג'מיני. את ההנחיה של החתול האסטרונאוט אני מדביקה לכם עכשיו בצ'אט, כדי שתוכלו להעתיק אותה.</a:t>
            </a:r>
          </a:p>
          <a:p>
            <a:r>
              <a:t>(מריצים גם על המסך, מחכים שהקהל יקבל תוצאות)</a:t>
            </a:r>
          </a:p>
          <a:p>
            <a:r>
              <a:t>ועכשיו בקשו שינוי אחד: "עכשיו בסגנון ציור שמן".</a:t>
            </a:r>
          </a:p>
          <a:p>
            <a:r>
              <a:t>(מראים)</a:t>
            </a:r>
          </a:p>
          <a:p>
            <a:r>
              <a:t>הערה חשובה מהמשבצת הצהובה: טקסט בעברית בתוך תמונה עדיין יוצא לפעמים משובש. אם צריך כיתוב, עדיף להוסיף אותו אחר כך בקנבה.</a:t>
            </a:r>
          </a:p>
          <a:p/>
          <a:p>
            <a:r>
              <a:t>🖐 פעולה: מבקשים מכולם להדביק בצ'אט את התמונה שקיבלו, ומשני משתתפים לשתף מסך ולהראות אותה בגדול.</a:t>
            </a:r>
          </a:p>
          <a:p/>
          <a:p>
            <a:r>
              <a:t>➡️ מעבר: ואם תמונה זה מרשים, חכו לווידאו ולקול.</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 דקות  |  🎯 היכרות עם יכולות האודיו והווידאו, כולל אזהרת הונאות.</a:t>
            </a:r>
          </a:p>
          <a:p/>
          <a:p>
            <a:r>
              <a:t>🎮 שאלון חי: אחרי ההסבר, עוברים לשאלה 10 ולוחצים 'חשפו תוצאות' כשרוב המחוברים ענו.</a:t>
            </a:r>
          </a:p>
          <a:p/>
          <a:p>
            <a:r>
              <a:t>🗣 מה לומר:</a:t>
            </a:r>
          </a:p>
          <a:p>
            <a:r>
              <a:t>וידאו: כלים כמו Sora, Veo, Runway ו-Kling הופכים משפט אחד לסרטון של כמה שניות. אפשר גם לקחת תמונה קיימת ולבקש "תגרום לה לזוז".</a:t>
            </a:r>
          </a:p>
          <a:p>
            <a:r>
              <a:t>קול: ElevenLabs מקריא טקסט בקול טבעי, גם בעברית. הוא מדבב סרטונים לשפות אחרות, ויכול גם לשבט קול. וכאן חשוב להדגיש: רק באישור של בעל הקול.</a:t>
            </a:r>
          </a:p>
          <a:p>
            <a:r>
              <a:t>ומוזיקה: Suno יוצר שיר שלם, עם מילים, לחן ושירה, בפחות מדקה. ג'ינגל לעסק, שיר ליום הולדת, מה שתרצו.</a:t>
            </a:r>
          </a:p>
          <a:p>
            <a:r>
              <a:t>ועכשיו, הצד האפל, במשבצת האדומה. אותה טכנולוגיה כבר משמשת להונאות, גם בישראל. מתקשרים להורים בקול של הבן או הבת, בבהלה, ומבקשים העברה דחופה.</a:t>
            </a:r>
          </a:p>
          <a:p>
            <a:r>
              <a:t>הטיפ המעשי: אם קיבלתם שיחה כזו, נתקו וחייגו בחזרה למספר המוכר. ועוד טיפ: קבעו עם המשפחה מילת קוד שרק אתם יודעים.</a:t>
            </a:r>
          </a:p>
          <a:p/>
          <a:p>
            <a:r>
              <a:t>➡️ מעבר: משם נעבור לשני כלים שישנו לכם את הדרך שבה אתם לומדים.</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 דקות  |  🎯 להכיר שני כלים עם מקורות, ולהדגים פודקאסט.</a:t>
            </a:r>
          </a:p>
          <a:p/>
          <a:p>
            <a:r>
              <a:t>🎮 שאלון חי: אחרי ההסבר, עוברים לשאלה 11 ולוחצים 'חשפו תוצאות' כשרוב המחוברים ענו.</a:t>
            </a:r>
          </a:p>
          <a:p/>
          <a:p>
            <a:r>
              <a:t>🧰 הכנה מראש: להעלות מראש את המצגת הזו כ-PDF ל-NotebookLM ולייצר סקירת שמע (לוקח כמה דקות). בשיתוף המסך בזום מסמנים 'שיתוף צליל' (Share sound), אחרת המשתתפים לא ישמעו.</a:t>
            </a:r>
          </a:p>
          <a:p/>
          <a:p>
            <a:r>
              <a:t>🗣 מה לומר:</a:t>
            </a:r>
          </a:p>
          <a:p>
            <a:r>
              <a:t>שני כלים, ולשניהם משותף דבר אחד: אתם יודעים מאיפה הגיעה התשובה.</a:t>
            </a:r>
          </a:p>
          <a:p>
            <a:r>
              <a:t>Perplexity הוא מנוע תשובות. שואלים שאלה, ומקבלים תשובה מסודרת, וליד כל טענה יש קישור למקור. מושלם לשאלות עדכניות ולבדיקת עובדות.</a:t>
            </a:r>
          </a:p>
          <a:p>
            <a:r>
              <a:t>NotebookLM, של גוגל, הוא מורה פרטי מתוך המסמכים שלכם. מעלים קבצים, קישורים או סרטונים, והוא עונה רק מתוך החומר, עם הפניה למקום המדויק.</a:t>
            </a:r>
          </a:p>
          <a:p>
            <a:r>
              <a:t>וההבדל ביניהם, בתגיות למטה: Perplexity מחפש בכל הרשת. NotebookLM עונה רק מהחומר שנתתם לו.</a:t>
            </a:r>
          </a:p>
          <a:p>
            <a:r>
              <a:t>ועכשיו הקסם. העליתי ל-NotebookLM את המצגת שאתם רואים עכשיו. והוא הפך אותה לפודקאסט, עם שני מגישים שמשוחחים על מה שלמדנו היום. תקשיבו.</a:t>
            </a:r>
          </a:p>
          <a:p>
            <a:r>
              <a:t>(משמיעים כדקה)</a:t>
            </a:r>
          </a:p>
          <a:p>
            <a:r>
              <a:t>תחשבו על זה: כל דוח, כל חומר לימוד, כל נוהל ארוך, יכול להפוך לפודקאסט שאתם שומעים בדרך לעבודה.</a:t>
            </a:r>
          </a:p>
          <a:p/>
          <a:p>
            <a:r>
              <a:t>➡️ מעבר: ומפה, לכלים שהופכים רעיון לתוצר מוגמר.</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 דקות  |  🎯 להראות את הכיוון של הקורס: לייצר, לא רק לשאול.</a:t>
            </a:r>
          </a:p>
          <a:p/>
          <a:p>
            <a:r>
              <a:t>🗣 מה לומר:</a:t>
            </a:r>
          </a:p>
          <a:p>
            <a:r>
              <a:t>ארבעה כלים שהופכים טקסט למשהו מוחשי.</a:t>
            </a:r>
          </a:p>
          <a:p>
            <a:r>
              <a:t>Gamma: כותבים כמה שורות, ומקבלים מצגת או עמוד אינטרנט מעוצב, תוך דקה.</a:t>
            </a:r>
          </a:p>
          <a:p>
            <a:r>
              <a:t>Canva AI: עיצוב, הסרת רקע בלחיצה, והתאמה אוטומטית לכל גודל, מאינסטגרם ועד שלט.</a:t>
            </a:r>
          </a:p>
          <a:p>
            <a:r>
              <a:t>עוזר אישי משלכם: בצ'אט ג'יפיטי זה נקרא GPTs, בג'מיני Gems, ובקלוד Projects. זה עוזר שמכיר את התפקיד שלכם, את הסגנון שלכם, ולא צריך להסביר לו הכול מחדש בכל פעם. את זה נבנה יחד בקורס.</a:t>
            </a:r>
          </a:p>
          <a:p>
            <a:r>
              <a:t>ו-Lovable או קלוד: מתארים אפליקציה במילים, ומקבלים אפליקציה עובדת. בלי לכתוב שורת קוד.</a:t>
            </a:r>
          </a:p>
          <a:p>
            <a:r>
              <a:t>נקודה למחשבה, במשבצת למטה: איזו משימה שחוזרת על עצמה בעבודה שלכם הייתם שמחים להעביר לעוזר כזה? תחשבו על זה, נחזור לזה במפגשים הבאים.</a:t>
            </a:r>
          </a:p>
          <a:p/>
          <a:p>
            <a:r>
              <a:t>➡️ מעבר: ועכשיו, בואו נראה את כל זה עובד, בזמן אמת.</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5 דקות  |  🎯 הרגע שבו הקורס הופך למגניב.</a:t>
            </a:r>
          </a:p>
          <a:p/>
          <a:p>
            <a:r>
              <a:t>🧰 הכנה מראש: גיבוי מוכן מראש לכל אחת משלוש היצירות, למקרה שהאינטרנט איטי. בשיתוף המסך מסמנים 'שיתוף צליל' (Share sound).</a:t>
            </a:r>
          </a:p>
          <a:p/>
          <a:p>
            <a:r>
              <a:t>🗣 מה לומר:</a:t>
            </a:r>
          </a:p>
          <a:p>
            <a:r>
              <a:t>חמש דקות, שלוש יצירות.</a:t>
            </a:r>
          </a:p>
          <a:p>
            <a:r>
              <a:t>יצירה ראשונה: שיר על הקורס. כתבו בצ'אט נושא, ושלושה שמות של משתתפים מהמפגש.</a:t>
            </a:r>
          </a:p>
          <a:p>
            <a:r>
              <a:t>(אוספים מהצ'אט, כותבים ב-Suno: "שיר פופ שמח בעברית על קבוצה שלומדת בינה מלאכותית, עם השמות...", ומשמיעים)</a:t>
            </a:r>
          </a:p>
          <a:p>
            <a:r>
              <a:t>יצירה שנייה: את הפודקאסט כבר שמעתם. אותו כלי, NotebookLM.</a:t>
            </a:r>
          </a:p>
          <a:p>
            <a:r>
              <a:t>יצירה שלישית: משחק. אני כותבת לקלוד: "בנה לי משחק טריוויה על AI עם 10 שאלות וניקוד".</a:t>
            </a:r>
          </a:p>
          <a:p>
            <a:r>
              <a:t>(מחכים לתוצאה, ומשחקים סיבוב אחד או שניים: הקהל כותב את התשובות בצ'אט)</a:t>
            </a:r>
          </a:p>
          <a:p>
            <a:r>
              <a:t>וזה המשפט שאני רוצה שתצאו איתו: כל אחד מהדברים האלה יהיה תרגיל שתעשו בעצמכם בהמשך הקורס.</a:t>
            </a:r>
          </a:p>
          <a:p/>
          <a:p>
            <a:r>
              <a:t>➡️ מעבר: ואם כבר מדברים על לעשות בעצמכם, הגיע הזמן שלכם.</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13 דקות  |  🎯 להשוות כלים בעצמם, על משימה אמיתית.</a:t>
            </a:r>
          </a:p>
          <a:p/>
          <a:p>
            <a:r>
              <a:t>🗣 מה לומר:</a:t>
            </a:r>
          </a:p>
          <a:p>
            <a:r>
              <a:t>אני מחלקת אתכם עכשיו לזוגות בחדרי עבודה (Breakout Rooms).</a:t>
            </a:r>
          </a:p>
          <a:p>
            <a:r>
              <a:t>אחת: כל זוג בוחר משימה אמיתית. מייל שאתם צריכים לשלוח השבוע, סיכום של משהו, רעיונות לאירוע, תוכנית לשבוע.</a:t>
            </a:r>
          </a:p>
          <a:p>
            <a:r>
              <a:t>שתיים: אחד מכם מריץ אותה בצ'אט ג'יפיטי, והשני בקלוד או בג'מיני. אותה בקשה, באותן מילים.</a:t>
            </a:r>
          </a:p>
          <a:p>
            <a:r>
              <a:t>שלוש: תנו ציון מאחד עד חמש על שלושה דברים: דיוק, עברית, וכמה זה שימושי לכם באמת. את ההוראות ואת כרטיס הניקוד אני שולחת לכם בצ'אט, כי בחדר לא תראו את המצגת.</a:t>
            </a:r>
          </a:p>
          <a:p>
            <a:r>
              <a:t>ארבע: אחרי עשר דקות החדרים ייסגרו אוטומטית, וכמה זוגות ישתפו את כולם: מי ניצח אצלכם, ולמה?</a:t>
            </a:r>
          </a:p>
          <a:p>
            <a:r>
              <a:t>שימו לב גם להבדלים בסגנון, באורך, והאם הכלי שאל אתכם שאלות בחזרה.</a:t>
            </a:r>
          </a:p>
          <a:p>
            <a:r>
              <a:t>יש לכם עשר דקות. יאללה.</a:t>
            </a:r>
          </a:p>
          <a:p>
            <a:r>
              <a:t>(פותחים חדרים לעשר דקות, עם ספירה לאחור של דקה לסגירה. נכנסים לכמה חדרים לבדוק שהכול זורם)</a:t>
            </a:r>
          </a:p>
          <a:p>
            <a:r>
              <a:t>מי רוצה לשתף? איזו משימה בחרתם, ומי ניצח?</a:t>
            </a:r>
          </a:p>
          <a:p>
            <a:r>
              <a:t>(אוספים 3 עד 4 שיתופים בקול, ומבקשים מכל זוג לכתוב בצ'אט: משימה, כלי מנצח)</a:t>
            </a:r>
          </a:p>
          <a:p>
            <a:r>
              <a:t>תסתכלו על הצ'אט. בדרך כלל לא יוצא מנצח אחד. וזה בדיוק המסר.</a:t>
            </a:r>
          </a:p>
          <a:p/>
          <a:p>
            <a:r>
              <a:t>➡️ מעבר: אבל לפני שאתם רצים להשתמש בזה בכל דבר, יש כמה דברים שחייבים לדעת.</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 דקות  |  🎯 להכיר את ארבע החולשות המרכזיות ואת הפתרון.</a:t>
            </a:r>
          </a:p>
          <a:p/>
          <a:p>
            <a:r>
              <a:t>🎮 שאלון חי: אחרי ההסבר, עוברים לשאלה 13 ולוחצים 'חשפו תוצאות' כשרוב המחוברים ענו.</a:t>
            </a:r>
          </a:p>
          <a:p/>
          <a:p>
            <a:r>
              <a:t>🗣 מה לומר:</a:t>
            </a:r>
          </a:p>
          <a:p>
            <a:r>
              <a:t>ארבע מלכודות.</a:t>
            </a:r>
          </a:p>
          <a:p>
            <a:r>
              <a:t>הזיות: כבר ראינו. ודוגמה אמיתית: עורכי דין, גם בארצות הברית וגם בישראל, הגישו לבית המשפט מסמכים עם פסקי דין שה-AI המציא. פסקי דין שלא קיימים. הם ספגו נזיפות וקנסות.</a:t>
            </a:r>
          </a:p>
          <a:p>
            <a:r>
              <a:t>ידע לא עדכני: בלי חיפוש ברשת, המודל לא יודע מה קרה בחודשים האחרונים.</a:t>
            </a:r>
          </a:p>
          <a:p>
            <a:r>
              <a:t>חנפנות: הוא נוטה להסכים איתכם, גם כשאתם טועים. נסו פעם לכתוב לו "אני חושב ש-2 ועוד 2 זה 5, נכון?" ותראו איך הוא מתפתל.</a:t>
            </a:r>
          </a:p>
          <a:p>
            <a:r>
              <a:t>הטיות: הוא למד מטקסטים שכתבו בני אדם, ולכן הוא משקף גם את הדעות הקדומות שלהם.</a:t>
            </a:r>
          </a:p>
          <a:p>
            <a:r>
              <a:t>והפתרון, במשבצת הירוקה: אתם העורכים. בודקים, מאמתים, ומבקשים ממנו: "מה החולשות בתשובה שלך?" זה טריק פשוט שמשפר מאוד את התוצאות.</a:t>
            </a:r>
          </a:p>
          <a:p/>
          <a:p>
            <a:r>
              <a:t>➡️ מעבר: אז בשורה התחתונה, במה הוא מצוין ובמה לא?</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 דקות  |  🎯 ליצור ציפייה ותחושה שהקורס הולך להיות מעניין.</a:t>
            </a:r>
          </a:p>
          <a:p/>
          <a:p>
            <a:r>
              <a:t>🗣 מה לומר:</a:t>
            </a:r>
          </a:p>
          <a:p>
            <a:r>
              <a:t>זה מה שמחכה לכם. בסוף הקורס, כל אחד ואחת מכם יוצא עם תיק עבודות שבנה בעצמו.</a:t>
            </a:r>
          </a:p>
          <a:p>
            <a:r>
              <a:t>עוזר אישי משלכם, שמכיר את התפקיד, את הסגנון ואת הלקוחות שלכם.</a:t>
            </a:r>
          </a:p>
          <a:p>
            <a:r>
              <a:t>מצגת מקצועית, מרעיון גולמי לעיצוב מוגמר, בדקות.</a:t>
            </a:r>
          </a:p>
          <a:p>
            <a:r>
              <a:t>סט תמונות ממותג לפוסטים, להזמנות ולשיווק.</a:t>
            </a:r>
          </a:p>
          <a:p>
            <a:r>
              <a:t>פודקאסט מתוך המסמכים שלכם, כמו ששמעתם היום.</a:t>
            </a:r>
          </a:p>
          <a:p>
            <a:r>
              <a:t>ג'ינגל או שיר אישי.</a:t>
            </a:r>
          </a:p>
          <a:p>
            <a:r>
              <a:t>ומיני-אפליקציה: כלי קטן שפותר בעיה אמיתית שלכם.</a:t>
            </a:r>
          </a:p>
          <a:p>
            <a:r>
              <a:t>ובכל מפגש, משימה אמיתית מהעבודה שלכם. לא תרגילים מומצאים.</a:t>
            </a:r>
          </a:p>
          <a:p>
            <a:r>
              <a:t>כתבו בצ'אט: מה מהרשימה הכי מעניין אתכם?</a:t>
            </a:r>
          </a:p>
          <a:p/>
          <a:p>
            <a:r>
              <a:t>🖐 פעולה: לשמור את הצ'אט (בזום: שמירת צ'אט). זה יעזור להתאים את המשך הקורס לקבוצה.</a:t>
            </a:r>
          </a:p>
          <a:p/>
          <a:p>
            <a:r>
              <a:t>➡️ מעבר: ולפני שנסיים, טעימה קטנה מהמפגש הבא.</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 דקות  |  🎯 ליצור סקרנות למפגש הבא.</a:t>
            </a:r>
          </a:p>
          <a:p/>
          <a:p>
            <a:r>
              <a:t>🗣 מה לומר:</a:t>
            </a:r>
          </a:p>
          <a:p>
            <a:r>
              <a:t>היום ראיתם שאותה שאלה מקבלת תשובות שונות בכלים שונים. אבל יש משהו שמשפיע על התשובה הרבה יותר מהכלי: ההנחיה. מה שאתם כותבים.</a:t>
            </a:r>
          </a:p>
          <a:p>
            <a:r>
              <a:t>מימין, הנחיה חלשה: "כתוב פוסט על המוצר שלנו". מה מקבלים? פוסט גנרי, ארוך, מלא סופרלטיבים, שמתאים לכל מוצר בעולם.</a:t>
            </a:r>
          </a:p>
          <a:p>
            <a:r>
              <a:t>משמאל, הנחיה חזקה: "אתה קופירייטר. כתוב פוסט לינקדאין של 80 מילים לבעלי עסקים קטנים, על תוכנת הנהלת החשבונות שלנו. טון חם ואישי, ותסיים בשאלה לקוראים." מה מקבלים? פוסט ממוקד, באורך הנכון, שנשמע כמו העסק שלכם.</a:t>
            </a:r>
          </a:p>
          <a:p>
            <a:r>
              <a:t>אותו כלי. אותו מוצר. תוצאה אחרת לגמרי.</a:t>
            </a:r>
          </a:p>
          <a:p>
            <a:r>
              <a:t>במפגש הבא נלמד את הנוסחה לכתיבת הנחיות שעובדות. בכל כלי.</a:t>
            </a:r>
          </a:p>
          <a:p/>
          <a:p>
            <a:r>
              <a:t>🖐 פעולה: אם יש זמן, מריצים את שתי ההנחיות בשידור חי ומראים את ההבדל.</a:t>
            </a:r>
          </a:p>
          <a:p/>
          <a:p>
            <a:r>
              <a:t>➡️ מעבר: ולסיום, מה עושים עד הפעם הבאה.</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 דקות  |  🎯 שכל המשתתפים יתחברו לשאלון החי לפני החימום.</a:t>
            </a:r>
          </a:p>
          <a:p/>
          <a:p>
            <a:r>
              <a:t>🧰 הכנה מראש: פותחים מראש את מסך המנחה של השאלון (הכתובת עם /host, קוד 2468) בלשונית נפרדת, ולוחצים 'איפוס המשחק' כדי להתחיל נקי. מכינים את הקישור להדבקה בצ'אט.</a:t>
            </a:r>
          </a:p>
          <a:p/>
          <a:p>
            <a:r>
              <a:t>🗣 מה לומר:</a:t>
            </a:r>
          </a:p>
          <a:p>
            <a:r>
              <a:t>עכשיו משהו קטן וכיפי שילווה אותנו כל המפגש.</a:t>
            </a:r>
          </a:p>
          <a:p>
            <a:r>
              <a:t>אני מדביקה לכם בצ'אט קישור. פתחו אותו בטלפון, או בלשונית חדשה בדפדפן.</a:t>
            </a:r>
          </a:p>
          <a:p>
            <a:r>
              <a:t>(מדביקים את הקישור בצ'אט)</a:t>
            </a:r>
          </a:p>
          <a:p>
            <a:r>
              <a:t>בחרו כינוי. שם אמיתי, או שם מצחיק, אתם מחליטים.</a:t>
            </a:r>
          </a:p>
          <a:p>
            <a:r>
              <a:t>והשאירו את הדף פתוח. לאורך המפגש יקפצו לכם שאלות, תענו מהר, ותצברו נקודות. בסוף נכריז על המנצחים.</a:t>
            </a:r>
          </a:p>
          <a:p>
            <a:r>
              <a:t>(משתפים לרגע את מסך המנחה, שבו רואים את כל המחוברים)</a:t>
            </a:r>
          </a:p>
          <a:p>
            <a:r>
              <a:t>תראו, אני רואה פה את כולם מתחברים. מי שעוד לא מופיע, כתבו לי בצ'אט ואעזור.</a:t>
            </a:r>
          </a:p>
          <a:p/>
          <a:p>
            <a:r>
              <a:t>🖐 פעולה: מחכים שרוב המשתתפים יופיעו ברשימת המחוברים לפני שממשיכים.</a:t>
            </a:r>
          </a:p>
          <a:p/>
          <a:p>
            <a:r>
              <a:t>➡️ מעבר: והשאלה הראשונה כבר מחכה לכם.</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01620">
              <a:alpha val="9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6.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 Id="rId3" Type="http://schemas.openxmlformats.org/officeDocument/2006/relationships/notesSlide" Target="../notesSlides/notesSlide2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xml"/><Relationship Id="rId3" Type="http://schemas.openxmlformats.org/officeDocument/2006/relationships/notesSlide" Target="../notesSlides/notesSlide2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12.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image" Target="../media/image-4-4.png"/><Relationship Id="rId5" Type="http://schemas.openxmlformats.org/officeDocument/2006/relationships/image" Target="../media/image-4-5.svg"/><Relationship Id="rId6" Type="http://schemas.openxmlformats.org/officeDocument/2006/relationships/image" Target="../media/image-4-6.png"/><Relationship Id="rId7" Type="http://schemas.openxmlformats.org/officeDocument/2006/relationships/image" Target="../media/image-4-7.svg"/><Relationship Id="rId8" Type="http://schemas.openxmlformats.org/officeDocument/2006/relationships/image" Target="../media/image-4-8.png"/><Relationship Id="rId9" Type="http://schemas.openxmlformats.org/officeDocument/2006/relationships/image" Target="../media/image-4-9.svg"/><Relationship Id="rId10" Type="http://schemas.openxmlformats.org/officeDocument/2006/relationships/image" Target="../media/image-4-10.png"/><Relationship Id="rId11" Type="http://schemas.openxmlformats.org/officeDocument/2006/relationships/image" Target="../media/image-4-11.svg"/><Relationship Id="rId12" Type="http://schemas.openxmlformats.org/officeDocument/2006/relationships/image" Target="../media/image-4-12.png"/><Relationship Id="rId13" Type="http://schemas.openxmlformats.org/officeDocument/2006/relationships/slideLayout" Target="../slideLayouts/slideLayout2.xml"/><Relationship Id="rId14"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16.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19.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jpeg"/><Relationship Id="rId3" Type="http://schemas.openxmlformats.org/officeDocument/2006/relationships/notesSlide" Target="../notesSlides/notesSlide2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28.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0.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33.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svg"/><Relationship Id="rId3" Type="http://schemas.openxmlformats.org/officeDocument/2006/relationships/image" Target="../media/image-14-1.png"/><Relationship Id="rId4" Type="http://schemas.openxmlformats.org/officeDocument/2006/relationships/image" Target="../media/image-14-2.svg"/><Relationship Id="rId5" Type="http://schemas.openxmlformats.org/officeDocument/2006/relationships/image" Target="../media/image-14-1.png"/><Relationship Id="rId6" Type="http://schemas.openxmlformats.org/officeDocument/2006/relationships/image" Target="../media/image-14-2.svg"/><Relationship Id="rId7" Type="http://schemas.openxmlformats.org/officeDocument/2006/relationships/image" Target="../media/image-14-7.png"/><Relationship Id="rId8" Type="http://schemas.openxmlformats.org/officeDocument/2006/relationships/image" Target="../media/image-14-8.svg"/><Relationship Id="rId9" Type="http://schemas.openxmlformats.org/officeDocument/2006/relationships/image" Target="../media/image-14-7.png"/><Relationship Id="rId10" Type="http://schemas.openxmlformats.org/officeDocument/2006/relationships/image" Target="../media/image-14-8.svg"/><Relationship Id="rId11" Type="http://schemas.openxmlformats.org/officeDocument/2006/relationships/image" Target="../media/image-14-11.png"/><Relationship Id="rId12" Type="http://schemas.openxmlformats.org/officeDocument/2006/relationships/slideLayout" Target="../slideLayouts/slideLayout2.xml"/><Relationship Id="rId13" Type="http://schemas.openxmlformats.org/officeDocument/2006/relationships/notesSlide" Target="../notesSlides/notesSlide14.xml"/></Relationships>
</file>

<file path=ppt/slides/_rels/slide34.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image" Target="../media/image-16-2.png"/><Relationship Id="rId3" Type="http://schemas.openxmlformats.org/officeDocument/2006/relationships/image" Target="../media/image-16-3.svg"/><Relationship Id="rId4" Type="http://schemas.openxmlformats.org/officeDocument/2006/relationships/image" Target="../media/image-16-4.png"/><Relationship Id="rId5" Type="http://schemas.openxmlformats.org/officeDocument/2006/relationships/image" Target="../media/image-16-5.svg"/><Relationship Id="rId6" Type="http://schemas.openxmlformats.org/officeDocument/2006/relationships/slideLayout" Target="../slideLayouts/slideLayout2.xml"/><Relationship Id="rId7"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tretch>
            <a:fillRect/>
          </a:stretch>
        </p:blipFill>
        <p:spPr>
          <a:xfrm>
            <a:off x="0" y="0"/>
            <a:ext cx="4800480" cy="6858000"/>
          </a:xfrm>
          <a:custGeom>
            <a:avLst/>
            <a:gdLst/>
            <a:ahLst/>
            <a:cxnLst/>
            <a:rect l="0" t="0" r="100000" b="100000"/>
            <a:pathLst>
              <a:path w="100000" h="100000">
                <a:moveTo>
                  <a:pt x="0" y="0"/>
                </a:moveTo>
                <a:lnTo>
                  <a:pt x="90530" y="100"/>
                </a:lnTo>
                <a:lnTo>
                  <a:pt x="93070" y="6350"/>
                </a:lnTo>
                <a:lnTo>
                  <a:pt x="94920" y="12210"/>
                </a:lnTo>
                <a:lnTo>
                  <a:pt x="96680" y="19820"/>
                </a:lnTo>
                <a:lnTo>
                  <a:pt x="97560" y="25880"/>
                </a:lnTo>
                <a:lnTo>
                  <a:pt x="97950" y="30960"/>
                </a:lnTo>
                <a:lnTo>
                  <a:pt x="97950" y="39060"/>
                </a:lnTo>
                <a:lnTo>
                  <a:pt x="97270" y="46480"/>
                </a:lnTo>
                <a:lnTo>
                  <a:pt x="96190" y="52640"/>
                </a:lnTo>
                <a:lnTo>
                  <a:pt x="94730" y="58500"/>
                </a:lnTo>
                <a:lnTo>
                  <a:pt x="92480" y="65230"/>
                </a:lnTo>
                <a:lnTo>
                  <a:pt x="89550" y="72070"/>
                </a:lnTo>
                <a:lnTo>
                  <a:pt x="86820" y="77340"/>
                </a:lnTo>
                <a:lnTo>
                  <a:pt x="83500" y="82810"/>
                </a:lnTo>
                <a:lnTo>
                  <a:pt x="79200" y="88870"/>
                </a:lnTo>
                <a:lnTo>
                  <a:pt x="75880" y="92770"/>
                </a:lnTo>
                <a:lnTo>
                  <a:pt x="75880" y="92970"/>
                </a:lnTo>
                <a:lnTo>
                  <a:pt x="74510" y="94340"/>
                </a:lnTo>
                <a:lnTo>
                  <a:pt x="74510" y="94530"/>
                </a:lnTo>
                <a:lnTo>
                  <a:pt x="69240" y="100000"/>
                </a:lnTo>
                <a:lnTo>
                  <a:pt x="0" y="100000"/>
                </a:lnTo>
                <a:close/>
              </a:path>
            </a:pathLst>
          </a:custGeom>
        </p:spPr>
      </p:pic>
      <p:sp>
        <p:nvSpPr>
          <p:cNvPr id="3" name="Text 0"/>
          <p:cNvSpPr/>
          <p:nvPr/>
        </p:nvSpPr>
        <p:spPr>
          <a:xfrm>
            <a:off x="5233360" y="2193528"/>
            <a:ext cx="6296860" cy="614263"/>
          </a:xfrm>
          <a:prstGeom prst="rect">
            <a:avLst/>
          </a:prstGeom>
          <a:noFill/>
          <a:ln/>
        </p:spPr>
        <p:txBody>
          <a:bodyPr wrap="none" lIns="0" tIns="0" rIns="0" bIns="0" rtlCol="0" anchor="t"/>
          <a:lstStyle/>
          <a:p>
            <a:pPr rtl="1" algn="r" indent="0" marL="0">
              <a:lnSpc>
                <a:spcPct val="108000"/>
              </a:lnSpc>
              <a:buNone/>
            </a:pPr>
            <a:r>
              <a:rPr lang="he-IL" altLang="en-US" sz="3700" b="1" spc="-74" kern="100" dirty="0">
                <a:solidFill>
                  <a:srgbClr val="F2F5FA"/>
                </a:solidFill>
                <a:latin typeface="Arial" pitchFamily="34" charset="0"/>
                <a:ea typeface="Arial" pitchFamily="34" charset="-122"/>
                <a:cs typeface="Arial" pitchFamily="34" charset="-120"/>
              </a:rPr>
              <a:t>קורס AI בסיסי למתחילים</a:t>
            </a:r>
            <a:endParaRPr lang="he-IL" sz="3700" dirty="0"/>
          </a:p>
        </p:txBody>
      </p:sp>
      <p:sp>
        <p:nvSpPr>
          <p:cNvPr id="4" name="Text 1"/>
          <p:cNvSpPr/>
          <p:nvPr/>
        </p:nvSpPr>
        <p:spPr>
          <a:xfrm>
            <a:off x="5233360" y="2883396"/>
            <a:ext cx="6296860" cy="307082"/>
          </a:xfrm>
          <a:prstGeom prst="rect">
            <a:avLst/>
          </a:prstGeom>
          <a:noFill/>
          <a:ln/>
        </p:spPr>
        <p:txBody>
          <a:bodyPr wrap="none" lIns="0" tIns="0" rIns="0" bIns="0" rtlCol="0" anchor="t"/>
          <a:lstStyle/>
          <a:p>
            <a:pPr rtl="1" algn="r" indent="0" marL="0">
              <a:lnSpc>
                <a:spcPct val="108000"/>
              </a:lnSpc>
              <a:buNone/>
            </a:pPr>
            <a:r>
              <a:rPr lang="he-IL" altLang="en-US" sz="1850" b="1" spc="-37" kern="100" dirty="0">
                <a:solidFill>
                  <a:srgbClr val="F2F5FA"/>
                </a:solidFill>
                <a:latin typeface="Arial" pitchFamily="34" charset="0"/>
                <a:ea typeface="Arial" pitchFamily="34" charset="-122"/>
                <a:cs typeface="Arial" pitchFamily="34" charset="-120"/>
              </a:rPr>
              <a:t>מפגש 1: היכרות עם בינה מלאכותית</a:t>
            </a:r>
            <a:endParaRPr lang="he-IL" sz="1850" dirty="0"/>
          </a:p>
        </p:txBody>
      </p:sp>
      <p:sp>
        <p:nvSpPr>
          <p:cNvPr id="5" name="Shape 2"/>
          <p:cNvSpPr/>
          <p:nvPr/>
        </p:nvSpPr>
        <p:spPr>
          <a:xfrm>
            <a:off x="5233360" y="3473946"/>
            <a:ext cx="6296860" cy="1190526"/>
          </a:xfrm>
          <a:prstGeom prst="roundRect">
            <a:avLst>
              <a:gd name="adj" fmla="val 6668"/>
            </a:avLst>
          </a:prstGeom>
          <a:solidFill>
            <a:srgbClr val="002A80"/>
          </a:solidFill>
          <a:ln/>
        </p:spPr>
        <p:txBody>
          <a:bodyPr/>
          <a:p/>
        </p:txBody>
      </p:sp>
      <p:pic>
        <p:nvPicPr>
          <p:cNvPr id="6" name="Image 1" descr="preencoded.png">    </p:cNvPr>
          <p:cNvPicPr>
            <a:picLocks noChangeAspect="1"/>
          </p:cNvPicPr>
          <p:nvPr/>
        </p:nvPicPr>
        <p:blipFill>
          <a:blip r:embed="rId2"/>
          <a:stretch>
            <a:fillRect/>
          </a:stretch>
        </p:blipFill>
        <p:spPr>
          <a:xfrm>
            <a:off x="5422367" y="3716238"/>
            <a:ext cx="236234" cy="189012"/>
          </a:xfrm>
          <a:prstGeom prst="rect">
            <a:avLst/>
          </a:prstGeom>
        </p:spPr>
      </p:pic>
      <p:sp>
        <p:nvSpPr>
          <p:cNvPr id="7" name="Text 3"/>
          <p:cNvSpPr/>
          <p:nvPr/>
        </p:nvSpPr>
        <p:spPr>
          <a:xfrm>
            <a:off x="5847608" y="3710186"/>
            <a:ext cx="5493605" cy="736997"/>
          </a:xfrm>
          <a:prstGeom prst="rect">
            <a:avLst/>
          </a:prstGeom>
          <a:noFill/>
          <a:ln/>
        </p:spPr>
        <p:txBody>
          <a:bodyPr wrap="square" lIns="0" tIns="0" rIns="0" bIns="0" rtlCol="0" anchor="t">
            <a:normAutofit/>
          </a:bodyPr>
          <a:lstStyle/>
          <a:p>
            <a:pPr rtl="1" algn="r" indent="0" marL="0">
              <a:lnSpc>
                <a:spcPct val="108000"/>
              </a:lnSpc>
              <a:buNone/>
            </a:pPr>
            <a:r>
              <a:rPr lang="he-IL" altLang="en-US" sz="1450" dirty="0">
                <a:solidFill>
                  <a:srgbClr val="FFFFFF"/>
                </a:solidFill>
                <a:latin typeface="Arial" pitchFamily="34" charset="0"/>
                <a:ea typeface="Arial" pitchFamily="34" charset="-122"/>
                <a:cs typeface="Arial" pitchFamily="34" charset="-120"/>
              </a:rPr>
              <a:t>ההבטחה: לא תיאוריה. כל מפגש = תרגול על משימות אמיתיות. היום עוד תשלחו הודעה ראשונה ל-AI ותקבלו עזרה במשימה אמיתית מהעבודה שלכם.</a:t>
            </a:r>
            <a:endParaRPr lang="he-IL" sz="1450" dirty="0"/>
          </a:p>
        </p:txBody>
      </p:sp>
      <p:sp>
        <p:nvSpPr>
          <p:cNvPr id="8" name="TextBox 7"/>
          <p:cNvSpPr txBox="1"/>
          <p:nvPr/>
        </p:nvSpPr>
        <p:spPr>
          <a:xfrm>
            <a:off x="6675120" y="6473952"/>
            <a:ext cx="4846320" cy="292608"/>
          </a:xfrm>
          <a:prstGeom prst="rect">
            <a:avLst/>
          </a:prstGeom>
          <a:noFill/>
        </p:spPr>
        <p:txBody>
          <a:bodyPr wrap="none" lIns="0" rIns="0" tIns="0" bIns="0">
            <a:spAutoFit/>
          </a:bodyPr>
          <a:lstStyle/>
          <a:p>
            <a:pPr algn="r" rtl="1"/>
            <a:r>
              <a:rPr sz="1000">
                <a:solidFill>
                  <a:srgbClr val="8A96AA"/>
                </a:solidFill>
                <a:latin typeface="Arial"/>
                <a:cs typeface="Arial"/>
              </a:rPr>
              <a:t>© נערך על ידי AI Finance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02920"/>
            <a:ext cx="10872216" cy="640080"/>
          </a:xfrm>
          <a:prstGeom prst="rect">
            <a:avLst/>
          </a:prstGeom>
          <a:noFill/>
        </p:spPr>
        <p:txBody>
          <a:bodyPr wrap="square" lIns="0" rIns="0" tIns="0" bIns="0" anchor="t" rtlCol="0">
            <a:spAutoFit/>
          </a:bodyPr>
          <a:lstStyle/>
          <a:p>
            <a:pPr rtl="1" algn="r" marL="0" indent="0">
              <a:lnSpc>
                <a:spcPct val="108000"/>
              </a:lnSpc>
              <a:buNone/>
            </a:pPr>
            <a:r>
              <a:rPr sz="3700" b="1" i="0" lang="he-IL">
                <a:solidFill>
                  <a:srgbClr val="F2F5FA"/>
                </a:solidFill>
                <a:latin typeface="Arial"/>
                <a:cs typeface="Arial"/>
              </a:rPr>
              <a:t>מה מחכה לנו היום</a:t>
            </a:r>
          </a:p>
        </p:txBody>
      </p:sp>
      <p:sp>
        <p:nvSpPr>
          <p:cNvPr id="3" name="TextBox 2"/>
          <p:cNvSpPr txBox="1"/>
          <p:nvPr/>
        </p:nvSpPr>
        <p:spPr>
          <a:xfrm>
            <a:off x="658368" y="1280160"/>
            <a:ext cx="10872216" cy="365760"/>
          </a:xfrm>
          <a:prstGeom prst="rect">
            <a:avLst/>
          </a:prstGeom>
          <a:noFill/>
        </p:spPr>
        <p:txBody>
          <a:bodyPr wrap="square" lIns="0" rIns="0" tIns="0" bIns="0" anchor="t" rtlCol="0">
            <a:spAutoFit/>
          </a:bodyPr>
          <a:lstStyle/>
          <a:p>
            <a:pPr rtl="1" algn="r" marL="0" indent="0">
              <a:lnSpc>
                <a:spcPct val="108000"/>
              </a:lnSpc>
              <a:buNone/>
            </a:pPr>
            <a:r>
              <a:rPr sz="1450" b="0" i="0" lang="he-IL">
                <a:solidFill>
                  <a:srgbClr val="A9B4C6"/>
                </a:solidFill>
                <a:latin typeface="Arial"/>
                <a:cs typeface="Arial"/>
              </a:rPr>
              <a:t>שעתיים, שבע תחנות, הרבה ידיים על המקלדת</a:t>
            </a:r>
          </a:p>
        </p:txBody>
      </p:sp>
      <p:sp>
        <p:nvSpPr>
          <p:cNvPr id="4" name="Rounded Rectangle 3"/>
          <p:cNvSpPr/>
          <p:nvPr/>
        </p:nvSpPr>
        <p:spPr>
          <a:xfrm>
            <a:off x="11045952" y="1920240"/>
            <a:ext cx="438912" cy="438912"/>
          </a:xfrm>
          <a:prstGeom prst="roundRect">
            <a:avLst>
              <a:gd name="adj" fmla="val 20000"/>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500" b="1" i="0" lang="he-IL">
                <a:solidFill>
                  <a:srgbClr val="F2F5FA"/>
                </a:solidFill>
                <a:latin typeface="Arial"/>
                <a:cs typeface="Arial"/>
              </a:rPr>
              <a:t>1</a:t>
            </a:r>
          </a:p>
        </p:txBody>
      </p:sp>
      <p:sp>
        <p:nvSpPr>
          <p:cNvPr id="5" name="TextBox 4"/>
          <p:cNvSpPr txBox="1"/>
          <p:nvPr/>
        </p:nvSpPr>
        <p:spPr>
          <a:xfrm>
            <a:off x="6583680" y="1975104"/>
            <a:ext cx="429768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מה זה AI ואיך זה עובד</a:t>
            </a:r>
          </a:p>
        </p:txBody>
      </p:sp>
      <p:sp>
        <p:nvSpPr>
          <p:cNvPr id="6" name="TextBox 5"/>
          <p:cNvSpPr txBox="1"/>
          <p:nvPr/>
        </p:nvSpPr>
        <p:spPr>
          <a:xfrm>
            <a:off x="5394960" y="2002536"/>
            <a:ext cx="1097280" cy="365760"/>
          </a:xfrm>
          <a:prstGeom prst="rect">
            <a:avLst/>
          </a:prstGeom>
          <a:noFill/>
        </p:spPr>
        <p:txBody>
          <a:bodyPr wrap="square" lIns="0" rIns="0" tIns="0" bIns="0" anchor="t" rtlCol="0">
            <a:spAutoFit/>
          </a:bodyPr>
          <a:lstStyle/>
          <a:p>
            <a:pPr rtl="1" algn="l" marL="0" indent="0">
              <a:lnSpc>
                <a:spcPct val="108000"/>
              </a:lnSpc>
              <a:buNone/>
            </a:pPr>
            <a:r>
              <a:rPr sz="1350" b="0" i="0" lang="he-IL">
                <a:solidFill>
                  <a:srgbClr val="6296FF"/>
                </a:solidFill>
                <a:latin typeface="Arial"/>
                <a:cs typeface="Arial"/>
              </a:rPr>
              <a:t>25 דק'</a:t>
            </a:r>
          </a:p>
        </p:txBody>
      </p:sp>
      <p:sp>
        <p:nvSpPr>
          <p:cNvPr id="7" name="Rounded Rectangle 6"/>
          <p:cNvSpPr/>
          <p:nvPr/>
        </p:nvSpPr>
        <p:spPr>
          <a:xfrm>
            <a:off x="11045952" y="2523744"/>
            <a:ext cx="438912" cy="438912"/>
          </a:xfrm>
          <a:prstGeom prst="roundRect">
            <a:avLst>
              <a:gd name="adj" fmla="val 20000"/>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500" b="1" i="0" lang="he-IL">
                <a:solidFill>
                  <a:srgbClr val="F2F5FA"/>
                </a:solidFill>
                <a:latin typeface="Arial"/>
                <a:cs typeface="Arial"/>
              </a:rPr>
              <a:t>2</a:t>
            </a:r>
          </a:p>
        </p:txBody>
      </p:sp>
      <p:sp>
        <p:nvSpPr>
          <p:cNvPr id="8" name="TextBox 7"/>
          <p:cNvSpPr txBox="1"/>
          <p:nvPr/>
        </p:nvSpPr>
        <p:spPr>
          <a:xfrm>
            <a:off x="6583680" y="2578608"/>
            <a:ext cx="429768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חמשת הגדולים: היכרות והשוואה</a:t>
            </a:r>
          </a:p>
        </p:txBody>
      </p:sp>
      <p:sp>
        <p:nvSpPr>
          <p:cNvPr id="9" name="TextBox 8"/>
          <p:cNvSpPr txBox="1"/>
          <p:nvPr/>
        </p:nvSpPr>
        <p:spPr>
          <a:xfrm>
            <a:off x="5394960" y="2606040"/>
            <a:ext cx="1097280" cy="365760"/>
          </a:xfrm>
          <a:prstGeom prst="rect">
            <a:avLst/>
          </a:prstGeom>
          <a:noFill/>
        </p:spPr>
        <p:txBody>
          <a:bodyPr wrap="square" lIns="0" rIns="0" tIns="0" bIns="0" anchor="t" rtlCol="0">
            <a:spAutoFit/>
          </a:bodyPr>
          <a:lstStyle/>
          <a:p>
            <a:pPr rtl="1" algn="l" marL="0" indent="0">
              <a:lnSpc>
                <a:spcPct val="108000"/>
              </a:lnSpc>
              <a:buNone/>
            </a:pPr>
            <a:r>
              <a:rPr sz="1350" b="0" i="0" lang="he-IL">
                <a:solidFill>
                  <a:srgbClr val="6296FF"/>
                </a:solidFill>
                <a:latin typeface="Arial"/>
                <a:cs typeface="Arial"/>
              </a:rPr>
              <a:t>22 דק'</a:t>
            </a:r>
          </a:p>
        </p:txBody>
      </p:sp>
      <p:sp>
        <p:nvSpPr>
          <p:cNvPr id="10" name="Rounded Rectangle 9"/>
          <p:cNvSpPr/>
          <p:nvPr/>
        </p:nvSpPr>
        <p:spPr>
          <a:xfrm>
            <a:off x="11045952" y="3127248"/>
            <a:ext cx="438912" cy="438912"/>
          </a:xfrm>
          <a:prstGeom prst="roundRect">
            <a:avLst>
              <a:gd name="adj" fmla="val 20000"/>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500" b="1" i="0" lang="he-IL">
                <a:solidFill>
                  <a:srgbClr val="F2F5FA"/>
                </a:solidFill>
                <a:latin typeface="Arial"/>
                <a:cs typeface="Arial"/>
              </a:rPr>
              <a:t>3</a:t>
            </a:r>
          </a:p>
        </p:txBody>
      </p:sp>
      <p:sp>
        <p:nvSpPr>
          <p:cNvPr id="11" name="TextBox 10"/>
          <p:cNvSpPr txBox="1"/>
          <p:nvPr/>
        </p:nvSpPr>
        <p:spPr>
          <a:xfrm>
            <a:off x="6583680" y="3182112"/>
            <a:ext cx="429768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קרב כלים חי</a:t>
            </a:r>
          </a:p>
        </p:txBody>
      </p:sp>
      <p:sp>
        <p:nvSpPr>
          <p:cNvPr id="12" name="TextBox 11"/>
          <p:cNvSpPr txBox="1"/>
          <p:nvPr/>
        </p:nvSpPr>
        <p:spPr>
          <a:xfrm>
            <a:off x="5394960" y="3209544"/>
            <a:ext cx="1097280" cy="365760"/>
          </a:xfrm>
          <a:prstGeom prst="rect">
            <a:avLst/>
          </a:prstGeom>
          <a:noFill/>
        </p:spPr>
        <p:txBody>
          <a:bodyPr wrap="square" lIns="0" rIns="0" tIns="0" bIns="0" anchor="t" rtlCol="0">
            <a:spAutoFit/>
          </a:bodyPr>
          <a:lstStyle/>
          <a:p>
            <a:pPr rtl="1" algn="l" marL="0" indent="0">
              <a:lnSpc>
                <a:spcPct val="108000"/>
              </a:lnSpc>
              <a:buNone/>
            </a:pPr>
            <a:r>
              <a:rPr sz="1350" b="0" i="0" lang="he-IL">
                <a:solidFill>
                  <a:srgbClr val="6296FF"/>
                </a:solidFill>
                <a:latin typeface="Arial"/>
                <a:cs typeface="Arial"/>
              </a:rPr>
              <a:t>11 דק'</a:t>
            </a:r>
          </a:p>
        </p:txBody>
      </p:sp>
      <p:sp>
        <p:nvSpPr>
          <p:cNvPr id="13" name="Rounded Rectangle 12"/>
          <p:cNvSpPr/>
          <p:nvPr/>
        </p:nvSpPr>
        <p:spPr>
          <a:xfrm>
            <a:off x="11045952" y="3730752"/>
            <a:ext cx="438912" cy="438912"/>
          </a:xfrm>
          <a:prstGeom prst="roundRect">
            <a:avLst>
              <a:gd name="adj" fmla="val 20000"/>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500" b="1" i="0" lang="he-IL">
                <a:solidFill>
                  <a:srgbClr val="F2F5FA"/>
                </a:solidFill>
                <a:latin typeface="Arial"/>
                <a:cs typeface="Arial"/>
              </a:rPr>
              <a:t>4</a:t>
            </a:r>
          </a:p>
        </p:txBody>
      </p:sp>
      <p:sp>
        <p:nvSpPr>
          <p:cNvPr id="14" name="TextBox 13"/>
          <p:cNvSpPr txBox="1"/>
          <p:nvPr/>
        </p:nvSpPr>
        <p:spPr>
          <a:xfrm>
            <a:off x="6583680" y="3785615"/>
            <a:ext cx="429768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ארגז הכלים: תמונה, וידאו, קול ומחקר</a:t>
            </a:r>
          </a:p>
        </p:txBody>
      </p:sp>
      <p:sp>
        <p:nvSpPr>
          <p:cNvPr id="15" name="TextBox 14"/>
          <p:cNvSpPr txBox="1"/>
          <p:nvPr/>
        </p:nvSpPr>
        <p:spPr>
          <a:xfrm>
            <a:off x="5394960" y="3813048"/>
            <a:ext cx="1097280" cy="365760"/>
          </a:xfrm>
          <a:prstGeom prst="rect">
            <a:avLst/>
          </a:prstGeom>
          <a:noFill/>
        </p:spPr>
        <p:txBody>
          <a:bodyPr wrap="square" lIns="0" rIns="0" tIns="0" bIns="0" anchor="t" rtlCol="0">
            <a:spAutoFit/>
          </a:bodyPr>
          <a:lstStyle/>
          <a:p>
            <a:pPr rtl="1" algn="l" marL="0" indent="0">
              <a:lnSpc>
                <a:spcPct val="108000"/>
              </a:lnSpc>
              <a:buNone/>
            </a:pPr>
            <a:r>
              <a:rPr sz="1350" b="0" i="0" lang="he-IL">
                <a:solidFill>
                  <a:srgbClr val="6296FF"/>
                </a:solidFill>
                <a:latin typeface="Arial"/>
                <a:cs typeface="Arial"/>
              </a:rPr>
              <a:t>21 דק'</a:t>
            </a:r>
          </a:p>
        </p:txBody>
      </p:sp>
      <p:sp>
        <p:nvSpPr>
          <p:cNvPr id="16" name="Rounded Rectangle 15"/>
          <p:cNvSpPr/>
          <p:nvPr/>
        </p:nvSpPr>
        <p:spPr>
          <a:xfrm>
            <a:off x="11045952" y="4334256"/>
            <a:ext cx="438912" cy="438912"/>
          </a:xfrm>
          <a:prstGeom prst="roundRect">
            <a:avLst>
              <a:gd name="adj" fmla="val 20000"/>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500" b="1" i="0" lang="he-IL">
                <a:solidFill>
                  <a:srgbClr val="F2F5FA"/>
                </a:solidFill>
                <a:latin typeface="Arial"/>
                <a:cs typeface="Arial"/>
              </a:rPr>
              <a:t>5</a:t>
            </a:r>
          </a:p>
        </p:txBody>
      </p:sp>
      <p:sp>
        <p:nvSpPr>
          <p:cNvPr id="17" name="TextBox 16"/>
          <p:cNvSpPr txBox="1"/>
          <p:nvPr/>
        </p:nvSpPr>
        <p:spPr>
          <a:xfrm>
            <a:off x="6583680" y="4389120"/>
            <a:ext cx="429768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ידיים על המקלדת</a:t>
            </a:r>
          </a:p>
        </p:txBody>
      </p:sp>
      <p:sp>
        <p:nvSpPr>
          <p:cNvPr id="18" name="TextBox 17"/>
          <p:cNvSpPr txBox="1"/>
          <p:nvPr/>
        </p:nvSpPr>
        <p:spPr>
          <a:xfrm>
            <a:off x="5394960" y="4416552"/>
            <a:ext cx="1097280" cy="365760"/>
          </a:xfrm>
          <a:prstGeom prst="rect">
            <a:avLst/>
          </a:prstGeom>
          <a:noFill/>
        </p:spPr>
        <p:txBody>
          <a:bodyPr wrap="square" lIns="0" rIns="0" tIns="0" bIns="0" anchor="t" rtlCol="0">
            <a:spAutoFit/>
          </a:bodyPr>
          <a:lstStyle/>
          <a:p>
            <a:pPr rtl="1" algn="l" marL="0" indent="0">
              <a:lnSpc>
                <a:spcPct val="108000"/>
              </a:lnSpc>
              <a:buNone/>
            </a:pPr>
            <a:r>
              <a:rPr sz="1350" b="0" i="0" lang="he-IL">
                <a:solidFill>
                  <a:srgbClr val="6296FF"/>
                </a:solidFill>
                <a:latin typeface="Arial"/>
                <a:cs typeface="Arial"/>
              </a:rPr>
              <a:t>20 דק'</a:t>
            </a:r>
          </a:p>
        </p:txBody>
      </p:sp>
      <p:sp>
        <p:nvSpPr>
          <p:cNvPr id="19" name="Rounded Rectangle 18"/>
          <p:cNvSpPr/>
          <p:nvPr/>
        </p:nvSpPr>
        <p:spPr>
          <a:xfrm>
            <a:off x="11045952" y="4937760"/>
            <a:ext cx="438912" cy="438912"/>
          </a:xfrm>
          <a:prstGeom prst="roundRect">
            <a:avLst>
              <a:gd name="adj" fmla="val 20000"/>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500" b="1" i="0" lang="he-IL">
                <a:solidFill>
                  <a:srgbClr val="F2F5FA"/>
                </a:solidFill>
                <a:latin typeface="Arial"/>
                <a:cs typeface="Arial"/>
              </a:rPr>
              <a:t>6</a:t>
            </a:r>
          </a:p>
        </p:txBody>
      </p:sp>
      <p:sp>
        <p:nvSpPr>
          <p:cNvPr id="20" name="TextBox 19"/>
          <p:cNvSpPr txBox="1"/>
          <p:nvPr/>
        </p:nvSpPr>
        <p:spPr>
          <a:xfrm>
            <a:off x="6583680" y="4992624"/>
            <a:ext cx="429768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גבולות, פרטיות ובטיחות</a:t>
            </a:r>
          </a:p>
        </p:txBody>
      </p:sp>
      <p:sp>
        <p:nvSpPr>
          <p:cNvPr id="21" name="TextBox 20"/>
          <p:cNvSpPr txBox="1"/>
          <p:nvPr/>
        </p:nvSpPr>
        <p:spPr>
          <a:xfrm>
            <a:off x="5394960" y="5020056"/>
            <a:ext cx="1097280" cy="365760"/>
          </a:xfrm>
          <a:prstGeom prst="rect">
            <a:avLst/>
          </a:prstGeom>
          <a:noFill/>
        </p:spPr>
        <p:txBody>
          <a:bodyPr wrap="square" lIns="0" rIns="0" tIns="0" bIns="0" anchor="t" rtlCol="0">
            <a:spAutoFit/>
          </a:bodyPr>
          <a:lstStyle/>
          <a:p>
            <a:pPr rtl="1" algn="l" marL="0" indent="0">
              <a:lnSpc>
                <a:spcPct val="108000"/>
              </a:lnSpc>
              <a:buNone/>
            </a:pPr>
            <a:r>
              <a:rPr sz="1350" b="0" i="0" lang="he-IL">
                <a:solidFill>
                  <a:srgbClr val="6296FF"/>
                </a:solidFill>
                <a:latin typeface="Arial"/>
                <a:cs typeface="Arial"/>
              </a:rPr>
              <a:t>13 דק'</a:t>
            </a:r>
          </a:p>
        </p:txBody>
      </p:sp>
      <p:sp>
        <p:nvSpPr>
          <p:cNvPr id="22" name="Rounded Rectangle 21"/>
          <p:cNvSpPr/>
          <p:nvPr/>
        </p:nvSpPr>
        <p:spPr>
          <a:xfrm>
            <a:off x="11045952" y="5541264"/>
            <a:ext cx="438912" cy="438912"/>
          </a:xfrm>
          <a:prstGeom prst="roundRect">
            <a:avLst>
              <a:gd name="adj" fmla="val 20000"/>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500" b="1" i="0" lang="he-IL">
                <a:solidFill>
                  <a:srgbClr val="F2F5FA"/>
                </a:solidFill>
                <a:latin typeface="Arial"/>
                <a:cs typeface="Arial"/>
              </a:rPr>
              <a:t>7</a:t>
            </a:r>
          </a:p>
        </p:txBody>
      </p:sp>
      <p:sp>
        <p:nvSpPr>
          <p:cNvPr id="23" name="TextBox 22"/>
          <p:cNvSpPr txBox="1"/>
          <p:nvPr/>
        </p:nvSpPr>
        <p:spPr>
          <a:xfrm>
            <a:off x="6583680" y="5596128"/>
            <a:ext cx="429768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מה נבנה בקורס + משימה לשבוע</a:t>
            </a:r>
          </a:p>
        </p:txBody>
      </p:sp>
      <p:sp>
        <p:nvSpPr>
          <p:cNvPr id="24" name="TextBox 23"/>
          <p:cNvSpPr txBox="1"/>
          <p:nvPr/>
        </p:nvSpPr>
        <p:spPr>
          <a:xfrm>
            <a:off x="5394960" y="5623560"/>
            <a:ext cx="1097280" cy="365760"/>
          </a:xfrm>
          <a:prstGeom prst="rect">
            <a:avLst/>
          </a:prstGeom>
          <a:noFill/>
        </p:spPr>
        <p:txBody>
          <a:bodyPr wrap="square" lIns="0" rIns="0" tIns="0" bIns="0" anchor="t" rtlCol="0">
            <a:spAutoFit/>
          </a:bodyPr>
          <a:lstStyle/>
          <a:p>
            <a:pPr rtl="1" algn="l" marL="0" indent="0">
              <a:lnSpc>
                <a:spcPct val="108000"/>
              </a:lnSpc>
              <a:buNone/>
            </a:pPr>
            <a:r>
              <a:rPr sz="1350" b="0" i="0" lang="he-IL">
                <a:solidFill>
                  <a:srgbClr val="6296FF"/>
                </a:solidFill>
                <a:latin typeface="Arial"/>
                <a:cs typeface="Arial"/>
              </a:rPr>
              <a:t>8 דק'</a:t>
            </a:r>
          </a:p>
        </p:txBody>
      </p:sp>
      <p:sp>
        <p:nvSpPr>
          <p:cNvPr id="25" name="Rounded Rectangle 24"/>
          <p:cNvSpPr/>
          <p:nvPr/>
        </p:nvSpPr>
        <p:spPr>
          <a:xfrm>
            <a:off x="658368" y="1920240"/>
            <a:ext cx="2103120" cy="1874519"/>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58368" y="2194560"/>
            <a:ext cx="2103120" cy="822960"/>
          </a:xfrm>
          <a:prstGeom prst="rect">
            <a:avLst/>
          </a:prstGeom>
          <a:noFill/>
        </p:spPr>
        <p:txBody>
          <a:bodyPr wrap="square" lIns="0" rIns="0" tIns="0" bIns="0" anchor="t" rtlCol="0">
            <a:spAutoFit/>
          </a:bodyPr>
          <a:lstStyle/>
          <a:p>
            <a:pPr rtl="1" algn="ctr" marL="0" indent="0">
              <a:lnSpc>
                <a:spcPct val="108000"/>
              </a:lnSpc>
              <a:buNone/>
            </a:pPr>
            <a:r>
              <a:rPr sz="4400" b="1" i="0" lang="he-IL">
                <a:solidFill>
                  <a:srgbClr val="6296FF"/>
                </a:solidFill>
                <a:latin typeface="Arial"/>
                <a:cs typeface="Arial"/>
              </a:rPr>
              <a:t>120</a:t>
            </a:r>
          </a:p>
        </p:txBody>
      </p:sp>
      <p:sp>
        <p:nvSpPr>
          <p:cNvPr id="27" name="TextBox 26"/>
          <p:cNvSpPr txBox="1"/>
          <p:nvPr/>
        </p:nvSpPr>
        <p:spPr>
          <a:xfrm>
            <a:off x="795528" y="3063240"/>
            <a:ext cx="1828800" cy="548640"/>
          </a:xfrm>
          <a:prstGeom prst="rect">
            <a:avLst/>
          </a:prstGeom>
          <a:noFill/>
        </p:spPr>
        <p:txBody>
          <a:bodyPr wrap="square" lIns="0" rIns="0" tIns="0" bIns="0" anchor="t" rtlCol="0">
            <a:spAutoFit/>
          </a:bodyPr>
          <a:lstStyle/>
          <a:p>
            <a:pPr rtl="1" algn="ctr" marL="0" indent="0">
              <a:lnSpc>
                <a:spcPct val="108000"/>
              </a:lnSpc>
              <a:buNone/>
            </a:pPr>
            <a:r>
              <a:rPr sz="1350" b="0" i="0" lang="he-IL">
                <a:solidFill>
                  <a:srgbClr val="EBEDF0"/>
                </a:solidFill>
                <a:latin typeface="Arial"/>
                <a:cs typeface="Arial"/>
              </a:rPr>
              <a:t>דקות</a:t>
            </a:r>
          </a:p>
        </p:txBody>
      </p:sp>
      <p:sp>
        <p:nvSpPr>
          <p:cNvPr id="28" name="Rounded Rectangle 27"/>
          <p:cNvSpPr/>
          <p:nvPr/>
        </p:nvSpPr>
        <p:spPr>
          <a:xfrm>
            <a:off x="2990087" y="1920240"/>
            <a:ext cx="2103120" cy="1874519"/>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2990087" y="2194560"/>
            <a:ext cx="2103120" cy="822960"/>
          </a:xfrm>
          <a:prstGeom prst="rect">
            <a:avLst/>
          </a:prstGeom>
          <a:noFill/>
        </p:spPr>
        <p:txBody>
          <a:bodyPr wrap="square" lIns="0" rIns="0" tIns="0" bIns="0" anchor="t" rtlCol="0">
            <a:spAutoFit/>
          </a:bodyPr>
          <a:lstStyle/>
          <a:p>
            <a:pPr rtl="1" algn="ctr" marL="0" indent="0">
              <a:lnSpc>
                <a:spcPct val="108000"/>
              </a:lnSpc>
              <a:buNone/>
            </a:pPr>
            <a:r>
              <a:rPr sz="4400" b="1" i="0" lang="he-IL">
                <a:solidFill>
                  <a:srgbClr val="6296FF"/>
                </a:solidFill>
                <a:latin typeface="Arial"/>
                <a:cs typeface="Arial"/>
              </a:rPr>
              <a:t>10+</a:t>
            </a:r>
          </a:p>
        </p:txBody>
      </p:sp>
      <p:sp>
        <p:nvSpPr>
          <p:cNvPr id="30" name="TextBox 29"/>
          <p:cNvSpPr txBox="1"/>
          <p:nvPr/>
        </p:nvSpPr>
        <p:spPr>
          <a:xfrm>
            <a:off x="3127247" y="3063240"/>
            <a:ext cx="1828800" cy="548640"/>
          </a:xfrm>
          <a:prstGeom prst="rect">
            <a:avLst/>
          </a:prstGeom>
          <a:noFill/>
        </p:spPr>
        <p:txBody>
          <a:bodyPr wrap="square" lIns="0" rIns="0" tIns="0" bIns="0" anchor="t" rtlCol="0">
            <a:spAutoFit/>
          </a:bodyPr>
          <a:lstStyle/>
          <a:p>
            <a:pPr rtl="1" algn="ctr" marL="0" indent="0">
              <a:lnSpc>
                <a:spcPct val="108000"/>
              </a:lnSpc>
              <a:buNone/>
            </a:pPr>
            <a:r>
              <a:rPr sz="1350" b="0" i="0" lang="he-IL">
                <a:solidFill>
                  <a:srgbClr val="EBEDF0"/>
                </a:solidFill>
                <a:latin typeface="Arial"/>
                <a:cs typeface="Arial"/>
              </a:rPr>
              <a:t>כלים שנכיר</a:t>
            </a:r>
          </a:p>
        </p:txBody>
      </p:sp>
      <p:sp>
        <p:nvSpPr>
          <p:cNvPr id="31" name="Rounded Rectangle 30"/>
          <p:cNvSpPr/>
          <p:nvPr/>
        </p:nvSpPr>
        <p:spPr>
          <a:xfrm>
            <a:off x="658368" y="4069080"/>
            <a:ext cx="2103120" cy="1874519"/>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58368" y="4343400"/>
            <a:ext cx="2103120" cy="822960"/>
          </a:xfrm>
          <a:prstGeom prst="rect">
            <a:avLst/>
          </a:prstGeom>
          <a:noFill/>
        </p:spPr>
        <p:txBody>
          <a:bodyPr wrap="square" lIns="0" rIns="0" tIns="0" bIns="0" anchor="t" rtlCol="0">
            <a:spAutoFit/>
          </a:bodyPr>
          <a:lstStyle/>
          <a:p>
            <a:pPr rtl="1" algn="ctr" marL="0" indent="0">
              <a:lnSpc>
                <a:spcPct val="108000"/>
              </a:lnSpc>
              <a:buNone/>
            </a:pPr>
            <a:r>
              <a:rPr sz="4400" b="1" i="0" lang="he-IL">
                <a:solidFill>
                  <a:srgbClr val="6296FF"/>
                </a:solidFill>
                <a:latin typeface="Arial"/>
                <a:cs typeface="Arial"/>
              </a:rPr>
              <a:t>3</a:t>
            </a:r>
          </a:p>
        </p:txBody>
      </p:sp>
      <p:sp>
        <p:nvSpPr>
          <p:cNvPr id="33" name="TextBox 32"/>
          <p:cNvSpPr txBox="1"/>
          <p:nvPr/>
        </p:nvSpPr>
        <p:spPr>
          <a:xfrm>
            <a:off x="795528" y="5212080"/>
            <a:ext cx="1828800" cy="548640"/>
          </a:xfrm>
          <a:prstGeom prst="rect">
            <a:avLst/>
          </a:prstGeom>
          <a:noFill/>
        </p:spPr>
        <p:txBody>
          <a:bodyPr wrap="square" lIns="0" rIns="0" tIns="0" bIns="0" anchor="t" rtlCol="0">
            <a:spAutoFit/>
          </a:bodyPr>
          <a:lstStyle/>
          <a:p>
            <a:pPr rtl="1" algn="ctr" marL="0" indent="0">
              <a:lnSpc>
                <a:spcPct val="108000"/>
              </a:lnSpc>
              <a:buNone/>
            </a:pPr>
            <a:r>
              <a:rPr sz="1350" b="0" i="0" lang="he-IL">
                <a:solidFill>
                  <a:srgbClr val="EBEDF0"/>
                </a:solidFill>
                <a:latin typeface="Arial"/>
                <a:cs typeface="Arial"/>
              </a:rPr>
              <a:t>תרגילים מעשיים</a:t>
            </a:r>
          </a:p>
        </p:txBody>
      </p:sp>
      <p:sp>
        <p:nvSpPr>
          <p:cNvPr id="34" name="Rounded Rectangle 33"/>
          <p:cNvSpPr/>
          <p:nvPr/>
        </p:nvSpPr>
        <p:spPr>
          <a:xfrm>
            <a:off x="2990087" y="4069080"/>
            <a:ext cx="2103120" cy="1874519"/>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2990087" y="4343400"/>
            <a:ext cx="2103120" cy="822960"/>
          </a:xfrm>
          <a:prstGeom prst="rect">
            <a:avLst/>
          </a:prstGeom>
          <a:noFill/>
        </p:spPr>
        <p:txBody>
          <a:bodyPr wrap="square" lIns="0" rIns="0" tIns="0" bIns="0" anchor="t" rtlCol="0">
            <a:spAutoFit/>
          </a:bodyPr>
          <a:lstStyle/>
          <a:p>
            <a:pPr rtl="1" algn="ctr" marL="0" indent="0">
              <a:lnSpc>
                <a:spcPct val="108000"/>
              </a:lnSpc>
              <a:buNone/>
            </a:pPr>
            <a:r>
              <a:rPr sz="4400" b="1" i="0" lang="he-IL">
                <a:solidFill>
                  <a:srgbClr val="6296FF"/>
                </a:solidFill>
                <a:latin typeface="Arial"/>
                <a:cs typeface="Arial"/>
              </a:rPr>
              <a:t>0</a:t>
            </a:r>
          </a:p>
        </p:txBody>
      </p:sp>
      <p:sp>
        <p:nvSpPr>
          <p:cNvPr id="36" name="TextBox 35"/>
          <p:cNvSpPr txBox="1"/>
          <p:nvPr/>
        </p:nvSpPr>
        <p:spPr>
          <a:xfrm>
            <a:off x="3127247" y="5212080"/>
            <a:ext cx="1828800" cy="548640"/>
          </a:xfrm>
          <a:prstGeom prst="rect">
            <a:avLst/>
          </a:prstGeom>
          <a:noFill/>
        </p:spPr>
        <p:txBody>
          <a:bodyPr wrap="square" lIns="0" rIns="0" tIns="0" bIns="0" anchor="t" rtlCol="0">
            <a:spAutoFit/>
          </a:bodyPr>
          <a:lstStyle/>
          <a:p>
            <a:pPr rtl="1" algn="ctr" marL="0" indent="0">
              <a:lnSpc>
                <a:spcPct val="108000"/>
              </a:lnSpc>
              <a:buNone/>
            </a:pPr>
            <a:r>
              <a:rPr sz="1350" b="0" i="0" lang="he-IL">
                <a:solidFill>
                  <a:srgbClr val="EBEDF0"/>
                </a:solidFill>
                <a:latin typeface="Arial"/>
                <a:cs typeface="Arial"/>
              </a:rPr>
              <a:t>שקופיות של תיאוריה יבשה</a:t>
            </a:r>
          </a:p>
        </p:txBody>
      </p:sp>
      <p:sp>
        <p:nvSpPr>
          <p:cNvPr id="37" name="TextBox 36"/>
          <p:cNvSpPr txBox="1"/>
          <p:nvPr/>
        </p:nvSpPr>
        <p:spPr>
          <a:xfrm>
            <a:off x="6675120" y="6473952"/>
            <a:ext cx="4846320" cy="292608"/>
          </a:xfrm>
          <a:prstGeom prst="rect">
            <a:avLst/>
          </a:prstGeom>
          <a:noFill/>
        </p:spPr>
        <p:txBody>
          <a:bodyPr wrap="none" lIns="0" rIns="0" tIns="0" bIns="0">
            <a:spAutoFit/>
          </a:bodyPr>
          <a:lstStyle/>
          <a:p>
            <a:pPr algn="r" rtl="1"/>
            <a:r>
              <a:rPr sz="1000">
                <a:solidFill>
                  <a:srgbClr val="8A96AA"/>
                </a:solidFill>
                <a:latin typeface="Arial"/>
                <a:cs typeface="Arial"/>
              </a:rPr>
              <a:t>© נערך על ידי AI Finance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02920"/>
            <a:ext cx="10872216" cy="640080"/>
          </a:xfrm>
          <a:prstGeom prst="rect">
            <a:avLst/>
          </a:prstGeom>
          <a:noFill/>
        </p:spPr>
        <p:txBody>
          <a:bodyPr wrap="square" lIns="0" rIns="0" tIns="0" bIns="0" anchor="t" rtlCol="0">
            <a:spAutoFit/>
          </a:bodyPr>
          <a:lstStyle/>
          <a:p>
            <a:pPr rtl="1" algn="r" marL="0" indent="0">
              <a:lnSpc>
                <a:spcPct val="108000"/>
              </a:lnSpc>
              <a:buNone/>
            </a:pPr>
            <a:r>
              <a:rPr sz="3700" b="1" i="0" lang="he-IL">
                <a:solidFill>
                  <a:srgbClr val="F2F5FA"/>
                </a:solidFill>
                <a:latin typeface="Arial"/>
                <a:cs typeface="Arial"/>
              </a:rPr>
              <a:t>🎮 הצטרפו לשאלון החי</a:t>
            </a:r>
          </a:p>
        </p:txBody>
      </p:sp>
      <p:sp>
        <p:nvSpPr>
          <p:cNvPr id="3" name="TextBox 2"/>
          <p:cNvSpPr txBox="1"/>
          <p:nvPr/>
        </p:nvSpPr>
        <p:spPr>
          <a:xfrm>
            <a:off x="658368" y="1280160"/>
            <a:ext cx="10872216" cy="365760"/>
          </a:xfrm>
          <a:prstGeom prst="rect">
            <a:avLst/>
          </a:prstGeom>
          <a:noFill/>
        </p:spPr>
        <p:txBody>
          <a:bodyPr wrap="square" lIns="0" rIns="0" tIns="0" bIns="0" anchor="t" rtlCol="0">
            <a:spAutoFit/>
          </a:bodyPr>
          <a:lstStyle/>
          <a:p>
            <a:pPr rtl="1" algn="r" marL="0" indent="0">
              <a:lnSpc>
                <a:spcPct val="108000"/>
              </a:lnSpc>
              <a:buNone/>
            </a:pPr>
            <a:r>
              <a:rPr sz="1450" b="0" i="0" lang="he-IL">
                <a:solidFill>
                  <a:srgbClr val="A9B4C6"/>
                </a:solidFill>
                <a:latin typeface="Arial"/>
                <a:cs typeface="Arial"/>
              </a:rPr>
              <a:t>לאורך המפגש יקפצו שאלות. עונים מהר, צוברים נקודות, ובסוף מכריזים על המנצחים</a:t>
            </a:r>
          </a:p>
        </p:txBody>
      </p:sp>
      <p:sp>
        <p:nvSpPr>
          <p:cNvPr id="4" name="Rounded Rectangle 3"/>
          <p:cNvSpPr/>
          <p:nvPr/>
        </p:nvSpPr>
        <p:spPr>
          <a:xfrm>
            <a:off x="658368" y="1920240"/>
            <a:ext cx="5669280" cy="3429000"/>
          </a:xfrm>
          <a:prstGeom prst="roundRect">
            <a:avLst>
              <a:gd name="adj" fmla="val 3000"/>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41248" y="2148840"/>
            <a:ext cx="5303520" cy="365760"/>
          </a:xfrm>
          <a:prstGeom prst="rect">
            <a:avLst/>
          </a:prstGeom>
          <a:noFill/>
        </p:spPr>
        <p:txBody>
          <a:bodyPr wrap="square" lIns="0" rIns="0" tIns="0" bIns="0" anchor="t" rtlCol="0">
            <a:spAutoFit/>
          </a:bodyPr>
          <a:lstStyle/>
          <a:p>
            <a:pPr rtl="1" algn="ctr" marL="0" indent="0">
              <a:lnSpc>
                <a:spcPct val="108000"/>
              </a:lnSpc>
              <a:buNone/>
            </a:pPr>
            <a:r>
              <a:rPr sz="1500" b="1" i="0" lang="he-IL">
                <a:solidFill>
                  <a:srgbClr val="A9B4C6"/>
                </a:solidFill>
                <a:latin typeface="Arial"/>
                <a:cs typeface="Arial"/>
              </a:rPr>
              <a:t>הקישור (נשלח עכשיו בצ'אט):</a:t>
            </a:r>
          </a:p>
        </p:txBody>
      </p:sp>
      <p:sp>
        <p:nvSpPr>
          <p:cNvPr id="6" name="TextBox 5"/>
          <p:cNvSpPr txBox="1"/>
          <p:nvPr/>
        </p:nvSpPr>
        <p:spPr>
          <a:xfrm>
            <a:off x="841248" y="2651760"/>
            <a:ext cx="5303520" cy="640080"/>
          </a:xfrm>
          <a:prstGeom prst="rect">
            <a:avLst/>
          </a:prstGeom>
          <a:noFill/>
        </p:spPr>
        <p:txBody>
          <a:bodyPr wrap="square" lIns="0" rIns="0" tIns="0" bIns="0" anchor="t" rtlCol="0">
            <a:spAutoFit/>
          </a:bodyPr>
          <a:lstStyle/>
          <a:p>
            <a:pPr rtl="1" algn="ctr" marL="0" indent="0">
              <a:lnSpc>
                <a:spcPct val="108000"/>
              </a:lnSpc>
              <a:buNone/>
            </a:pPr>
            <a:r>
              <a:rPr sz="2400" b="1" i="0" lang="he-IL">
                <a:solidFill>
                  <a:srgbClr val="F2F5FA"/>
                </a:solidFill>
                <a:latin typeface="Arial"/>
                <a:cs typeface="Arial"/>
              </a:rPr>
              <a:t>https://ai-quiz-live.lovable.app</a:t>
            </a:r>
          </a:p>
        </p:txBody>
      </p:sp>
      <p:sp>
        <p:nvSpPr>
          <p:cNvPr id="7" name="Rounded Rectangle 6"/>
          <p:cNvSpPr/>
          <p:nvPr/>
        </p:nvSpPr>
        <p:spPr>
          <a:xfrm>
            <a:off x="1234440" y="3520440"/>
            <a:ext cx="2194560" cy="685800"/>
          </a:xfrm>
          <a:prstGeom prst="roundRect">
            <a:avLst>
              <a:gd name="adj" fmla="val 15000"/>
            </a:avLst>
          </a:prstGeom>
          <a:solidFill>
            <a:srgbClr val="48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234440" y="3520440"/>
            <a:ext cx="2194560" cy="685800"/>
          </a:xfrm>
          <a:prstGeom prst="rect">
            <a:avLst/>
          </a:prstGeom>
          <a:noFill/>
        </p:spPr>
        <p:txBody>
          <a:bodyPr wrap="square" lIns="0" rIns="0" tIns="0" bIns="0" anchor="ctr" rtlCol="0">
            <a:spAutoFit/>
          </a:bodyPr>
          <a:lstStyle/>
          <a:p>
            <a:pPr rtl="1" algn="ctr" marL="0" indent="0">
              <a:lnSpc>
                <a:spcPct val="108000"/>
              </a:lnSpc>
              <a:buNone/>
            </a:pPr>
            <a:r>
              <a:rPr sz="2000" b="1" i="0" lang="he-IL">
                <a:solidFill>
                  <a:srgbClr val="FFFFFF"/>
                </a:solidFill>
                <a:latin typeface="Arial"/>
                <a:cs typeface="Arial"/>
              </a:rPr>
              <a:t>▲</a:t>
            </a:r>
          </a:p>
        </p:txBody>
      </p:sp>
      <p:sp>
        <p:nvSpPr>
          <p:cNvPr id="9" name="Rounded Rectangle 8"/>
          <p:cNvSpPr/>
          <p:nvPr/>
        </p:nvSpPr>
        <p:spPr>
          <a:xfrm>
            <a:off x="3566160" y="3520440"/>
            <a:ext cx="2194560" cy="685800"/>
          </a:xfrm>
          <a:prstGeom prst="roundRect">
            <a:avLst>
              <a:gd name="adj" fmla="val 15000"/>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566160" y="3520440"/>
            <a:ext cx="2194560" cy="685800"/>
          </a:xfrm>
          <a:prstGeom prst="rect">
            <a:avLst/>
          </a:prstGeom>
          <a:noFill/>
        </p:spPr>
        <p:txBody>
          <a:bodyPr wrap="square" lIns="0" rIns="0" tIns="0" bIns="0" anchor="ctr" rtlCol="0">
            <a:spAutoFit/>
          </a:bodyPr>
          <a:lstStyle/>
          <a:p>
            <a:pPr rtl="1" algn="ctr" marL="0" indent="0">
              <a:lnSpc>
                <a:spcPct val="108000"/>
              </a:lnSpc>
              <a:buNone/>
            </a:pPr>
            <a:r>
              <a:rPr sz="2000" b="1" i="0" lang="he-IL">
                <a:solidFill>
                  <a:srgbClr val="FFFFFF"/>
                </a:solidFill>
                <a:latin typeface="Arial"/>
                <a:cs typeface="Arial"/>
              </a:rPr>
              <a:t>◆</a:t>
            </a:r>
          </a:p>
        </p:txBody>
      </p:sp>
      <p:sp>
        <p:nvSpPr>
          <p:cNvPr id="11" name="Rounded Rectangle 10"/>
          <p:cNvSpPr/>
          <p:nvPr/>
        </p:nvSpPr>
        <p:spPr>
          <a:xfrm>
            <a:off x="1234440" y="4343400"/>
            <a:ext cx="2194560" cy="685800"/>
          </a:xfrm>
          <a:prstGeom prst="roundRect">
            <a:avLst>
              <a:gd name="adj" fmla="val 15000"/>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234440" y="4343400"/>
            <a:ext cx="2194560" cy="685800"/>
          </a:xfrm>
          <a:prstGeom prst="rect">
            <a:avLst/>
          </a:prstGeom>
          <a:noFill/>
        </p:spPr>
        <p:txBody>
          <a:bodyPr wrap="square" lIns="0" rIns="0" tIns="0" bIns="0" anchor="ctr" rtlCol="0">
            <a:spAutoFit/>
          </a:bodyPr>
          <a:lstStyle/>
          <a:p>
            <a:pPr rtl="1" algn="ctr" marL="0" indent="0">
              <a:lnSpc>
                <a:spcPct val="108000"/>
              </a:lnSpc>
              <a:buNone/>
            </a:pPr>
            <a:r>
              <a:rPr sz="2000" b="1" i="0" lang="he-IL">
                <a:solidFill>
                  <a:srgbClr val="FFFFFF"/>
                </a:solidFill>
                <a:latin typeface="Arial"/>
                <a:cs typeface="Arial"/>
              </a:rPr>
              <a:t>●</a:t>
            </a:r>
          </a:p>
        </p:txBody>
      </p:sp>
      <p:sp>
        <p:nvSpPr>
          <p:cNvPr id="13" name="Rounded Rectangle 12"/>
          <p:cNvSpPr/>
          <p:nvPr/>
        </p:nvSpPr>
        <p:spPr>
          <a:xfrm>
            <a:off x="3566160" y="4343400"/>
            <a:ext cx="2194560" cy="685800"/>
          </a:xfrm>
          <a:prstGeom prst="roundRect">
            <a:avLst>
              <a:gd name="adj" fmla="val 15000"/>
            </a:avLst>
          </a:prstGeom>
          <a:solidFill>
            <a:srgbClr val="E55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66160" y="4343400"/>
            <a:ext cx="2194560" cy="685800"/>
          </a:xfrm>
          <a:prstGeom prst="rect">
            <a:avLst/>
          </a:prstGeom>
          <a:noFill/>
        </p:spPr>
        <p:txBody>
          <a:bodyPr wrap="square" lIns="0" rIns="0" tIns="0" bIns="0" anchor="ctr" rtlCol="0">
            <a:spAutoFit/>
          </a:bodyPr>
          <a:lstStyle/>
          <a:p>
            <a:pPr rtl="1" algn="ctr" marL="0" indent="0">
              <a:lnSpc>
                <a:spcPct val="108000"/>
              </a:lnSpc>
              <a:buNone/>
            </a:pPr>
            <a:r>
              <a:rPr sz="2000" b="1" i="0" lang="he-IL">
                <a:solidFill>
                  <a:srgbClr val="FFFFFF"/>
                </a:solidFill>
                <a:latin typeface="Arial"/>
                <a:cs typeface="Arial"/>
              </a:rPr>
              <a:t>■</a:t>
            </a:r>
          </a:p>
        </p:txBody>
      </p:sp>
      <p:sp>
        <p:nvSpPr>
          <p:cNvPr id="15" name="Rounded Rectangle 14"/>
          <p:cNvSpPr/>
          <p:nvPr/>
        </p:nvSpPr>
        <p:spPr>
          <a:xfrm>
            <a:off x="11027664" y="1965960"/>
            <a:ext cx="457200" cy="457200"/>
          </a:xfrm>
          <a:prstGeom prst="roundRect">
            <a:avLst>
              <a:gd name="adj" fmla="val 20000"/>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500" b="1" i="0" lang="he-IL">
                <a:solidFill>
                  <a:srgbClr val="F2F5FA"/>
                </a:solidFill>
                <a:latin typeface="Arial"/>
                <a:cs typeface="Arial"/>
              </a:rPr>
              <a:t>1</a:t>
            </a:r>
          </a:p>
        </p:txBody>
      </p:sp>
      <p:sp>
        <p:nvSpPr>
          <p:cNvPr id="16" name="TextBox 15"/>
          <p:cNvSpPr txBox="1"/>
          <p:nvPr/>
        </p:nvSpPr>
        <p:spPr>
          <a:xfrm>
            <a:off x="6766560" y="2002536"/>
            <a:ext cx="411480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פתחו את הקישור</a:t>
            </a:r>
          </a:p>
        </p:txBody>
      </p:sp>
      <p:sp>
        <p:nvSpPr>
          <p:cNvPr id="17" name="TextBox 16"/>
          <p:cNvSpPr txBox="1"/>
          <p:nvPr/>
        </p:nvSpPr>
        <p:spPr>
          <a:xfrm>
            <a:off x="6766560" y="2404872"/>
            <a:ext cx="4114800" cy="548640"/>
          </a:xfrm>
          <a:prstGeom prst="rect">
            <a:avLst/>
          </a:prstGeom>
          <a:noFill/>
        </p:spPr>
        <p:txBody>
          <a:bodyPr wrap="square" lIns="0" rIns="0" tIns="0" bIns="0" anchor="t" rtlCol="0">
            <a:spAutoFit/>
          </a:bodyPr>
          <a:lstStyle/>
          <a:p>
            <a:pPr rtl="1" algn="r" marL="0" indent="0">
              <a:lnSpc>
                <a:spcPct val="108000"/>
              </a:lnSpc>
              <a:buNone/>
            </a:pPr>
            <a:r>
              <a:rPr sz="1350" b="0" i="0" lang="he-IL">
                <a:solidFill>
                  <a:srgbClr val="A9B4C6"/>
                </a:solidFill>
                <a:latin typeface="Arial"/>
                <a:cs typeface="Arial"/>
              </a:rPr>
              <a:t>בטלפון, או בלשונית חדשה בדפדפן</a:t>
            </a:r>
          </a:p>
        </p:txBody>
      </p:sp>
      <p:sp>
        <p:nvSpPr>
          <p:cNvPr id="18" name="Rounded Rectangle 17"/>
          <p:cNvSpPr/>
          <p:nvPr/>
        </p:nvSpPr>
        <p:spPr>
          <a:xfrm>
            <a:off x="11027664" y="3081528"/>
            <a:ext cx="457200" cy="457200"/>
          </a:xfrm>
          <a:prstGeom prst="roundRect">
            <a:avLst>
              <a:gd name="adj" fmla="val 20000"/>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500" b="1" i="0" lang="he-IL">
                <a:solidFill>
                  <a:srgbClr val="F2F5FA"/>
                </a:solidFill>
                <a:latin typeface="Arial"/>
                <a:cs typeface="Arial"/>
              </a:rPr>
              <a:t>2</a:t>
            </a:r>
          </a:p>
        </p:txBody>
      </p:sp>
      <p:sp>
        <p:nvSpPr>
          <p:cNvPr id="19" name="TextBox 18"/>
          <p:cNvSpPr txBox="1"/>
          <p:nvPr/>
        </p:nvSpPr>
        <p:spPr>
          <a:xfrm>
            <a:off x="6766560" y="3118104"/>
            <a:ext cx="411480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בחרו כינוי</a:t>
            </a:r>
          </a:p>
        </p:txBody>
      </p:sp>
      <p:sp>
        <p:nvSpPr>
          <p:cNvPr id="20" name="TextBox 19"/>
          <p:cNvSpPr txBox="1"/>
          <p:nvPr/>
        </p:nvSpPr>
        <p:spPr>
          <a:xfrm>
            <a:off x="6766560" y="3520440"/>
            <a:ext cx="4114800" cy="548640"/>
          </a:xfrm>
          <a:prstGeom prst="rect">
            <a:avLst/>
          </a:prstGeom>
          <a:noFill/>
        </p:spPr>
        <p:txBody>
          <a:bodyPr wrap="square" lIns="0" rIns="0" tIns="0" bIns="0" anchor="t" rtlCol="0">
            <a:spAutoFit/>
          </a:bodyPr>
          <a:lstStyle/>
          <a:p>
            <a:pPr rtl="1" algn="r" marL="0" indent="0">
              <a:lnSpc>
                <a:spcPct val="108000"/>
              </a:lnSpc>
              <a:buNone/>
            </a:pPr>
            <a:r>
              <a:rPr sz="1350" b="0" i="0" lang="he-IL">
                <a:solidFill>
                  <a:srgbClr val="A9B4C6"/>
                </a:solidFill>
                <a:latin typeface="Arial"/>
                <a:cs typeface="Arial"/>
              </a:rPr>
              <a:t>שם אמיתי או שם מצחיק, אתם מחליטים</a:t>
            </a:r>
          </a:p>
        </p:txBody>
      </p:sp>
      <p:sp>
        <p:nvSpPr>
          <p:cNvPr id="21" name="Rounded Rectangle 20"/>
          <p:cNvSpPr/>
          <p:nvPr/>
        </p:nvSpPr>
        <p:spPr>
          <a:xfrm>
            <a:off x="11027664" y="4197096"/>
            <a:ext cx="457200" cy="457200"/>
          </a:xfrm>
          <a:prstGeom prst="roundRect">
            <a:avLst>
              <a:gd name="adj" fmla="val 20000"/>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500" b="1" i="0" lang="he-IL">
                <a:solidFill>
                  <a:srgbClr val="F2F5FA"/>
                </a:solidFill>
                <a:latin typeface="Arial"/>
                <a:cs typeface="Arial"/>
              </a:rPr>
              <a:t>3</a:t>
            </a:r>
          </a:p>
        </p:txBody>
      </p:sp>
      <p:sp>
        <p:nvSpPr>
          <p:cNvPr id="22" name="TextBox 21"/>
          <p:cNvSpPr txBox="1"/>
          <p:nvPr/>
        </p:nvSpPr>
        <p:spPr>
          <a:xfrm>
            <a:off x="6766560" y="4233672"/>
            <a:ext cx="411480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השאירו את הדף פתוח</a:t>
            </a:r>
          </a:p>
        </p:txBody>
      </p:sp>
      <p:sp>
        <p:nvSpPr>
          <p:cNvPr id="23" name="TextBox 22"/>
          <p:cNvSpPr txBox="1"/>
          <p:nvPr/>
        </p:nvSpPr>
        <p:spPr>
          <a:xfrm>
            <a:off x="6766560" y="4636008"/>
            <a:ext cx="4114800" cy="548640"/>
          </a:xfrm>
          <a:prstGeom prst="rect">
            <a:avLst/>
          </a:prstGeom>
          <a:noFill/>
        </p:spPr>
        <p:txBody>
          <a:bodyPr wrap="square" lIns="0" rIns="0" tIns="0" bIns="0" anchor="t" rtlCol="0">
            <a:spAutoFit/>
          </a:bodyPr>
          <a:lstStyle/>
          <a:p>
            <a:pPr rtl="1" algn="r" marL="0" indent="0">
              <a:lnSpc>
                <a:spcPct val="108000"/>
              </a:lnSpc>
              <a:buNone/>
            </a:pPr>
            <a:r>
              <a:rPr sz="1350" b="0" i="0" lang="he-IL">
                <a:solidFill>
                  <a:srgbClr val="A9B4C6"/>
                </a:solidFill>
                <a:latin typeface="Arial"/>
                <a:cs typeface="Arial"/>
              </a:rPr>
              <a:t>השאלות יופיעו אצלכם לבד, לאורך כל המפגש</a:t>
            </a:r>
          </a:p>
        </p:txBody>
      </p:sp>
      <p:sp>
        <p:nvSpPr>
          <p:cNvPr id="24" name="Rounded Rectangle 23"/>
          <p:cNvSpPr/>
          <p:nvPr/>
        </p:nvSpPr>
        <p:spPr>
          <a:xfrm>
            <a:off x="658368" y="5532120"/>
            <a:ext cx="10872216" cy="640080"/>
          </a:xfrm>
          <a:prstGeom prst="roundRect">
            <a:avLst>
              <a:gd name="adj" fmla="val 3000"/>
            </a:avLst>
          </a:prstGeom>
          <a:solidFill>
            <a:srgbClr val="183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86968" y="5532120"/>
            <a:ext cx="10415016" cy="640080"/>
          </a:xfrm>
          <a:prstGeom prst="rect">
            <a:avLst/>
          </a:prstGeom>
          <a:noFill/>
        </p:spPr>
        <p:txBody>
          <a:bodyPr wrap="square" lIns="0" rIns="0" tIns="0" bIns="0" anchor="ctr" rtlCol="0">
            <a:spAutoFit/>
          </a:bodyPr>
          <a:lstStyle/>
          <a:p>
            <a:pPr rtl="1" algn="r" marL="0" indent="0">
              <a:lnSpc>
                <a:spcPct val="108000"/>
              </a:lnSpc>
              <a:buNone/>
            </a:pPr>
            <a:r>
              <a:rPr sz="1450" b="0" i="0" lang="he-IL">
                <a:solidFill>
                  <a:srgbClr val="EBEDF0"/>
                </a:solidFill>
                <a:latin typeface="Arial"/>
                <a:cs typeface="Arial"/>
              </a:rPr>
              <a:t>🏆  מי שיצבור הכי הרבה נקודות עד סוף המפגש, מקבל כבוד והערכה (ותהילת עולם).</a:t>
            </a:r>
          </a:p>
        </p:txBody>
      </p:sp>
      <p:sp>
        <p:nvSpPr>
          <p:cNvPr id="26" name="TextBox 25"/>
          <p:cNvSpPr txBox="1"/>
          <p:nvPr/>
        </p:nvSpPr>
        <p:spPr>
          <a:xfrm>
            <a:off x="6675120" y="6473952"/>
            <a:ext cx="4846320" cy="292608"/>
          </a:xfrm>
          <a:prstGeom prst="rect">
            <a:avLst/>
          </a:prstGeom>
          <a:noFill/>
        </p:spPr>
        <p:txBody>
          <a:bodyPr wrap="none" lIns="0" rIns="0" tIns="0" bIns="0">
            <a:spAutoFit/>
          </a:bodyPr>
          <a:lstStyle/>
          <a:p>
            <a:pPr algn="r" rtl="1"/>
            <a:r>
              <a:rPr sz="1000">
                <a:solidFill>
                  <a:srgbClr val="8A96AA"/>
                </a:solidFill>
                <a:latin typeface="Arial"/>
                <a:cs typeface="Arial"/>
              </a:rPr>
              <a:t>© נערך על ידי AI Finance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02920"/>
            <a:ext cx="10872216" cy="640080"/>
          </a:xfrm>
          <a:prstGeom prst="rect">
            <a:avLst/>
          </a:prstGeom>
          <a:noFill/>
        </p:spPr>
        <p:txBody>
          <a:bodyPr wrap="square" lIns="0" rIns="0" tIns="0" bIns="0" anchor="t" rtlCol="0">
            <a:spAutoFit/>
          </a:bodyPr>
          <a:lstStyle/>
          <a:p>
            <a:pPr rtl="1" algn="r" marL="0" indent="0">
              <a:lnSpc>
                <a:spcPct val="108000"/>
              </a:lnSpc>
              <a:buNone/>
            </a:pPr>
            <a:r>
              <a:rPr sz="3700" b="1" i="0" lang="he-IL">
                <a:solidFill>
                  <a:srgbClr val="F2F5FA"/>
                </a:solidFill>
                <a:latin typeface="Arial"/>
                <a:cs typeface="Arial"/>
              </a:rPr>
              <a:t>חימום: אדם או מכונה?</a:t>
            </a:r>
          </a:p>
        </p:txBody>
      </p:sp>
      <p:sp>
        <p:nvSpPr>
          <p:cNvPr id="3" name="TextBox 2"/>
          <p:cNvSpPr txBox="1"/>
          <p:nvPr/>
        </p:nvSpPr>
        <p:spPr>
          <a:xfrm>
            <a:off x="658368" y="1280160"/>
            <a:ext cx="10872216" cy="365760"/>
          </a:xfrm>
          <a:prstGeom prst="rect">
            <a:avLst/>
          </a:prstGeom>
          <a:noFill/>
        </p:spPr>
        <p:txBody>
          <a:bodyPr wrap="square" lIns="0" rIns="0" tIns="0" bIns="0" anchor="t" rtlCol="0">
            <a:spAutoFit/>
          </a:bodyPr>
          <a:lstStyle/>
          <a:p>
            <a:pPr rtl="1" algn="r" marL="0" indent="0">
              <a:lnSpc>
                <a:spcPct val="108000"/>
              </a:lnSpc>
              <a:buNone/>
            </a:pPr>
            <a:r>
              <a:rPr sz="1450" b="0" i="0" lang="he-IL">
                <a:solidFill>
                  <a:srgbClr val="A9B4C6"/>
                </a:solidFill>
                <a:latin typeface="Arial"/>
                <a:cs typeface="Arial"/>
              </a:rPr>
              <a:t>שלושה טקסטים קצרים. הצביעו: מי מהם נכתב על ידי AI?</a:t>
            </a:r>
          </a:p>
        </p:txBody>
      </p:sp>
      <p:sp>
        <p:nvSpPr>
          <p:cNvPr id="4" name="Rounded Rectangle 3"/>
          <p:cNvSpPr/>
          <p:nvPr/>
        </p:nvSpPr>
        <p:spPr>
          <a:xfrm>
            <a:off x="8156448" y="1965960"/>
            <a:ext cx="3383280" cy="324612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835640" y="2167128"/>
            <a:ext cx="502920" cy="502920"/>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800" b="1" i="0" lang="he-IL">
                <a:solidFill>
                  <a:srgbClr val="F2F5FA"/>
                </a:solidFill>
                <a:latin typeface="Arial"/>
                <a:cs typeface="Arial"/>
              </a:rPr>
              <a:t>א</a:t>
            </a:r>
          </a:p>
        </p:txBody>
      </p:sp>
      <p:sp>
        <p:nvSpPr>
          <p:cNvPr id="6" name="TextBox 5"/>
          <p:cNvSpPr txBox="1"/>
          <p:nvPr/>
        </p:nvSpPr>
        <p:spPr>
          <a:xfrm>
            <a:off x="8357616" y="2258568"/>
            <a:ext cx="2331720" cy="365760"/>
          </a:xfrm>
          <a:prstGeom prst="rect">
            <a:avLst/>
          </a:prstGeom>
          <a:noFill/>
        </p:spPr>
        <p:txBody>
          <a:bodyPr wrap="square" lIns="0" rIns="0" tIns="0" bIns="0" anchor="t" rtlCol="0">
            <a:spAutoFit/>
          </a:bodyPr>
          <a:lstStyle/>
          <a:p>
            <a:pPr rtl="1" algn="r" marL="0" indent="0">
              <a:lnSpc>
                <a:spcPct val="108000"/>
              </a:lnSpc>
              <a:buNone/>
            </a:pPr>
            <a:r>
              <a:rPr sz="1600" b="1" i="0" lang="he-IL">
                <a:solidFill>
                  <a:srgbClr val="EBEDF0"/>
                </a:solidFill>
                <a:latin typeface="Arial"/>
                <a:cs typeface="Arial"/>
              </a:rPr>
              <a:t>שורת שירה</a:t>
            </a:r>
          </a:p>
        </p:txBody>
      </p:sp>
      <p:sp>
        <p:nvSpPr>
          <p:cNvPr id="7" name="TextBox 6"/>
          <p:cNvSpPr txBox="1"/>
          <p:nvPr/>
        </p:nvSpPr>
        <p:spPr>
          <a:xfrm>
            <a:off x="8385048" y="2926080"/>
            <a:ext cx="2926080" cy="2103120"/>
          </a:xfrm>
          <a:prstGeom prst="rect">
            <a:avLst/>
          </a:prstGeom>
          <a:noFill/>
        </p:spPr>
        <p:txBody>
          <a:bodyPr wrap="square" lIns="0" rIns="0" tIns="0" bIns="0" anchor="t" rtlCol="0">
            <a:spAutoFit/>
          </a:bodyPr>
          <a:lstStyle/>
          <a:p>
            <a:pPr rtl="1" algn="r" marL="0" indent="0">
              <a:lnSpc>
                <a:spcPct val="120000"/>
              </a:lnSpc>
              <a:buNone/>
            </a:pPr>
            <a:r>
              <a:rPr sz="1500" b="0" i="0" lang="he-IL">
                <a:solidFill>
                  <a:srgbClr val="EBEDF0"/>
                </a:solidFill>
                <a:latin typeface="Arial"/>
                <a:cs typeface="Arial"/>
              </a:rPr>
              <a:t>"הים לא שואל לאן הלכת. הוא רק מחכה שתחזור לחוף, ומוחק בשקט את העקבות."</a:t>
            </a:r>
          </a:p>
        </p:txBody>
      </p:sp>
      <p:sp>
        <p:nvSpPr>
          <p:cNvPr id="8" name="Rounded Rectangle 7"/>
          <p:cNvSpPr/>
          <p:nvPr/>
        </p:nvSpPr>
        <p:spPr>
          <a:xfrm>
            <a:off x="4407408" y="1965960"/>
            <a:ext cx="3383280" cy="324612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086599" y="2167128"/>
            <a:ext cx="502920" cy="502920"/>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800" b="1" i="0" lang="he-IL">
                <a:solidFill>
                  <a:srgbClr val="F2F5FA"/>
                </a:solidFill>
                <a:latin typeface="Arial"/>
                <a:cs typeface="Arial"/>
              </a:rPr>
              <a:t>ב</a:t>
            </a:r>
          </a:p>
        </p:txBody>
      </p:sp>
      <p:sp>
        <p:nvSpPr>
          <p:cNvPr id="10" name="TextBox 9"/>
          <p:cNvSpPr txBox="1"/>
          <p:nvPr/>
        </p:nvSpPr>
        <p:spPr>
          <a:xfrm>
            <a:off x="4608576" y="2258568"/>
            <a:ext cx="2331720" cy="365760"/>
          </a:xfrm>
          <a:prstGeom prst="rect">
            <a:avLst/>
          </a:prstGeom>
          <a:noFill/>
        </p:spPr>
        <p:txBody>
          <a:bodyPr wrap="square" lIns="0" rIns="0" tIns="0" bIns="0" anchor="t" rtlCol="0">
            <a:spAutoFit/>
          </a:bodyPr>
          <a:lstStyle/>
          <a:p>
            <a:pPr rtl="1" algn="r" marL="0" indent="0">
              <a:lnSpc>
                <a:spcPct val="108000"/>
              </a:lnSpc>
              <a:buNone/>
            </a:pPr>
            <a:r>
              <a:rPr sz="1600" b="1" i="0" lang="he-IL">
                <a:solidFill>
                  <a:srgbClr val="EBEDF0"/>
                </a:solidFill>
                <a:latin typeface="Arial"/>
                <a:cs typeface="Arial"/>
              </a:rPr>
              <a:t>מענה לשירות לקוחות</a:t>
            </a:r>
          </a:p>
        </p:txBody>
      </p:sp>
      <p:sp>
        <p:nvSpPr>
          <p:cNvPr id="11" name="TextBox 10"/>
          <p:cNvSpPr txBox="1"/>
          <p:nvPr/>
        </p:nvSpPr>
        <p:spPr>
          <a:xfrm>
            <a:off x="4636008" y="2926080"/>
            <a:ext cx="2926080" cy="2103120"/>
          </a:xfrm>
          <a:prstGeom prst="rect">
            <a:avLst/>
          </a:prstGeom>
          <a:noFill/>
        </p:spPr>
        <p:txBody>
          <a:bodyPr wrap="square" lIns="0" rIns="0" tIns="0" bIns="0" anchor="t" rtlCol="0">
            <a:spAutoFit/>
          </a:bodyPr>
          <a:lstStyle/>
          <a:p>
            <a:pPr rtl="1" algn="r" marL="0" indent="0">
              <a:lnSpc>
                <a:spcPct val="120000"/>
              </a:lnSpc>
              <a:buNone/>
            </a:pPr>
            <a:r>
              <a:rPr sz="1500" b="0" i="0" lang="he-IL">
                <a:solidFill>
                  <a:srgbClr val="EBEDF0"/>
                </a:solidFill>
                <a:latin typeface="Arial"/>
                <a:cs typeface="Arial"/>
              </a:rPr>
              <a:t>"שלום דנה, מצטערים על העיכוב במשלוח. בדקנו, וההזמנה תגיע מחר עד 14:00. צירפנו לך קוד הנחה של 10% להזמנה הבאה."</a:t>
            </a:r>
          </a:p>
        </p:txBody>
      </p:sp>
      <p:sp>
        <p:nvSpPr>
          <p:cNvPr id="12" name="Rounded Rectangle 11"/>
          <p:cNvSpPr/>
          <p:nvPr/>
        </p:nvSpPr>
        <p:spPr>
          <a:xfrm>
            <a:off x="658368" y="1965960"/>
            <a:ext cx="3383280" cy="324612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3337560" y="2167128"/>
            <a:ext cx="502920" cy="502920"/>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800" b="1" i="0" lang="he-IL">
                <a:solidFill>
                  <a:srgbClr val="F2F5FA"/>
                </a:solidFill>
                <a:latin typeface="Arial"/>
                <a:cs typeface="Arial"/>
              </a:rPr>
              <a:t>ג</a:t>
            </a:r>
          </a:p>
        </p:txBody>
      </p:sp>
      <p:sp>
        <p:nvSpPr>
          <p:cNvPr id="14" name="TextBox 13"/>
          <p:cNvSpPr txBox="1"/>
          <p:nvPr/>
        </p:nvSpPr>
        <p:spPr>
          <a:xfrm>
            <a:off x="859536" y="2258568"/>
            <a:ext cx="2331720" cy="365760"/>
          </a:xfrm>
          <a:prstGeom prst="rect">
            <a:avLst/>
          </a:prstGeom>
          <a:noFill/>
        </p:spPr>
        <p:txBody>
          <a:bodyPr wrap="square" lIns="0" rIns="0" tIns="0" bIns="0" anchor="t" rtlCol="0">
            <a:spAutoFit/>
          </a:bodyPr>
          <a:lstStyle/>
          <a:p>
            <a:pPr rtl="1" algn="r" marL="0" indent="0">
              <a:lnSpc>
                <a:spcPct val="108000"/>
              </a:lnSpc>
              <a:buNone/>
            </a:pPr>
            <a:r>
              <a:rPr sz="1600" b="1" i="0" lang="he-IL">
                <a:solidFill>
                  <a:srgbClr val="EBEDF0"/>
                </a:solidFill>
                <a:latin typeface="Arial"/>
                <a:cs typeface="Arial"/>
              </a:rPr>
              <a:t>פוסט בלינקדאין</a:t>
            </a:r>
          </a:p>
        </p:txBody>
      </p:sp>
      <p:sp>
        <p:nvSpPr>
          <p:cNvPr id="15" name="TextBox 14"/>
          <p:cNvSpPr txBox="1"/>
          <p:nvPr/>
        </p:nvSpPr>
        <p:spPr>
          <a:xfrm>
            <a:off x="886968" y="2926080"/>
            <a:ext cx="2926080" cy="2103120"/>
          </a:xfrm>
          <a:prstGeom prst="rect">
            <a:avLst/>
          </a:prstGeom>
          <a:noFill/>
        </p:spPr>
        <p:txBody>
          <a:bodyPr wrap="square" lIns="0" rIns="0" tIns="0" bIns="0" anchor="t" rtlCol="0">
            <a:spAutoFit/>
          </a:bodyPr>
          <a:lstStyle/>
          <a:p>
            <a:pPr rtl="1" algn="r" marL="0" indent="0">
              <a:lnSpc>
                <a:spcPct val="120000"/>
              </a:lnSpc>
              <a:buNone/>
            </a:pPr>
            <a:r>
              <a:rPr sz="1500" b="0" i="0" lang="he-IL">
                <a:solidFill>
                  <a:srgbClr val="EBEDF0"/>
                </a:solidFill>
                <a:latin typeface="Arial"/>
                <a:cs typeface="Arial"/>
              </a:rPr>
              <a:t>"אחרי 12 שנה בתחום, למדתי שהשאלה החשובה בראיון היא לא 'למה אתה מתאים', אלא 'מה תלמד כאן'."</a:t>
            </a:r>
          </a:p>
        </p:txBody>
      </p:sp>
      <p:sp>
        <p:nvSpPr>
          <p:cNvPr id="16" name="Rounded Rectangle 15"/>
          <p:cNvSpPr/>
          <p:nvPr/>
        </p:nvSpPr>
        <p:spPr>
          <a:xfrm>
            <a:off x="658368" y="5532120"/>
            <a:ext cx="10872216" cy="640080"/>
          </a:xfrm>
          <a:prstGeom prst="roundRect">
            <a:avLst>
              <a:gd name="adj" fmla="val 3000"/>
            </a:avLst>
          </a:prstGeom>
          <a:solidFill>
            <a:srgbClr val="022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86968" y="5532120"/>
            <a:ext cx="10415016" cy="640080"/>
          </a:xfrm>
          <a:prstGeom prst="rect">
            <a:avLst/>
          </a:prstGeom>
          <a:noFill/>
        </p:spPr>
        <p:txBody>
          <a:bodyPr wrap="square" lIns="0" rIns="0" tIns="0" bIns="0" anchor="ctr" rtlCol="0">
            <a:spAutoFit/>
          </a:bodyPr>
          <a:lstStyle/>
          <a:p>
            <a:pPr rtl="1" algn="r" marL="0" indent="0">
              <a:lnSpc>
                <a:spcPct val="108000"/>
              </a:lnSpc>
              <a:buNone/>
            </a:pPr>
            <a:r>
              <a:rPr sz="1450" b="0" i="0" lang="he-IL">
                <a:solidFill>
                  <a:srgbClr val="EBEDF0"/>
                </a:solidFill>
                <a:latin typeface="Arial"/>
                <a:cs typeface="Arial"/>
              </a:rPr>
              <a:t>🎮  הצביעו בשאלון החי, שאלה 1: כמה מהטקסטים נכתבו על ידי AI?</a:t>
            </a:r>
          </a:p>
        </p:txBody>
      </p:sp>
      <p:sp>
        <p:nvSpPr>
          <p:cNvPr id="18" name="TextBox 17"/>
          <p:cNvSpPr txBox="1"/>
          <p:nvPr/>
        </p:nvSpPr>
        <p:spPr>
          <a:xfrm>
            <a:off x="6675120" y="6473952"/>
            <a:ext cx="4846320" cy="292608"/>
          </a:xfrm>
          <a:prstGeom prst="rect">
            <a:avLst/>
          </a:prstGeom>
          <a:noFill/>
        </p:spPr>
        <p:txBody>
          <a:bodyPr wrap="none" lIns="0" rIns="0" tIns="0" bIns="0">
            <a:spAutoFit/>
          </a:bodyPr>
          <a:lstStyle/>
          <a:p>
            <a:pPr algn="r" rtl="1"/>
            <a:r>
              <a:rPr sz="1000">
                <a:solidFill>
                  <a:srgbClr val="8A96AA"/>
                </a:solidFill>
                <a:latin typeface="Arial"/>
                <a:cs typeface="Arial"/>
              </a:rPr>
              <a:t>© נערך על ידי AI Finance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02920"/>
            <a:ext cx="10872216" cy="640080"/>
          </a:xfrm>
          <a:prstGeom prst="rect">
            <a:avLst/>
          </a:prstGeom>
          <a:noFill/>
        </p:spPr>
        <p:txBody>
          <a:bodyPr wrap="square" lIns="0" rIns="0" tIns="0" bIns="0" anchor="t" rtlCol="0">
            <a:spAutoFit/>
          </a:bodyPr>
          <a:lstStyle/>
          <a:p>
            <a:pPr rtl="1" algn="r" marL="0" indent="0">
              <a:lnSpc>
                <a:spcPct val="108000"/>
              </a:lnSpc>
              <a:buNone/>
            </a:pPr>
            <a:r>
              <a:rPr sz="3700" b="1" i="0" lang="he-IL">
                <a:solidFill>
                  <a:srgbClr val="F2F5FA"/>
                </a:solidFill>
                <a:latin typeface="Arial"/>
                <a:cs typeface="Arial"/>
              </a:rPr>
              <a:t>AI כבר בחיים שלכם, גם אם לא שמתם לב</a:t>
            </a:r>
          </a:p>
        </p:txBody>
      </p:sp>
      <p:sp>
        <p:nvSpPr>
          <p:cNvPr id="3" name="TextBox 2"/>
          <p:cNvSpPr txBox="1"/>
          <p:nvPr/>
        </p:nvSpPr>
        <p:spPr>
          <a:xfrm>
            <a:off x="658368" y="1280160"/>
            <a:ext cx="10872216" cy="365760"/>
          </a:xfrm>
          <a:prstGeom prst="rect">
            <a:avLst/>
          </a:prstGeom>
          <a:noFill/>
        </p:spPr>
        <p:txBody>
          <a:bodyPr wrap="square" lIns="0" rIns="0" tIns="0" bIns="0" anchor="t" rtlCol="0">
            <a:spAutoFit/>
          </a:bodyPr>
          <a:lstStyle/>
          <a:p>
            <a:pPr rtl="1" algn="r" marL="0" indent="0">
              <a:lnSpc>
                <a:spcPct val="108000"/>
              </a:lnSpc>
              <a:buNone/>
            </a:pPr>
            <a:r>
              <a:rPr sz="1450" b="0" i="0" lang="he-IL">
                <a:solidFill>
                  <a:srgbClr val="A9B4C6"/>
                </a:solidFill>
                <a:latin typeface="Arial"/>
                <a:cs typeface="Arial"/>
              </a:rPr>
              <a:t>לפני שהגיע צ'אט ג'יפיטי, השתמשתם ב-AI עשרות פעמים ביום</a:t>
            </a:r>
          </a:p>
        </p:txBody>
      </p:sp>
      <p:sp>
        <p:nvSpPr>
          <p:cNvPr id="4" name="Rounded Rectangle 3"/>
          <p:cNvSpPr/>
          <p:nvPr/>
        </p:nvSpPr>
        <p:spPr>
          <a:xfrm>
            <a:off x="8092440" y="1965960"/>
            <a:ext cx="3447288" cy="146304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789920" y="2167128"/>
            <a:ext cx="566928" cy="566928"/>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800" b="1" i="0" lang="he-IL">
                <a:solidFill>
                  <a:srgbClr val="F2F5FA"/>
                </a:solidFill>
                <a:latin typeface="Arial"/>
                <a:cs typeface="Arial"/>
              </a:rPr>
              <a:t>🚗</a:t>
            </a:r>
          </a:p>
        </p:txBody>
      </p:sp>
      <p:sp>
        <p:nvSpPr>
          <p:cNvPr id="6" name="TextBox 5"/>
          <p:cNvSpPr txBox="1"/>
          <p:nvPr/>
        </p:nvSpPr>
        <p:spPr>
          <a:xfrm>
            <a:off x="8275319" y="2240279"/>
            <a:ext cx="233172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וויז</a:t>
            </a:r>
          </a:p>
        </p:txBody>
      </p:sp>
      <p:sp>
        <p:nvSpPr>
          <p:cNvPr id="7" name="TextBox 6"/>
          <p:cNvSpPr txBox="1"/>
          <p:nvPr/>
        </p:nvSpPr>
        <p:spPr>
          <a:xfrm>
            <a:off x="8275319" y="2715768"/>
            <a:ext cx="2377440" cy="640080"/>
          </a:xfrm>
          <a:prstGeom prst="rect">
            <a:avLst/>
          </a:prstGeom>
          <a:noFill/>
        </p:spPr>
        <p:txBody>
          <a:bodyPr wrap="square" lIns="0" rIns="0" tIns="0" bIns="0" anchor="t" rtlCol="0">
            <a:spAutoFit/>
          </a:bodyPr>
          <a:lstStyle/>
          <a:p>
            <a:pPr rtl="1" algn="r" marL="0" indent="0">
              <a:lnSpc>
                <a:spcPct val="108000"/>
              </a:lnSpc>
              <a:buNone/>
            </a:pPr>
            <a:r>
              <a:rPr sz="1350" b="0" i="0" lang="he-IL">
                <a:solidFill>
                  <a:srgbClr val="EBEDF0"/>
                </a:solidFill>
                <a:latin typeface="Arial"/>
                <a:cs typeface="Arial"/>
              </a:rPr>
              <a:t>מחשב מסלול לפי תנועה בזמן אמת ומנבא מתי תגיעו</a:t>
            </a:r>
          </a:p>
        </p:txBody>
      </p:sp>
      <p:sp>
        <p:nvSpPr>
          <p:cNvPr id="8" name="Rounded Rectangle 7"/>
          <p:cNvSpPr/>
          <p:nvPr/>
        </p:nvSpPr>
        <p:spPr>
          <a:xfrm>
            <a:off x="4370831" y="1965960"/>
            <a:ext cx="3447288" cy="146304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068312" y="2167128"/>
            <a:ext cx="566928" cy="566928"/>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800" b="1" i="0" lang="he-IL">
                <a:solidFill>
                  <a:srgbClr val="F2F5FA"/>
                </a:solidFill>
                <a:latin typeface="Arial"/>
                <a:cs typeface="Arial"/>
              </a:rPr>
              <a:t>🎬</a:t>
            </a:r>
          </a:p>
        </p:txBody>
      </p:sp>
      <p:sp>
        <p:nvSpPr>
          <p:cNvPr id="10" name="TextBox 9"/>
          <p:cNvSpPr txBox="1"/>
          <p:nvPr/>
        </p:nvSpPr>
        <p:spPr>
          <a:xfrm>
            <a:off x="4553712" y="2240279"/>
            <a:ext cx="233172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נטפליקס וספוטיפיי</a:t>
            </a:r>
          </a:p>
        </p:txBody>
      </p:sp>
      <p:sp>
        <p:nvSpPr>
          <p:cNvPr id="11" name="TextBox 10"/>
          <p:cNvSpPr txBox="1"/>
          <p:nvPr/>
        </p:nvSpPr>
        <p:spPr>
          <a:xfrm>
            <a:off x="4553712" y="2715768"/>
            <a:ext cx="2377440" cy="640080"/>
          </a:xfrm>
          <a:prstGeom prst="rect">
            <a:avLst/>
          </a:prstGeom>
          <a:noFill/>
        </p:spPr>
        <p:txBody>
          <a:bodyPr wrap="square" lIns="0" rIns="0" tIns="0" bIns="0" anchor="t" rtlCol="0">
            <a:spAutoFit/>
          </a:bodyPr>
          <a:lstStyle/>
          <a:p>
            <a:pPr rtl="1" algn="r" marL="0" indent="0">
              <a:lnSpc>
                <a:spcPct val="108000"/>
              </a:lnSpc>
              <a:buNone/>
            </a:pPr>
            <a:r>
              <a:rPr sz="1350" b="0" i="0" lang="he-IL">
                <a:solidFill>
                  <a:srgbClr val="EBEDF0"/>
                </a:solidFill>
                <a:latin typeface="Arial"/>
                <a:cs typeface="Arial"/>
              </a:rPr>
              <a:t>ממליצים מה לראות ולשמוע לפי ההרגלים שלכם</a:t>
            </a:r>
          </a:p>
        </p:txBody>
      </p:sp>
      <p:sp>
        <p:nvSpPr>
          <p:cNvPr id="12" name="Rounded Rectangle 11"/>
          <p:cNvSpPr/>
          <p:nvPr/>
        </p:nvSpPr>
        <p:spPr>
          <a:xfrm>
            <a:off x="649223" y="1965960"/>
            <a:ext cx="3447288" cy="146304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3346703" y="2167128"/>
            <a:ext cx="566928" cy="566928"/>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800" b="1" i="0" lang="he-IL">
                <a:solidFill>
                  <a:srgbClr val="F2F5FA"/>
                </a:solidFill>
                <a:latin typeface="Arial"/>
                <a:cs typeface="Arial"/>
              </a:rPr>
              <a:t>📧</a:t>
            </a:r>
          </a:p>
        </p:txBody>
      </p:sp>
      <p:sp>
        <p:nvSpPr>
          <p:cNvPr id="14" name="TextBox 13"/>
          <p:cNvSpPr txBox="1"/>
          <p:nvPr/>
        </p:nvSpPr>
        <p:spPr>
          <a:xfrm>
            <a:off x="832103" y="2240279"/>
            <a:ext cx="233172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סינון ספאם</a:t>
            </a:r>
          </a:p>
        </p:txBody>
      </p:sp>
      <p:sp>
        <p:nvSpPr>
          <p:cNvPr id="15" name="TextBox 14"/>
          <p:cNvSpPr txBox="1"/>
          <p:nvPr/>
        </p:nvSpPr>
        <p:spPr>
          <a:xfrm>
            <a:off x="832103" y="2715768"/>
            <a:ext cx="2377440" cy="640080"/>
          </a:xfrm>
          <a:prstGeom prst="rect">
            <a:avLst/>
          </a:prstGeom>
          <a:noFill/>
        </p:spPr>
        <p:txBody>
          <a:bodyPr wrap="square" lIns="0" rIns="0" tIns="0" bIns="0" anchor="t" rtlCol="0">
            <a:spAutoFit/>
          </a:bodyPr>
          <a:lstStyle/>
          <a:p>
            <a:pPr rtl="1" algn="r" marL="0" indent="0">
              <a:lnSpc>
                <a:spcPct val="108000"/>
              </a:lnSpc>
              <a:buNone/>
            </a:pPr>
            <a:r>
              <a:rPr sz="1350" b="0" i="0" lang="he-IL">
                <a:solidFill>
                  <a:srgbClr val="EBEDF0"/>
                </a:solidFill>
                <a:latin typeface="Arial"/>
                <a:cs typeface="Arial"/>
              </a:rPr>
              <a:t>ג'ימייל מזהה ומעיף מיליוני הודעות זבל ביום</a:t>
            </a:r>
          </a:p>
        </p:txBody>
      </p:sp>
      <p:sp>
        <p:nvSpPr>
          <p:cNvPr id="16" name="Rounded Rectangle 15"/>
          <p:cNvSpPr/>
          <p:nvPr/>
        </p:nvSpPr>
        <p:spPr>
          <a:xfrm>
            <a:off x="8092440" y="3657600"/>
            <a:ext cx="3447288" cy="146304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0789920" y="3858768"/>
            <a:ext cx="566928" cy="566928"/>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800" b="1" i="0" lang="he-IL">
                <a:solidFill>
                  <a:srgbClr val="F2F5FA"/>
                </a:solidFill>
                <a:latin typeface="Arial"/>
                <a:cs typeface="Arial"/>
              </a:rPr>
              <a:t>⌨️</a:t>
            </a:r>
          </a:p>
        </p:txBody>
      </p:sp>
      <p:sp>
        <p:nvSpPr>
          <p:cNvPr id="18" name="TextBox 17"/>
          <p:cNvSpPr txBox="1"/>
          <p:nvPr/>
        </p:nvSpPr>
        <p:spPr>
          <a:xfrm>
            <a:off x="8275319" y="3931920"/>
            <a:ext cx="233172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השלמה אוטומטית</a:t>
            </a:r>
          </a:p>
        </p:txBody>
      </p:sp>
      <p:sp>
        <p:nvSpPr>
          <p:cNvPr id="19" name="TextBox 18"/>
          <p:cNvSpPr txBox="1"/>
          <p:nvPr/>
        </p:nvSpPr>
        <p:spPr>
          <a:xfrm>
            <a:off x="8275319" y="4407408"/>
            <a:ext cx="2377440" cy="640080"/>
          </a:xfrm>
          <a:prstGeom prst="rect">
            <a:avLst/>
          </a:prstGeom>
          <a:noFill/>
        </p:spPr>
        <p:txBody>
          <a:bodyPr wrap="square" lIns="0" rIns="0" tIns="0" bIns="0" anchor="t" rtlCol="0">
            <a:spAutoFit/>
          </a:bodyPr>
          <a:lstStyle/>
          <a:p>
            <a:pPr rtl="1" algn="r" marL="0" indent="0">
              <a:lnSpc>
                <a:spcPct val="108000"/>
              </a:lnSpc>
              <a:buNone/>
            </a:pPr>
            <a:r>
              <a:rPr sz="1350" b="0" i="0" lang="he-IL">
                <a:solidFill>
                  <a:srgbClr val="EBEDF0"/>
                </a:solidFill>
                <a:latin typeface="Arial"/>
                <a:cs typeface="Arial"/>
              </a:rPr>
              <a:t>המקלדת בטלפון מנחשת את המילה הבאה שלכם</a:t>
            </a:r>
          </a:p>
        </p:txBody>
      </p:sp>
      <p:sp>
        <p:nvSpPr>
          <p:cNvPr id="20" name="Rounded Rectangle 19"/>
          <p:cNvSpPr/>
          <p:nvPr/>
        </p:nvSpPr>
        <p:spPr>
          <a:xfrm>
            <a:off x="4370831" y="3657600"/>
            <a:ext cx="3447288" cy="146304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7068312" y="3858768"/>
            <a:ext cx="566928" cy="566928"/>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800" b="1" i="0" lang="he-IL">
                <a:solidFill>
                  <a:srgbClr val="F2F5FA"/>
                </a:solidFill>
                <a:latin typeface="Arial"/>
                <a:cs typeface="Arial"/>
              </a:rPr>
              <a:t>📱</a:t>
            </a:r>
          </a:p>
        </p:txBody>
      </p:sp>
      <p:sp>
        <p:nvSpPr>
          <p:cNvPr id="22" name="TextBox 21"/>
          <p:cNvSpPr txBox="1"/>
          <p:nvPr/>
        </p:nvSpPr>
        <p:spPr>
          <a:xfrm>
            <a:off x="4553712" y="3931920"/>
            <a:ext cx="233172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זיהוי פנים</a:t>
            </a:r>
          </a:p>
        </p:txBody>
      </p:sp>
      <p:sp>
        <p:nvSpPr>
          <p:cNvPr id="23" name="TextBox 22"/>
          <p:cNvSpPr txBox="1"/>
          <p:nvPr/>
        </p:nvSpPr>
        <p:spPr>
          <a:xfrm>
            <a:off x="4553712" y="4407408"/>
            <a:ext cx="2377440" cy="640080"/>
          </a:xfrm>
          <a:prstGeom prst="rect">
            <a:avLst/>
          </a:prstGeom>
          <a:noFill/>
        </p:spPr>
        <p:txBody>
          <a:bodyPr wrap="square" lIns="0" rIns="0" tIns="0" bIns="0" anchor="t" rtlCol="0">
            <a:spAutoFit/>
          </a:bodyPr>
          <a:lstStyle/>
          <a:p>
            <a:pPr rtl="1" algn="r" marL="0" indent="0">
              <a:lnSpc>
                <a:spcPct val="108000"/>
              </a:lnSpc>
              <a:buNone/>
            </a:pPr>
            <a:r>
              <a:rPr sz="1350" b="0" i="0" lang="he-IL">
                <a:solidFill>
                  <a:srgbClr val="EBEDF0"/>
                </a:solidFill>
                <a:latin typeface="Arial"/>
                <a:cs typeface="Arial"/>
              </a:rPr>
              <a:t>הטלפון נפתח רק כשהוא מזהה אתכם</a:t>
            </a:r>
          </a:p>
        </p:txBody>
      </p:sp>
      <p:sp>
        <p:nvSpPr>
          <p:cNvPr id="24" name="Rounded Rectangle 23"/>
          <p:cNvSpPr/>
          <p:nvPr/>
        </p:nvSpPr>
        <p:spPr>
          <a:xfrm>
            <a:off x="649223" y="3657600"/>
            <a:ext cx="3447288" cy="146304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3346703" y="3858768"/>
            <a:ext cx="566928" cy="566928"/>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800" b="1" i="0" lang="he-IL">
                <a:solidFill>
                  <a:srgbClr val="F2F5FA"/>
                </a:solidFill>
                <a:latin typeface="Arial"/>
                <a:cs typeface="Arial"/>
              </a:rPr>
              <a:t>🌍</a:t>
            </a:r>
          </a:p>
        </p:txBody>
      </p:sp>
      <p:sp>
        <p:nvSpPr>
          <p:cNvPr id="26" name="TextBox 25"/>
          <p:cNvSpPr txBox="1"/>
          <p:nvPr/>
        </p:nvSpPr>
        <p:spPr>
          <a:xfrm>
            <a:off x="832103" y="3931920"/>
            <a:ext cx="233172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תרגום במצלמה</a:t>
            </a:r>
          </a:p>
        </p:txBody>
      </p:sp>
      <p:sp>
        <p:nvSpPr>
          <p:cNvPr id="27" name="TextBox 26"/>
          <p:cNvSpPr txBox="1"/>
          <p:nvPr/>
        </p:nvSpPr>
        <p:spPr>
          <a:xfrm>
            <a:off x="832103" y="4407408"/>
            <a:ext cx="2377440" cy="640080"/>
          </a:xfrm>
          <a:prstGeom prst="rect">
            <a:avLst/>
          </a:prstGeom>
          <a:noFill/>
        </p:spPr>
        <p:txBody>
          <a:bodyPr wrap="square" lIns="0" rIns="0" tIns="0" bIns="0" anchor="t" rtlCol="0">
            <a:spAutoFit/>
          </a:bodyPr>
          <a:lstStyle/>
          <a:p>
            <a:pPr rtl="1" algn="r" marL="0" indent="0">
              <a:lnSpc>
                <a:spcPct val="108000"/>
              </a:lnSpc>
              <a:buNone/>
            </a:pPr>
            <a:r>
              <a:rPr sz="1350" b="0" i="0" lang="he-IL">
                <a:solidFill>
                  <a:srgbClr val="EBEDF0"/>
                </a:solidFill>
                <a:latin typeface="Arial"/>
                <a:cs typeface="Arial"/>
              </a:rPr>
              <a:t>מכוונים את המצלמה לתפריט ביפנית וקוראים בעברית</a:t>
            </a:r>
          </a:p>
        </p:txBody>
      </p:sp>
      <p:sp>
        <p:nvSpPr>
          <p:cNvPr id="28" name="Rounded Rectangle 27"/>
          <p:cNvSpPr/>
          <p:nvPr/>
        </p:nvSpPr>
        <p:spPr>
          <a:xfrm>
            <a:off x="658368" y="5532120"/>
            <a:ext cx="10872216" cy="640080"/>
          </a:xfrm>
          <a:prstGeom prst="roundRect">
            <a:avLst>
              <a:gd name="adj" fmla="val 3000"/>
            </a:avLst>
          </a:prstGeom>
          <a:solidFill>
            <a:srgbClr val="022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86968" y="5532120"/>
            <a:ext cx="10415016" cy="640080"/>
          </a:xfrm>
          <a:prstGeom prst="rect">
            <a:avLst/>
          </a:prstGeom>
          <a:noFill/>
        </p:spPr>
        <p:txBody>
          <a:bodyPr wrap="square" lIns="0" rIns="0" tIns="0" bIns="0" anchor="ctr" rtlCol="0">
            <a:spAutoFit/>
          </a:bodyPr>
          <a:lstStyle/>
          <a:p>
            <a:pPr rtl="1" algn="r" marL="0" indent="0">
              <a:lnSpc>
                <a:spcPct val="108000"/>
              </a:lnSpc>
              <a:buNone/>
            </a:pPr>
            <a:r>
              <a:rPr sz="1450" b="0" i="0" lang="he-IL">
                <a:solidFill>
                  <a:srgbClr val="EBEDF0"/>
                </a:solidFill>
                <a:latin typeface="Arial"/>
                <a:cs typeface="Arial"/>
              </a:rPr>
              <a:t>💡  מה השתנה ב-2022? לראשונה אפשר לדבר עם ה-AI בשפה חופשית ולבקש ממנו כמעט כל דבר.</a:t>
            </a:r>
          </a:p>
        </p:txBody>
      </p:sp>
      <p:sp>
        <p:nvSpPr>
          <p:cNvPr id="30" name="TextBox 29"/>
          <p:cNvSpPr txBox="1"/>
          <p:nvPr/>
        </p:nvSpPr>
        <p:spPr>
          <a:xfrm>
            <a:off x="6675120" y="6473952"/>
            <a:ext cx="4846320" cy="292608"/>
          </a:xfrm>
          <a:prstGeom prst="rect">
            <a:avLst/>
          </a:prstGeom>
          <a:noFill/>
        </p:spPr>
        <p:txBody>
          <a:bodyPr wrap="none" lIns="0" rIns="0" tIns="0" bIns="0">
            <a:spAutoFit/>
          </a:bodyPr>
          <a:lstStyle/>
          <a:p>
            <a:pPr algn="r" rtl="1"/>
            <a:r>
              <a:rPr sz="1000">
                <a:solidFill>
                  <a:srgbClr val="8A96AA"/>
                </a:solidFill>
                <a:latin typeface="Arial"/>
                <a:cs typeface="Arial"/>
              </a:rPr>
              <a:t>© נערך על ידי AI Finance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tretch>
            <a:fillRect/>
          </a:stretch>
        </p:blipFill>
        <p:spPr>
          <a:xfrm>
            <a:off x="0" y="0"/>
            <a:ext cx="4800480" cy="6858000"/>
          </a:xfrm>
          <a:custGeom>
            <a:avLst/>
            <a:gdLst/>
            <a:ahLst/>
            <a:cxnLst/>
            <a:rect l="0" t="0" r="100000" b="100000"/>
            <a:pathLst>
              <a:path w="100000" h="100000">
                <a:moveTo>
                  <a:pt x="0" y="0"/>
                </a:moveTo>
                <a:lnTo>
                  <a:pt x="90530" y="100"/>
                </a:lnTo>
                <a:lnTo>
                  <a:pt x="93070" y="6350"/>
                </a:lnTo>
                <a:lnTo>
                  <a:pt x="94920" y="12210"/>
                </a:lnTo>
                <a:lnTo>
                  <a:pt x="96680" y="19820"/>
                </a:lnTo>
                <a:lnTo>
                  <a:pt x="97560" y="25880"/>
                </a:lnTo>
                <a:lnTo>
                  <a:pt x="97950" y="30960"/>
                </a:lnTo>
                <a:lnTo>
                  <a:pt x="97950" y="39060"/>
                </a:lnTo>
                <a:lnTo>
                  <a:pt x="97270" y="46480"/>
                </a:lnTo>
                <a:lnTo>
                  <a:pt x="96190" y="52640"/>
                </a:lnTo>
                <a:lnTo>
                  <a:pt x="94730" y="58500"/>
                </a:lnTo>
                <a:lnTo>
                  <a:pt x="92480" y="65230"/>
                </a:lnTo>
                <a:lnTo>
                  <a:pt x="89550" y="72070"/>
                </a:lnTo>
                <a:lnTo>
                  <a:pt x="86820" y="77340"/>
                </a:lnTo>
                <a:lnTo>
                  <a:pt x="83500" y="82810"/>
                </a:lnTo>
                <a:lnTo>
                  <a:pt x="79200" y="88870"/>
                </a:lnTo>
                <a:lnTo>
                  <a:pt x="75880" y="92770"/>
                </a:lnTo>
                <a:lnTo>
                  <a:pt x="75880" y="92970"/>
                </a:lnTo>
                <a:lnTo>
                  <a:pt x="74510" y="94340"/>
                </a:lnTo>
                <a:lnTo>
                  <a:pt x="74510" y="94530"/>
                </a:lnTo>
                <a:lnTo>
                  <a:pt x="69240" y="100000"/>
                </a:lnTo>
                <a:lnTo>
                  <a:pt x="0" y="100000"/>
                </a:lnTo>
                <a:close/>
              </a:path>
            </a:pathLst>
          </a:custGeom>
        </p:spPr>
      </p:pic>
      <p:sp>
        <p:nvSpPr>
          <p:cNvPr id="3" name="Text 0"/>
          <p:cNvSpPr/>
          <p:nvPr/>
        </p:nvSpPr>
        <p:spPr>
          <a:xfrm>
            <a:off x="5233360" y="1690886"/>
            <a:ext cx="6296860" cy="614263"/>
          </a:xfrm>
          <a:prstGeom prst="rect">
            <a:avLst/>
          </a:prstGeom>
          <a:noFill/>
          <a:ln/>
        </p:spPr>
        <p:txBody>
          <a:bodyPr wrap="none" lIns="0" tIns="0" rIns="0" bIns="0" rtlCol="0" anchor="t"/>
          <a:lstStyle/>
          <a:p>
            <a:pPr rtl="1" algn="r" indent="0" marL="0">
              <a:lnSpc>
                <a:spcPct val="108000"/>
              </a:lnSpc>
              <a:buNone/>
            </a:pPr>
            <a:r>
              <a:rPr lang="he-IL" altLang="en-US" sz="3700" b="1" spc="-74" kern="100" dirty="0">
                <a:solidFill>
                  <a:srgbClr val="F2F5FA"/>
                </a:solidFill>
                <a:latin typeface="Arial" pitchFamily="34" charset="0"/>
                <a:ea typeface="Arial" pitchFamily="34" charset="-122"/>
                <a:cs typeface="Arial" pitchFamily="34" charset="-120"/>
              </a:rPr>
              <a:t>מה זה בכלל AI? (בלי באזוורדים)</a:t>
            </a:r>
            <a:endParaRPr lang="he-IL"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3360" y="2801243"/>
            <a:ext cx="2917851" cy="2153245"/>
          </a:xfrm>
          <a:prstGeom prst="rect">
            <a:avLst/>
          </a:prstGeom>
        </p:spPr>
      </p:pic>
      <p:sp>
        <p:nvSpPr>
          <p:cNvPr id="5" name="Text 1"/>
          <p:cNvSpPr/>
          <p:nvPr/>
        </p:nvSpPr>
        <p:spPr>
          <a:xfrm>
            <a:off x="5447767" y="3015655"/>
            <a:ext cx="2387441" cy="307082"/>
          </a:xfrm>
          <a:prstGeom prst="rect">
            <a:avLst/>
          </a:prstGeom>
          <a:noFill/>
          <a:ln/>
        </p:spPr>
        <p:txBody>
          <a:bodyPr wrap="none" lIns="0" tIns="0" rIns="0" bIns="0" rtlCol="0" anchor="t"/>
          <a:lstStyle/>
          <a:p>
            <a:pPr rtl="1" algn="r" indent="0" marL="0">
              <a:lnSpc>
                <a:spcPct val="108000"/>
              </a:lnSpc>
              <a:buNone/>
            </a:pPr>
            <a:r>
              <a:rPr lang="he-IL" altLang="en-US" sz="1850" b="1" spc="-37" kern="100" dirty="0">
                <a:solidFill>
                  <a:srgbClr val="EBEDF0"/>
                </a:solidFill>
                <a:latin typeface="Arial" pitchFamily="34" charset="0"/>
                <a:ea typeface="Arial" pitchFamily="34" charset="-122"/>
                <a:cs typeface="Arial" pitchFamily="34" charset="-120"/>
              </a:rPr>
              <a:t>מודל שפה</a:t>
            </a:r>
            <a:endParaRPr lang="he-IL" sz="1850" dirty="0"/>
          </a:p>
        </p:txBody>
      </p:sp>
      <p:sp>
        <p:nvSpPr>
          <p:cNvPr id="6" name="Text 2"/>
          <p:cNvSpPr/>
          <p:nvPr/>
        </p:nvSpPr>
        <p:spPr>
          <a:xfrm>
            <a:off x="5447767" y="3511748"/>
            <a:ext cx="2387441" cy="1228328"/>
          </a:xfrm>
          <a:prstGeom prst="rect">
            <a:avLst/>
          </a:prstGeom>
          <a:noFill/>
          <a:ln/>
        </p:spPr>
        <p:txBody>
          <a:bodyPr wrap="square" lIns="0" tIns="0" rIns="0" bIns="0" rtlCol="0" anchor="t">
            <a:normAutofit/>
          </a:bodyPr>
          <a:lstStyle/>
          <a:p>
            <a:pPr rtl="1" algn="r" indent="0" marL="0">
              <a:lnSpc>
                <a:spcPct val="108000"/>
              </a:lnSpc>
              <a:buNone/>
            </a:pPr>
            <a:r>
              <a:rPr lang="he-IL" altLang="en-US" sz="1450" dirty="0">
                <a:solidFill>
                  <a:srgbClr val="EBEDF0"/>
                </a:solidFill>
                <a:latin typeface="Arial" pitchFamily="34" charset="0"/>
                <a:ea typeface="Arial" pitchFamily="34" charset="-122"/>
                <a:cs typeface="Arial" pitchFamily="34" charset="-120"/>
              </a:rPr>
              <a:t>מכונה שקראה מיליארדי טקסטים ולמדה לחזות את המילה הבאה. היא לא "מבינה" כמו אדם – אבל התוצאה מרשימה.</a:t>
            </a:r>
            <a:endParaRPr lang="he-IL" sz="1450" dirty="0"/>
          </a:p>
        </p:txBody>
      </p:sp>
      <p:sp>
        <p:nvSpPr>
          <p:cNvPr id="7" name="Text 3"/>
          <p:cNvSpPr/>
          <p:nvPr/>
        </p:nvSpPr>
        <p:spPr>
          <a:xfrm>
            <a:off x="8618719" y="2971304"/>
            <a:ext cx="2634390" cy="736997"/>
          </a:xfrm>
          <a:prstGeom prst="rect">
            <a:avLst/>
          </a:prstGeom>
          <a:noFill/>
          <a:ln/>
        </p:spPr>
        <p:txBody>
          <a:bodyPr wrap="square" lIns="0" tIns="0" rIns="0" bIns="0" rtlCol="0" anchor="t">
            <a:normAutofit/>
          </a:bodyPr>
          <a:lstStyle/>
          <a:p>
            <a:pPr rtl="1" algn="r" indent="0" marL="0">
              <a:lnSpc>
                <a:spcPct val="108000"/>
              </a:lnSpc>
              <a:buNone/>
            </a:pPr>
            <a:r>
              <a:rPr lang="he-IL" altLang="en-US" sz="1450" dirty="0">
                <a:solidFill>
                  <a:srgbClr val="EBEDF0"/>
                </a:solidFill>
                <a:latin typeface="Arial" pitchFamily="34" charset="0"/>
                <a:ea typeface="Arial" pitchFamily="34" charset="-122"/>
                <a:cs typeface="Arial" pitchFamily="34" charset="-120"/>
              </a:rPr>
              <a:t>המשל: מלצר שקרא את כל ספרי הבישול בעולם. מעולם לא טעם אף מנה – אבל ההמלצה שלו מצוינת.</a:t>
            </a:r>
            <a:endParaRPr lang="he-IL" sz="1450" dirty="0"/>
          </a:p>
        </p:txBody>
      </p:sp>
      <p:sp>
        <p:nvSpPr>
          <p:cNvPr id="8" name="Shape 4"/>
          <p:cNvSpPr/>
          <p:nvPr/>
        </p:nvSpPr>
        <p:spPr>
          <a:xfrm>
            <a:off x="11511171" y="2801243"/>
            <a:ext cx="25399" cy="1077119"/>
          </a:xfrm>
          <a:prstGeom prst="roundRect">
            <a:avLst>
              <a:gd name="adj" fmla="val 50001"/>
            </a:avLst>
          </a:prstGeom>
          <a:solidFill>
            <a:srgbClr val="6296FF"/>
          </a:solidFill>
          <a:ln/>
        </p:spPr>
        <p:txBody>
          <a:bodyPr/>
          <a:p/>
        </p:txBody>
      </p:sp>
      <p:sp>
        <p:nvSpPr>
          <p:cNvPr id="9" name="TextBox 8"/>
          <p:cNvSpPr txBox="1"/>
          <p:nvPr/>
        </p:nvSpPr>
        <p:spPr>
          <a:xfrm>
            <a:off x="6675120" y="6473952"/>
            <a:ext cx="4846320" cy="292608"/>
          </a:xfrm>
          <a:prstGeom prst="rect">
            <a:avLst/>
          </a:prstGeom>
          <a:noFill/>
        </p:spPr>
        <p:txBody>
          <a:bodyPr wrap="none" lIns="0" rIns="0" tIns="0" bIns="0">
            <a:spAutoFit/>
          </a:bodyPr>
          <a:lstStyle/>
          <a:p>
            <a:pPr algn="r" rtl="1"/>
            <a:r>
              <a:rPr sz="1000">
                <a:solidFill>
                  <a:srgbClr val="8A96AA"/>
                </a:solidFill>
                <a:latin typeface="Arial"/>
                <a:cs typeface="Arial"/>
              </a:rPr>
              <a:t>© נערך על ידי AI Finance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02920"/>
            <a:ext cx="10872216" cy="640080"/>
          </a:xfrm>
          <a:prstGeom prst="rect">
            <a:avLst/>
          </a:prstGeom>
          <a:noFill/>
        </p:spPr>
        <p:txBody>
          <a:bodyPr wrap="square" lIns="0" rIns="0" tIns="0" bIns="0" anchor="t" rtlCol="0">
            <a:spAutoFit/>
          </a:bodyPr>
          <a:lstStyle/>
          <a:p>
            <a:pPr rtl="1" algn="r" marL="0" indent="0">
              <a:lnSpc>
                <a:spcPct val="108000"/>
              </a:lnSpc>
              <a:buNone/>
            </a:pPr>
            <a:r>
              <a:rPr sz="3700" b="1" i="0" lang="he-IL">
                <a:solidFill>
                  <a:srgbClr val="F2F5FA"/>
                </a:solidFill>
                <a:latin typeface="Arial"/>
                <a:cs typeface="Arial"/>
              </a:rPr>
              <a:t>איך זה עובד? משחק "המילה הבאה"</a:t>
            </a:r>
          </a:p>
        </p:txBody>
      </p:sp>
      <p:sp>
        <p:nvSpPr>
          <p:cNvPr id="3" name="TextBox 2"/>
          <p:cNvSpPr txBox="1"/>
          <p:nvPr/>
        </p:nvSpPr>
        <p:spPr>
          <a:xfrm>
            <a:off x="658368" y="1280160"/>
            <a:ext cx="10872216" cy="365760"/>
          </a:xfrm>
          <a:prstGeom prst="rect">
            <a:avLst/>
          </a:prstGeom>
          <a:noFill/>
        </p:spPr>
        <p:txBody>
          <a:bodyPr wrap="square" lIns="0" rIns="0" tIns="0" bIns="0" anchor="t" rtlCol="0">
            <a:spAutoFit/>
          </a:bodyPr>
          <a:lstStyle/>
          <a:p>
            <a:pPr rtl="1" algn="r" marL="0" indent="0">
              <a:lnSpc>
                <a:spcPct val="108000"/>
              </a:lnSpc>
              <a:buNone/>
            </a:pPr>
            <a:r>
              <a:rPr sz="1450" b="0" i="0" lang="he-IL">
                <a:solidFill>
                  <a:srgbClr val="A9B4C6"/>
                </a:solidFill>
                <a:latin typeface="Arial"/>
                <a:cs typeface="Arial"/>
              </a:rPr>
              <a:t>השלימו את המשפט:  "בוקר טוב, מה ____"</a:t>
            </a:r>
          </a:p>
        </p:txBody>
      </p:sp>
      <p:graphicFrame>
        <p:nvGraphicFramePr>
          <p:cNvPr id="4" name="Chart 3"/>
          <p:cNvGraphicFramePr>
            <a:graphicFrameLocks noGrp="1"/>
          </p:cNvGraphicFramePr>
          <p:nvPr/>
        </p:nvGraphicFramePr>
        <p:xfrm>
          <a:off x="658368" y="1965960"/>
          <a:ext cx="5120640" cy="3291840"/>
        </p:xfrm>
        <a:graphic>
          <a:graphicData uri="http://schemas.openxmlformats.org/drawingml/2006/chart">
            <c:chart xmlns:c="http://schemas.openxmlformats.org/drawingml/2006/chart" r:id="rId2"/>
          </a:graphicData>
        </a:graphic>
      </p:graphicFrame>
      <p:sp>
        <p:nvSpPr>
          <p:cNvPr id="5" name="TextBox 4"/>
          <p:cNvSpPr txBox="1"/>
          <p:nvPr/>
        </p:nvSpPr>
        <p:spPr>
          <a:xfrm>
            <a:off x="658368" y="5349240"/>
            <a:ext cx="5120640" cy="274320"/>
          </a:xfrm>
          <a:prstGeom prst="rect">
            <a:avLst/>
          </a:prstGeom>
          <a:noFill/>
        </p:spPr>
        <p:txBody>
          <a:bodyPr wrap="square" lIns="0" rIns="0" tIns="0" bIns="0" anchor="t" rtlCol="0">
            <a:spAutoFit/>
          </a:bodyPr>
          <a:lstStyle/>
          <a:p>
            <a:pPr rtl="1" algn="ctr" marL="0" indent="0">
              <a:lnSpc>
                <a:spcPct val="108000"/>
              </a:lnSpc>
              <a:buNone/>
            </a:pPr>
            <a:r>
              <a:rPr sz="1150" b="0" i="0" lang="he-IL">
                <a:solidFill>
                  <a:srgbClr val="A9B4C6"/>
                </a:solidFill>
                <a:latin typeface="Arial"/>
                <a:cs typeface="Arial"/>
              </a:rPr>
              <a:t>המספרים להמחשה בלבד</a:t>
            </a:r>
          </a:p>
        </p:txBody>
      </p:sp>
      <p:sp>
        <p:nvSpPr>
          <p:cNvPr id="6" name="Rounded Rectangle 5"/>
          <p:cNvSpPr/>
          <p:nvPr/>
        </p:nvSpPr>
        <p:spPr>
          <a:xfrm>
            <a:off x="11027664" y="1965960"/>
            <a:ext cx="457200" cy="457200"/>
          </a:xfrm>
          <a:prstGeom prst="roundRect">
            <a:avLst>
              <a:gd name="adj" fmla="val 20000"/>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500" b="1" i="0" lang="he-IL">
                <a:solidFill>
                  <a:srgbClr val="F2F5FA"/>
                </a:solidFill>
                <a:latin typeface="Arial"/>
                <a:cs typeface="Arial"/>
              </a:rPr>
              <a:t>1</a:t>
            </a:r>
          </a:p>
        </p:txBody>
      </p:sp>
      <p:sp>
        <p:nvSpPr>
          <p:cNvPr id="7" name="TextBox 6"/>
          <p:cNvSpPr txBox="1"/>
          <p:nvPr/>
        </p:nvSpPr>
        <p:spPr>
          <a:xfrm>
            <a:off x="6309360" y="2002536"/>
            <a:ext cx="457200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קרא כמויות עצומות של טקסט</a:t>
            </a:r>
          </a:p>
        </p:txBody>
      </p:sp>
      <p:sp>
        <p:nvSpPr>
          <p:cNvPr id="8" name="TextBox 7"/>
          <p:cNvSpPr txBox="1"/>
          <p:nvPr/>
        </p:nvSpPr>
        <p:spPr>
          <a:xfrm>
            <a:off x="6309360" y="2404872"/>
            <a:ext cx="4572000" cy="548640"/>
          </a:xfrm>
          <a:prstGeom prst="rect">
            <a:avLst/>
          </a:prstGeom>
          <a:noFill/>
        </p:spPr>
        <p:txBody>
          <a:bodyPr wrap="square" lIns="0" rIns="0" tIns="0" bIns="0" anchor="t" rtlCol="0">
            <a:spAutoFit/>
          </a:bodyPr>
          <a:lstStyle/>
          <a:p>
            <a:pPr rtl="1" algn="r" marL="0" indent="0">
              <a:lnSpc>
                <a:spcPct val="108000"/>
              </a:lnSpc>
              <a:buNone/>
            </a:pPr>
            <a:r>
              <a:rPr sz="1350" b="0" i="0" lang="he-IL">
                <a:solidFill>
                  <a:srgbClr val="A9B4C6"/>
                </a:solidFill>
                <a:latin typeface="Arial"/>
                <a:cs typeface="Arial"/>
              </a:rPr>
              <a:t>ספרים, אתרים, מאמרים ושיחות: יותר ממה שאדם יקרא באלף חיים</a:t>
            </a:r>
          </a:p>
        </p:txBody>
      </p:sp>
      <p:sp>
        <p:nvSpPr>
          <p:cNvPr id="9" name="Rounded Rectangle 8"/>
          <p:cNvSpPr/>
          <p:nvPr/>
        </p:nvSpPr>
        <p:spPr>
          <a:xfrm>
            <a:off x="11027664" y="3081528"/>
            <a:ext cx="457200" cy="457200"/>
          </a:xfrm>
          <a:prstGeom prst="roundRect">
            <a:avLst>
              <a:gd name="adj" fmla="val 20000"/>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500" b="1" i="0" lang="he-IL">
                <a:solidFill>
                  <a:srgbClr val="F2F5FA"/>
                </a:solidFill>
                <a:latin typeface="Arial"/>
                <a:cs typeface="Arial"/>
              </a:rPr>
              <a:t>2</a:t>
            </a:r>
          </a:p>
        </p:txBody>
      </p:sp>
      <p:sp>
        <p:nvSpPr>
          <p:cNvPr id="10" name="TextBox 9"/>
          <p:cNvSpPr txBox="1"/>
          <p:nvPr/>
        </p:nvSpPr>
        <p:spPr>
          <a:xfrm>
            <a:off x="6309360" y="3118104"/>
            <a:ext cx="457200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למד דפוסים</a:t>
            </a:r>
          </a:p>
        </p:txBody>
      </p:sp>
      <p:sp>
        <p:nvSpPr>
          <p:cNvPr id="11" name="TextBox 10"/>
          <p:cNvSpPr txBox="1"/>
          <p:nvPr/>
        </p:nvSpPr>
        <p:spPr>
          <a:xfrm>
            <a:off x="6309360" y="3520440"/>
            <a:ext cx="4572000" cy="548640"/>
          </a:xfrm>
          <a:prstGeom prst="rect">
            <a:avLst/>
          </a:prstGeom>
          <a:noFill/>
        </p:spPr>
        <p:txBody>
          <a:bodyPr wrap="square" lIns="0" rIns="0" tIns="0" bIns="0" anchor="t" rtlCol="0">
            <a:spAutoFit/>
          </a:bodyPr>
          <a:lstStyle/>
          <a:p>
            <a:pPr rtl="1" algn="r" marL="0" indent="0">
              <a:lnSpc>
                <a:spcPct val="108000"/>
              </a:lnSpc>
              <a:buNone/>
            </a:pPr>
            <a:r>
              <a:rPr sz="1350" b="0" i="0" lang="he-IL">
                <a:solidFill>
                  <a:srgbClr val="A9B4C6"/>
                </a:solidFill>
                <a:latin typeface="Arial"/>
                <a:cs typeface="Arial"/>
              </a:rPr>
              <a:t>איזו מילה נוטה להופיע אחרי איזו, ובאיזה הקשר</a:t>
            </a:r>
          </a:p>
        </p:txBody>
      </p:sp>
      <p:sp>
        <p:nvSpPr>
          <p:cNvPr id="12" name="Rounded Rectangle 11"/>
          <p:cNvSpPr/>
          <p:nvPr/>
        </p:nvSpPr>
        <p:spPr>
          <a:xfrm>
            <a:off x="11027664" y="4197096"/>
            <a:ext cx="457200" cy="457200"/>
          </a:xfrm>
          <a:prstGeom prst="roundRect">
            <a:avLst>
              <a:gd name="adj" fmla="val 20000"/>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500" b="1" i="0" lang="he-IL">
                <a:solidFill>
                  <a:srgbClr val="F2F5FA"/>
                </a:solidFill>
                <a:latin typeface="Arial"/>
                <a:cs typeface="Arial"/>
              </a:rPr>
              <a:t>3</a:t>
            </a:r>
          </a:p>
        </p:txBody>
      </p:sp>
      <p:sp>
        <p:nvSpPr>
          <p:cNvPr id="13" name="TextBox 12"/>
          <p:cNvSpPr txBox="1"/>
          <p:nvPr/>
        </p:nvSpPr>
        <p:spPr>
          <a:xfrm>
            <a:off x="6309360" y="4233672"/>
            <a:ext cx="457200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כותב מילה אחר מילה</a:t>
            </a:r>
          </a:p>
        </p:txBody>
      </p:sp>
      <p:sp>
        <p:nvSpPr>
          <p:cNvPr id="14" name="TextBox 13"/>
          <p:cNvSpPr txBox="1"/>
          <p:nvPr/>
        </p:nvSpPr>
        <p:spPr>
          <a:xfrm>
            <a:off x="6309360" y="4636008"/>
            <a:ext cx="4572000" cy="548640"/>
          </a:xfrm>
          <a:prstGeom prst="rect">
            <a:avLst/>
          </a:prstGeom>
          <a:noFill/>
        </p:spPr>
        <p:txBody>
          <a:bodyPr wrap="square" lIns="0" rIns="0" tIns="0" bIns="0" anchor="t" rtlCol="0">
            <a:spAutoFit/>
          </a:bodyPr>
          <a:lstStyle/>
          <a:p>
            <a:pPr rtl="1" algn="r" marL="0" indent="0">
              <a:lnSpc>
                <a:spcPct val="108000"/>
              </a:lnSpc>
              <a:buNone/>
            </a:pPr>
            <a:r>
              <a:rPr sz="1350" b="0" i="0" lang="he-IL">
                <a:solidFill>
                  <a:srgbClr val="A9B4C6"/>
                </a:solidFill>
                <a:latin typeface="Arial"/>
                <a:cs typeface="Arial"/>
              </a:rPr>
              <a:t>בכל רגע הוא בוחר את ההמשך הסביר ביותר, וכך נבנית תשובה שלמה</a:t>
            </a:r>
          </a:p>
        </p:txBody>
      </p:sp>
      <p:sp>
        <p:nvSpPr>
          <p:cNvPr id="15" name="Rounded Rectangle 14"/>
          <p:cNvSpPr/>
          <p:nvPr/>
        </p:nvSpPr>
        <p:spPr>
          <a:xfrm>
            <a:off x="6309360" y="5440680"/>
            <a:ext cx="5221224" cy="731520"/>
          </a:xfrm>
          <a:prstGeom prst="roundRect">
            <a:avLst>
              <a:gd name="adj" fmla="val 3000"/>
            </a:avLst>
          </a:prstGeom>
          <a:solidFill>
            <a:srgbClr val="4B3F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537960" y="5440680"/>
            <a:ext cx="4764024" cy="731520"/>
          </a:xfrm>
          <a:prstGeom prst="rect">
            <a:avLst/>
          </a:prstGeom>
          <a:noFill/>
        </p:spPr>
        <p:txBody>
          <a:bodyPr wrap="square" lIns="0" rIns="0" tIns="0" bIns="0" anchor="ctr" rtlCol="0">
            <a:spAutoFit/>
          </a:bodyPr>
          <a:lstStyle/>
          <a:p>
            <a:pPr rtl="1" algn="r" marL="0" indent="0">
              <a:lnSpc>
                <a:spcPct val="108000"/>
              </a:lnSpc>
              <a:buNone/>
            </a:pPr>
            <a:r>
              <a:rPr sz="1400" b="0" i="0" lang="he-IL">
                <a:solidFill>
                  <a:srgbClr val="EBEDF0"/>
                </a:solidFill>
                <a:latin typeface="Arial"/>
                <a:cs typeface="Arial"/>
              </a:rPr>
              <a:t>⚡  לכן הוא שוטף ומשכנע, וגם לכן הוא יכול לטעות בביטחון מלא.</a:t>
            </a:r>
          </a:p>
        </p:txBody>
      </p:sp>
      <p:sp>
        <p:nvSpPr>
          <p:cNvPr id="17" name="TextBox 16"/>
          <p:cNvSpPr txBox="1"/>
          <p:nvPr/>
        </p:nvSpPr>
        <p:spPr>
          <a:xfrm>
            <a:off x="6675120" y="6473952"/>
            <a:ext cx="4846320" cy="292608"/>
          </a:xfrm>
          <a:prstGeom prst="rect">
            <a:avLst/>
          </a:prstGeom>
          <a:noFill/>
        </p:spPr>
        <p:txBody>
          <a:bodyPr wrap="none" lIns="0" rIns="0" tIns="0" bIns="0">
            <a:spAutoFit/>
          </a:bodyPr>
          <a:lstStyle/>
          <a:p>
            <a:pPr algn="r" rtl="1"/>
            <a:r>
              <a:rPr sz="1000">
                <a:solidFill>
                  <a:srgbClr val="8A96AA"/>
                </a:solidFill>
                <a:latin typeface="Arial"/>
                <a:cs typeface="Arial"/>
              </a:rPr>
              <a:t>© נערך על ידי AI Finance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02920"/>
            <a:ext cx="10872216" cy="640080"/>
          </a:xfrm>
          <a:prstGeom prst="rect">
            <a:avLst/>
          </a:prstGeom>
          <a:noFill/>
        </p:spPr>
        <p:txBody>
          <a:bodyPr wrap="square" lIns="0" rIns="0" tIns="0" bIns="0" anchor="t" rtlCol="0">
            <a:spAutoFit/>
          </a:bodyPr>
          <a:lstStyle/>
          <a:p>
            <a:pPr rtl="1" algn="r" marL="0" indent="0">
              <a:lnSpc>
                <a:spcPct val="108000"/>
              </a:lnSpc>
              <a:buNone/>
            </a:pPr>
            <a:r>
              <a:rPr sz="3700" b="1" i="0" lang="he-IL">
                <a:solidFill>
                  <a:srgbClr val="F2F5FA"/>
                </a:solidFill>
                <a:latin typeface="Arial"/>
                <a:cs typeface="Arial"/>
              </a:rPr>
              <a:t>איך הגענו לכאן: 75 שנה בשקופית אחת</a:t>
            </a:r>
          </a:p>
        </p:txBody>
      </p:sp>
      <p:sp>
        <p:nvSpPr>
          <p:cNvPr id="3" name="Rectangle 2"/>
          <p:cNvSpPr/>
          <p:nvPr/>
        </p:nvSpPr>
        <p:spPr>
          <a:xfrm>
            <a:off x="1097280" y="3232403"/>
            <a:ext cx="9966960" cy="27432"/>
          </a:xfrm>
          <a:prstGeom prst="rect">
            <a:avLst/>
          </a:prstGeom>
          <a:solidFill>
            <a:srgbClr val="2A35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0817352" y="3090672"/>
            <a:ext cx="310896" cy="310896"/>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104120" y="2331720"/>
            <a:ext cx="1737360" cy="502920"/>
          </a:xfrm>
          <a:prstGeom prst="rect">
            <a:avLst/>
          </a:prstGeom>
          <a:noFill/>
        </p:spPr>
        <p:txBody>
          <a:bodyPr wrap="square" lIns="0" rIns="0" tIns="0" bIns="0" anchor="t" rtlCol="0">
            <a:spAutoFit/>
          </a:bodyPr>
          <a:lstStyle/>
          <a:p>
            <a:pPr rtl="1" algn="ctr" marL="0" indent="0">
              <a:lnSpc>
                <a:spcPct val="108000"/>
              </a:lnSpc>
              <a:buNone/>
            </a:pPr>
            <a:r>
              <a:rPr sz="2600" b="1" i="0" lang="he-IL">
                <a:solidFill>
                  <a:srgbClr val="F2F5FA"/>
                </a:solidFill>
                <a:latin typeface="Arial"/>
                <a:cs typeface="Arial"/>
              </a:rPr>
              <a:t>1950</a:t>
            </a:r>
          </a:p>
        </p:txBody>
      </p:sp>
      <p:sp>
        <p:nvSpPr>
          <p:cNvPr id="6" name="Rounded Rectangle 5"/>
          <p:cNvSpPr/>
          <p:nvPr/>
        </p:nvSpPr>
        <p:spPr>
          <a:xfrm>
            <a:off x="10131552" y="3703320"/>
            <a:ext cx="1682496" cy="182880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222992" y="3858768"/>
            <a:ext cx="1499616" cy="365760"/>
          </a:xfrm>
          <a:prstGeom prst="rect">
            <a:avLst/>
          </a:prstGeom>
          <a:noFill/>
        </p:spPr>
        <p:txBody>
          <a:bodyPr wrap="square" lIns="0" rIns="0" tIns="0" bIns="0" anchor="t" rtlCol="0">
            <a:spAutoFit/>
          </a:bodyPr>
          <a:lstStyle/>
          <a:p>
            <a:pPr rtl="1" algn="ctr" marL="0" indent="0">
              <a:lnSpc>
                <a:spcPct val="108000"/>
              </a:lnSpc>
              <a:buNone/>
            </a:pPr>
            <a:r>
              <a:rPr sz="1500" b="1" i="0" lang="he-IL">
                <a:solidFill>
                  <a:srgbClr val="EBEDF0"/>
                </a:solidFill>
                <a:latin typeface="Arial"/>
                <a:cs typeface="Arial"/>
              </a:rPr>
              <a:t>טיורינג שואל</a:t>
            </a:r>
          </a:p>
        </p:txBody>
      </p:sp>
      <p:sp>
        <p:nvSpPr>
          <p:cNvPr id="8" name="TextBox 7"/>
          <p:cNvSpPr txBox="1"/>
          <p:nvPr/>
        </p:nvSpPr>
        <p:spPr>
          <a:xfrm>
            <a:off x="10222992" y="4297680"/>
            <a:ext cx="1499616" cy="1188720"/>
          </a:xfrm>
          <a:prstGeom prst="rect">
            <a:avLst/>
          </a:prstGeom>
          <a:noFill/>
        </p:spPr>
        <p:txBody>
          <a:bodyPr wrap="square" lIns="0" rIns="0" tIns="0" bIns="0" anchor="t" rtlCol="0">
            <a:spAutoFit/>
          </a:bodyPr>
          <a:lstStyle/>
          <a:p>
            <a:pPr rtl="1" algn="ctr" marL="0" indent="0">
              <a:lnSpc>
                <a:spcPct val="108000"/>
              </a:lnSpc>
              <a:buNone/>
            </a:pPr>
            <a:r>
              <a:rPr sz="1250" b="0" i="0" lang="he-IL">
                <a:solidFill>
                  <a:srgbClr val="EBEDF0"/>
                </a:solidFill>
                <a:latin typeface="Arial"/>
                <a:cs typeface="Arial"/>
              </a:rPr>
              <a:t>"האם מכונה יכולה לחשוב?"</a:t>
            </a:r>
          </a:p>
        </p:txBody>
      </p:sp>
      <p:sp>
        <p:nvSpPr>
          <p:cNvPr id="9" name="Oval 8"/>
          <p:cNvSpPr/>
          <p:nvPr/>
        </p:nvSpPr>
        <p:spPr>
          <a:xfrm>
            <a:off x="8860536" y="3090672"/>
            <a:ext cx="310896" cy="310896"/>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147304" y="2331720"/>
            <a:ext cx="1737360" cy="502920"/>
          </a:xfrm>
          <a:prstGeom prst="rect">
            <a:avLst/>
          </a:prstGeom>
          <a:noFill/>
        </p:spPr>
        <p:txBody>
          <a:bodyPr wrap="square" lIns="0" rIns="0" tIns="0" bIns="0" anchor="t" rtlCol="0">
            <a:spAutoFit/>
          </a:bodyPr>
          <a:lstStyle/>
          <a:p>
            <a:pPr rtl="1" algn="ctr" marL="0" indent="0">
              <a:lnSpc>
                <a:spcPct val="108000"/>
              </a:lnSpc>
              <a:buNone/>
            </a:pPr>
            <a:r>
              <a:rPr sz="2600" b="1" i="0" lang="he-IL">
                <a:solidFill>
                  <a:srgbClr val="F2F5FA"/>
                </a:solidFill>
                <a:latin typeface="Arial"/>
                <a:cs typeface="Arial"/>
              </a:rPr>
              <a:t>1997</a:t>
            </a:r>
          </a:p>
        </p:txBody>
      </p:sp>
      <p:sp>
        <p:nvSpPr>
          <p:cNvPr id="11" name="Rounded Rectangle 10"/>
          <p:cNvSpPr/>
          <p:nvPr/>
        </p:nvSpPr>
        <p:spPr>
          <a:xfrm>
            <a:off x="8174736" y="3703320"/>
            <a:ext cx="1682496" cy="182880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266175" y="3858768"/>
            <a:ext cx="1499616" cy="365760"/>
          </a:xfrm>
          <a:prstGeom prst="rect">
            <a:avLst/>
          </a:prstGeom>
          <a:noFill/>
        </p:spPr>
        <p:txBody>
          <a:bodyPr wrap="square" lIns="0" rIns="0" tIns="0" bIns="0" anchor="t" rtlCol="0">
            <a:spAutoFit/>
          </a:bodyPr>
          <a:lstStyle/>
          <a:p>
            <a:pPr rtl="1" algn="ctr" marL="0" indent="0">
              <a:lnSpc>
                <a:spcPct val="108000"/>
              </a:lnSpc>
              <a:buNone/>
            </a:pPr>
            <a:r>
              <a:rPr sz="1500" b="1" i="0" lang="he-IL">
                <a:solidFill>
                  <a:srgbClr val="EBEDF0"/>
                </a:solidFill>
                <a:latin typeface="Arial"/>
                <a:cs typeface="Arial"/>
              </a:rPr>
              <a:t>דיפ בלו</a:t>
            </a:r>
          </a:p>
        </p:txBody>
      </p:sp>
      <p:sp>
        <p:nvSpPr>
          <p:cNvPr id="13" name="TextBox 12"/>
          <p:cNvSpPr txBox="1"/>
          <p:nvPr/>
        </p:nvSpPr>
        <p:spPr>
          <a:xfrm>
            <a:off x="8266175" y="4297680"/>
            <a:ext cx="1499616" cy="1188720"/>
          </a:xfrm>
          <a:prstGeom prst="rect">
            <a:avLst/>
          </a:prstGeom>
          <a:noFill/>
        </p:spPr>
        <p:txBody>
          <a:bodyPr wrap="square" lIns="0" rIns="0" tIns="0" bIns="0" anchor="t" rtlCol="0">
            <a:spAutoFit/>
          </a:bodyPr>
          <a:lstStyle/>
          <a:p>
            <a:pPr rtl="1" algn="ctr" marL="0" indent="0">
              <a:lnSpc>
                <a:spcPct val="108000"/>
              </a:lnSpc>
              <a:buNone/>
            </a:pPr>
            <a:r>
              <a:rPr sz="1250" b="0" i="0" lang="he-IL">
                <a:solidFill>
                  <a:srgbClr val="EBEDF0"/>
                </a:solidFill>
                <a:latin typeface="Arial"/>
                <a:cs typeface="Arial"/>
              </a:rPr>
              <a:t>מחשב של IBM מנצח את אלוף העולם בשחמט</a:t>
            </a:r>
          </a:p>
        </p:txBody>
      </p:sp>
      <p:sp>
        <p:nvSpPr>
          <p:cNvPr id="14" name="Oval 13"/>
          <p:cNvSpPr/>
          <p:nvPr/>
        </p:nvSpPr>
        <p:spPr>
          <a:xfrm>
            <a:off x="6903720" y="3090672"/>
            <a:ext cx="310896" cy="310896"/>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190488" y="2331720"/>
            <a:ext cx="1737360" cy="502920"/>
          </a:xfrm>
          <a:prstGeom prst="rect">
            <a:avLst/>
          </a:prstGeom>
          <a:noFill/>
        </p:spPr>
        <p:txBody>
          <a:bodyPr wrap="square" lIns="0" rIns="0" tIns="0" bIns="0" anchor="t" rtlCol="0">
            <a:spAutoFit/>
          </a:bodyPr>
          <a:lstStyle/>
          <a:p>
            <a:pPr rtl="1" algn="ctr" marL="0" indent="0">
              <a:lnSpc>
                <a:spcPct val="108000"/>
              </a:lnSpc>
              <a:buNone/>
            </a:pPr>
            <a:r>
              <a:rPr sz="2600" b="1" i="0" lang="he-IL">
                <a:solidFill>
                  <a:srgbClr val="F2F5FA"/>
                </a:solidFill>
                <a:latin typeface="Arial"/>
                <a:cs typeface="Arial"/>
              </a:rPr>
              <a:t>2011</a:t>
            </a:r>
          </a:p>
        </p:txBody>
      </p:sp>
      <p:sp>
        <p:nvSpPr>
          <p:cNvPr id="16" name="Rounded Rectangle 15"/>
          <p:cNvSpPr/>
          <p:nvPr/>
        </p:nvSpPr>
        <p:spPr>
          <a:xfrm>
            <a:off x="6217920" y="3703320"/>
            <a:ext cx="1682496" cy="182880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09360" y="3858768"/>
            <a:ext cx="1499616" cy="365760"/>
          </a:xfrm>
          <a:prstGeom prst="rect">
            <a:avLst/>
          </a:prstGeom>
          <a:noFill/>
        </p:spPr>
        <p:txBody>
          <a:bodyPr wrap="square" lIns="0" rIns="0" tIns="0" bIns="0" anchor="t" rtlCol="0">
            <a:spAutoFit/>
          </a:bodyPr>
          <a:lstStyle/>
          <a:p>
            <a:pPr rtl="1" algn="ctr" marL="0" indent="0">
              <a:lnSpc>
                <a:spcPct val="108000"/>
              </a:lnSpc>
              <a:buNone/>
            </a:pPr>
            <a:r>
              <a:rPr sz="1500" b="1" i="0" lang="he-IL">
                <a:solidFill>
                  <a:srgbClr val="EBEDF0"/>
                </a:solidFill>
                <a:latin typeface="Arial"/>
                <a:cs typeface="Arial"/>
              </a:rPr>
              <a:t>סירי</a:t>
            </a:r>
          </a:p>
        </p:txBody>
      </p:sp>
      <p:sp>
        <p:nvSpPr>
          <p:cNvPr id="18" name="TextBox 17"/>
          <p:cNvSpPr txBox="1"/>
          <p:nvPr/>
        </p:nvSpPr>
        <p:spPr>
          <a:xfrm>
            <a:off x="6309360" y="4297680"/>
            <a:ext cx="1499616" cy="1188720"/>
          </a:xfrm>
          <a:prstGeom prst="rect">
            <a:avLst/>
          </a:prstGeom>
          <a:noFill/>
        </p:spPr>
        <p:txBody>
          <a:bodyPr wrap="square" lIns="0" rIns="0" tIns="0" bIns="0" anchor="t" rtlCol="0">
            <a:spAutoFit/>
          </a:bodyPr>
          <a:lstStyle/>
          <a:p>
            <a:pPr rtl="1" algn="ctr" marL="0" indent="0">
              <a:lnSpc>
                <a:spcPct val="108000"/>
              </a:lnSpc>
              <a:buNone/>
            </a:pPr>
            <a:r>
              <a:rPr sz="1250" b="0" i="0" lang="he-IL">
                <a:solidFill>
                  <a:srgbClr val="EBEDF0"/>
                </a:solidFill>
                <a:latin typeface="Arial"/>
                <a:cs typeface="Arial"/>
              </a:rPr>
              <a:t>עוזרת קולית נכנסת לאייפון</a:t>
            </a:r>
          </a:p>
        </p:txBody>
      </p:sp>
      <p:sp>
        <p:nvSpPr>
          <p:cNvPr id="19" name="Oval 18"/>
          <p:cNvSpPr/>
          <p:nvPr/>
        </p:nvSpPr>
        <p:spPr>
          <a:xfrm>
            <a:off x="4946904" y="3090672"/>
            <a:ext cx="310896" cy="310896"/>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233672" y="2331720"/>
            <a:ext cx="1737360" cy="502920"/>
          </a:xfrm>
          <a:prstGeom prst="rect">
            <a:avLst/>
          </a:prstGeom>
          <a:noFill/>
        </p:spPr>
        <p:txBody>
          <a:bodyPr wrap="square" lIns="0" rIns="0" tIns="0" bIns="0" anchor="t" rtlCol="0">
            <a:spAutoFit/>
          </a:bodyPr>
          <a:lstStyle/>
          <a:p>
            <a:pPr rtl="1" algn="ctr" marL="0" indent="0">
              <a:lnSpc>
                <a:spcPct val="108000"/>
              </a:lnSpc>
              <a:buNone/>
            </a:pPr>
            <a:r>
              <a:rPr sz="2600" b="1" i="0" lang="he-IL">
                <a:solidFill>
                  <a:srgbClr val="F2F5FA"/>
                </a:solidFill>
                <a:latin typeface="Arial"/>
                <a:cs typeface="Arial"/>
              </a:rPr>
              <a:t>2016</a:t>
            </a:r>
          </a:p>
        </p:txBody>
      </p:sp>
      <p:sp>
        <p:nvSpPr>
          <p:cNvPr id="21" name="Rounded Rectangle 20"/>
          <p:cNvSpPr/>
          <p:nvPr/>
        </p:nvSpPr>
        <p:spPr>
          <a:xfrm>
            <a:off x="4261104" y="3703320"/>
            <a:ext cx="1682496" cy="182880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352544" y="3858768"/>
            <a:ext cx="1499616" cy="365760"/>
          </a:xfrm>
          <a:prstGeom prst="rect">
            <a:avLst/>
          </a:prstGeom>
          <a:noFill/>
        </p:spPr>
        <p:txBody>
          <a:bodyPr wrap="square" lIns="0" rIns="0" tIns="0" bIns="0" anchor="t" rtlCol="0">
            <a:spAutoFit/>
          </a:bodyPr>
          <a:lstStyle/>
          <a:p>
            <a:pPr rtl="1" algn="ctr" marL="0" indent="0">
              <a:lnSpc>
                <a:spcPct val="108000"/>
              </a:lnSpc>
              <a:buNone/>
            </a:pPr>
            <a:r>
              <a:rPr sz="1500" b="1" i="0" lang="he-IL">
                <a:solidFill>
                  <a:srgbClr val="EBEDF0"/>
                </a:solidFill>
                <a:latin typeface="Arial"/>
                <a:cs typeface="Arial"/>
              </a:rPr>
              <a:t>אלפא-גו</a:t>
            </a:r>
          </a:p>
        </p:txBody>
      </p:sp>
      <p:sp>
        <p:nvSpPr>
          <p:cNvPr id="23" name="TextBox 22"/>
          <p:cNvSpPr txBox="1"/>
          <p:nvPr/>
        </p:nvSpPr>
        <p:spPr>
          <a:xfrm>
            <a:off x="4352544" y="4297680"/>
            <a:ext cx="1499616" cy="1188720"/>
          </a:xfrm>
          <a:prstGeom prst="rect">
            <a:avLst/>
          </a:prstGeom>
          <a:noFill/>
        </p:spPr>
        <p:txBody>
          <a:bodyPr wrap="square" lIns="0" rIns="0" tIns="0" bIns="0" anchor="t" rtlCol="0">
            <a:spAutoFit/>
          </a:bodyPr>
          <a:lstStyle/>
          <a:p>
            <a:pPr rtl="1" algn="ctr" marL="0" indent="0">
              <a:lnSpc>
                <a:spcPct val="108000"/>
              </a:lnSpc>
              <a:buNone/>
            </a:pPr>
            <a:r>
              <a:rPr sz="1250" b="0" i="0" lang="he-IL">
                <a:solidFill>
                  <a:srgbClr val="EBEDF0"/>
                </a:solidFill>
                <a:latin typeface="Arial"/>
                <a:cs typeface="Arial"/>
              </a:rPr>
              <a:t>AI מנצח את אלוף העולם במשחק גו</a:t>
            </a:r>
          </a:p>
        </p:txBody>
      </p:sp>
      <p:sp>
        <p:nvSpPr>
          <p:cNvPr id="24" name="Oval 23"/>
          <p:cNvSpPr/>
          <p:nvPr/>
        </p:nvSpPr>
        <p:spPr>
          <a:xfrm>
            <a:off x="2990088" y="3090672"/>
            <a:ext cx="310896" cy="310896"/>
          </a:xfrm>
          <a:prstGeom prst="ellipse">
            <a:avLst/>
          </a:prstGeom>
          <a:solidFill>
            <a:srgbClr val="487CFF"/>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2276856" y="2331720"/>
            <a:ext cx="1737360" cy="502920"/>
          </a:xfrm>
          <a:prstGeom prst="rect">
            <a:avLst/>
          </a:prstGeom>
          <a:noFill/>
        </p:spPr>
        <p:txBody>
          <a:bodyPr wrap="square" lIns="0" rIns="0" tIns="0" bIns="0" anchor="t" rtlCol="0">
            <a:spAutoFit/>
          </a:bodyPr>
          <a:lstStyle/>
          <a:p>
            <a:pPr rtl="1" algn="ctr" marL="0" indent="0">
              <a:lnSpc>
                <a:spcPct val="108000"/>
              </a:lnSpc>
              <a:buNone/>
            </a:pPr>
            <a:r>
              <a:rPr sz="2600" b="1" i="0" lang="he-IL">
                <a:solidFill>
                  <a:srgbClr val="6296FF"/>
                </a:solidFill>
                <a:latin typeface="Arial"/>
                <a:cs typeface="Arial"/>
              </a:rPr>
              <a:t>2022</a:t>
            </a:r>
          </a:p>
        </p:txBody>
      </p:sp>
      <p:sp>
        <p:nvSpPr>
          <p:cNvPr id="26" name="Rounded Rectangle 25"/>
          <p:cNvSpPr/>
          <p:nvPr/>
        </p:nvSpPr>
        <p:spPr>
          <a:xfrm>
            <a:off x="2304288" y="3703320"/>
            <a:ext cx="1682496" cy="1828800"/>
          </a:xfrm>
          <a:prstGeom prst="roundRect">
            <a:avLst>
              <a:gd name="adj" fmla="val 3000"/>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2395728" y="3858768"/>
            <a:ext cx="1499616" cy="365760"/>
          </a:xfrm>
          <a:prstGeom prst="rect">
            <a:avLst/>
          </a:prstGeom>
          <a:noFill/>
        </p:spPr>
        <p:txBody>
          <a:bodyPr wrap="square" lIns="0" rIns="0" tIns="0" bIns="0" anchor="t" rtlCol="0">
            <a:spAutoFit/>
          </a:bodyPr>
          <a:lstStyle/>
          <a:p>
            <a:pPr rtl="1" algn="ctr" marL="0" indent="0">
              <a:lnSpc>
                <a:spcPct val="108000"/>
              </a:lnSpc>
              <a:buNone/>
            </a:pPr>
            <a:r>
              <a:rPr sz="1500" b="1" i="0" lang="he-IL">
                <a:solidFill>
                  <a:srgbClr val="EBEDF0"/>
                </a:solidFill>
                <a:latin typeface="Arial"/>
                <a:cs typeface="Arial"/>
              </a:rPr>
              <a:t>צ'אט ג'יפיטי</a:t>
            </a:r>
          </a:p>
        </p:txBody>
      </p:sp>
      <p:sp>
        <p:nvSpPr>
          <p:cNvPr id="28" name="TextBox 27"/>
          <p:cNvSpPr txBox="1"/>
          <p:nvPr/>
        </p:nvSpPr>
        <p:spPr>
          <a:xfrm>
            <a:off x="2395728" y="4297680"/>
            <a:ext cx="1499616" cy="1188720"/>
          </a:xfrm>
          <a:prstGeom prst="rect">
            <a:avLst/>
          </a:prstGeom>
          <a:noFill/>
        </p:spPr>
        <p:txBody>
          <a:bodyPr wrap="square" lIns="0" rIns="0" tIns="0" bIns="0" anchor="t" rtlCol="0">
            <a:spAutoFit/>
          </a:bodyPr>
          <a:lstStyle/>
          <a:p>
            <a:pPr rtl="1" algn="ctr" marL="0" indent="0">
              <a:lnSpc>
                <a:spcPct val="108000"/>
              </a:lnSpc>
              <a:buNone/>
            </a:pPr>
            <a:r>
              <a:rPr sz="1250" b="0" i="0" lang="he-IL">
                <a:solidFill>
                  <a:srgbClr val="EBEDF0"/>
                </a:solidFill>
                <a:latin typeface="Arial"/>
                <a:cs typeface="Arial"/>
              </a:rPr>
              <a:t>לראשונה, כל אחד יכול לשוחח עם AI</a:t>
            </a:r>
          </a:p>
        </p:txBody>
      </p:sp>
      <p:sp>
        <p:nvSpPr>
          <p:cNvPr id="29" name="Oval 28"/>
          <p:cNvSpPr/>
          <p:nvPr/>
        </p:nvSpPr>
        <p:spPr>
          <a:xfrm>
            <a:off x="1033272" y="3090672"/>
            <a:ext cx="310896" cy="310896"/>
          </a:xfrm>
          <a:prstGeom prst="ellipse">
            <a:avLst/>
          </a:prstGeom>
          <a:solidFill>
            <a:srgbClr val="487CFF"/>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320040" y="2331720"/>
            <a:ext cx="1737360" cy="502920"/>
          </a:xfrm>
          <a:prstGeom prst="rect">
            <a:avLst/>
          </a:prstGeom>
          <a:noFill/>
        </p:spPr>
        <p:txBody>
          <a:bodyPr wrap="square" lIns="0" rIns="0" tIns="0" bIns="0" anchor="t" rtlCol="0">
            <a:spAutoFit/>
          </a:bodyPr>
          <a:lstStyle/>
          <a:p>
            <a:pPr rtl="1" algn="ctr" marL="0" indent="0">
              <a:lnSpc>
                <a:spcPct val="108000"/>
              </a:lnSpc>
              <a:buNone/>
            </a:pPr>
            <a:r>
              <a:rPr sz="2600" b="1" i="0" lang="he-IL">
                <a:solidFill>
                  <a:srgbClr val="6296FF"/>
                </a:solidFill>
                <a:latin typeface="Arial"/>
                <a:cs typeface="Arial"/>
              </a:rPr>
              <a:t>2026</a:t>
            </a:r>
          </a:p>
        </p:txBody>
      </p:sp>
      <p:sp>
        <p:nvSpPr>
          <p:cNvPr id="31" name="Rounded Rectangle 30"/>
          <p:cNvSpPr/>
          <p:nvPr/>
        </p:nvSpPr>
        <p:spPr>
          <a:xfrm>
            <a:off x="347472" y="3703320"/>
            <a:ext cx="1682496" cy="1828800"/>
          </a:xfrm>
          <a:prstGeom prst="roundRect">
            <a:avLst>
              <a:gd name="adj" fmla="val 3000"/>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38912" y="3858768"/>
            <a:ext cx="1499616" cy="365760"/>
          </a:xfrm>
          <a:prstGeom prst="rect">
            <a:avLst/>
          </a:prstGeom>
          <a:noFill/>
        </p:spPr>
        <p:txBody>
          <a:bodyPr wrap="square" lIns="0" rIns="0" tIns="0" bIns="0" anchor="t" rtlCol="0">
            <a:spAutoFit/>
          </a:bodyPr>
          <a:lstStyle/>
          <a:p>
            <a:pPr rtl="1" algn="ctr" marL="0" indent="0">
              <a:lnSpc>
                <a:spcPct val="108000"/>
              </a:lnSpc>
              <a:buNone/>
            </a:pPr>
            <a:r>
              <a:rPr sz="1500" b="1" i="0" lang="he-IL">
                <a:solidFill>
                  <a:srgbClr val="EBEDF0"/>
                </a:solidFill>
                <a:latin typeface="Arial"/>
                <a:cs typeface="Arial"/>
              </a:rPr>
              <a:t>היום</a:t>
            </a:r>
          </a:p>
        </p:txBody>
      </p:sp>
      <p:sp>
        <p:nvSpPr>
          <p:cNvPr id="33" name="TextBox 32"/>
          <p:cNvSpPr txBox="1"/>
          <p:nvPr/>
        </p:nvSpPr>
        <p:spPr>
          <a:xfrm>
            <a:off x="438912" y="4297680"/>
            <a:ext cx="1499616" cy="1188720"/>
          </a:xfrm>
          <a:prstGeom prst="rect">
            <a:avLst/>
          </a:prstGeom>
          <a:noFill/>
        </p:spPr>
        <p:txBody>
          <a:bodyPr wrap="square" lIns="0" rIns="0" tIns="0" bIns="0" anchor="t" rtlCol="0">
            <a:spAutoFit/>
          </a:bodyPr>
          <a:lstStyle/>
          <a:p>
            <a:pPr rtl="1" algn="ctr" marL="0" indent="0">
              <a:lnSpc>
                <a:spcPct val="108000"/>
              </a:lnSpc>
              <a:buNone/>
            </a:pPr>
            <a:r>
              <a:rPr sz="1250" b="0" i="0" lang="he-IL">
                <a:solidFill>
                  <a:srgbClr val="EBEDF0"/>
                </a:solidFill>
                <a:latin typeface="Arial"/>
                <a:cs typeface="Arial"/>
              </a:rPr>
              <a:t>AI שרואה, שומע, מדבר ומבצע משימות בעצמו</a:t>
            </a:r>
          </a:p>
        </p:txBody>
      </p:sp>
      <p:sp>
        <p:nvSpPr>
          <p:cNvPr id="34" name="Rounded Rectangle 33"/>
          <p:cNvSpPr/>
          <p:nvPr/>
        </p:nvSpPr>
        <p:spPr>
          <a:xfrm>
            <a:off x="658368" y="5760720"/>
            <a:ext cx="10872216" cy="548640"/>
          </a:xfrm>
          <a:prstGeom prst="roundRect">
            <a:avLst>
              <a:gd name="adj" fmla="val 3000"/>
            </a:avLst>
          </a:prstGeom>
          <a:solidFill>
            <a:srgbClr val="022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86968" y="5760720"/>
            <a:ext cx="10415016" cy="548640"/>
          </a:xfrm>
          <a:prstGeom prst="rect">
            <a:avLst/>
          </a:prstGeom>
          <a:noFill/>
        </p:spPr>
        <p:txBody>
          <a:bodyPr wrap="square" lIns="0" rIns="0" tIns="0" bIns="0" anchor="ctr" rtlCol="0">
            <a:spAutoFit/>
          </a:bodyPr>
          <a:lstStyle/>
          <a:p>
            <a:pPr rtl="1" algn="r" marL="0" indent="0">
              <a:lnSpc>
                <a:spcPct val="108000"/>
              </a:lnSpc>
              <a:buNone/>
            </a:pPr>
            <a:r>
              <a:rPr sz="1450" b="0" i="0" lang="he-IL">
                <a:solidFill>
                  <a:srgbClr val="EBEDF0"/>
                </a:solidFill>
                <a:latin typeface="Arial"/>
                <a:cs typeface="Arial"/>
              </a:rPr>
              <a:t>🚀  70 שנה של מחקר, ואז שלוש שנים ששינו הכול.</a:t>
            </a:r>
          </a:p>
        </p:txBody>
      </p:sp>
      <p:sp>
        <p:nvSpPr>
          <p:cNvPr id="36" name="TextBox 35"/>
          <p:cNvSpPr txBox="1"/>
          <p:nvPr/>
        </p:nvSpPr>
        <p:spPr>
          <a:xfrm>
            <a:off x="6675120" y="6473952"/>
            <a:ext cx="4846320" cy="292608"/>
          </a:xfrm>
          <a:prstGeom prst="rect">
            <a:avLst/>
          </a:prstGeom>
          <a:noFill/>
        </p:spPr>
        <p:txBody>
          <a:bodyPr wrap="none" lIns="0" rIns="0" tIns="0" bIns="0">
            <a:spAutoFit/>
          </a:bodyPr>
          <a:lstStyle/>
          <a:p>
            <a:pPr algn="r" rtl="1"/>
            <a:r>
              <a:rPr sz="1000">
                <a:solidFill>
                  <a:srgbClr val="8A96AA"/>
                </a:solidFill>
                <a:latin typeface="Arial"/>
                <a:cs typeface="Arial"/>
              </a:rPr>
              <a:t>© נערך על ידי AI Finance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02920"/>
            <a:ext cx="10872216" cy="640080"/>
          </a:xfrm>
          <a:prstGeom prst="rect">
            <a:avLst/>
          </a:prstGeom>
          <a:noFill/>
        </p:spPr>
        <p:txBody>
          <a:bodyPr wrap="square" lIns="0" rIns="0" tIns="0" bIns="0" anchor="t" rtlCol="0">
            <a:spAutoFit/>
          </a:bodyPr>
          <a:lstStyle/>
          <a:p>
            <a:pPr rtl="1" algn="r" marL="0" indent="0">
              <a:lnSpc>
                <a:spcPct val="108000"/>
              </a:lnSpc>
              <a:buNone/>
            </a:pPr>
            <a:r>
              <a:rPr sz="3700" b="1" i="0" lang="he-IL">
                <a:solidFill>
                  <a:srgbClr val="F2F5FA"/>
                </a:solidFill>
                <a:latin typeface="Arial"/>
                <a:cs typeface="Arial"/>
              </a:rPr>
              <a:t>הטכנולוגיה שהתפשטה הכי מהר בהיסטוריה</a:t>
            </a:r>
          </a:p>
        </p:txBody>
      </p:sp>
      <p:sp>
        <p:nvSpPr>
          <p:cNvPr id="3" name="TextBox 2"/>
          <p:cNvSpPr txBox="1"/>
          <p:nvPr/>
        </p:nvSpPr>
        <p:spPr>
          <a:xfrm>
            <a:off x="658368" y="1280160"/>
            <a:ext cx="10872216" cy="365760"/>
          </a:xfrm>
          <a:prstGeom prst="rect">
            <a:avLst/>
          </a:prstGeom>
          <a:noFill/>
        </p:spPr>
        <p:txBody>
          <a:bodyPr wrap="square" lIns="0" rIns="0" tIns="0" bIns="0" anchor="t" rtlCol="0">
            <a:spAutoFit/>
          </a:bodyPr>
          <a:lstStyle/>
          <a:p>
            <a:pPr rtl="1" algn="r" marL="0" indent="0">
              <a:lnSpc>
                <a:spcPct val="108000"/>
              </a:lnSpc>
              <a:buNone/>
            </a:pPr>
            <a:r>
              <a:rPr sz="1450" b="0" i="0" lang="he-IL">
                <a:solidFill>
                  <a:srgbClr val="A9B4C6"/>
                </a:solidFill>
                <a:latin typeface="Arial"/>
                <a:cs typeface="Arial"/>
              </a:rPr>
              <a:t>כמה זמן לקח להגיע למיליון משתמשים?</a:t>
            </a:r>
          </a:p>
        </p:txBody>
      </p:sp>
      <p:graphicFrame>
        <p:nvGraphicFramePr>
          <p:cNvPr id="4" name="Chart 3"/>
          <p:cNvGraphicFramePr>
            <a:graphicFrameLocks noGrp="1"/>
          </p:cNvGraphicFramePr>
          <p:nvPr/>
        </p:nvGraphicFramePr>
        <p:xfrm>
          <a:off x="658368" y="1920240"/>
          <a:ext cx="6675120" cy="3657600"/>
        </p:xfrm>
        <a:graphic>
          <a:graphicData uri="http://schemas.openxmlformats.org/drawingml/2006/chart">
            <c:chart xmlns:c="http://schemas.openxmlformats.org/drawingml/2006/chart" r:id="rId2"/>
          </a:graphicData>
        </a:graphic>
      </p:graphicFrame>
      <p:sp>
        <p:nvSpPr>
          <p:cNvPr id="5" name="TextBox 4"/>
          <p:cNvSpPr txBox="1"/>
          <p:nvPr/>
        </p:nvSpPr>
        <p:spPr>
          <a:xfrm>
            <a:off x="658368" y="5715000"/>
            <a:ext cx="6675120" cy="274320"/>
          </a:xfrm>
          <a:prstGeom prst="rect">
            <a:avLst/>
          </a:prstGeom>
          <a:noFill/>
        </p:spPr>
        <p:txBody>
          <a:bodyPr wrap="square" lIns="0" rIns="0" tIns="0" bIns="0" anchor="t" rtlCol="0">
            <a:spAutoFit/>
          </a:bodyPr>
          <a:lstStyle/>
          <a:p>
            <a:pPr rtl="1" algn="ctr" marL="0" indent="0">
              <a:lnSpc>
                <a:spcPct val="108000"/>
              </a:lnSpc>
              <a:buNone/>
            </a:pPr>
            <a:r>
              <a:rPr sz="1150" b="0" i="0" lang="he-IL">
                <a:solidFill>
                  <a:srgbClr val="A9B4C6"/>
                </a:solidFill>
                <a:latin typeface="Arial"/>
                <a:cs typeface="Arial"/>
              </a:rPr>
              <a:t>מקורות: Statista, UBS (2023)</a:t>
            </a:r>
          </a:p>
        </p:txBody>
      </p:sp>
      <p:sp>
        <p:nvSpPr>
          <p:cNvPr id="6" name="Rounded Rectangle 5"/>
          <p:cNvSpPr/>
          <p:nvPr/>
        </p:nvSpPr>
        <p:spPr>
          <a:xfrm>
            <a:off x="7863840" y="1920240"/>
            <a:ext cx="3666744" cy="169164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863840" y="2194560"/>
            <a:ext cx="3666744" cy="731520"/>
          </a:xfrm>
          <a:prstGeom prst="rect">
            <a:avLst/>
          </a:prstGeom>
          <a:noFill/>
        </p:spPr>
        <p:txBody>
          <a:bodyPr wrap="square" lIns="0" rIns="0" tIns="0" bIns="0" anchor="t" rtlCol="0">
            <a:spAutoFit/>
          </a:bodyPr>
          <a:lstStyle/>
          <a:p>
            <a:pPr rtl="1" algn="ctr" marL="0" indent="0">
              <a:lnSpc>
                <a:spcPct val="108000"/>
              </a:lnSpc>
              <a:buNone/>
            </a:pPr>
            <a:r>
              <a:rPr sz="4000" b="1" i="0" lang="he-IL">
                <a:solidFill>
                  <a:srgbClr val="6296FF"/>
                </a:solidFill>
                <a:latin typeface="Arial"/>
                <a:cs typeface="Arial"/>
              </a:rPr>
              <a:t>5 ימים</a:t>
            </a:r>
          </a:p>
        </p:txBody>
      </p:sp>
      <p:sp>
        <p:nvSpPr>
          <p:cNvPr id="8" name="TextBox 7"/>
          <p:cNvSpPr txBox="1"/>
          <p:nvPr/>
        </p:nvSpPr>
        <p:spPr>
          <a:xfrm>
            <a:off x="8001000" y="2971800"/>
            <a:ext cx="3392424" cy="457200"/>
          </a:xfrm>
          <a:prstGeom prst="rect">
            <a:avLst/>
          </a:prstGeom>
          <a:noFill/>
        </p:spPr>
        <p:txBody>
          <a:bodyPr wrap="square" lIns="0" rIns="0" tIns="0" bIns="0" anchor="t" rtlCol="0">
            <a:spAutoFit/>
          </a:bodyPr>
          <a:lstStyle/>
          <a:p>
            <a:pPr rtl="1" algn="ctr" marL="0" indent="0">
              <a:lnSpc>
                <a:spcPct val="108000"/>
              </a:lnSpc>
              <a:buNone/>
            </a:pPr>
            <a:r>
              <a:rPr sz="1450" b="0" i="0" lang="he-IL">
                <a:solidFill>
                  <a:srgbClr val="EBEDF0"/>
                </a:solidFill>
                <a:latin typeface="Arial"/>
                <a:cs typeface="Arial"/>
              </a:rPr>
              <a:t>למיליון המשתמשים הראשונים</a:t>
            </a:r>
          </a:p>
        </p:txBody>
      </p:sp>
      <p:sp>
        <p:nvSpPr>
          <p:cNvPr id="9" name="Rounded Rectangle 8"/>
          <p:cNvSpPr/>
          <p:nvPr/>
        </p:nvSpPr>
        <p:spPr>
          <a:xfrm>
            <a:off x="7863840" y="3840480"/>
            <a:ext cx="3666744" cy="169164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863840" y="4114800"/>
            <a:ext cx="3666744" cy="731520"/>
          </a:xfrm>
          <a:prstGeom prst="rect">
            <a:avLst/>
          </a:prstGeom>
          <a:noFill/>
        </p:spPr>
        <p:txBody>
          <a:bodyPr wrap="square" lIns="0" rIns="0" tIns="0" bIns="0" anchor="t" rtlCol="0">
            <a:spAutoFit/>
          </a:bodyPr>
          <a:lstStyle/>
          <a:p>
            <a:pPr rtl="1" algn="ctr" marL="0" indent="0">
              <a:lnSpc>
                <a:spcPct val="108000"/>
              </a:lnSpc>
              <a:buNone/>
            </a:pPr>
            <a:r>
              <a:rPr sz="4000" b="1" i="0" lang="he-IL">
                <a:solidFill>
                  <a:srgbClr val="6296FF"/>
                </a:solidFill>
                <a:latin typeface="Arial"/>
                <a:cs typeface="Arial"/>
              </a:rPr>
              <a:t>חודשיים</a:t>
            </a:r>
          </a:p>
        </p:txBody>
      </p:sp>
      <p:sp>
        <p:nvSpPr>
          <p:cNvPr id="11" name="TextBox 10"/>
          <p:cNvSpPr txBox="1"/>
          <p:nvPr/>
        </p:nvSpPr>
        <p:spPr>
          <a:xfrm>
            <a:off x="8001000" y="4892040"/>
            <a:ext cx="3392424" cy="457200"/>
          </a:xfrm>
          <a:prstGeom prst="rect">
            <a:avLst/>
          </a:prstGeom>
          <a:noFill/>
        </p:spPr>
        <p:txBody>
          <a:bodyPr wrap="square" lIns="0" rIns="0" tIns="0" bIns="0" anchor="t" rtlCol="0">
            <a:spAutoFit/>
          </a:bodyPr>
          <a:lstStyle/>
          <a:p>
            <a:pPr rtl="1" algn="ctr" marL="0" indent="0">
              <a:lnSpc>
                <a:spcPct val="108000"/>
              </a:lnSpc>
              <a:buNone/>
            </a:pPr>
            <a:r>
              <a:rPr sz="1450" b="0" i="0" lang="he-IL">
                <a:solidFill>
                  <a:srgbClr val="EBEDF0"/>
                </a:solidFill>
                <a:latin typeface="Arial"/>
                <a:cs typeface="Arial"/>
              </a:rPr>
              <a:t>ל-100 מיליון משתמשים</a:t>
            </a:r>
          </a:p>
        </p:txBody>
      </p:sp>
      <p:sp>
        <p:nvSpPr>
          <p:cNvPr id="12" name="Rounded Rectangle 11"/>
          <p:cNvSpPr/>
          <p:nvPr/>
        </p:nvSpPr>
        <p:spPr>
          <a:xfrm>
            <a:off x="7863840" y="5760720"/>
            <a:ext cx="3666744" cy="594360"/>
          </a:xfrm>
          <a:prstGeom prst="roundRect">
            <a:avLst>
              <a:gd name="adj" fmla="val 3000"/>
            </a:avLst>
          </a:prstGeom>
          <a:solidFill>
            <a:srgbClr val="022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92440" y="5760720"/>
            <a:ext cx="3209544" cy="594360"/>
          </a:xfrm>
          <a:prstGeom prst="rect">
            <a:avLst/>
          </a:prstGeom>
          <a:noFill/>
        </p:spPr>
        <p:txBody>
          <a:bodyPr wrap="square" lIns="0" rIns="0" tIns="0" bIns="0" anchor="ctr" rtlCol="0">
            <a:spAutoFit/>
          </a:bodyPr>
          <a:lstStyle/>
          <a:p>
            <a:pPr rtl="1" algn="r" marL="0" indent="0">
              <a:lnSpc>
                <a:spcPct val="108000"/>
              </a:lnSpc>
              <a:buNone/>
            </a:pPr>
            <a:r>
              <a:rPr sz="1350" b="0" i="0" lang="he-IL">
                <a:solidFill>
                  <a:srgbClr val="EBEDF0"/>
                </a:solidFill>
                <a:latin typeface="Arial"/>
                <a:cs typeface="Arial"/>
              </a:rPr>
              <a:t>👥  היום: מאות מיליוני משתמשים בכל שבוע</a:t>
            </a:r>
          </a:p>
        </p:txBody>
      </p:sp>
      <p:sp>
        <p:nvSpPr>
          <p:cNvPr id="14" name="TextBox 13"/>
          <p:cNvSpPr txBox="1"/>
          <p:nvPr/>
        </p:nvSpPr>
        <p:spPr>
          <a:xfrm>
            <a:off x="6675120" y="6473952"/>
            <a:ext cx="4846320" cy="292608"/>
          </a:xfrm>
          <a:prstGeom prst="rect">
            <a:avLst/>
          </a:prstGeom>
          <a:noFill/>
        </p:spPr>
        <p:txBody>
          <a:bodyPr wrap="none" lIns="0" rIns="0" tIns="0" bIns="0">
            <a:spAutoFit/>
          </a:bodyPr>
          <a:lstStyle/>
          <a:p>
            <a:pPr algn="r" rtl="1"/>
            <a:r>
              <a:rPr sz="1000">
                <a:solidFill>
                  <a:srgbClr val="8A96AA"/>
                </a:solidFill>
                <a:latin typeface="Arial"/>
                <a:cs typeface="Arial"/>
              </a:rPr>
              <a:t>© נערך על ידי AI Finance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746746"/>
            <a:ext cx="10868745" cy="614263"/>
          </a:xfrm>
          <a:prstGeom prst="rect">
            <a:avLst/>
          </a:prstGeom>
          <a:noFill/>
          <a:ln/>
        </p:spPr>
        <p:txBody>
          <a:bodyPr wrap="none" lIns="0" tIns="0" rIns="0" bIns="0" rtlCol="0" anchor="t"/>
          <a:lstStyle/>
          <a:p>
            <a:pPr rtl="1" algn="r" indent="0" marL="0">
              <a:lnSpc>
                <a:spcPct val="108000"/>
              </a:lnSpc>
              <a:buNone/>
            </a:pPr>
            <a:r>
              <a:rPr lang="he-IL" altLang="en-US" sz="3700" b="1" spc="-74" kern="100" dirty="0">
                <a:solidFill>
                  <a:srgbClr val="F2F5FA"/>
                </a:solidFill>
                <a:latin typeface="Arial" pitchFamily="34" charset="0"/>
                <a:ea typeface="Arial" pitchFamily="34" charset="-122"/>
                <a:cs typeface="Arial" pitchFamily="34" charset="-120"/>
              </a:rPr>
              <a:t>מה ההבדל בין AI לגוגל?</a:t>
            </a:r>
            <a:endParaRPr lang="he-IL" sz="3700" dirty="0"/>
          </a:p>
        </p:txBody>
      </p:sp>
      <p:sp>
        <p:nvSpPr>
          <p:cNvPr id="3" name="Shape 1"/>
          <p:cNvSpPr/>
          <p:nvPr/>
        </p:nvSpPr>
        <p:spPr>
          <a:xfrm>
            <a:off x="661475" y="2857103"/>
            <a:ext cx="5203794" cy="1157883"/>
          </a:xfrm>
          <a:prstGeom prst="roundRect">
            <a:avLst>
              <a:gd name="adj" fmla="val 6856"/>
            </a:avLst>
          </a:prstGeom>
          <a:solidFill>
            <a:srgbClr val="101620"/>
          </a:solidFill>
          <a:ln w="19050">
            <a:solidFill>
              <a:srgbClr val="002A80"/>
            </a:solidFill>
            <a:prstDash val="solid"/>
          </a:ln>
        </p:spPr>
        <p:txBody>
          <a:bodyPr/>
          <a:p/>
        </p:txBody>
      </p:sp>
      <p:sp>
        <p:nvSpPr>
          <p:cNvPr id="4" name="Text 2"/>
          <p:cNvSpPr/>
          <p:nvPr/>
        </p:nvSpPr>
        <p:spPr>
          <a:xfrm>
            <a:off x="869531" y="3065165"/>
            <a:ext cx="4787681" cy="307082"/>
          </a:xfrm>
          <a:prstGeom prst="rect">
            <a:avLst/>
          </a:prstGeom>
          <a:noFill/>
          <a:ln/>
        </p:spPr>
        <p:txBody>
          <a:bodyPr wrap="none" lIns="0" tIns="0" rIns="0" bIns="0" rtlCol="0" anchor="t"/>
          <a:lstStyle/>
          <a:p>
            <a:pPr rtl="1" algn="r" indent="0" marL="0">
              <a:lnSpc>
                <a:spcPct val="108000"/>
              </a:lnSpc>
              <a:buNone/>
            </a:pPr>
            <a:r>
              <a:rPr lang="he-IL" altLang="en-US" sz="1850" b="1" spc="-37"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850" b="1" spc="-37" kern="100" dirty="0">
                <a:solidFill>
                  <a:srgbClr val="EBEDF0"/>
                </a:solidFill>
                <a:latin typeface="Arial" pitchFamily="34" charset="0"/>
                <a:ea typeface="Arial" pitchFamily="34" charset="-122"/>
                <a:cs typeface="Arial" pitchFamily="34" charset="-120"/>
              </a:rPr>
              <a:t> גוגל</a:t>
            </a:r>
            <a:endParaRPr lang="he-IL" sz="1850" dirty="0"/>
          </a:p>
        </p:txBody>
      </p:sp>
      <p:sp>
        <p:nvSpPr>
          <p:cNvPr id="5" name="Text 3"/>
          <p:cNvSpPr/>
          <p:nvPr/>
        </p:nvSpPr>
        <p:spPr>
          <a:xfrm>
            <a:off x="869531" y="3561259"/>
            <a:ext cx="4787681" cy="245666"/>
          </a:xfrm>
          <a:prstGeom prst="rect">
            <a:avLst/>
          </a:prstGeom>
          <a:noFill/>
          <a:ln/>
        </p:spPr>
        <p:txBody>
          <a:bodyPr wrap="none" lIns="0" tIns="0" rIns="0" bIns="0" rtlCol="0" anchor="t"/>
          <a:lstStyle/>
          <a:p>
            <a:pPr rtl="1" algn="r" indent="0" marL="0">
              <a:lnSpc>
                <a:spcPct val="108000"/>
              </a:lnSpc>
              <a:buNone/>
            </a:pPr>
            <a:r>
              <a:rPr lang="he-IL" altLang="en-US" sz="1450" dirty="0">
                <a:solidFill>
                  <a:srgbClr val="EBEDF0"/>
                </a:solidFill>
                <a:latin typeface="Arial" pitchFamily="34" charset="0"/>
                <a:ea typeface="Arial" pitchFamily="34" charset="-122"/>
                <a:cs typeface="Arial" pitchFamily="34" charset="-120"/>
              </a:rPr>
              <a:t>מוצא דפים קיימים – אתם קוראים ומסכמים לבד.</a:t>
            </a:r>
            <a:endParaRPr lang="he-IL" sz="1450" dirty="0"/>
          </a:p>
        </p:txBody>
      </p:sp>
      <p:sp>
        <p:nvSpPr>
          <p:cNvPr id="6" name="Shape 4"/>
          <p:cNvSpPr/>
          <p:nvPr/>
        </p:nvSpPr>
        <p:spPr>
          <a:xfrm>
            <a:off x="6332776" y="2857103"/>
            <a:ext cx="5203794" cy="1157883"/>
          </a:xfrm>
          <a:prstGeom prst="roundRect">
            <a:avLst>
              <a:gd name="adj" fmla="val 6856"/>
            </a:avLst>
          </a:prstGeom>
          <a:solidFill>
            <a:srgbClr val="101620"/>
          </a:solidFill>
          <a:ln w="19050">
            <a:solidFill>
              <a:srgbClr val="002A80"/>
            </a:solidFill>
            <a:prstDash val="solid"/>
          </a:ln>
        </p:spPr>
        <p:txBody>
          <a:bodyPr/>
          <a:p/>
        </p:txBody>
      </p:sp>
      <p:sp>
        <p:nvSpPr>
          <p:cNvPr id="7" name="Text 5"/>
          <p:cNvSpPr/>
          <p:nvPr/>
        </p:nvSpPr>
        <p:spPr>
          <a:xfrm>
            <a:off x="6540832" y="3065165"/>
            <a:ext cx="4787681" cy="307082"/>
          </a:xfrm>
          <a:prstGeom prst="rect">
            <a:avLst/>
          </a:prstGeom>
          <a:noFill/>
          <a:ln/>
        </p:spPr>
        <p:txBody>
          <a:bodyPr wrap="none" lIns="0" tIns="0" rIns="0" bIns="0" rtlCol="0" anchor="t"/>
          <a:lstStyle/>
          <a:p>
            <a:pPr algn="l" indent="0" marL="0">
              <a:lnSpc>
                <a:spcPct val="108000"/>
              </a:lnSpc>
              <a:buNone/>
            </a:pPr>
            <a:r>
              <a:rPr lang="en-US" sz="1850" b="1" spc="-37" kern="100" dirty="0">
                <a:solidFill>
                  <a:srgbClr val="000000"/>
                </a:solidFill>
                <a:latin typeface="Noto Color Emoji" pitchFamily="34" charset="0"/>
                <a:ea typeface="Noto Color Emoji" pitchFamily="34" charset="-122"/>
                <a:cs typeface="Noto Color Emoji" pitchFamily="34" charset="-120"/>
              </a:rPr>
              <a:t>🤖</a:t>
            </a:r>
            <a:pPr algn="l" indent="0" marL="0">
              <a:lnSpc>
                <a:spcPct val="108000"/>
              </a:lnSpc>
              <a:buNone/>
            </a:pPr>
            <a:r>
              <a:rPr lang="en-US" sz="1850" b="1" spc="-37" kern="100" dirty="0">
                <a:solidFill>
                  <a:srgbClr val="EBEDF0"/>
                </a:solidFill>
                <a:latin typeface="Geist Bold" pitchFamily="34" charset="0"/>
                <a:ea typeface="Geist Bold" pitchFamily="34" charset="-122"/>
                <a:cs typeface="Geist Bold" pitchFamily="34" charset="-120"/>
              </a:rPr>
              <a:t> AI</a:t>
            </a:r>
            <a:endParaRPr lang="en-US" sz="1850" dirty="0"/>
          </a:p>
        </p:txBody>
      </p:sp>
      <p:sp>
        <p:nvSpPr>
          <p:cNvPr id="8" name="Text 6"/>
          <p:cNvSpPr/>
          <p:nvPr/>
        </p:nvSpPr>
        <p:spPr>
          <a:xfrm>
            <a:off x="6540832" y="3561259"/>
            <a:ext cx="4787681" cy="245666"/>
          </a:xfrm>
          <a:prstGeom prst="rect">
            <a:avLst/>
          </a:prstGeom>
          <a:noFill/>
          <a:ln/>
        </p:spPr>
        <p:txBody>
          <a:bodyPr wrap="none" lIns="0" tIns="0" rIns="0" bIns="0" rtlCol="0" anchor="t"/>
          <a:lstStyle/>
          <a:p>
            <a:pPr rtl="1" algn="r" indent="0" marL="0">
              <a:lnSpc>
                <a:spcPct val="108000"/>
              </a:lnSpc>
              <a:buNone/>
            </a:pPr>
            <a:r>
              <a:rPr lang="he-IL" altLang="en-US" sz="1450" dirty="0">
                <a:solidFill>
                  <a:srgbClr val="EBEDF0"/>
                </a:solidFill>
                <a:latin typeface="Arial" pitchFamily="34" charset="0"/>
                <a:ea typeface="Arial" pitchFamily="34" charset="-122"/>
                <a:cs typeface="Arial" pitchFamily="34" charset="-120"/>
              </a:rPr>
              <a:t>מייצר תשובה חדשה עבורכם – מסכם, מנסח, מנתח.</a:t>
            </a:r>
            <a:endParaRPr lang="he-IL" sz="1450" dirty="0"/>
          </a:p>
        </p:txBody>
      </p:sp>
      <p:sp>
        <p:nvSpPr>
          <p:cNvPr id="9" name="Text 7"/>
          <p:cNvSpPr/>
          <p:nvPr/>
        </p:nvSpPr>
        <p:spPr>
          <a:xfrm>
            <a:off x="51890" y="4652863"/>
            <a:ext cx="11194869" cy="245666"/>
          </a:xfrm>
          <a:prstGeom prst="rect">
            <a:avLst/>
          </a:prstGeom>
          <a:noFill/>
          <a:ln/>
        </p:spPr>
        <p:txBody>
          <a:bodyPr wrap="none" lIns="0" tIns="0" rIns="0" bIns="0" rtlCol="0" anchor="t"/>
          <a:lstStyle/>
          <a:p>
            <a:pPr rtl="1" algn="r" indent="0" marL="0">
              <a:lnSpc>
                <a:spcPct val="108000"/>
              </a:lnSpc>
              <a:buNone/>
            </a:pPr>
            <a:r>
              <a:rPr lang="he-IL" altLang="en-US" sz="1450" b="1" dirty="0">
                <a:solidFill>
                  <a:srgbClr val="EBEDF0"/>
                </a:solidFill>
                <a:latin typeface="Arial" pitchFamily="34" charset="0"/>
                <a:ea typeface="Arial" pitchFamily="34" charset="-122"/>
                <a:cs typeface="Arial" pitchFamily="34" charset="-120"/>
              </a:rPr>
              <a:t>במשפט אחד:</a:t>
            </a:r>
            <a:pPr rtl="1" algn="r" indent="0" marL="0">
              <a:lnSpc>
                <a:spcPct val="108000"/>
              </a:lnSpc>
              <a:buNone/>
            </a:pPr>
            <a:r>
              <a:rPr lang="he-IL" altLang="en-US" sz="1450" dirty="0">
                <a:solidFill>
                  <a:srgbClr val="EBEDF0"/>
                </a:solidFill>
                <a:latin typeface="Arial" pitchFamily="34" charset="0"/>
                <a:ea typeface="Arial" pitchFamily="34" charset="-122"/>
                <a:cs typeface="Arial" pitchFamily="34" charset="-120"/>
              </a:rPr>
              <a:t> גוגל = ספרייה. AI = עוזר אישי שקרא את כל הספרייה.</a:t>
            </a:r>
            <a:endParaRPr lang="he-IL" sz="1450" dirty="0"/>
          </a:p>
        </p:txBody>
      </p:sp>
      <p:sp>
        <p:nvSpPr>
          <p:cNvPr id="10" name="Shape 8"/>
          <p:cNvSpPr/>
          <p:nvPr/>
        </p:nvSpPr>
        <p:spPr>
          <a:xfrm>
            <a:off x="11504821" y="4440238"/>
            <a:ext cx="25399" cy="670917"/>
          </a:xfrm>
          <a:prstGeom prst="roundRect">
            <a:avLst>
              <a:gd name="adj" fmla="val 50001"/>
            </a:avLst>
          </a:prstGeom>
          <a:solidFill>
            <a:srgbClr val="6296FF"/>
          </a:solidFill>
          <a:ln/>
        </p:spPr>
        <p:txBody>
          <a:bodyPr/>
          <a:p/>
        </p:txBody>
      </p:sp>
      <p:sp>
        <p:nvSpPr>
          <p:cNvPr id="11" name="TextBox 10"/>
          <p:cNvSpPr txBox="1"/>
          <p:nvPr/>
        </p:nvSpPr>
        <p:spPr>
          <a:xfrm>
            <a:off x="6675120" y="6473952"/>
            <a:ext cx="4846320" cy="292608"/>
          </a:xfrm>
          <a:prstGeom prst="rect">
            <a:avLst/>
          </a:prstGeom>
          <a:noFill/>
        </p:spPr>
        <p:txBody>
          <a:bodyPr wrap="none" lIns="0" rIns="0" tIns="0" bIns="0">
            <a:spAutoFit/>
          </a:bodyPr>
          <a:lstStyle/>
          <a:p>
            <a:pPr algn="r" rtl="1"/>
            <a:r>
              <a:rPr sz="1000">
                <a:solidFill>
                  <a:srgbClr val="8A96AA"/>
                </a:solidFill>
                <a:latin typeface="Arial"/>
                <a:cs typeface="Arial"/>
              </a:rPr>
              <a:t>© נערך על ידי AI Finance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02920"/>
            <a:ext cx="10872216" cy="640080"/>
          </a:xfrm>
          <a:prstGeom prst="rect">
            <a:avLst/>
          </a:prstGeom>
          <a:noFill/>
        </p:spPr>
        <p:txBody>
          <a:bodyPr wrap="square" lIns="0" rIns="0" tIns="0" bIns="0" anchor="t" rtlCol="0">
            <a:spAutoFit/>
          </a:bodyPr>
          <a:lstStyle/>
          <a:p>
            <a:pPr rtl="1" algn="r" marL="0" indent="0">
              <a:lnSpc>
                <a:spcPct val="108000"/>
              </a:lnSpc>
              <a:buNone/>
            </a:pPr>
            <a:r>
              <a:rPr sz="3700" b="1" i="0" lang="he-IL">
                <a:solidFill>
                  <a:srgbClr val="F2F5FA"/>
                </a:solidFill>
                <a:latin typeface="Arial"/>
                <a:cs typeface="Arial"/>
              </a:rPr>
              <a:t>מפת עולם ה-AI: שש משפחות של כלים</a:t>
            </a:r>
          </a:p>
        </p:txBody>
      </p:sp>
      <p:sp>
        <p:nvSpPr>
          <p:cNvPr id="3" name="TextBox 2"/>
          <p:cNvSpPr txBox="1"/>
          <p:nvPr/>
        </p:nvSpPr>
        <p:spPr>
          <a:xfrm>
            <a:off x="658368" y="1280160"/>
            <a:ext cx="10872216" cy="365760"/>
          </a:xfrm>
          <a:prstGeom prst="rect">
            <a:avLst/>
          </a:prstGeom>
          <a:noFill/>
        </p:spPr>
        <p:txBody>
          <a:bodyPr wrap="square" lIns="0" rIns="0" tIns="0" bIns="0" anchor="t" rtlCol="0">
            <a:spAutoFit/>
          </a:bodyPr>
          <a:lstStyle/>
          <a:p>
            <a:pPr rtl="1" algn="r" marL="0" indent="0">
              <a:lnSpc>
                <a:spcPct val="108000"/>
              </a:lnSpc>
              <a:buNone/>
            </a:pPr>
            <a:r>
              <a:rPr sz="1450" b="0" i="0" lang="he-IL">
                <a:solidFill>
                  <a:srgbClr val="A9B4C6"/>
                </a:solidFill>
                <a:latin typeface="Arial"/>
                <a:cs typeface="Arial"/>
              </a:rPr>
              <a:t>צ'אט הוא רק ההתחלה. הנה מה שקיים בחוץ</a:t>
            </a:r>
          </a:p>
        </p:txBody>
      </p:sp>
      <p:sp>
        <p:nvSpPr>
          <p:cNvPr id="4" name="Rounded Rectangle 3"/>
          <p:cNvSpPr/>
          <p:nvPr/>
        </p:nvSpPr>
        <p:spPr>
          <a:xfrm>
            <a:off x="8092440" y="1920240"/>
            <a:ext cx="3447288" cy="155448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808208" y="2103120"/>
            <a:ext cx="548640" cy="548640"/>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700" b="1" i="0" lang="he-IL">
                <a:solidFill>
                  <a:srgbClr val="F2F5FA"/>
                </a:solidFill>
                <a:latin typeface="Arial"/>
                <a:cs typeface="Arial"/>
              </a:rPr>
              <a:t>💬</a:t>
            </a:r>
          </a:p>
        </p:txBody>
      </p:sp>
      <p:sp>
        <p:nvSpPr>
          <p:cNvPr id="6" name="TextBox 5"/>
          <p:cNvSpPr txBox="1"/>
          <p:nvPr/>
        </p:nvSpPr>
        <p:spPr>
          <a:xfrm>
            <a:off x="8275319" y="2139696"/>
            <a:ext cx="237744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עוזרי שיחה</a:t>
            </a:r>
          </a:p>
        </p:txBody>
      </p:sp>
      <p:sp>
        <p:nvSpPr>
          <p:cNvPr id="7" name="TextBox 6"/>
          <p:cNvSpPr txBox="1"/>
          <p:nvPr/>
        </p:nvSpPr>
        <p:spPr>
          <a:xfrm>
            <a:off x="8275319" y="2505456"/>
            <a:ext cx="2377440" cy="457200"/>
          </a:xfrm>
          <a:prstGeom prst="rect">
            <a:avLst/>
          </a:prstGeom>
          <a:noFill/>
        </p:spPr>
        <p:txBody>
          <a:bodyPr wrap="square" lIns="0" rIns="0" tIns="0" bIns="0" anchor="t" rtlCol="0">
            <a:spAutoFit/>
          </a:bodyPr>
          <a:lstStyle/>
          <a:p>
            <a:pPr rtl="1" algn="r" marL="0" indent="0">
              <a:lnSpc>
                <a:spcPct val="108000"/>
              </a:lnSpc>
              <a:buNone/>
            </a:pPr>
            <a:r>
              <a:rPr sz="1300" b="0" i="0" lang="he-IL">
                <a:solidFill>
                  <a:srgbClr val="A9B4C6"/>
                </a:solidFill>
                <a:latin typeface="Arial"/>
                <a:cs typeface="Arial"/>
              </a:rPr>
              <a:t>כותבים, מסבירים, מנתחים</a:t>
            </a:r>
          </a:p>
        </p:txBody>
      </p:sp>
      <p:sp>
        <p:nvSpPr>
          <p:cNvPr id="8" name="TextBox 7"/>
          <p:cNvSpPr txBox="1"/>
          <p:nvPr/>
        </p:nvSpPr>
        <p:spPr>
          <a:xfrm>
            <a:off x="8275319" y="3035808"/>
            <a:ext cx="3081528" cy="365760"/>
          </a:xfrm>
          <a:prstGeom prst="rect">
            <a:avLst/>
          </a:prstGeom>
          <a:noFill/>
        </p:spPr>
        <p:txBody>
          <a:bodyPr wrap="square" lIns="0" rIns="0" tIns="0" bIns="0" anchor="t" rtlCol="0">
            <a:spAutoFit/>
          </a:bodyPr>
          <a:lstStyle/>
          <a:p>
            <a:pPr rtl="1" algn="r" marL="0" indent="0">
              <a:lnSpc>
                <a:spcPct val="108000"/>
              </a:lnSpc>
              <a:buNone/>
            </a:pPr>
            <a:r>
              <a:rPr sz="1150" b="1" i="0" lang="he-IL">
                <a:solidFill>
                  <a:srgbClr val="6296FF"/>
                </a:solidFill>
                <a:latin typeface="Arial"/>
                <a:cs typeface="Arial"/>
              </a:rPr>
              <a:t>ChatGPT · Claude · Gemini · Copilot +</a:t>
            </a:r>
          </a:p>
        </p:txBody>
      </p:sp>
      <p:sp>
        <p:nvSpPr>
          <p:cNvPr id="9" name="Rounded Rectangle 8"/>
          <p:cNvSpPr/>
          <p:nvPr/>
        </p:nvSpPr>
        <p:spPr>
          <a:xfrm>
            <a:off x="4370831" y="1920240"/>
            <a:ext cx="3447288" cy="155448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7086600" y="2103120"/>
            <a:ext cx="548640" cy="548640"/>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700" b="1" i="0" lang="he-IL">
                <a:solidFill>
                  <a:srgbClr val="F2F5FA"/>
                </a:solidFill>
                <a:latin typeface="Arial"/>
                <a:cs typeface="Arial"/>
              </a:rPr>
              <a:t>🎨</a:t>
            </a:r>
          </a:p>
        </p:txBody>
      </p:sp>
      <p:sp>
        <p:nvSpPr>
          <p:cNvPr id="11" name="TextBox 10"/>
          <p:cNvSpPr txBox="1"/>
          <p:nvPr/>
        </p:nvSpPr>
        <p:spPr>
          <a:xfrm>
            <a:off x="4553712" y="2139696"/>
            <a:ext cx="237744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תמונות ועיצוב</a:t>
            </a:r>
          </a:p>
        </p:txBody>
      </p:sp>
      <p:sp>
        <p:nvSpPr>
          <p:cNvPr id="12" name="TextBox 11"/>
          <p:cNvSpPr txBox="1"/>
          <p:nvPr/>
        </p:nvSpPr>
        <p:spPr>
          <a:xfrm>
            <a:off x="4553712" y="2505456"/>
            <a:ext cx="2377440" cy="457200"/>
          </a:xfrm>
          <a:prstGeom prst="rect">
            <a:avLst/>
          </a:prstGeom>
          <a:noFill/>
        </p:spPr>
        <p:txBody>
          <a:bodyPr wrap="square" lIns="0" rIns="0" tIns="0" bIns="0" anchor="t" rtlCol="0">
            <a:spAutoFit/>
          </a:bodyPr>
          <a:lstStyle/>
          <a:p>
            <a:pPr rtl="1" algn="r" marL="0" indent="0">
              <a:lnSpc>
                <a:spcPct val="108000"/>
              </a:lnSpc>
              <a:buNone/>
            </a:pPr>
            <a:r>
              <a:rPr sz="1300" b="0" i="0" lang="he-IL">
                <a:solidFill>
                  <a:srgbClr val="A9B4C6"/>
                </a:solidFill>
                <a:latin typeface="Arial"/>
                <a:cs typeface="Arial"/>
              </a:rPr>
              <a:t>מתיאור במילים לתמונה</a:t>
            </a:r>
          </a:p>
        </p:txBody>
      </p:sp>
      <p:sp>
        <p:nvSpPr>
          <p:cNvPr id="13" name="TextBox 12"/>
          <p:cNvSpPr txBox="1"/>
          <p:nvPr/>
        </p:nvSpPr>
        <p:spPr>
          <a:xfrm>
            <a:off x="4553712" y="3035808"/>
            <a:ext cx="3081528" cy="365760"/>
          </a:xfrm>
          <a:prstGeom prst="rect">
            <a:avLst/>
          </a:prstGeom>
          <a:noFill/>
        </p:spPr>
        <p:txBody>
          <a:bodyPr wrap="square" lIns="0" rIns="0" tIns="0" bIns="0" anchor="t" rtlCol="0">
            <a:spAutoFit/>
          </a:bodyPr>
          <a:lstStyle/>
          <a:p>
            <a:pPr rtl="1" algn="r" marL="0" indent="0">
              <a:lnSpc>
                <a:spcPct val="108000"/>
              </a:lnSpc>
              <a:buNone/>
            </a:pPr>
            <a:r>
              <a:rPr sz="1150" b="1" i="0" lang="he-IL">
                <a:solidFill>
                  <a:srgbClr val="6296FF"/>
                </a:solidFill>
                <a:latin typeface="Arial"/>
                <a:cs typeface="Arial"/>
              </a:rPr>
              <a:t>ChatGPT · Gemini · Midjourney · Canva</a:t>
            </a:r>
          </a:p>
        </p:txBody>
      </p:sp>
      <p:sp>
        <p:nvSpPr>
          <p:cNvPr id="14" name="Rounded Rectangle 13"/>
          <p:cNvSpPr/>
          <p:nvPr/>
        </p:nvSpPr>
        <p:spPr>
          <a:xfrm>
            <a:off x="649223" y="1920240"/>
            <a:ext cx="3447288" cy="155448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3364991" y="2103120"/>
            <a:ext cx="548640" cy="548640"/>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700" b="1" i="0" lang="he-IL">
                <a:solidFill>
                  <a:srgbClr val="F2F5FA"/>
                </a:solidFill>
                <a:latin typeface="Arial"/>
                <a:cs typeface="Arial"/>
              </a:rPr>
              <a:t>🎬</a:t>
            </a:r>
          </a:p>
        </p:txBody>
      </p:sp>
      <p:sp>
        <p:nvSpPr>
          <p:cNvPr id="16" name="TextBox 15"/>
          <p:cNvSpPr txBox="1"/>
          <p:nvPr/>
        </p:nvSpPr>
        <p:spPr>
          <a:xfrm>
            <a:off x="832103" y="2139696"/>
            <a:ext cx="237744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וידאו</a:t>
            </a:r>
          </a:p>
        </p:txBody>
      </p:sp>
      <p:sp>
        <p:nvSpPr>
          <p:cNvPr id="17" name="TextBox 16"/>
          <p:cNvSpPr txBox="1"/>
          <p:nvPr/>
        </p:nvSpPr>
        <p:spPr>
          <a:xfrm>
            <a:off x="832103" y="2505456"/>
            <a:ext cx="2377440" cy="457200"/>
          </a:xfrm>
          <a:prstGeom prst="rect">
            <a:avLst/>
          </a:prstGeom>
          <a:noFill/>
        </p:spPr>
        <p:txBody>
          <a:bodyPr wrap="square" lIns="0" rIns="0" tIns="0" bIns="0" anchor="t" rtlCol="0">
            <a:spAutoFit/>
          </a:bodyPr>
          <a:lstStyle/>
          <a:p>
            <a:pPr rtl="1" algn="r" marL="0" indent="0">
              <a:lnSpc>
                <a:spcPct val="108000"/>
              </a:lnSpc>
              <a:buNone/>
            </a:pPr>
            <a:r>
              <a:rPr sz="1300" b="0" i="0" lang="he-IL">
                <a:solidFill>
                  <a:srgbClr val="A9B4C6"/>
                </a:solidFill>
                <a:latin typeface="Arial"/>
                <a:cs typeface="Arial"/>
              </a:rPr>
              <a:t>סרטון קצר מתיאור או מתמונה</a:t>
            </a:r>
          </a:p>
        </p:txBody>
      </p:sp>
      <p:sp>
        <p:nvSpPr>
          <p:cNvPr id="18" name="TextBox 17"/>
          <p:cNvSpPr txBox="1"/>
          <p:nvPr/>
        </p:nvSpPr>
        <p:spPr>
          <a:xfrm>
            <a:off x="832103" y="3035808"/>
            <a:ext cx="3081528" cy="365760"/>
          </a:xfrm>
          <a:prstGeom prst="rect">
            <a:avLst/>
          </a:prstGeom>
          <a:noFill/>
        </p:spPr>
        <p:txBody>
          <a:bodyPr wrap="square" lIns="0" rIns="0" tIns="0" bIns="0" anchor="t" rtlCol="0">
            <a:spAutoFit/>
          </a:bodyPr>
          <a:lstStyle/>
          <a:p>
            <a:pPr rtl="1" algn="r" marL="0" indent="0">
              <a:lnSpc>
                <a:spcPct val="108000"/>
              </a:lnSpc>
              <a:buNone/>
            </a:pPr>
            <a:r>
              <a:rPr sz="1150" b="1" i="0" lang="he-IL">
                <a:solidFill>
                  <a:srgbClr val="6296FF"/>
                </a:solidFill>
                <a:latin typeface="Arial"/>
                <a:cs typeface="Arial"/>
              </a:rPr>
              <a:t>Sora · Veo · Runway · Kling</a:t>
            </a:r>
          </a:p>
        </p:txBody>
      </p:sp>
      <p:sp>
        <p:nvSpPr>
          <p:cNvPr id="19" name="Rounded Rectangle 18"/>
          <p:cNvSpPr/>
          <p:nvPr/>
        </p:nvSpPr>
        <p:spPr>
          <a:xfrm>
            <a:off x="8092440" y="3675887"/>
            <a:ext cx="3447288" cy="155448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10808208" y="3858768"/>
            <a:ext cx="548640" cy="548640"/>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700" b="1" i="0" lang="he-IL">
                <a:solidFill>
                  <a:srgbClr val="F2F5FA"/>
                </a:solidFill>
                <a:latin typeface="Arial"/>
                <a:cs typeface="Arial"/>
              </a:rPr>
              <a:t>🎙️</a:t>
            </a:r>
          </a:p>
        </p:txBody>
      </p:sp>
      <p:sp>
        <p:nvSpPr>
          <p:cNvPr id="21" name="TextBox 20"/>
          <p:cNvSpPr txBox="1"/>
          <p:nvPr/>
        </p:nvSpPr>
        <p:spPr>
          <a:xfrm>
            <a:off x="8275319" y="3895344"/>
            <a:ext cx="237744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קול ומוזיקה</a:t>
            </a:r>
          </a:p>
        </p:txBody>
      </p:sp>
      <p:sp>
        <p:nvSpPr>
          <p:cNvPr id="22" name="TextBox 21"/>
          <p:cNvSpPr txBox="1"/>
          <p:nvPr/>
        </p:nvSpPr>
        <p:spPr>
          <a:xfrm>
            <a:off x="8275319" y="4261103"/>
            <a:ext cx="2377440" cy="457200"/>
          </a:xfrm>
          <a:prstGeom prst="rect">
            <a:avLst/>
          </a:prstGeom>
          <a:noFill/>
        </p:spPr>
        <p:txBody>
          <a:bodyPr wrap="square" lIns="0" rIns="0" tIns="0" bIns="0" anchor="t" rtlCol="0">
            <a:spAutoFit/>
          </a:bodyPr>
          <a:lstStyle/>
          <a:p>
            <a:pPr rtl="1" algn="r" marL="0" indent="0">
              <a:lnSpc>
                <a:spcPct val="108000"/>
              </a:lnSpc>
              <a:buNone/>
            </a:pPr>
            <a:r>
              <a:rPr sz="1300" b="0" i="0" lang="he-IL">
                <a:solidFill>
                  <a:srgbClr val="A9B4C6"/>
                </a:solidFill>
                <a:latin typeface="Arial"/>
                <a:cs typeface="Arial"/>
              </a:rPr>
              <a:t>הקראה, דיבוב ושיר שלם בדקה</a:t>
            </a:r>
          </a:p>
        </p:txBody>
      </p:sp>
      <p:sp>
        <p:nvSpPr>
          <p:cNvPr id="23" name="TextBox 22"/>
          <p:cNvSpPr txBox="1"/>
          <p:nvPr/>
        </p:nvSpPr>
        <p:spPr>
          <a:xfrm>
            <a:off x="8275319" y="4791455"/>
            <a:ext cx="3081528" cy="365760"/>
          </a:xfrm>
          <a:prstGeom prst="rect">
            <a:avLst/>
          </a:prstGeom>
          <a:noFill/>
        </p:spPr>
        <p:txBody>
          <a:bodyPr wrap="square" lIns="0" rIns="0" tIns="0" bIns="0" anchor="t" rtlCol="0">
            <a:spAutoFit/>
          </a:bodyPr>
          <a:lstStyle/>
          <a:p>
            <a:pPr rtl="1" algn="r" marL="0" indent="0">
              <a:lnSpc>
                <a:spcPct val="108000"/>
              </a:lnSpc>
              <a:buNone/>
            </a:pPr>
            <a:r>
              <a:rPr sz="1150" b="1" i="0" lang="he-IL">
                <a:solidFill>
                  <a:srgbClr val="6296FF"/>
                </a:solidFill>
                <a:latin typeface="Arial"/>
                <a:cs typeface="Arial"/>
              </a:rPr>
              <a:t>ElevenLabs · Suno</a:t>
            </a:r>
          </a:p>
        </p:txBody>
      </p:sp>
      <p:sp>
        <p:nvSpPr>
          <p:cNvPr id="24" name="Rounded Rectangle 23"/>
          <p:cNvSpPr/>
          <p:nvPr/>
        </p:nvSpPr>
        <p:spPr>
          <a:xfrm>
            <a:off x="4370831" y="3675887"/>
            <a:ext cx="3447288" cy="155448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7086600" y="3858768"/>
            <a:ext cx="548640" cy="548640"/>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700" b="1" i="0" lang="he-IL">
                <a:solidFill>
                  <a:srgbClr val="F2F5FA"/>
                </a:solidFill>
                <a:latin typeface="Arial"/>
                <a:cs typeface="Arial"/>
              </a:rPr>
              <a:t>🔎</a:t>
            </a:r>
          </a:p>
        </p:txBody>
      </p:sp>
      <p:sp>
        <p:nvSpPr>
          <p:cNvPr id="26" name="TextBox 25"/>
          <p:cNvSpPr txBox="1"/>
          <p:nvPr/>
        </p:nvSpPr>
        <p:spPr>
          <a:xfrm>
            <a:off x="4553712" y="3895344"/>
            <a:ext cx="237744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מחקר ולמידה</a:t>
            </a:r>
          </a:p>
        </p:txBody>
      </p:sp>
      <p:sp>
        <p:nvSpPr>
          <p:cNvPr id="27" name="TextBox 26"/>
          <p:cNvSpPr txBox="1"/>
          <p:nvPr/>
        </p:nvSpPr>
        <p:spPr>
          <a:xfrm>
            <a:off x="4553712" y="4261103"/>
            <a:ext cx="2377440" cy="457200"/>
          </a:xfrm>
          <a:prstGeom prst="rect">
            <a:avLst/>
          </a:prstGeom>
          <a:noFill/>
        </p:spPr>
        <p:txBody>
          <a:bodyPr wrap="square" lIns="0" rIns="0" tIns="0" bIns="0" anchor="t" rtlCol="0">
            <a:spAutoFit/>
          </a:bodyPr>
          <a:lstStyle/>
          <a:p>
            <a:pPr rtl="1" algn="r" marL="0" indent="0">
              <a:lnSpc>
                <a:spcPct val="108000"/>
              </a:lnSpc>
              <a:buNone/>
            </a:pPr>
            <a:r>
              <a:rPr sz="1300" b="0" i="0" lang="he-IL">
                <a:solidFill>
                  <a:srgbClr val="A9B4C6"/>
                </a:solidFill>
                <a:latin typeface="Arial"/>
                <a:cs typeface="Arial"/>
              </a:rPr>
              <a:t>תשובות עם מקורות, למידה מהמסמכים שלכם</a:t>
            </a:r>
          </a:p>
        </p:txBody>
      </p:sp>
      <p:sp>
        <p:nvSpPr>
          <p:cNvPr id="28" name="TextBox 27"/>
          <p:cNvSpPr txBox="1"/>
          <p:nvPr/>
        </p:nvSpPr>
        <p:spPr>
          <a:xfrm>
            <a:off x="4553712" y="4791455"/>
            <a:ext cx="3081528" cy="365760"/>
          </a:xfrm>
          <a:prstGeom prst="rect">
            <a:avLst/>
          </a:prstGeom>
          <a:noFill/>
        </p:spPr>
        <p:txBody>
          <a:bodyPr wrap="square" lIns="0" rIns="0" tIns="0" bIns="0" anchor="t" rtlCol="0">
            <a:spAutoFit/>
          </a:bodyPr>
          <a:lstStyle/>
          <a:p>
            <a:pPr rtl="1" algn="r" marL="0" indent="0">
              <a:lnSpc>
                <a:spcPct val="108000"/>
              </a:lnSpc>
              <a:buNone/>
            </a:pPr>
            <a:r>
              <a:rPr sz="1150" b="1" i="0" lang="he-IL">
                <a:solidFill>
                  <a:srgbClr val="6296FF"/>
                </a:solidFill>
                <a:latin typeface="Arial"/>
                <a:cs typeface="Arial"/>
              </a:rPr>
              <a:t>Perplexity · NotebookLM</a:t>
            </a:r>
          </a:p>
        </p:txBody>
      </p:sp>
      <p:sp>
        <p:nvSpPr>
          <p:cNvPr id="29" name="Rounded Rectangle 28"/>
          <p:cNvSpPr/>
          <p:nvPr/>
        </p:nvSpPr>
        <p:spPr>
          <a:xfrm>
            <a:off x="649223" y="3675887"/>
            <a:ext cx="3447288" cy="155448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3364991" y="3858768"/>
            <a:ext cx="548640" cy="548640"/>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700" b="1" i="0" lang="he-IL">
                <a:solidFill>
                  <a:srgbClr val="F2F5FA"/>
                </a:solidFill>
                <a:latin typeface="Arial"/>
                <a:cs typeface="Arial"/>
              </a:rPr>
              <a:t>⚡</a:t>
            </a:r>
          </a:p>
        </p:txBody>
      </p:sp>
      <p:sp>
        <p:nvSpPr>
          <p:cNvPr id="31" name="TextBox 30"/>
          <p:cNvSpPr txBox="1"/>
          <p:nvPr/>
        </p:nvSpPr>
        <p:spPr>
          <a:xfrm>
            <a:off x="832103" y="3895344"/>
            <a:ext cx="237744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פרודוקטיביות ובנייה</a:t>
            </a:r>
          </a:p>
        </p:txBody>
      </p:sp>
      <p:sp>
        <p:nvSpPr>
          <p:cNvPr id="32" name="TextBox 31"/>
          <p:cNvSpPr txBox="1"/>
          <p:nvPr/>
        </p:nvSpPr>
        <p:spPr>
          <a:xfrm>
            <a:off x="832103" y="4261103"/>
            <a:ext cx="2377440" cy="457200"/>
          </a:xfrm>
          <a:prstGeom prst="rect">
            <a:avLst/>
          </a:prstGeom>
          <a:noFill/>
        </p:spPr>
        <p:txBody>
          <a:bodyPr wrap="square" lIns="0" rIns="0" tIns="0" bIns="0" anchor="t" rtlCol="0">
            <a:spAutoFit/>
          </a:bodyPr>
          <a:lstStyle/>
          <a:p>
            <a:pPr rtl="1" algn="r" marL="0" indent="0">
              <a:lnSpc>
                <a:spcPct val="108000"/>
              </a:lnSpc>
              <a:buNone/>
            </a:pPr>
            <a:r>
              <a:rPr sz="1300" b="0" i="0" lang="he-IL">
                <a:solidFill>
                  <a:srgbClr val="A9B4C6"/>
                </a:solidFill>
                <a:latin typeface="Arial"/>
                <a:cs typeface="Arial"/>
              </a:rPr>
              <a:t>מצגות, עיצוב ואפילו אפליקציות</a:t>
            </a:r>
          </a:p>
        </p:txBody>
      </p:sp>
      <p:sp>
        <p:nvSpPr>
          <p:cNvPr id="33" name="TextBox 32"/>
          <p:cNvSpPr txBox="1"/>
          <p:nvPr/>
        </p:nvSpPr>
        <p:spPr>
          <a:xfrm>
            <a:off x="832103" y="4791455"/>
            <a:ext cx="3081528" cy="365760"/>
          </a:xfrm>
          <a:prstGeom prst="rect">
            <a:avLst/>
          </a:prstGeom>
          <a:noFill/>
        </p:spPr>
        <p:txBody>
          <a:bodyPr wrap="square" lIns="0" rIns="0" tIns="0" bIns="0" anchor="t" rtlCol="0">
            <a:spAutoFit/>
          </a:bodyPr>
          <a:lstStyle/>
          <a:p>
            <a:pPr rtl="1" algn="r" marL="0" indent="0">
              <a:lnSpc>
                <a:spcPct val="108000"/>
              </a:lnSpc>
              <a:buNone/>
            </a:pPr>
            <a:r>
              <a:rPr sz="1150" b="1" i="0" lang="he-IL">
                <a:solidFill>
                  <a:srgbClr val="6296FF"/>
                </a:solidFill>
                <a:latin typeface="Arial"/>
                <a:cs typeface="Arial"/>
              </a:rPr>
              <a:t>Gamma · Canva · Lovable</a:t>
            </a:r>
          </a:p>
        </p:txBody>
      </p:sp>
      <p:sp>
        <p:nvSpPr>
          <p:cNvPr id="34" name="Rounded Rectangle 33"/>
          <p:cNvSpPr/>
          <p:nvPr/>
        </p:nvSpPr>
        <p:spPr>
          <a:xfrm>
            <a:off x="658368" y="5532120"/>
            <a:ext cx="10872216" cy="640080"/>
          </a:xfrm>
          <a:prstGeom prst="roundRect">
            <a:avLst>
              <a:gd name="adj" fmla="val 3000"/>
            </a:avLst>
          </a:prstGeom>
          <a:solidFill>
            <a:srgbClr val="022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86968" y="5532120"/>
            <a:ext cx="10415016" cy="640080"/>
          </a:xfrm>
          <a:prstGeom prst="rect">
            <a:avLst/>
          </a:prstGeom>
          <a:noFill/>
        </p:spPr>
        <p:txBody>
          <a:bodyPr wrap="square" lIns="0" rIns="0" tIns="0" bIns="0" anchor="ctr" rtlCol="0">
            <a:spAutoFit/>
          </a:bodyPr>
          <a:lstStyle/>
          <a:p>
            <a:pPr rtl="1" algn="r" marL="0" indent="0">
              <a:lnSpc>
                <a:spcPct val="108000"/>
              </a:lnSpc>
              <a:buNone/>
            </a:pPr>
            <a:r>
              <a:rPr sz="1450" b="0" i="0" lang="he-IL">
                <a:solidFill>
                  <a:srgbClr val="EBEDF0"/>
                </a:solidFill>
                <a:latin typeface="Arial"/>
                <a:cs typeface="Arial"/>
              </a:rPr>
              <a:t>🧭  היום: היכרות על קצה המזלג עם כולם.  בהמשך הקורס: עבודה מעמיקה עם הנבחרים.</a:t>
            </a:r>
          </a:p>
        </p:txBody>
      </p:sp>
      <p:sp>
        <p:nvSpPr>
          <p:cNvPr id="36" name="TextBox 35"/>
          <p:cNvSpPr txBox="1"/>
          <p:nvPr/>
        </p:nvSpPr>
        <p:spPr>
          <a:xfrm>
            <a:off x="6675120" y="6473952"/>
            <a:ext cx="4846320" cy="292608"/>
          </a:xfrm>
          <a:prstGeom prst="rect">
            <a:avLst/>
          </a:prstGeom>
          <a:noFill/>
        </p:spPr>
        <p:txBody>
          <a:bodyPr wrap="none" lIns="0" rIns="0" tIns="0" bIns="0">
            <a:spAutoFit/>
          </a:bodyPr>
          <a:lstStyle/>
          <a:p>
            <a:pPr algn="r" rtl="1"/>
            <a:r>
              <a:rPr sz="1000">
                <a:solidFill>
                  <a:srgbClr val="8A96AA"/>
                </a:solidFill>
                <a:latin typeface="Arial"/>
                <a:cs typeface="Arial"/>
              </a:rPr>
              <a:t>© נערך על ידי AI Finance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tretch>
            <a:fillRect/>
          </a:stretch>
        </p:blipFill>
        <p:spPr>
          <a:xfrm>
            <a:off x="7391215" y="0"/>
            <a:ext cx="4800480" cy="6858000"/>
          </a:xfrm>
          <a:custGeom>
            <a:avLst/>
            <a:gdLst/>
            <a:ahLst/>
            <a:cxnLst/>
            <a:rect l="0" t="0" r="100000" b="100000"/>
            <a:pathLst>
              <a:path w="100000" h="100000">
                <a:moveTo>
                  <a:pt x="9570" y="0"/>
                </a:moveTo>
                <a:lnTo>
                  <a:pt x="100000" y="0"/>
                </a:lnTo>
                <a:lnTo>
                  <a:pt x="100000" y="100000"/>
                </a:lnTo>
                <a:lnTo>
                  <a:pt x="30760" y="100000"/>
                </a:lnTo>
                <a:lnTo>
                  <a:pt x="26370" y="95510"/>
                </a:lnTo>
                <a:lnTo>
                  <a:pt x="26370" y="95310"/>
                </a:lnTo>
                <a:lnTo>
                  <a:pt x="25490" y="94530"/>
                </a:lnTo>
                <a:lnTo>
                  <a:pt x="25490" y="94340"/>
                </a:lnTo>
                <a:lnTo>
                  <a:pt x="22660" y="91210"/>
                </a:lnTo>
                <a:lnTo>
                  <a:pt x="18360" y="85550"/>
                </a:lnTo>
                <a:lnTo>
                  <a:pt x="15140" y="80660"/>
                </a:lnTo>
                <a:lnTo>
                  <a:pt x="11910" y="75000"/>
                </a:lnTo>
                <a:lnTo>
                  <a:pt x="9280" y="69530"/>
                </a:lnTo>
                <a:lnTo>
                  <a:pt x="6840" y="63380"/>
                </a:lnTo>
                <a:lnTo>
                  <a:pt x="4790" y="56740"/>
                </a:lnTo>
                <a:lnTo>
                  <a:pt x="3320" y="50200"/>
                </a:lnTo>
                <a:lnTo>
                  <a:pt x="2440" y="44140"/>
                </a:lnTo>
                <a:lnTo>
                  <a:pt x="2050" y="39060"/>
                </a:lnTo>
                <a:lnTo>
                  <a:pt x="2050" y="30860"/>
                </a:lnTo>
                <a:lnTo>
                  <a:pt x="2540" y="25000"/>
                </a:lnTo>
                <a:lnTo>
                  <a:pt x="3320" y="19820"/>
                </a:lnTo>
                <a:lnTo>
                  <a:pt x="4880" y="12890"/>
                </a:lnTo>
                <a:lnTo>
                  <a:pt x="6930" y="6350"/>
                </a:lnTo>
                <a:close/>
              </a:path>
            </a:pathLst>
          </a:custGeom>
        </p:spPr>
      </p:pic>
      <p:sp>
        <p:nvSpPr>
          <p:cNvPr id="3" name="Text 0"/>
          <p:cNvSpPr/>
          <p:nvPr/>
        </p:nvSpPr>
        <p:spPr>
          <a:xfrm>
            <a:off x="661475" y="580926"/>
            <a:ext cx="6296860" cy="489446"/>
          </a:xfrm>
          <a:prstGeom prst="rect">
            <a:avLst/>
          </a:prstGeom>
          <a:noFill/>
          <a:ln/>
        </p:spPr>
        <p:txBody>
          <a:bodyPr wrap="none" lIns="0" tIns="0" rIns="0" bIns="0" rtlCol="0" anchor="t"/>
          <a:lstStyle/>
          <a:p>
            <a:pPr rtl="1" algn="r" indent="0" marL="0">
              <a:lnSpc>
                <a:spcPct val="108000"/>
              </a:lnSpc>
              <a:buNone/>
            </a:pPr>
            <a:r>
              <a:rPr lang="he-IL" altLang="en-US" sz="2950" b="1" spc="-59" kern="100" dirty="0">
                <a:solidFill>
                  <a:srgbClr val="F2F5FA"/>
                </a:solidFill>
                <a:latin typeface="Arial" pitchFamily="34" charset="0"/>
                <a:ea typeface="Arial" pitchFamily="34" charset="-122"/>
                <a:cs typeface="Arial" pitchFamily="34" charset="-120"/>
              </a:rPr>
              <a:t>חמשת הגדולים</a:t>
            </a:r>
            <a:endParaRPr lang="he-IL" sz="2950" dirty="0"/>
          </a:p>
        </p:txBody>
      </p:sp>
      <p:sp>
        <p:nvSpPr>
          <p:cNvPr id="4" name="Shape 1"/>
          <p:cNvSpPr/>
          <p:nvPr/>
        </p:nvSpPr>
        <p:spPr>
          <a:xfrm>
            <a:off x="3869931" y="1250355"/>
            <a:ext cx="3088404" cy="1390948"/>
          </a:xfrm>
          <a:prstGeom prst="roundRect">
            <a:avLst>
              <a:gd name="adj" fmla="val 4548"/>
            </a:avLst>
          </a:prstGeom>
          <a:solidFill>
            <a:srgbClr val="101620"/>
          </a:solidFill>
          <a:ln w="12700">
            <a:solidFill>
              <a:srgbClr val="002A80"/>
            </a:solidFill>
            <a:prstDash val="solid"/>
          </a:ln>
        </p:spPr>
        <p:txBody>
          <a:bodyPr/>
          <a:p/>
        </p:txBody>
      </p:sp>
      <p:sp>
        <p:nvSpPr>
          <p:cNvPr id="5" name="Shape 2"/>
          <p:cNvSpPr/>
          <p:nvPr/>
        </p:nvSpPr>
        <p:spPr>
          <a:xfrm>
            <a:off x="6343194" y="1413669"/>
            <a:ext cx="451831" cy="451842"/>
          </a:xfrm>
          <a:prstGeom prst="ellipse">
            <a:avLst/>
          </a:prstGeom>
          <a:solidFill>
            <a:srgbClr val="487CFF"/>
          </a:solidFill>
          <a:ln/>
        </p:spPr>
        <p:txBody>
          <a:bodyPr/>
          <a:p/>
        </p:txBody>
      </p:sp>
      <p:pic>
        <p:nvPicPr>
          <p:cNvPr id="6"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67512" y="1537891"/>
            <a:ext cx="203294" cy="203299"/>
          </a:xfrm>
          <a:prstGeom prst="rect">
            <a:avLst/>
          </a:prstGeom>
        </p:spPr>
      </p:pic>
      <p:sp>
        <p:nvSpPr>
          <p:cNvPr id="7" name="Text 3"/>
          <p:cNvSpPr/>
          <p:nvPr/>
        </p:nvSpPr>
        <p:spPr>
          <a:xfrm>
            <a:off x="4033241" y="1985466"/>
            <a:ext cx="2761784" cy="244773"/>
          </a:xfrm>
          <a:prstGeom prst="rect">
            <a:avLst/>
          </a:prstGeom>
          <a:noFill/>
          <a:ln/>
        </p:spPr>
        <p:txBody>
          <a:bodyPr wrap="none" lIns="0" tIns="0" rIns="0" bIns="0" rtlCol="0" anchor="t"/>
          <a:lstStyle/>
          <a:p>
            <a:pPr rtl="1" algn="r" indent="0" marL="0">
              <a:lnSpc>
                <a:spcPct val="108000"/>
              </a:lnSpc>
              <a:buNone/>
            </a:pPr>
            <a:r>
              <a:rPr lang="he-IL" altLang="en-US" sz="1450" b="1" spc="-30" kern="100" dirty="0">
                <a:solidFill>
                  <a:srgbClr val="EBEDF0"/>
                </a:solidFill>
                <a:latin typeface="Arial" pitchFamily="34" charset="0"/>
                <a:ea typeface="Arial" pitchFamily="34" charset="-122"/>
                <a:cs typeface="Arial" pitchFamily="34" charset="-120"/>
              </a:rPr>
              <a:t>קלוד (אנתרופיק)</a:t>
            </a:r>
            <a:endParaRPr lang="he-IL" sz="1450" dirty="0"/>
          </a:p>
        </p:txBody>
      </p:sp>
      <p:sp>
        <p:nvSpPr>
          <p:cNvPr id="8" name="Text 4"/>
          <p:cNvSpPr/>
          <p:nvPr/>
        </p:nvSpPr>
        <p:spPr>
          <a:xfrm>
            <a:off x="4033241" y="2302173"/>
            <a:ext cx="2761784" cy="175816"/>
          </a:xfrm>
          <a:prstGeom prst="rect">
            <a:avLst/>
          </a:prstGeom>
          <a:noFill/>
          <a:ln/>
        </p:spPr>
        <p:txBody>
          <a:bodyPr wrap="none" lIns="0" tIns="0" rIns="0" bIns="0" rtlCol="0" anchor="t"/>
          <a:lstStyle/>
          <a:p>
            <a:pPr rtl="1" algn="r" indent="0" marL="0">
              <a:lnSpc>
                <a:spcPct val="97000"/>
              </a:lnSpc>
              <a:buNone/>
            </a:pPr>
            <a:r>
              <a:rPr lang="he-IL" altLang="en-US" sz="1150" dirty="0">
                <a:solidFill>
                  <a:srgbClr val="EBEDF0"/>
                </a:solidFill>
                <a:latin typeface="Arial" pitchFamily="34" charset="0"/>
                <a:ea typeface="Arial" pitchFamily="34" charset="-122"/>
                <a:cs typeface="Arial" pitchFamily="34" charset="-120"/>
              </a:rPr>
              <a:t>מסמכים ארוכים, כתיבה מדויקת ומנומקת</a:t>
            </a:r>
            <a:endParaRPr lang="he-IL" sz="1150" dirty="0"/>
          </a:p>
        </p:txBody>
      </p:sp>
      <p:sp>
        <p:nvSpPr>
          <p:cNvPr id="9" name="Shape 5"/>
          <p:cNvSpPr/>
          <p:nvPr/>
        </p:nvSpPr>
        <p:spPr>
          <a:xfrm>
            <a:off x="661475" y="1250355"/>
            <a:ext cx="3088503" cy="1390948"/>
          </a:xfrm>
          <a:prstGeom prst="roundRect">
            <a:avLst>
              <a:gd name="adj" fmla="val 4548"/>
            </a:avLst>
          </a:prstGeom>
          <a:solidFill>
            <a:srgbClr val="101620"/>
          </a:solidFill>
          <a:ln w="12700">
            <a:solidFill>
              <a:srgbClr val="002A80"/>
            </a:solidFill>
            <a:prstDash val="solid"/>
          </a:ln>
        </p:spPr>
        <p:txBody>
          <a:bodyPr/>
          <a:p/>
        </p:txBody>
      </p:sp>
      <p:sp>
        <p:nvSpPr>
          <p:cNvPr id="10" name="Shape 6"/>
          <p:cNvSpPr/>
          <p:nvPr/>
        </p:nvSpPr>
        <p:spPr>
          <a:xfrm>
            <a:off x="3134837" y="1413669"/>
            <a:ext cx="451831" cy="451842"/>
          </a:xfrm>
          <a:prstGeom prst="ellipse">
            <a:avLst/>
          </a:prstGeom>
          <a:solidFill>
            <a:srgbClr val="487CFF"/>
          </a:solidFill>
          <a:ln/>
        </p:spPr>
        <p:txBody>
          <a:bodyPr/>
          <a:p/>
        </p:txBody>
      </p:sp>
      <p:pic>
        <p:nvPicPr>
          <p:cNvPr id="11"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259155" y="1537891"/>
            <a:ext cx="203294" cy="203299"/>
          </a:xfrm>
          <a:prstGeom prst="rect">
            <a:avLst/>
          </a:prstGeom>
        </p:spPr>
      </p:pic>
      <p:sp>
        <p:nvSpPr>
          <p:cNvPr id="12" name="Text 7"/>
          <p:cNvSpPr/>
          <p:nvPr/>
        </p:nvSpPr>
        <p:spPr>
          <a:xfrm>
            <a:off x="824785" y="1985466"/>
            <a:ext cx="2761883" cy="244773"/>
          </a:xfrm>
          <a:prstGeom prst="rect">
            <a:avLst/>
          </a:prstGeom>
          <a:noFill/>
          <a:ln/>
        </p:spPr>
        <p:txBody>
          <a:bodyPr wrap="none" lIns="0" tIns="0" rIns="0" bIns="0" rtlCol="0" anchor="t"/>
          <a:lstStyle/>
          <a:p>
            <a:pPr rtl="1" algn="r" indent="0" marL="0">
              <a:lnSpc>
                <a:spcPct val="108000"/>
              </a:lnSpc>
              <a:buNone/>
            </a:pPr>
            <a:r>
              <a:rPr lang="he-IL" altLang="en-US" sz="1450" b="1" spc="-30" kern="100" dirty="0">
                <a:solidFill>
                  <a:srgbClr val="EBEDF0"/>
                </a:solidFill>
                <a:latin typeface="Arial" pitchFamily="34" charset="0"/>
                <a:ea typeface="Arial" pitchFamily="34" charset="-122"/>
                <a:cs typeface="Arial" pitchFamily="34" charset="-120"/>
              </a:rPr>
              <a:t>צ'אט ג'יפיטי (OpenAI)</a:t>
            </a:r>
            <a:endParaRPr lang="he-IL" sz="1450" dirty="0"/>
          </a:p>
        </p:txBody>
      </p:sp>
      <p:sp>
        <p:nvSpPr>
          <p:cNvPr id="13" name="Text 8"/>
          <p:cNvSpPr/>
          <p:nvPr/>
        </p:nvSpPr>
        <p:spPr>
          <a:xfrm>
            <a:off x="824785" y="2302173"/>
            <a:ext cx="2761883" cy="175816"/>
          </a:xfrm>
          <a:prstGeom prst="rect">
            <a:avLst/>
          </a:prstGeom>
          <a:noFill/>
          <a:ln/>
        </p:spPr>
        <p:txBody>
          <a:bodyPr wrap="none" lIns="0" tIns="0" rIns="0" bIns="0" rtlCol="0" anchor="t"/>
          <a:lstStyle/>
          <a:p>
            <a:pPr rtl="1" algn="r" indent="0" marL="0">
              <a:lnSpc>
                <a:spcPct val="97000"/>
              </a:lnSpc>
              <a:buNone/>
            </a:pPr>
            <a:r>
              <a:rPr lang="he-IL" altLang="en-US" sz="1150" dirty="0">
                <a:solidFill>
                  <a:srgbClr val="EBEDF0"/>
                </a:solidFill>
                <a:latin typeface="Arial" pitchFamily="34" charset="0"/>
                <a:ea typeface="Arial" pitchFamily="34" charset="-122"/>
                <a:cs typeface="Arial" pitchFamily="34" charset="-120"/>
              </a:rPr>
              <a:t>הכי מוכר, רב-גוני, כתיבה יומיומית</a:t>
            </a:r>
            <a:endParaRPr lang="he-IL" sz="1150" dirty="0"/>
          </a:p>
        </p:txBody>
      </p:sp>
      <p:sp>
        <p:nvSpPr>
          <p:cNvPr id="14" name="Shape 9"/>
          <p:cNvSpPr/>
          <p:nvPr/>
        </p:nvSpPr>
        <p:spPr>
          <a:xfrm>
            <a:off x="3869931" y="2761258"/>
            <a:ext cx="3088404" cy="1390948"/>
          </a:xfrm>
          <a:prstGeom prst="roundRect">
            <a:avLst>
              <a:gd name="adj" fmla="val 4548"/>
            </a:avLst>
          </a:prstGeom>
          <a:solidFill>
            <a:srgbClr val="101620"/>
          </a:solidFill>
          <a:ln w="12700">
            <a:solidFill>
              <a:srgbClr val="002A80"/>
            </a:solidFill>
            <a:prstDash val="solid"/>
          </a:ln>
        </p:spPr>
        <p:txBody>
          <a:bodyPr/>
          <a:p/>
        </p:txBody>
      </p:sp>
      <p:sp>
        <p:nvSpPr>
          <p:cNvPr id="15" name="Shape 10"/>
          <p:cNvSpPr/>
          <p:nvPr/>
        </p:nvSpPr>
        <p:spPr>
          <a:xfrm>
            <a:off x="6343194" y="2924572"/>
            <a:ext cx="451831" cy="451842"/>
          </a:xfrm>
          <a:prstGeom prst="ellipse">
            <a:avLst/>
          </a:prstGeom>
          <a:solidFill>
            <a:srgbClr val="487CFF"/>
          </a:solidFill>
          <a:ln/>
        </p:spPr>
        <p:txBody>
          <a:bodyPr/>
          <a:p/>
        </p:txBody>
      </p:sp>
      <p:pic>
        <p:nvPicPr>
          <p:cNvPr id="16"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67512" y="3048794"/>
            <a:ext cx="203294" cy="203299"/>
          </a:xfrm>
          <a:prstGeom prst="rect">
            <a:avLst/>
          </a:prstGeom>
        </p:spPr>
      </p:pic>
      <p:sp>
        <p:nvSpPr>
          <p:cNvPr id="17" name="Text 11"/>
          <p:cNvSpPr/>
          <p:nvPr/>
        </p:nvSpPr>
        <p:spPr>
          <a:xfrm>
            <a:off x="4033241" y="3496370"/>
            <a:ext cx="2761784" cy="244773"/>
          </a:xfrm>
          <a:prstGeom prst="rect">
            <a:avLst/>
          </a:prstGeom>
          <a:noFill/>
          <a:ln/>
        </p:spPr>
        <p:txBody>
          <a:bodyPr wrap="none" lIns="0" tIns="0" rIns="0" bIns="0" rtlCol="0" anchor="t"/>
          <a:lstStyle/>
          <a:p>
            <a:pPr rtl="1" algn="r" indent="0" marL="0">
              <a:lnSpc>
                <a:spcPct val="108000"/>
              </a:lnSpc>
              <a:buNone/>
            </a:pPr>
            <a:r>
              <a:rPr lang="he-IL" altLang="en-US" sz="1450" b="1" spc="-30" kern="100" dirty="0">
                <a:solidFill>
                  <a:srgbClr val="EBEDF0"/>
                </a:solidFill>
                <a:latin typeface="Arial" pitchFamily="34" charset="0"/>
                <a:ea typeface="Arial" pitchFamily="34" charset="-122"/>
                <a:cs typeface="Arial" pitchFamily="34" charset="-120"/>
              </a:rPr>
              <a:t>ג'מיני (גוגל)</a:t>
            </a:r>
            <a:endParaRPr lang="he-IL" sz="1450" dirty="0"/>
          </a:p>
        </p:txBody>
      </p:sp>
      <p:sp>
        <p:nvSpPr>
          <p:cNvPr id="18" name="Text 12"/>
          <p:cNvSpPr/>
          <p:nvPr/>
        </p:nvSpPr>
        <p:spPr>
          <a:xfrm>
            <a:off x="4033241" y="3813076"/>
            <a:ext cx="2761784" cy="175816"/>
          </a:xfrm>
          <a:prstGeom prst="rect">
            <a:avLst/>
          </a:prstGeom>
          <a:noFill/>
          <a:ln/>
        </p:spPr>
        <p:txBody>
          <a:bodyPr wrap="none" lIns="0" tIns="0" rIns="0" bIns="0" rtlCol="0" anchor="t"/>
          <a:lstStyle/>
          <a:p>
            <a:pPr rtl="1" algn="r" indent="0" marL="0">
              <a:lnSpc>
                <a:spcPct val="97000"/>
              </a:lnSpc>
              <a:buNone/>
            </a:pPr>
            <a:r>
              <a:rPr lang="he-IL" altLang="en-US" sz="1150" dirty="0">
                <a:solidFill>
                  <a:srgbClr val="EBEDF0"/>
                </a:solidFill>
                <a:latin typeface="Arial" pitchFamily="34" charset="0"/>
                <a:ea typeface="Arial" pitchFamily="34" charset="-122"/>
                <a:cs typeface="Arial" pitchFamily="34" charset="-120"/>
              </a:rPr>
              <a:t>מידע עדכני מהרשת, חיבור לג'ימייל ולדרייב</a:t>
            </a:r>
            <a:endParaRPr lang="he-IL" sz="1150" dirty="0"/>
          </a:p>
        </p:txBody>
      </p:sp>
      <p:sp>
        <p:nvSpPr>
          <p:cNvPr id="19" name="Shape 13"/>
          <p:cNvSpPr/>
          <p:nvPr/>
        </p:nvSpPr>
        <p:spPr>
          <a:xfrm>
            <a:off x="661475" y="2761258"/>
            <a:ext cx="3088503" cy="1390948"/>
          </a:xfrm>
          <a:prstGeom prst="roundRect">
            <a:avLst>
              <a:gd name="adj" fmla="val 4548"/>
            </a:avLst>
          </a:prstGeom>
          <a:solidFill>
            <a:srgbClr val="101620"/>
          </a:solidFill>
          <a:ln w="12700">
            <a:solidFill>
              <a:srgbClr val="002A80"/>
            </a:solidFill>
            <a:prstDash val="solid"/>
          </a:ln>
        </p:spPr>
        <p:txBody>
          <a:bodyPr/>
          <a:p/>
        </p:txBody>
      </p:sp>
      <p:sp>
        <p:nvSpPr>
          <p:cNvPr id="20" name="Shape 14"/>
          <p:cNvSpPr/>
          <p:nvPr/>
        </p:nvSpPr>
        <p:spPr>
          <a:xfrm>
            <a:off x="3134837" y="2924572"/>
            <a:ext cx="451831" cy="451842"/>
          </a:xfrm>
          <a:prstGeom prst="ellipse">
            <a:avLst/>
          </a:prstGeom>
          <a:solidFill>
            <a:srgbClr val="487CFF"/>
          </a:solidFill>
          <a:ln/>
        </p:spPr>
        <p:txBody>
          <a:bodyPr/>
          <a:p/>
        </p:txBody>
      </p:sp>
      <p:pic>
        <p:nvPicPr>
          <p:cNvPr id="21"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259155" y="3048794"/>
            <a:ext cx="203294" cy="203299"/>
          </a:xfrm>
          <a:prstGeom prst="rect">
            <a:avLst/>
          </a:prstGeom>
        </p:spPr>
      </p:pic>
      <p:sp>
        <p:nvSpPr>
          <p:cNvPr id="22" name="Text 15"/>
          <p:cNvSpPr/>
          <p:nvPr/>
        </p:nvSpPr>
        <p:spPr>
          <a:xfrm>
            <a:off x="824785" y="3496370"/>
            <a:ext cx="2761883" cy="244773"/>
          </a:xfrm>
          <a:prstGeom prst="rect">
            <a:avLst/>
          </a:prstGeom>
          <a:noFill/>
          <a:ln/>
        </p:spPr>
        <p:txBody>
          <a:bodyPr wrap="none" lIns="0" tIns="0" rIns="0" bIns="0" rtlCol="0" anchor="t"/>
          <a:lstStyle/>
          <a:p>
            <a:pPr rtl="1" algn="r" indent="0" marL="0">
              <a:lnSpc>
                <a:spcPct val="108000"/>
              </a:lnSpc>
              <a:buNone/>
            </a:pPr>
            <a:r>
              <a:rPr lang="he-IL" altLang="en-US" sz="1450" b="1" spc="-30" kern="100" dirty="0">
                <a:solidFill>
                  <a:srgbClr val="EBEDF0"/>
                </a:solidFill>
                <a:latin typeface="Arial" pitchFamily="34" charset="0"/>
                <a:ea typeface="Arial" pitchFamily="34" charset="-122"/>
                <a:cs typeface="Arial" pitchFamily="34" charset="-120"/>
              </a:rPr>
              <a:t>קופיילוט (מיקרוסופט)</a:t>
            </a:r>
            <a:endParaRPr lang="he-IL" sz="1450" dirty="0"/>
          </a:p>
        </p:txBody>
      </p:sp>
      <p:sp>
        <p:nvSpPr>
          <p:cNvPr id="23" name="Text 16"/>
          <p:cNvSpPr/>
          <p:nvPr/>
        </p:nvSpPr>
        <p:spPr>
          <a:xfrm>
            <a:off x="824785" y="3813076"/>
            <a:ext cx="2761883" cy="175816"/>
          </a:xfrm>
          <a:prstGeom prst="rect">
            <a:avLst/>
          </a:prstGeom>
          <a:noFill/>
          <a:ln/>
        </p:spPr>
        <p:txBody>
          <a:bodyPr wrap="none" lIns="0" tIns="0" rIns="0" bIns="0" rtlCol="0" anchor="t"/>
          <a:lstStyle/>
          <a:p>
            <a:pPr rtl="1" algn="r" indent="0" marL="0">
              <a:lnSpc>
                <a:spcPct val="97000"/>
              </a:lnSpc>
              <a:buNone/>
            </a:pPr>
            <a:r>
              <a:rPr lang="he-IL" altLang="en-US" sz="1150" dirty="0">
                <a:solidFill>
                  <a:srgbClr val="EBEDF0"/>
                </a:solidFill>
                <a:latin typeface="Arial" pitchFamily="34" charset="0"/>
                <a:ea typeface="Arial" pitchFamily="34" charset="-122"/>
                <a:cs typeface="Arial" pitchFamily="34" charset="-120"/>
              </a:rPr>
              <a:t>משולב ב-Word, Excel, Outlook ו-Teams</a:t>
            </a:r>
            <a:endParaRPr lang="he-IL" sz="1150" dirty="0"/>
          </a:p>
        </p:txBody>
      </p:sp>
      <p:sp>
        <p:nvSpPr>
          <p:cNvPr id="24" name="Shape 17"/>
          <p:cNvSpPr/>
          <p:nvPr/>
        </p:nvSpPr>
        <p:spPr>
          <a:xfrm>
            <a:off x="661475" y="4272161"/>
            <a:ext cx="6296860" cy="1390948"/>
          </a:xfrm>
          <a:prstGeom prst="roundRect">
            <a:avLst>
              <a:gd name="adj" fmla="val 4548"/>
            </a:avLst>
          </a:prstGeom>
          <a:solidFill>
            <a:srgbClr val="101620"/>
          </a:solidFill>
          <a:ln w="12700">
            <a:solidFill>
              <a:srgbClr val="002A80"/>
            </a:solidFill>
            <a:prstDash val="solid"/>
          </a:ln>
        </p:spPr>
        <p:txBody>
          <a:bodyPr/>
          <a:p/>
        </p:txBody>
      </p:sp>
      <p:sp>
        <p:nvSpPr>
          <p:cNvPr id="25" name="Shape 18"/>
          <p:cNvSpPr/>
          <p:nvPr/>
        </p:nvSpPr>
        <p:spPr>
          <a:xfrm>
            <a:off x="6343194" y="4435475"/>
            <a:ext cx="451831" cy="451842"/>
          </a:xfrm>
          <a:prstGeom prst="ellipse">
            <a:avLst/>
          </a:prstGeom>
          <a:solidFill>
            <a:srgbClr val="487CFF"/>
          </a:solidFill>
          <a:ln/>
        </p:spPr>
        <p:txBody>
          <a:bodyPr/>
          <a:p/>
        </p:txBody>
      </p:sp>
      <p:pic>
        <p:nvPicPr>
          <p:cNvPr id="26" name="Image 5"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67512" y="4559697"/>
            <a:ext cx="203294" cy="203299"/>
          </a:xfrm>
          <a:prstGeom prst="rect">
            <a:avLst/>
          </a:prstGeom>
        </p:spPr>
      </p:pic>
      <p:sp>
        <p:nvSpPr>
          <p:cNvPr id="27" name="Text 19"/>
          <p:cNvSpPr/>
          <p:nvPr/>
        </p:nvSpPr>
        <p:spPr>
          <a:xfrm>
            <a:off x="824785" y="5007273"/>
            <a:ext cx="5970240" cy="244773"/>
          </a:xfrm>
          <a:prstGeom prst="rect">
            <a:avLst/>
          </a:prstGeom>
          <a:noFill/>
          <a:ln/>
        </p:spPr>
        <p:txBody>
          <a:bodyPr wrap="none" lIns="0" tIns="0" rIns="0" bIns="0" rtlCol="0" anchor="t"/>
          <a:lstStyle/>
          <a:p>
            <a:pPr rtl="1" algn="r" indent="0" marL="0">
              <a:lnSpc>
                <a:spcPct val="108000"/>
              </a:lnSpc>
              <a:buNone/>
            </a:pPr>
            <a:r>
              <a:rPr lang="he-IL" altLang="en-US" sz="1450" b="1" spc="-30" kern="100" dirty="0">
                <a:solidFill>
                  <a:srgbClr val="EBEDF0"/>
                </a:solidFill>
                <a:latin typeface="Arial" pitchFamily="34" charset="0"/>
                <a:ea typeface="Arial" pitchFamily="34" charset="-122"/>
                <a:cs typeface="Arial" pitchFamily="34" charset="-120"/>
              </a:rPr>
              <a:t>דיפסיק (DeepSeek)</a:t>
            </a:r>
            <a:endParaRPr lang="he-IL" sz="1450" dirty="0"/>
          </a:p>
        </p:txBody>
      </p:sp>
      <p:sp>
        <p:nvSpPr>
          <p:cNvPr id="28" name="Text 20"/>
          <p:cNvSpPr/>
          <p:nvPr/>
        </p:nvSpPr>
        <p:spPr>
          <a:xfrm>
            <a:off x="824785" y="5323979"/>
            <a:ext cx="5970240" cy="175816"/>
          </a:xfrm>
          <a:prstGeom prst="rect">
            <a:avLst/>
          </a:prstGeom>
          <a:noFill/>
          <a:ln/>
        </p:spPr>
        <p:txBody>
          <a:bodyPr wrap="none" lIns="0" tIns="0" rIns="0" bIns="0" rtlCol="0" anchor="t"/>
          <a:lstStyle/>
          <a:p>
            <a:pPr rtl="1" algn="r" indent="0" marL="0">
              <a:lnSpc>
                <a:spcPct val="97000"/>
              </a:lnSpc>
              <a:buNone/>
            </a:pPr>
            <a:r>
              <a:rPr lang="he-IL" altLang="en-US" sz="1150" dirty="0">
                <a:solidFill>
                  <a:srgbClr val="EBEDF0"/>
                </a:solidFill>
                <a:latin typeface="Arial" pitchFamily="34" charset="0"/>
                <a:ea typeface="Arial" pitchFamily="34" charset="-122"/>
                <a:cs typeface="Arial" pitchFamily="34" charset="-120"/>
              </a:rPr>
              <a:t>מודל סיני חזק במיוחד, קוד פתוח, מצוין לניתוח ולוגיקה</a:t>
            </a:r>
            <a:endParaRPr lang="he-IL" sz="1150" dirty="0"/>
          </a:p>
        </p:txBody>
      </p:sp>
      <p:sp>
        <p:nvSpPr>
          <p:cNvPr id="29" name="Shape 21"/>
          <p:cNvSpPr/>
          <p:nvPr/>
        </p:nvSpPr>
        <p:spPr>
          <a:xfrm>
            <a:off x="661475" y="5798046"/>
            <a:ext cx="6296860" cy="478929"/>
          </a:xfrm>
          <a:prstGeom prst="roundRect">
            <a:avLst>
              <a:gd name="adj" fmla="val 13209"/>
            </a:avLst>
          </a:prstGeom>
          <a:solidFill>
            <a:srgbClr val="183A13"/>
          </a:solidFill>
          <a:ln/>
        </p:spPr>
        <p:txBody>
          <a:bodyPr/>
          <a:p/>
        </p:txBody>
      </p:sp>
      <p:pic>
        <p:nvPicPr>
          <p:cNvPr id="30" name="Image 6" descr="preencoded.png">    </p:cNvPr>
          <p:cNvPicPr>
            <a:picLocks noChangeAspect="1"/>
          </p:cNvPicPr>
          <p:nvPr/>
        </p:nvPicPr>
        <p:blipFill>
          <a:blip r:embed="rId12"/>
          <a:stretch>
            <a:fillRect/>
          </a:stretch>
        </p:blipFill>
        <p:spPr>
          <a:xfrm>
            <a:off x="812085" y="5955605"/>
            <a:ext cx="188213" cy="150614"/>
          </a:xfrm>
          <a:prstGeom prst="rect">
            <a:avLst/>
          </a:prstGeom>
        </p:spPr>
      </p:pic>
      <p:sp>
        <p:nvSpPr>
          <p:cNvPr id="31" name="Text 22"/>
          <p:cNvSpPr/>
          <p:nvPr/>
        </p:nvSpPr>
        <p:spPr>
          <a:xfrm>
            <a:off x="541324" y="5955605"/>
            <a:ext cx="6266400" cy="175816"/>
          </a:xfrm>
          <a:prstGeom prst="rect">
            <a:avLst/>
          </a:prstGeom>
          <a:noFill/>
          <a:ln/>
        </p:spPr>
        <p:txBody>
          <a:bodyPr wrap="none" lIns="0" tIns="0" rIns="0" bIns="0" rtlCol="0" anchor="t"/>
          <a:lstStyle/>
          <a:p>
            <a:pPr rtl="1" algn="r" indent="0" marL="0">
              <a:lnSpc>
                <a:spcPct val="97000"/>
              </a:lnSpc>
              <a:buNone/>
            </a:pPr>
            <a:r>
              <a:rPr lang="he-IL" altLang="en-US" sz="1150" dirty="0">
                <a:solidFill>
                  <a:srgbClr val="FFFFFF"/>
                </a:solidFill>
                <a:latin typeface="Arial" pitchFamily="34" charset="0"/>
                <a:ea typeface="Arial" pitchFamily="34" charset="-122"/>
                <a:cs typeface="Arial" pitchFamily="34" charset="-120"/>
              </a:rPr>
              <a:t>כולם חינמיים ברמה הבסיסית. כולם מדברים עברית.</a:t>
            </a:r>
            <a:endParaRPr lang="he-IL" sz="1150" dirty="0"/>
          </a:p>
        </p:txBody>
      </p:sp>
      <p:sp>
        <p:nvSpPr>
          <p:cNvPr id="32" name="TextBox 31"/>
          <p:cNvSpPr txBox="1"/>
          <p:nvPr/>
        </p:nvSpPr>
        <p:spPr>
          <a:xfrm>
            <a:off x="6675120" y="6473952"/>
            <a:ext cx="4846320" cy="292608"/>
          </a:xfrm>
          <a:prstGeom prst="rect">
            <a:avLst/>
          </a:prstGeom>
          <a:noFill/>
        </p:spPr>
        <p:txBody>
          <a:bodyPr wrap="none" lIns="0" rIns="0" tIns="0" bIns="0">
            <a:spAutoFit/>
          </a:bodyPr>
          <a:lstStyle/>
          <a:p>
            <a:pPr algn="r" rtl="1"/>
            <a:r>
              <a:rPr sz="1000">
                <a:solidFill>
                  <a:srgbClr val="8A96AA"/>
                </a:solidFill>
                <a:latin typeface="Arial"/>
                <a:cs typeface="Arial"/>
              </a:rPr>
              <a:t>© נערך על ידי AI Finance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tretch>
            <a:fillRect/>
          </a:stretch>
        </p:blipFill>
        <p:spPr>
          <a:xfrm>
            <a:off x="0" y="0"/>
            <a:ext cx="4800480" cy="6858000"/>
          </a:xfrm>
          <a:custGeom>
            <a:avLst/>
            <a:gdLst/>
            <a:ahLst/>
            <a:cxnLst/>
            <a:rect l="0" t="0" r="100000" b="100000"/>
            <a:pathLst>
              <a:path w="100000" h="100000">
                <a:moveTo>
                  <a:pt x="0" y="0"/>
                </a:moveTo>
                <a:lnTo>
                  <a:pt x="90530" y="100"/>
                </a:lnTo>
                <a:lnTo>
                  <a:pt x="93070" y="6350"/>
                </a:lnTo>
                <a:lnTo>
                  <a:pt x="94920" y="12210"/>
                </a:lnTo>
                <a:lnTo>
                  <a:pt x="96680" y="19820"/>
                </a:lnTo>
                <a:lnTo>
                  <a:pt x="97560" y="25880"/>
                </a:lnTo>
                <a:lnTo>
                  <a:pt x="97950" y="30960"/>
                </a:lnTo>
                <a:lnTo>
                  <a:pt x="97950" y="39060"/>
                </a:lnTo>
                <a:lnTo>
                  <a:pt x="97270" y="46480"/>
                </a:lnTo>
                <a:lnTo>
                  <a:pt x="96190" y="52640"/>
                </a:lnTo>
                <a:lnTo>
                  <a:pt x="94730" y="58500"/>
                </a:lnTo>
                <a:lnTo>
                  <a:pt x="92480" y="65230"/>
                </a:lnTo>
                <a:lnTo>
                  <a:pt x="89550" y="72070"/>
                </a:lnTo>
                <a:lnTo>
                  <a:pt x="86820" y="77340"/>
                </a:lnTo>
                <a:lnTo>
                  <a:pt x="83500" y="82810"/>
                </a:lnTo>
                <a:lnTo>
                  <a:pt x="79200" y="88870"/>
                </a:lnTo>
                <a:lnTo>
                  <a:pt x="75880" y="92770"/>
                </a:lnTo>
                <a:lnTo>
                  <a:pt x="75880" y="92970"/>
                </a:lnTo>
                <a:lnTo>
                  <a:pt x="74510" y="94340"/>
                </a:lnTo>
                <a:lnTo>
                  <a:pt x="74510" y="94530"/>
                </a:lnTo>
                <a:lnTo>
                  <a:pt x="69240" y="100000"/>
                </a:lnTo>
                <a:lnTo>
                  <a:pt x="0" y="100000"/>
                </a:lnTo>
                <a:close/>
              </a:path>
            </a:pathLst>
          </a:custGeom>
        </p:spPr>
      </p:pic>
      <p:sp>
        <p:nvSpPr>
          <p:cNvPr id="3" name="Text 0"/>
          <p:cNvSpPr/>
          <p:nvPr/>
        </p:nvSpPr>
        <p:spPr>
          <a:xfrm>
            <a:off x="5233360" y="542925"/>
            <a:ext cx="6296860" cy="604639"/>
          </a:xfrm>
          <a:prstGeom prst="rect">
            <a:avLst/>
          </a:prstGeom>
          <a:noFill/>
          <a:ln/>
        </p:spPr>
        <p:txBody>
          <a:bodyPr wrap="none" lIns="0" tIns="0" rIns="0" bIns="0" rtlCol="0" anchor="t"/>
          <a:lstStyle/>
          <a:p>
            <a:pPr rtl="1" algn="r" indent="0" marL="0">
              <a:lnSpc>
                <a:spcPct val="108000"/>
              </a:lnSpc>
              <a:buNone/>
            </a:pPr>
            <a:r>
              <a:rPr lang="he-IL" altLang="en-US" sz="3650" b="1" spc="-73" kern="100" dirty="0">
                <a:solidFill>
                  <a:srgbClr val="F2F5FA"/>
                </a:solidFill>
                <a:latin typeface="Arial" pitchFamily="34" charset="0"/>
                <a:ea typeface="Arial" pitchFamily="34" charset="-122"/>
                <a:cs typeface="Arial" pitchFamily="34" charset="-120"/>
              </a:rPr>
              <a:t>צ'אט ג'יפיטי – OpenAI</a:t>
            </a:r>
            <a:endParaRPr lang="he-IL" sz="3650" dirty="0"/>
          </a:p>
        </p:txBody>
      </p:sp>
      <p:sp>
        <p:nvSpPr>
          <p:cNvPr id="4" name="Text 1"/>
          <p:cNvSpPr/>
          <p:nvPr/>
        </p:nvSpPr>
        <p:spPr>
          <a:xfrm>
            <a:off x="4623776" y="1422301"/>
            <a:ext cx="6906444" cy="239911"/>
          </a:xfrm>
          <a:prstGeom prst="rect">
            <a:avLst/>
          </a:prstGeom>
          <a:noFill/>
          <a:ln/>
        </p:spPr>
        <p:txBody>
          <a:bodyPr wrap="none" lIns="0" tIns="0" rIns="0" bIns="0" rtlCol="0" anchor="t"/>
          <a:lstStyle/>
          <a:p>
            <a:pPr rtl="1" algn="r" indent="0" marL="0">
              <a:lnSpc>
                <a:spcPct val="107000"/>
              </a:lnSpc>
              <a:buNone/>
            </a:pPr>
            <a:r>
              <a:rPr lang="he-IL" altLang="en-US" sz="1450" dirty="0">
                <a:solidFill>
                  <a:srgbClr val="EBEDF0"/>
                </a:solidFill>
                <a:latin typeface="Arial" pitchFamily="34" charset="0"/>
                <a:ea typeface="Arial" pitchFamily="34" charset="-122"/>
                <a:cs typeface="Arial" pitchFamily="34" charset="-120"/>
              </a:rPr>
              <a:t>פותח על ידי OpenAI, חברה אמריקאית שהוקמה ב-2015. המשקיע הגדול: מיקרוסופט.</a:t>
            </a:r>
            <a:endParaRPr lang="he-IL" sz="1450" dirty="0"/>
          </a:p>
        </p:txBody>
      </p:sp>
      <p:sp>
        <p:nvSpPr>
          <p:cNvPr id="5" name="Shape 2"/>
          <p:cNvSpPr/>
          <p:nvPr/>
        </p:nvSpPr>
        <p:spPr>
          <a:xfrm>
            <a:off x="5233360" y="2074168"/>
            <a:ext cx="2921522" cy="3148112"/>
          </a:xfrm>
          <a:prstGeom prst="roundRect">
            <a:avLst>
              <a:gd name="adj" fmla="val 2675"/>
            </a:avLst>
          </a:prstGeom>
          <a:solidFill>
            <a:srgbClr val="101620">
              <a:alpha val="95000"/>
            </a:srgbClr>
          </a:solidFill>
          <a:ln w="25399">
            <a:solidFill>
              <a:srgbClr val="002A80"/>
            </a:solidFill>
            <a:prstDash val="solid"/>
          </a:ln>
        </p:spPr>
        <p:txBody>
          <a:bodyPr/>
          <a:p/>
        </p:txBody>
      </p:sp>
      <p:sp>
        <p:nvSpPr>
          <p:cNvPr id="6" name="Text 3"/>
          <p:cNvSpPr/>
          <p:nvPr/>
        </p:nvSpPr>
        <p:spPr>
          <a:xfrm>
            <a:off x="5444790" y="2285603"/>
            <a:ext cx="2498662" cy="302320"/>
          </a:xfrm>
          <a:prstGeom prst="rect">
            <a:avLst/>
          </a:prstGeom>
          <a:noFill/>
          <a:ln/>
        </p:spPr>
        <p:txBody>
          <a:bodyPr wrap="none" lIns="0" tIns="0" rIns="0" bIns="0" rtlCol="0" anchor="t"/>
          <a:lstStyle/>
          <a:p>
            <a:pPr rtl="1" algn="r" indent="0" marL="0">
              <a:lnSpc>
                <a:spcPct val="108000"/>
              </a:lnSpc>
              <a:buNone/>
            </a:pPr>
            <a:r>
              <a:rPr lang="he-IL" altLang="en-US" sz="1800" b="1" spc="-37"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800" b="1" spc="-37" kern="100" dirty="0">
                <a:solidFill>
                  <a:srgbClr val="EBEDF0"/>
                </a:solidFill>
                <a:latin typeface="Arial" pitchFamily="34" charset="0"/>
                <a:ea typeface="Arial" pitchFamily="34" charset="-122"/>
                <a:cs typeface="Arial" pitchFamily="34" charset="-120"/>
              </a:rPr>
              <a:t> יתרונות</a:t>
            </a:r>
            <a:endParaRPr lang="he-IL" sz="1800" dirty="0"/>
          </a:p>
        </p:txBody>
      </p:sp>
      <p:sp>
        <p:nvSpPr>
          <p:cNvPr id="7" name="Text 4"/>
          <p:cNvSpPr/>
          <p:nvPr/>
        </p:nvSpPr>
        <p:spPr>
          <a:xfrm>
            <a:off x="5444790" y="2771080"/>
            <a:ext cx="2498662" cy="2239764"/>
          </a:xfrm>
          <a:prstGeom prst="rect">
            <a:avLst/>
          </a:prstGeom>
          <a:noFill/>
          <a:ln/>
        </p:spPr>
        <p:txBody>
          <a:bodyPr wrap="square" lIns="0" tIns="0" rIns="74426" bIns="0" rtlCol="0" anchor="t">
            <a:normAutofit/>
          </a:bodyPr>
          <a:lstStyle/>
          <a:p>
            <a:pPr rtl="1" algn="r" marL="294640" indent="-294640">
              <a:lnSpc>
                <a:spcPct val="107000"/>
              </a:lnSpc>
              <a:buSzPct val="100000"/>
              <a:buChar char="•"/>
            </a:pPr>
            <a:r>
              <a:rPr lang="he-IL" altLang="en-US" sz="1450" dirty="0">
                <a:solidFill>
                  <a:srgbClr val="EBEDF0"/>
                </a:solidFill>
                <a:latin typeface="Arial" pitchFamily="34" charset="0"/>
                <a:ea typeface="Arial" pitchFamily="34" charset="-122"/>
                <a:cs typeface="Arial" pitchFamily="34" charset="-120"/>
              </a:rPr>
              <a:t>הכי מוכר ונפוץ בעולם</a:t>
            </a:r>
            <a:endParaRPr lang="he-IL" sz="1450" dirty="0"/>
          </a:p>
          <a:p>
            <a:pPr rtl="1" algn="r" marL="294640" indent="-294640">
              <a:lnSpc>
                <a:spcPct val="107000"/>
              </a:lnSpc>
              <a:buSzPct val="100000"/>
              <a:buChar char="•"/>
            </a:pPr>
            <a:r>
              <a:rPr lang="he-IL" altLang="en-US" sz="1450" dirty="0">
                <a:solidFill>
                  <a:srgbClr val="EBEDF0"/>
                </a:solidFill>
                <a:latin typeface="Arial" pitchFamily="34" charset="0"/>
                <a:ea typeface="Arial" pitchFamily="34" charset="-122"/>
                <a:cs typeface="Arial" pitchFamily="34" charset="-120"/>
              </a:rPr>
              <a:t>ממשק פשוט ואינטואיטיבי</a:t>
            </a:r>
            <a:endParaRPr lang="he-IL" sz="1450" dirty="0"/>
          </a:p>
          <a:p>
            <a:pPr rtl="1" algn="r" marL="294640" indent="-294640">
              <a:lnSpc>
                <a:spcPct val="107000"/>
              </a:lnSpc>
              <a:buSzPct val="100000"/>
              <a:buChar char="•"/>
            </a:pPr>
            <a:r>
              <a:rPr lang="he-IL" altLang="en-US" sz="1450" dirty="0">
                <a:solidFill>
                  <a:srgbClr val="EBEDF0"/>
                </a:solidFill>
                <a:latin typeface="Arial" pitchFamily="34" charset="0"/>
                <a:ea typeface="Arial" pitchFamily="34" charset="-122"/>
                <a:cs typeface="Arial" pitchFamily="34" charset="-120"/>
              </a:rPr>
              <a:t>רב-גוני: כתיבה, קוד, ניתוח, תמונות</a:t>
            </a:r>
            <a:endParaRPr lang="he-IL" sz="1450" dirty="0"/>
          </a:p>
          <a:p>
            <a:pPr rtl="1" algn="r" marL="294640" indent="-294640">
              <a:lnSpc>
                <a:spcPct val="107000"/>
              </a:lnSpc>
              <a:buSzPct val="100000"/>
              <a:buChar char="•"/>
            </a:pPr>
            <a:r>
              <a:rPr lang="he-IL" altLang="en-US" sz="1450" dirty="0">
                <a:solidFill>
                  <a:srgbClr val="EBEDF0"/>
                </a:solidFill>
                <a:latin typeface="Arial" pitchFamily="34" charset="0"/>
                <a:ea typeface="Arial" pitchFamily="34" charset="-122"/>
                <a:cs typeface="Arial" pitchFamily="34" charset="-120"/>
              </a:rPr>
              <a:t>תמיכה בעברית טובה</a:t>
            </a:r>
            <a:endParaRPr lang="he-IL" sz="1450" dirty="0"/>
          </a:p>
          <a:p>
            <a:pPr rtl="1" algn="r" marL="294640" indent="-294640">
              <a:lnSpc>
                <a:spcPct val="107000"/>
              </a:lnSpc>
              <a:buSzPct val="100000"/>
              <a:buChar char="•"/>
            </a:pPr>
            <a:r>
              <a:rPr lang="he-IL" altLang="en-US" sz="1450" dirty="0">
                <a:solidFill>
                  <a:srgbClr val="EBEDF0"/>
                </a:solidFill>
                <a:latin typeface="Arial" pitchFamily="34" charset="0"/>
                <a:ea typeface="Arial" pitchFamily="34" charset="-122"/>
                <a:cs typeface="Arial" pitchFamily="34" charset="-120"/>
              </a:rPr>
              <a:t>אינטגרציות רבות עם כלים חיצוניים</a:t>
            </a:r>
            <a:endParaRPr lang="he-IL" sz="1450" dirty="0"/>
          </a:p>
          <a:p>
            <a:pPr rtl="1" algn="r" marL="294640" indent="-294640">
              <a:lnSpc>
                <a:spcPct val="107000"/>
              </a:lnSpc>
              <a:buSzPct val="100000"/>
              <a:buChar char="•"/>
            </a:pPr>
            <a:r>
              <a:rPr lang="he-IL" altLang="en-US" sz="1450" dirty="0">
                <a:solidFill>
                  <a:srgbClr val="EBEDF0"/>
                </a:solidFill>
                <a:latin typeface="Arial" pitchFamily="34" charset="0"/>
                <a:ea typeface="Arial" pitchFamily="34" charset="-122"/>
                <a:cs typeface="Arial" pitchFamily="34" charset="-120"/>
              </a:rPr>
              <a:t>גרסה חינמית חזקה, כולל יצירת תמונות</a:t>
            </a:r>
            <a:endParaRPr lang="he-IL" sz="1450" dirty="0"/>
          </a:p>
        </p:txBody>
      </p:sp>
      <p:sp>
        <p:nvSpPr>
          <p:cNvPr id="8" name="Shape 5"/>
          <p:cNvSpPr/>
          <p:nvPr/>
        </p:nvSpPr>
        <p:spPr>
          <a:xfrm>
            <a:off x="8615048" y="2074168"/>
            <a:ext cx="2921522" cy="2780010"/>
          </a:xfrm>
          <a:prstGeom prst="roundRect">
            <a:avLst>
              <a:gd name="adj" fmla="val 2811"/>
            </a:avLst>
          </a:prstGeom>
          <a:solidFill>
            <a:srgbClr val="101620">
              <a:alpha val="95000"/>
            </a:srgbClr>
          </a:solidFill>
          <a:ln w="25399">
            <a:solidFill>
              <a:srgbClr val="002A80"/>
            </a:solidFill>
            <a:prstDash val="solid"/>
          </a:ln>
        </p:spPr>
        <p:txBody>
          <a:bodyPr/>
          <a:p/>
        </p:txBody>
      </p:sp>
      <p:sp>
        <p:nvSpPr>
          <p:cNvPr id="9" name="Text 6"/>
          <p:cNvSpPr/>
          <p:nvPr/>
        </p:nvSpPr>
        <p:spPr>
          <a:xfrm>
            <a:off x="8826478" y="2285603"/>
            <a:ext cx="2498662" cy="302320"/>
          </a:xfrm>
          <a:prstGeom prst="rect">
            <a:avLst/>
          </a:prstGeom>
          <a:noFill/>
          <a:ln/>
        </p:spPr>
        <p:txBody>
          <a:bodyPr wrap="none" lIns="0" tIns="0" rIns="0" bIns="0" rtlCol="0" anchor="t"/>
          <a:lstStyle/>
          <a:p>
            <a:pPr rtl="1" algn="r" indent="0" marL="0">
              <a:lnSpc>
                <a:spcPct val="108000"/>
              </a:lnSpc>
              <a:buNone/>
            </a:pPr>
            <a:r>
              <a:rPr lang="he-IL" altLang="en-US" sz="1800" b="1" spc="-37"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800" b="1" spc="-37" kern="100" dirty="0">
                <a:solidFill>
                  <a:srgbClr val="EBEDF0"/>
                </a:solidFill>
                <a:latin typeface="Arial" pitchFamily="34" charset="0"/>
                <a:ea typeface="Arial" pitchFamily="34" charset="-122"/>
                <a:cs typeface="Arial" pitchFamily="34" charset="-120"/>
              </a:rPr>
              <a:t> חסרונות</a:t>
            </a:r>
            <a:endParaRPr lang="he-IL" sz="1800" dirty="0"/>
          </a:p>
        </p:txBody>
      </p:sp>
      <p:sp>
        <p:nvSpPr>
          <p:cNvPr id="10" name="Text 7"/>
          <p:cNvSpPr/>
          <p:nvPr/>
        </p:nvSpPr>
        <p:spPr>
          <a:xfrm>
            <a:off x="8826478" y="2771080"/>
            <a:ext cx="2498662" cy="1871663"/>
          </a:xfrm>
          <a:prstGeom prst="rect">
            <a:avLst/>
          </a:prstGeom>
          <a:noFill/>
          <a:ln/>
        </p:spPr>
        <p:txBody>
          <a:bodyPr wrap="square" lIns="0" tIns="0" rIns="74426" bIns="0" rtlCol="0" anchor="t">
            <a:normAutofit/>
          </a:bodyPr>
          <a:lstStyle/>
          <a:p>
            <a:pPr rtl="1" algn="r" marL="294640" indent="-294640">
              <a:lnSpc>
                <a:spcPct val="107000"/>
              </a:lnSpc>
              <a:buSzPct val="100000"/>
              <a:buChar char="•"/>
            </a:pPr>
            <a:r>
              <a:rPr lang="he-IL" altLang="en-US" sz="1450" dirty="0">
                <a:solidFill>
                  <a:srgbClr val="EBEDF0"/>
                </a:solidFill>
                <a:latin typeface="Arial" pitchFamily="34" charset="0"/>
                <a:ea typeface="Arial" pitchFamily="34" charset="-122"/>
                <a:cs typeface="Arial" pitchFamily="34" charset="-120"/>
              </a:rPr>
              <a:t>לפעמים "מסכים" יותר מדי עם המשתמש</a:t>
            </a:r>
            <a:endParaRPr lang="he-IL" sz="1450" dirty="0"/>
          </a:p>
          <a:p>
            <a:pPr rtl="1" algn="r" marL="294640" indent="-294640">
              <a:lnSpc>
                <a:spcPct val="107000"/>
              </a:lnSpc>
              <a:buSzPct val="100000"/>
              <a:buChar char="•"/>
            </a:pPr>
            <a:r>
              <a:rPr lang="he-IL" altLang="en-US" sz="1450" dirty="0">
                <a:solidFill>
                  <a:srgbClr val="EBEDF0"/>
                </a:solidFill>
                <a:latin typeface="Arial" pitchFamily="34" charset="0"/>
                <a:ea typeface="Arial" pitchFamily="34" charset="-122"/>
                <a:cs typeface="Arial" pitchFamily="34" charset="-120"/>
              </a:rPr>
              <a:t>הזיות בעובדות ספציפיות</a:t>
            </a:r>
            <a:endParaRPr lang="he-IL" sz="1450" dirty="0"/>
          </a:p>
          <a:p>
            <a:pPr rtl="1" algn="r" marL="294640" indent="-294640">
              <a:lnSpc>
                <a:spcPct val="107000"/>
              </a:lnSpc>
              <a:buSzPct val="100000"/>
              <a:buChar char="•"/>
            </a:pPr>
            <a:r>
              <a:rPr lang="he-IL" altLang="en-US" sz="1450" dirty="0">
                <a:solidFill>
                  <a:srgbClr val="EBEDF0"/>
                </a:solidFill>
                <a:latin typeface="Arial" pitchFamily="34" charset="0"/>
                <a:ea typeface="Arial" pitchFamily="34" charset="-122"/>
                <a:cs typeface="Arial" pitchFamily="34" charset="-120"/>
              </a:rPr>
              <a:t>גרסה חינמית מוגבלת בשימוש אינטנסיבי</a:t>
            </a:r>
            <a:endParaRPr lang="he-IL" sz="1450" dirty="0"/>
          </a:p>
          <a:p>
            <a:pPr rtl="1" algn="r" marL="294640" indent="-294640">
              <a:lnSpc>
                <a:spcPct val="107000"/>
              </a:lnSpc>
              <a:buSzPct val="100000"/>
              <a:buChar char="•"/>
            </a:pPr>
            <a:r>
              <a:rPr lang="he-IL" altLang="en-US" sz="1450" dirty="0">
                <a:solidFill>
                  <a:srgbClr val="EBEDF0"/>
                </a:solidFill>
                <a:latin typeface="Arial" pitchFamily="34" charset="0"/>
                <a:ea typeface="Arial" pitchFamily="34" charset="-122"/>
                <a:cs typeface="Arial" pitchFamily="34" charset="-120"/>
              </a:rPr>
              <a:t>פחות מדויק במסמכים ארוכים מאוד</a:t>
            </a:r>
            <a:endParaRPr lang="he-IL" sz="1450" dirty="0"/>
          </a:p>
        </p:txBody>
      </p:sp>
      <p:sp>
        <p:nvSpPr>
          <p:cNvPr id="11" name="Shape 8"/>
          <p:cNvSpPr/>
          <p:nvPr/>
        </p:nvSpPr>
        <p:spPr>
          <a:xfrm>
            <a:off x="5233360" y="5634236"/>
            <a:ext cx="6296860" cy="680740"/>
          </a:xfrm>
          <a:prstGeom prst="roundRect">
            <a:avLst>
              <a:gd name="adj" fmla="val 11480"/>
            </a:avLst>
          </a:prstGeom>
          <a:solidFill>
            <a:srgbClr val="022349"/>
          </a:solidFill>
          <a:ln/>
        </p:spPr>
        <p:txBody>
          <a:bodyPr/>
          <a:p/>
        </p:txBody>
      </p:sp>
      <p:pic>
        <p:nvPicPr>
          <p:cNvPr id="12" name="Image 1" descr="preencoded.png">    </p:cNvPr>
          <p:cNvPicPr>
            <a:picLocks noChangeAspect="1"/>
          </p:cNvPicPr>
          <p:nvPr/>
        </p:nvPicPr>
        <p:blipFill>
          <a:blip r:embed="rId2"/>
          <a:stretch>
            <a:fillRect/>
          </a:stretch>
        </p:blipFill>
        <p:spPr>
          <a:xfrm>
            <a:off x="5419391" y="5866110"/>
            <a:ext cx="232563" cy="186035"/>
          </a:xfrm>
          <a:prstGeom prst="rect">
            <a:avLst/>
          </a:prstGeom>
        </p:spPr>
      </p:pic>
      <p:sp>
        <p:nvSpPr>
          <p:cNvPr id="13" name="Text 9"/>
          <p:cNvSpPr/>
          <p:nvPr/>
        </p:nvSpPr>
        <p:spPr>
          <a:xfrm>
            <a:off x="5228400" y="5863828"/>
            <a:ext cx="6115790" cy="239911"/>
          </a:xfrm>
          <a:prstGeom prst="rect">
            <a:avLst/>
          </a:prstGeom>
          <a:noFill/>
          <a:ln/>
        </p:spPr>
        <p:txBody>
          <a:bodyPr wrap="none" lIns="0" tIns="0" rIns="0" bIns="0" rtlCol="0" anchor="t"/>
          <a:lstStyle/>
          <a:p>
            <a:pPr rtl="1" algn="r" indent="0" marL="0">
              <a:lnSpc>
                <a:spcPct val="107000"/>
              </a:lnSpc>
              <a:buNone/>
            </a:pPr>
            <a:r>
              <a:rPr lang="he-IL" altLang="en-US" sz="1450" dirty="0">
                <a:solidFill>
                  <a:srgbClr val="FFFFFF"/>
                </a:solidFill>
                <a:latin typeface="Arial" pitchFamily="34" charset="0"/>
                <a:ea typeface="Arial" pitchFamily="34" charset="-122"/>
                <a:cs typeface="Arial" pitchFamily="34" charset="-120"/>
              </a:rPr>
              <a:t>מתאים ל: כתיבה יומיומית, רעיונות, ניסוח, שאלות כלליות</a:t>
            </a:r>
            <a:endParaRPr lang="he-IL" sz="1450" dirty="0"/>
          </a:p>
        </p:txBody>
      </p:sp>
      <p:sp>
        <p:nvSpPr>
          <p:cNvPr id="14" name="TextBox 13"/>
          <p:cNvSpPr txBox="1"/>
          <p:nvPr/>
        </p:nvSpPr>
        <p:spPr>
          <a:xfrm>
            <a:off x="6675120" y="6473952"/>
            <a:ext cx="4846320" cy="292608"/>
          </a:xfrm>
          <a:prstGeom prst="rect">
            <a:avLst/>
          </a:prstGeom>
          <a:noFill/>
        </p:spPr>
        <p:txBody>
          <a:bodyPr wrap="none" lIns="0" rIns="0" tIns="0" bIns="0">
            <a:spAutoFit/>
          </a:bodyPr>
          <a:lstStyle/>
          <a:p>
            <a:pPr algn="r" rtl="1"/>
            <a:r>
              <a:rPr sz="1000">
                <a:solidFill>
                  <a:srgbClr val="8A96AA"/>
                </a:solidFill>
                <a:latin typeface="Arial"/>
                <a:cs typeface="Arial"/>
              </a:rPr>
              <a:t>© נערך על ידי AI Finance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tretch>
            <a:fillRect/>
          </a:stretch>
        </p:blipFill>
        <p:spPr>
          <a:xfrm>
            <a:off x="7391215" y="0"/>
            <a:ext cx="4800480" cy="6858000"/>
          </a:xfrm>
          <a:custGeom>
            <a:avLst/>
            <a:gdLst/>
            <a:ahLst/>
            <a:cxnLst/>
            <a:rect l="0" t="0" r="100000" b="100000"/>
            <a:pathLst>
              <a:path w="100000" h="100000">
                <a:moveTo>
                  <a:pt x="9570" y="0"/>
                </a:moveTo>
                <a:lnTo>
                  <a:pt x="100000" y="0"/>
                </a:lnTo>
                <a:lnTo>
                  <a:pt x="100000" y="100000"/>
                </a:lnTo>
                <a:lnTo>
                  <a:pt x="30760" y="100000"/>
                </a:lnTo>
                <a:lnTo>
                  <a:pt x="26370" y="95510"/>
                </a:lnTo>
                <a:lnTo>
                  <a:pt x="26370" y="95310"/>
                </a:lnTo>
                <a:lnTo>
                  <a:pt x="25490" y="94530"/>
                </a:lnTo>
                <a:lnTo>
                  <a:pt x="25490" y="94340"/>
                </a:lnTo>
                <a:lnTo>
                  <a:pt x="22660" y="91210"/>
                </a:lnTo>
                <a:lnTo>
                  <a:pt x="18360" y="85550"/>
                </a:lnTo>
                <a:lnTo>
                  <a:pt x="15140" y="80660"/>
                </a:lnTo>
                <a:lnTo>
                  <a:pt x="11910" y="75000"/>
                </a:lnTo>
                <a:lnTo>
                  <a:pt x="9280" y="69530"/>
                </a:lnTo>
                <a:lnTo>
                  <a:pt x="6840" y="63380"/>
                </a:lnTo>
                <a:lnTo>
                  <a:pt x="4790" y="56740"/>
                </a:lnTo>
                <a:lnTo>
                  <a:pt x="3320" y="50200"/>
                </a:lnTo>
                <a:lnTo>
                  <a:pt x="2440" y="44140"/>
                </a:lnTo>
                <a:lnTo>
                  <a:pt x="2050" y="39060"/>
                </a:lnTo>
                <a:lnTo>
                  <a:pt x="2050" y="30860"/>
                </a:lnTo>
                <a:lnTo>
                  <a:pt x="2540" y="25000"/>
                </a:lnTo>
                <a:lnTo>
                  <a:pt x="3320" y="19820"/>
                </a:lnTo>
                <a:lnTo>
                  <a:pt x="4880" y="12890"/>
                </a:lnTo>
                <a:lnTo>
                  <a:pt x="6930" y="6350"/>
                </a:lnTo>
                <a:close/>
              </a:path>
            </a:pathLst>
          </a:custGeom>
        </p:spPr>
      </p:pic>
      <p:sp>
        <p:nvSpPr>
          <p:cNvPr id="3" name="Text 0"/>
          <p:cNvSpPr/>
          <p:nvPr/>
        </p:nvSpPr>
        <p:spPr>
          <a:xfrm>
            <a:off x="661475" y="670818"/>
            <a:ext cx="6296860" cy="575866"/>
          </a:xfrm>
          <a:prstGeom prst="rect">
            <a:avLst/>
          </a:prstGeom>
          <a:noFill/>
          <a:ln/>
        </p:spPr>
        <p:txBody>
          <a:bodyPr wrap="none" lIns="0" tIns="0" rIns="0" bIns="0" rtlCol="0" anchor="t"/>
          <a:lstStyle/>
          <a:p>
            <a:pPr rtl="1" algn="r" indent="0" marL="0">
              <a:lnSpc>
                <a:spcPct val="108000"/>
              </a:lnSpc>
              <a:buNone/>
            </a:pPr>
            <a:r>
              <a:rPr lang="he-IL" altLang="en-US" sz="3450" b="1" spc="-70" kern="100" dirty="0">
                <a:solidFill>
                  <a:srgbClr val="F2F5FA"/>
                </a:solidFill>
                <a:latin typeface="Arial" pitchFamily="34" charset="0"/>
                <a:ea typeface="Arial" pitchFamily="34" charset="-122"/>
                <a:cs typeface="Arial" pitchFamily="34" charset="-120"/>
              </a:rPr>
              <a:t>קלוד – Anthropic</a:t>
            </a:r>
            <a:endParaRPr lang="he-IL" sz="3450" dirty="0"/>
          </a:p>
        </p:txBody>
      </p:sp>
      <p:sp>
        <p:nvSpPr>
          <p:cNvPr id="4" name="Text 1"/>
          <p:cNvSpPr/>
          <p:nvPr/>
        </p:nvSpPr>
        <p:spPr>
          <a:xfrm>
            <a:off x="661475" y="1495822"/>
            <a:ext cx="6296860" cy="446286"/>
          </a:xfrm>
          <a:prstGeom prst="rect">
            <a:avLst/>
          </a:prstGeom>
          <a:noFill/>
          <a:ln/>
        </p:spPr>
        <p:txBody>
          <a:bodyPr wrap="square" lIns="0" tIns="0" rIns="0" bIns="0" rtlCol="0" anchor="t">
            <a:normAutofit/>
          </a:bodyPr>
          <a:lstStyle/>
          <a:p>
            <a:pPr rtl="1" algn="r" indent="0" marL="0">
              <a:lnSpc>
                <a:spcPct val="105000"/>
              </a:lnSpc>
              <a:buNone/>
            </a:pPr>
            <a:r>
              <a:rPr lang="he-IL" altLang="en-US" sz="1350" dirty="0">
                <a:solidFill>
                  <a:srgbClr val="EBEDF0"/>
                </a:solidFill>
                <a:latin typeface="Arial" pitchFamily="34" charset="0"/>
                <a:ea typeface="Arial" pitchFamily="34" charset="-122"/>
                <a:cs typeface="Arial" pitchFamily="34" charset="-120"/>
              </a:rPr>
              <a:t>פותח על ידי Anthropic, חברה שהוקמה ב-2021 על ידי לשעבר עובדי OpenAI. מתמקדת ב-AI בטוח ואחראי.</a:t>
            </a:r>
            <a:endParaRPr lang="he-IL" sz="1350" dirty="0"/>
          </a:p>
        </p:txBody>
      </p:sp>
      <p:sp>
        <p:nvSpPr>
          <p:cNvPr id="5" name="Shape 2"/>
          <p:cNvSpPr/>
          <p:nvPr/>
        </p:nvSpPr>
        <p:spPr>
          <a:xfrm>
            <a:off x="661475" y="2315766"/>
            <a:ext cx="2932337" cy="2870597"/>
          </a:xfrm>
          <a:prstGeom prst="roundRect">
            <a:avLst>
              <a:gd name="adj" fmla="val 2593"/>
            </a:avLst>
          </a:prstGeom>
          <a:solidFill>
            <a:srgbClr val="101620">
              <a:alpha val="95000"/>
            </a:srgbClr>
          </a:solidFill>
          <a:ln w="19050">
            <a:solidFill>
              <a:srgbClr val="002A80"/>
            </a:solidFill>
            <a:prstDash val="solid"/>
          </a:ln>
        </p:spPr>
        <p:txBody>
          <a:bodyPr/>
          <a:p/>
        </p:txBody>
      </p:sp>
      <p:sp>
        <p:nvSpPr>
          <p:cNvPr id="6" name="Text 3"/>
          <p:cNvSpPr/>
          <p:nvPr/>
        </p:nvSpPr>
        <p:spPr>
          <a:xfrm>
            <a:off x="857725" y="2512020"/>
            <a:ext cx="2539837" cy="294283"/>
          </a:xfrm>
          <a:prstGeom prst="rect">
            <a:avLst/>
          </a:prstGeom>
          <a:noFill/>
          <a:ln/>
        </p:spPr>
        <p:txBody>
          <a:bodyPr wrap="none" lIns="0" tIns="0" rIns="0" bIns="0" rtlCol="0" anchor="t"/>
          <a:lstStyle/>
          <a:p>
            <a:pPr rtl="1" algn="r" indent="0" marL="0">
              <a:lnSpc>
                <a:spcPct val="108000"/>
              </a:lnSpc>
              <a:buNone/>
            </a:pPr>
            <a:r>
              <a:rPr lang="he-IL" altLang="en-US" sz="1700" b="1" spc="-35"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700" b="1" spc="-35" kern="100" dirty="0">
                <a:solidFill>
                  <a:srgbClr val="EBEDF0"/>
                </a:solidFill>
                <a:latin typeface="Arial" pitchFamily="34" charset="0"/>
                <a:ea typeface="Arial" pitchFamily="34" charset="-122"/>
                <a:cs typeface="Arial" pitchFamily="34" charset="-120"/>
              </a:rPr>
              <a:t> יתרונות</a:t>
            </a:r>
            <a:endParaRPr lang="he-IL" sz="1700" dirty="0"/>
          </a:p>
        </p:txBody>
      </p:sp>
      <p:sp>
        <p:nvSpPr>
          <p:cNvPr id="7" name="Text 4"/>
          <p:cNvSpPr/>
          <p:nvPr/>
        </p:nvSpPr>
        <p:spPr>
          <a:xfrm>
            <a:off x="857725" y="2972395"/>
            <a:ext cx="2539837" cy="2017713"/>
          </a:xfrm>
          <a:prstGeom prst="rect">
            <a:avLst/>
          </a:prstGeom>
          <a:noFill/>
          <a:ln/>
        </p:spPr>
        <p:txBody>
          <a:bodyPr wrap="square" lIns="0" tIns="0" rIns="70882" bIns="0" rtlCol="0" anchor="t">
            <a:normAutofit/>
          </a:bodyPr>
          <a:lstStyle/>
          <a:p>
            <a:pPr rtl="1" algn="r" marL="274320" indent="-274320">
              <a:lnSpc>
                <a:spcPct val="105000"/>
              </a:lnSpc>
              <a:buSzPct val="100000"/>
              <a:buChar char="•"/>
            </a:pPr>
            <a:r>
              <a:rPr lang="he-IL" altLang="en-US" sz="1350" dirty="0">
                <a:solidFill>
                  <a:srgbClr val="EBEDF0"/>
                </a:solidFill>
                <a:latin typeface="Arial" pitchFamily="34" charset="0"/>
                <a:ea typeface="Arial" pitchFamily="34" charset="-122"/>
                <a:cs typeface="Arial" pitchFamily="34" charset="-120"/>
              </a:rPr>
              <a:t>מצטיין בניתוח מסמכים ארוכים</a:t>
            </a:r>
            <a:endParaRPr lang="he-IL" sz="1350" dirty="0"/>
          </a:p>
          <a:p>
            <a:pPr rtl="1" algn="r" marL="274320" indent="-274320">
              <a:lnSpc>
                <a:spcPct val="105000"/>
              </a:lnSpc>
              <a:buSzPct val="100000"/>
              <a:buChar char="•"/>
            </a:pPr>
            <a:r>
              <a:rPr lang="he-IL" altLang="en-US" sz="1350" dirty="0">
                <a:solidFill>
                  <a:srgbClr val="EBEDF0"/>
                </a:solidFill>
                <a:latin typeface="Arial" pitchFamily="34" charset="0"/>
                <a:ea typeface="Arial" pitchFamily="34" charset="-122"/>
                <a:cs typeface="Arial" pitchFamily="34" charset="-120"/>
              </a:rPr>
              <a:t>כתיבה מנוסחת, מדויקת ועמוקה</a:t>
            </a:r>
            <a:endParaRPr lang="he-IL" sz="1350" dirty="0"/>
          </a:p>
          <a:p>
            <a:pPr rtl="1" algn="r" marL="274320" indent="-274320">
              <a:lnSpc>
                <a:spcPct val="105000"/>
              </a:lnSpc>
              <a:buSzPct val="100000"/>
              <a:buChar char="•"/>
            </a:pPr>
            <a:r>
              <a:rPr lang="he-IL" altLang="en-US" sz="1350" dirty="0">
                <a:solidFill>
                  <a:srgbClr val="EBEDF0"/>
                </a:solidFill>
                <a:latin typeface="Arial" pitchFamily="34" charset="0"/>
                <a:ea typeface="Arial" pitchFamily="34" charset="-122"/>
                <a:cs typeface="Arial" pitchFamily="34" charset="-120"/>
              </a:rPr>
              <a:t>פחות "מסכים" – אומר את האמת גם אם לא נוחה</a:t>
            </a:r>
            <a:endParaRPr lang="he-IL" sz="1350" dirty="0"/>
          </a:p>
          <a:p>
            <a:pPr rtl="1" algn="r" marL="274320" indent="-274320">
              <a:lnSpc>
                <a:spcPct val="105000"/>
              </a:lnSpc>
              <a:buSzPct val="100000"/>
              <a:buChar char="•"/>
            </a:pPr>
            <a:r>
              <a:rPr lang="he-IL" altLang="en-US" sz="1350" dirty="0">
                <a:solidFill>
                  <a:srgbClr val="EBEDF0"/>
                </a:solidFill>
                <a:latin typeface="Arial" pitchFamily="34" charset="0"/>
                <a:ea typeface="Arial" pitchFamily="34" charset="-122"/>
                <a:cs typeface="Arial" pitchFamily="34" charset="-120"/>
              </a:rPr>
              <a:t>קורא מסמכים ארוכים מאוד בבת אחת</a:t>
            </a:r>
            <a:endParaRPr lang="he-IL" sz="1350" dirty="0"/>
          </a:p>
          <a:p>
            <a:pPr rtl="1" algn="r" marL="274320" indent="-274320">
              <a:lnSpc>
                <a:spcPct val="105000"/>
              </a:lnSpc>
              <a:buSzPct val="100000"/>
              <a:buChar char="•"/>
            </a:pPr>
            <a:r>
              <a:rPr lang="he-IL" altLang="en-US" sz="1350" dirty="0">
                <a:solidFill>
                  <a:srgbClr val="EBEDF0"/>
                </a:solidFill>
                <a:latin typeface="Arial" pitchFamily="34" charset="0"/>
                <a:ea typeface="Arial" pitchFamily="34" charset="-122"/>
                <a:cs typeface="Arial" pitchFamily="34" charset="-120"/>
              </a:rPr>
              <a:t>מצוין לניתוח חוזים, דוחות, מחקרים</a:t>
            </a:r>
            <a:endParaRPr lang="he-IL" sz="1350" dirty="0"/>
          </a:p>
        </p:txBody>
      </p:sp>
      <p:sp>
        <p:nvSpPr>
          <p:cNvPr id="8" name="Shape 5"/>
          <p:cNvSpPr/>
          <p:nvPr/>
        </p:nvSpPr>
        <p:spPr>
          <a:xfrm>
            <a:off x="4032348" y="2315766"/>
            <a:ext cx="2932337" cy="2589312"/>
          </a:xfrm>
          <a:prstGeom prst="roundRect">
            <a:avLst>
              <a:gd name="adj" fmla="val 2874"/>
            </a:avLst>
          </a:prstGeom>
          <a:solidFill>
            <a:srgbClr val="101620">
              <a:alpha val="95000"/>
            </a:srgbClr>
          </a:solidFill>
          <a:ln w="19050">
            <a:solidFill>
              <a:srgbClr val="002A80"/>
            </a:solidFill>
            <a:prstDash val="solid"/>
          </a:ln>
        </p:spPr>
        <p:txBody>
          <a:bodyPr/>
          <a:p/>
        </p:txBody>
      </p:sp>
      <p:sp>
        <p:nvSpPr>
          <p:cNvPr id="9" name="Text 6"/>
          <p:cNvSpPr/>
          <p:nvPr/>
        </p:nvSpPr>
        <p:spPr>
          <a:xfrm>
            <a:off x="4228597" y="2512020"/>
            <a:ext cx="2539837" cy="294283"/>
          </a:xfrm>
          <a:prstGeom prst="rect">
            <a:avLst/>
          </a:prstGeom>
          <a:noFill/>
          <a:ln/>
        </p:spPr>
        <p:txBody>
          <a:bodyPr wrap="none" lIns="0" tIns="0" rIns="0" bIns="0" rtlCol="0" anchor="t"/>
          <a:lstStyle/>
          <a:p>
            <a:pPr rtl="1" algn="r" indent="0" marL="0">
              <a:lnSpc>
                <a:spcPct val="108000"/>
              </a:lnSpc>
              <a:buNone/>
            </a:pPr>
            <a:r>
              <a:rPr lang="he-IL" altLang="en-US" sz="1700" b="1" spc="-35"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700" b="1" spc="-35" kern="100" dirty="0">
                <a:solidFill>
                  <a:srgbClr val="EBEDF0"/>
                </a:solidFill>
                <a:latin typeface="Arial" pitchFamily="34" charset="0"/>
                <a:ea typeface="Arial" pitchFamily="34" charset="-122"/>
                <a:cs typeface="Arial" pitchFamily="34" charset="-120"/>
              </a:rPr>
              <a:t> חסרונות</a:t>
            </a:r>
            <a:endParaRPr lang="he-IL" sz="1700" dirty="0"/>
          </a:p>
        </p:txBody>
      </p:sp>
      <p:sp>
        <p:nvSpPr>
          <p:cNvPr id="10" name="Text 7"/>
          <p:cNvSpPr/>
          <p:nvPr/>
        </p:nvSpPr>
        <p:spPr>
          <a:xfrm>
            <a:off x="4228597" y="2972395"/>
            <a:ext cx="2539837" cy="1736427"/>
          </a:xfrm>
          <a:prstGeom prst="rect">
            <a:avLst/>
          </a:prstGeom>
          <a:noFill/>
          <a:ln/>
        </p:spPr>
        <p:txBody>
          <a:bodyPr wrap="square" lIns="0" tIns="0" rIns="70882" bIns="0" rtlCol="0" anchor="t">
            <a:normAutofit/>
          </a:bodyPr>
          <a:lstStyle/>
          <a:p>
            <a:pPr rtl="1" algn="r" marL="274320" indent="-274320">
              <a:lnSpc>
                <a:spcPct val="105000"/>
              </a:lnSpc>
              <a:buSzPct val="100000"/>
              <a:buChar char="•"/>
            </a:pPr>
            <a:r>
              <a:rPr lang="he-IL" altLang="en-US" sz="1350" dirty="0">
                <a:solidFill>
                  <a:srgbClr val="EBEDF0"/>
                </a:solidFill>
                <a:latin typeface="Arial" pitchFamily="34" charset="0"/>
                <a:ea typeface="Arial" pitchFamily="34" charset="-122"/>
                <a:cs typeface="Arial" pitchFamily="34" charset="-120"/>
              </a:rPr>
              <a:t>פחות מוכר ונפוץ מ-ChatGPT</a:t>
            </a:r>
            <a:endParaRPr lang="he-IL" sz="1350" dirty="0"/>
          </a:p>
          <a:p>
            <a:pPr rtl="1" algn="r" marL="274320" indent="-274320">
              <a:lnSpc>
                <a:spcPct val="105000"/>
              </a:lnSpc>
              <a:buSzPct val="100000"/>
              <a:buChar char="•"/>
            </a:pPr>
            <a:r>
              <a:rPr lang="he-IL" altLang="en-US" sz="1350" dirty="0">
                <a:solidFill>
                  <a:srgbClr val="EBEDF0"/>
                </a:solidFill>
                <a:latin typeface="Arial" pitchFamily="34" charset="0"/>
                <a:ea typeface="Arial" pitchFamily="34" charset="-122"/>
                <a:cs typeface="Arial" pitchFamily="34" charset="-120"/>
              </a:rPr>
              <a:t>לא יוצר תמונות</a:t>
            </a:r>
            <a:endParaRPr lang="he-IL" sz="1350" dirty="0"/>
          </a:p>
          <a:p>
            <a:pPr rtl="1" algn="r" marL="274320" indent="-274320">
              <a:lnSpc>
                <a:spcPct val="105000"/>
              </a:lnSpc>
              <a:buSzPct val="100000"/>
              <a:buChar char="•"/>
            </a:pPr>
            <a:r>
              <a:rPr lang="he-IL" altLang="en-US" sz="1350" dirty="0">
                <a:solidFill>
                  <a:srgbClr val="EBEDF0"/>
                </a:solidFill>
                <a:latin typeface="Arial" pitchFamily="34" charset="0"/>
                <a:ea typeface="Arial" pitchFamily="34" charset="-122"/>
                <a:cs typeface="Arial" pitchFamily="34" charset="-120"/>
              </a:rPr>
              <a:t>לפעמים "זהיר" מדי ומסרב לבקשות תמימות</a:t>
            </a:r>
            <a:endParaRPr lang="he-IL" sz="1350" dirty="0"/>
          </a:p>
          <a:p>
            <a:pPr rtl="1" algn="r" marL="274320" indent="-274320">
              <a:lnSpc>
                <a:spcPct val="105000"/>
              </a:lnSpc>
              <a:buSzPct val="100000"/>
              <a:buChar char="•"/>
            </a:pPr>
            <a:r>
              <a:rPr lang="he-IL" altLang="en-US" sz="1350" dirty="0">
                <a:solidFill>
                  <a:srgbClr val="EBEDF0"/>
                </a:solidFill>
                <a:latin typeface="Arial" pitchFamily="34" charset="0"/>
                <a:ea typeface="Arial" pitchFamily="34" charset="-122"/>
                <a:cs typeface="Arial" pitchFamily="34" charset="-120"/>
              </a:rPr>
              <a:t>מכסת השימוש החינמית נגמרת מהר</a:t>
            </a:r>
            <a:endParaRPr lang="he-IL" sz="1350" dirty="0"/>
          </a:p>
        </p:txBody>
      </p:sp>
      <p:sp>
        <p:nvSpPr>
          <p:cNvPr id="11" name="Shape 8"/>
          <p:cNvSpPr/>
          <p:nvPr/>
        </p:nvSpPr>
        <p:spPr>
          <a:xfrm>
            <a:off x="661475" y="5560020"/>
            <a:ext cx="6296860" cy="627162"/>
          </a:xfrm>
          <a:prstGeom prst="roundRect">
            <a:avLst>
              <a:gd name="adj" fmla="val 11867"/>
            </a:avLst>
          </a:prstGeom>
          <a:solidFill>
            <a:srgbClr val="022349"/>
          </a:solidFill>
          <a:ln/>
        </p:spPr>
        <p:txBody>
          <a:bodyPr/>
          <a:p/>
        </p:txBody>
      </p:sp>
      <p:pic>
        <p:nvPicPr>
          <p:cNvPr id="12" name="Image 1" descr="preencoded.png">    </p:cNvPr>
          <p:cNvPicPr>
            <a:picLocks noChangeAspect="1"/>
          </p:cNvPicPr>
          <p:nvPr/>
        </p:nvPicPr>
        <p:blipFill>
          <a:blip r:embed="rId2"/>
          <a:stretch>
            <a:fillRect/>
          </a:stretch>
        </p:blipFill>
        <p:spPr>
          <a:xfrm>
            <a:off x="838675" y="5774035"/>
            <a:ext cx="221451" cy="177205"/>
          </a:xfrm>
          <a:prstGeom prst="rect">
            <a:avLst/>
          </a:prstGeom>
        </p:spPr>
      </p:pic>
      <p:sp>
        <p:nvSpPr>
          <p:cNvPr id="13" name="Text 9"/>
          <p:cNvSpPr/>
          <p:nvPr/>
        </p:nvSpPr>
        <p:spPr>
          <a:xfrm>
            <a:off x="627741" y="5770364"/>
            <a:ext cx="6153393" cy="223143"/>
          </a:xfrm>
          <a:prstGeom prst="rect">
            <a:avLst/>
          </a:prstGeom>
          <a:noFill/>
          <a:ln/>
        </p:spPr>
        <p:txBody>
          <a:bodyPr wrap="none" lIns="0" tIns="0" rIns="0" bIns="0" rtlCol="0" anchor="t"/>
          <a:lstStyle/>
          <a:p>
            <a:pPr rtl="1" algn="r" indent="0" marL="0">
              <a:lnSpc>
                <a:spcPct val="105000"/>
              </a:lnSpc>
              <a:buNone/>
            </a:pPr>
            <a:r>
              <a:rPr lang="he-IL" altLang="en-US" sz="1350" dirty="0">
                <a:solidFill>
                  <a:srgbClr val="FFFFFF"/>
                </a:solidFill>
                <a:latin typeface="Arial" pitchFamily="34" charset="0"/>
                <a:ea typeface="Arial" pitchFamily="34" charset="-122"/>
                <a:cs typeface="Arial" pitchFamily="34" charset="-120"/>
              </a:rPr>
              <a:t>מתאים ל: ניתוח מסמכים, כתיבה מקצועית, עבודה עם טקסטים ארוכים</a:t>
            </a:r>
            <a:endParaRPr lang="he-IL" sz="1350" dirty="0"/>
          </a:p>
        </p:txBody>
      </p:sp>
      <p:sp>
        <p:nvSpPr>
          <p:cNvPr id="14" name="TextBox 13"/>
          <p:cNvSpPr txBox="1"/>
          <p:nvPr/>
        </p:nvSpPr>
        <p:spPr>
          <a:xfrm>
            <a:off x="6675120" y="6473952"/>
            <a:ext cx="4846320" cy="292608"/>
          </a:xfrm>
          <a:prstGeom prst="rect">
            <a:avLst/>
          </a:prstGeom>
          <a:noFill/>
        </p:spPr>
        <p:txBody>
          <a:bodyPr wrap="none" lIns="0" rIns="0" tIns="0" bIns="0">
            <a:spAutoFit/>
          </a:bodyPr>
          <a:lstStyle/>
          <a:p>
            <a:pPr algn="r" rtl="1"/>
            <a:r>
              <a:rPr sz="1000">
                <a:solidFill>
                  <a:srgbClr val="8A96AA"/>
                </a:solidFill>
                <a:latin typeface="Arial"/>
                <a:cs typeface="Arial"/>
              </a:rPr>
              <a:t>© נערך על ידי AI Finance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tretch>
            <a:fillRect/>
          </a:stretch>
        </p:blipFill>
        <p:spPr>
          <a:xfrm>
            <a:off x="0" y="0"/>
            <a:ext cx="4800480" cy="6858000"/>
          </a:xfrm>
          <a:custGeom>
            <a:avLst/>
            <a:gdLst/>
            <a:ahLst/>
            <a:cxnLst/>
            <a:rect l="0" t="0" r="100000" b="100000"/>
            <a:pathLst>
              <a:path w="100000" h="100000">
                <a:moveTo>
                  <a:pt x="0" y="0"/>
                </a:moveTo>
                <a:lnTo>
                  <a:pt x="90530" y="100"/>
                </a:lnTo>
                <a:lnTo>
                  <a:pt x="93070" y="6350"/>
                </a:lnTo>
                <a:lnTo>
                  <a:pt x="94920" y="12210"/>
                </a:lnTo>
                <a:lnTo>
                  <a:pt x="96680" y="19820"/>
                </a:lnTo>
                <a:lnTo>
                  <a:pt x="97560" y="25880"/>
                </a:lnTo>
                <a:lnTo>
                  <a:pt x="97950" y="30960"/>
                </a:lnTo>
                <a:lnTo>
                  <a:pt x="97950" y="39060"/>
                </a:lnTo>
                <a:lnTo>
                  <a:pt x="97270" y="46480"/>
                </a:lnTo>
                <a:lnTo>
                  <a:pt x="96190" y="52640"/>
                </a:lnTo>
                <a:lnTo>
                  <a:pt x="94730" y="58500"/>
                </a:lnTo>
                <a:lnTo>
                  <a:pt x="92480" y="65230"/>
                </a:lnTo>
                <a:lnTo>
                  <a:pt x="89550" y="72070"/>
                </a:lnTo>
                <a:lnTo>
                  <a:pt x="86820" y="77340"/>
                </a:lnTo>
                <a:lnTo>
                  <a:pt x="83500" y="82810"/>
                </a:lnTo>
                <a:lnTo>
                  <a:pt x="79200" y="88870"/>
                </a:lnTo>
                <a:lnTo>
                  <a:pt x="75880" y="92770"/>
                </a:lnTo>
                <a:lnTo>
                  <a:pt x="75880" y="92970"/>
                </a:lnTo>
                <a:lnTo>
                  <a:pt x="74510" y="94340"/>
                </a:lnTo>
                <a:lnTo>
                  <a:pt x="74510" y="94530"/>
                </a:lnTo>
                <a:lnTo>
                  <a:pt x="69240" y="100000"/>
                </a:lnTo>
                <a:lnTo>
                  <a:pt x="0" y="100000"/>
                </a:lnTo>
                <a:close/>
              </a:path>
            </a:pathLst>
          </a:custGeom>
        </p:spPr>
      </p:pic>
      <p:sp>
        <p:nvSpPr>
          <p:cNvPr id="3" name="Text 0"/>
          <p:cNvSpPr/>
          <p:nvPr/>
        </p:nvSpPr>
        <p:spPr>
          <a:xfrm>
            <a:off x="5233360" y="588268"/>
            <a:ext cx="6296860" cy="575866"/>
          </a:xfrm>
          <a:prstGeom prst="rect">
            <a:avLst/>
          </a:prstGeom>
          <a:noFill/>
          <a:ln/>
        </p:spPr>
        <p:txBody>
          <a:bodyPr wrap="none" lIns="0" tIns="0" rIns="0" bIns="0" rtlCol="0" anchor="t"/>
          <a:lstStyle/>
          <a:p>
            <a:pPr rtl="1" algn="r" indent="0" marL="0">
              <a:lnSpc>
                <a:spcPct val="108000"/>
              </a:lnSpc>
              <a:buNone/>
            </a:pPr>
            <a:r>
              <a:rPr lang="he-IL" altLang="en-US" sz="3450" b="1" spc="-70" kern="100" dirty="0">
                <a:solidFill>
                  <a:srgbClr val="F2F5FA"/>
                </a:solidFill>
                <a:latin typeface="Arial" pitchFamily="34" charset="0"/>
                <a:ea typeface="Arial" pitchFamily="34" charset="-122"/>
                <a:cs typeface="Arial" pitchFamily="34" charset="-120"/>
              </a:rPr>
              <a:t>ג'מיני – Google</a:t>
            </a:r>
            <a:endParaRPr lang="he-IL" sz="3450" dirty="0"/>
          </a:p>
        </p:txBody>
      </p:sp>
      <p:sp>
        <p:nvSpPr>
          <p:cNvPr id="4" name="Text 1"/>
          <p:cNvSpPr/>
          <p:nvPr/>
        </p:nvSpPr>
        <p:spPr>
          <a:xfrm>
            <a:off x="5233360" y="1413272"/>
            <a:ext cx="6296860" cy="446286"/>
          </a:xfrm>
          <a:prstGeom prst="rect">
            <a:avLst/>
          </a:prstGeom>
          <a:noFill/>
          <a:ln/>
        </p:spPr>
        <p:txBody>
          <a:bodyPr wrap="square" lIns="0" tIns="0" rIns="0" bIns="0" rtlCol="0" anchor="t">
            <a:normAutofit/>
          </a:bodyPr>
          <a:lstStyle/>
          <a:p>
            <a:pPr rtl="1" algn="r" indent="0" marL="0">
              <a:lnSpc>
                <a:spcPct val="105000"/>
              </a:lnSpc>
              <a:buNone/>
            </a:pPr>
            <a:r>
              <a:rPr lang="he-IL" altLang="en-US" sz="1350" dirty="0">
                <a:solidFill>
                  <a:srgbClr val="EBEDF0"/>
                </a:solidFill>
                <a:latin typeface="Arial" pitchFamily="34" charset="0"/>
                <a:ea typeface="Arial" pitchFamily="34" charset="-122"/>
                <a:cs typeface="Arial" pitchFamily="34" charset="-120"/>
              </a:rPr>
              <a:t>פותח על ידי Google DeepMind. גוגל – חברת הטכנולוגיה הגדולה בעולם – משלבת את ג'מיני בכל מוצריה.</a:t>
            </a:r>
            <a:endParaRPr lang="he-IL" sz="1350" dirty="0"/>
          </a:p>
        </p:txBody>
      </p:sp>
      <p:sp>
        <p:nvSpPr>
          <p:cNvPr id="5" name="Shape 2"/>
          <p:cNvSpPr/>
          <p:nvPr/>
        </p:nvSpPr>
        <p:spPr>
          <a:xfrm>
            <a:off x="5233360" y="2233216"/>
            <a:ext cx="2932337" cy="2647454"/>
          </a:xfrm>
          <a:prstGeom prst="roundRect">
            <a:avLst>
              <a:gd name="adj" fmla="val 2811"/>
            </a:avLst>
          </a:prstGeom>
          <a:solidFill>
            <a:srgbClr val="101620">
              <a:alpha val="95000"/>
            </a:srgbClr>
          </a:solidFill>
          <a:ln w="19050">
            <a:solidFill>
              <a:srgbClr val="002A80"/>
            </a:solidFill>
            <a:prstDash val="solid"/>
          </a:ln>
        </p:spPr>
        <p:txBody>
          <a:bodyPr/>
          <a:p/>
        </p:txBody>
      </p:sp>
      <p:sp>
        <p:nvSpPr>
          <p:cNvPr id="6" name="Text 3"/>
          <p:cNvSpPr/>
          <p:nvPr/>
        </p:nvSpPr>
        <p:spPr>
          <a:xfrm>
            <a:off x="5429610" y="2429470"/>
            <a:ext cx="2539837" cy="294283"/>
          </a:xfrm>
          <a:prstGeom prst="rect">
            <a:avLst/>
          </a:prstGeom>
          <a:noFill/>
          <a:ln/>
        </p:spPr>
        <p:txBody>
          <a:bodyPr wrap="none" lIns="0" tIns="0" rIns="0" bIns="0" rtlCol="0" anchor="t"/>
          <a:lstStyle/>
          <a:p>
            <a:pPr rtl="1" algn="r" indent="0" marL="0">
              <a:lnSpc>
                <a:spcPct val="108000"/>
              </a:lnSpc>
              <a:buNone/>
            </a:pPr>
            <a:r>
              <a:rPr lang="he-IL" altLang="en-US" sz="1700" b="1" spc="-35"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700" b="1" spc="-35" kern="100" dirty="0">
                <a:solidFill>
                  <a:srgbClr val="EBEDF0"/>
                </a:solidFill>
                <a:latin typeface="Arial" pitchFamily="34" charset="0"/>
                <a:ea typeface="Arial" pitchFamily="34" charset="-122"/>
                <a:cs typeface="Arial" pitchFamily="34" charset="-120"/>
              </a:rPr>
              <a:t> יתרונות</a:t>
            </a:r>
            <a:endParaRPr lang="he-IL" sz="1700" dirty="0"/>
          </a:p>
        </p:txBody>
      </p:sp>
      <p:sp>
        <p:nvSpPr>
          <p:cNvPr id="7" name="Text 4"/>
          <p:cNvSpPr/>
          <p:nvPr/>
        </p:nvSpPr>
        <p:spPr>
          <a:xfrm>
            <a:off x="5429610" y="2889845"/>
            <a:ext cx="2539837" cy="1794570"/>
          </a:xfrm>
          <a:prstGeom prst="rect">
            <a:avLst/>
          </a:prstGeom>
          <a:noFill/>
          <a:ln/>
        </p:spPr>
        <p:txBody>
          <a:bodyPr wrap="square" lIns="0" tIns="0" rIns="70882" bIns="0" rtlCol="0" anchor="t">
            <a:normAutofit/>
          </a:bodyPr>
          <a:lstStyle/>
          <a:p>
            <a:pPr rtl="1" algn="r" marL="274320" indent="-274320">
              <a:lnSpc>
                <a:spcPct val="105000"/>
              </a:lnSpc>
              <a:buSzPct val="100000"/>
              <a:buChar char="•"/>
            </a:pPr>
            <a:r>
              <a:rPr lang="he-IL" altLang="en-US" sz="1350" dirty="0">
                <a:solidFill>
                  <a:srgbClr val="EBEDF0"/>
                </a:solidFill>
                <a:latin typeface="Arial" pitchFamily="34" charset="0"/>
                <a:ea typeface="Arial" pitchFamily="34" charset="-122"/>
                <a:cs typeface="Arial" pitchFamily="34" charset="-120"/>
              </a:rPr>
              <a:t>גישה למידע עדכני מהאינטרנט</a:t>
            </a:r>
            <a:endParaRPr lang="he-IL" sz="1350" dirty="0"/>
          </a:p>
          <a:p>
            <a:pPr rtl="1" algn="r" marL="274320" indent="-274320">
              <a:lnSpc>
                <a:spcPct val="105000"/>
              </a:lnSpc>
              <a:buSzPct val="100000"/>
              <a:buChar char="•"/>
            </a:pPr>
            <a:r>
              <a:rPr lang="he-IL" altLang="en-US" sz="1350" dirty="0">
                <a:solidFill>
                  <a:srgbClr val="EBEDF0"/>
                </a:solidFill>
                <a:latin typeface="Arial" pitchFamily="34" charset="0"/>
                <a:ea typeface="Arial" pitchFamily="34" charset="-122"/>
                <a:cs typeface="Arial" pitchFamily="34" charset="-120"/>
              </a:rPr>
              <a:t>משולב עם Gmail, Drive, Docs ו-Calendar</a:t>
            </a:r>
            <a:endParaRPr lang="he-IL" sz="1350" dirty="0"/>
          </a:p>
          <a:p>
            <a:pPr rtl="1" algn="r" marL="274320" indent="-274320">
              <a:lnSpc>
                <a:spcPct val="105000"/>
              </a:lnSpc>
              <a:buSzPct val="100000"/>
              <a:buChar char="•"/>
            </a:pPr>
            <a:r>
              <a:rPr lang="he-IL" altLang="en-US" sz="1350" dirty="0">
                <a:solidFill>
                  <a:srgbClr val="EBEDF0"/>
                </a:solidFill>
                <a:latin typeface="Arial" pitchFamily="34" charset="0"/>
                <a:ea typeface="Arial" pitchFamily="34" charset="-122"/>
                <a:cs typeface="Arial" pitchFamily="34" charset="-120"/>
              </a:rPr>
              <a:t>מצוין לחיפוש ואיסוף מידע עדכני</a:t>
            </a:r>
            <a:endParaRPr lang="he-IL" sz="1350" dirty="0"/>
          </a:p>
          <a:p>
            <a:pPr rtl="1" algn="r" marL="274320" indent="-274320">
              <a:lnSpc>
                <a:spcPct val="105000"/>
              </a:lnSpc>
              <a:buSzPct val="100000"/>
              <a:buChar char="•"/>
            </a:pPr>
            <a:r>
              <a:rPr lang="he-IL" altLang="en-US" sz="1350" dirty="0">
                <a:solidFill>
                  <a:srgbClr val="EBEDF0"/>
                </a:solidFill>
                <a:latin typeface="Arial" pitchFamily="34" charset="0"/>
                <a:ea typeface="Arial" pitchFamily="34" charset="-122"/>
                <a:cs typeface="Arial" pitchFamily="34" charset="-120"/>
              </a:rPr>
              <a:t>תמיכה בעברית טובה</a:t>
            </a:r>
            <a:endParaRPr lang="he-IL" sz="1350" dirty="0"/>
          </a:p>
          <a:p>
            <a:pPr rtl="1" algn="r" marL="274320" indent="-274320">
              <a:lnSpc>
                <a:spcPct val="105000"/>
              </a:lnSpc>
              <a:buSzPct val="100000"/>
              <a:buChar char="•"/>
            </a:pPr>
            <a:r>
              <a:rPr lang="he-IL" altLang="en-US" sz="1350" dirty="0">
                <a:solidFill>
                  <a:srgbClr val="EBEDF0"/>
                </a:solidFill>
                <a:latin typeface="Arial" pitchFamily="34" charset="0"/>
                <a:ea typeface="Arial" pitchFamily="34" charset="-122"/>
                <a:cs typeface="Arial" pitchFamily="34" charset="-120"/>
              </a:rPr>
              <a:t>חינמי, כולל יצירה ועריכה של תמונות</a:t>
            </a:r>
            <a:endParaRPr lang="he-IL" sz="1350" dirty="0"/>
          </a:p>
        </p:txBody>
      </p:sp>
      <p:sp>
        <p:nvSpPr>
          <p:cNvPr id="8" name="Shape 5"/>
          <p:cNvSpPr/>
          <p:nvPr/>
        </p:nvSpPr>
        <p:spPr>
          <a:xfrm>
            <a:off x="8604233" y="2233216"/>
            <a:ext cx="2932337" cy="2812455"/>
          </a:xfrm>
          <a:prstGeom prst="roundRect">
            <a:avLst>
              <a:gd name="adj" fmla="val 2646"/>
            </a:avLst>
          </a:prstGeom>
          <a:solidFill>
            <a:srgbClr val="101620">
              <a:alpha val="95000"/>
            </a:srgbClr>
          </a:solidFill>
          <a:ln w="19050">
            <a:solidFill>
              <a:srgbClr val="002A80"/>
            </a:solidFill>
            <a:prstDash val="solid"/>
          </a:ln>
        </p:spPr>
        <p:txBody>
          <a:bodyPr/>
          <a:p/>
        </p:txBody>
      </p:sp>
      <p:sp>
        <p:nvSpPr>
          <p:cNvPr id="9" name="Text 6"/>
          <p:cNvSpPr/>
          <p:nvPr/>
        </p:nvSpPr>
        <p:spPr>
          <a:xfrm>
            <a:off x="8800483" y="2429470"/>
            <a:ext cx="2539837" cy="294283"/>
          </a:xfrm>
          <a:prstGeom prst="rect">
            <a:avLst/>
          </a:prstGeom>
          <a:noFill/>
          <a:ln/>
        </p:spPr>
        <p:txBody>
          <a:bodyPr wrap="none" lIns="0" tIns="0" rIns="0" bIns="0" rtlCol="0" anchor="t"/>
          <a:lstStyle/>
          <a:p>
            <a:pPr rtl="1" algn="r" indent="0" marL="0">
              <a:lnSpc>
                <a:spcPct val="108000"/>
              </a:lnSpc>
              <a:buNone/>
            </a:pPr>
            <a:r>
              <a:rPr lang="he-IL" altLang="en-US" sz="1700" b="1" spc="-35"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700" b="1" spc="-35" kern="100" dirty="0">
                <a:solidFill>
                  <a:srgbClr val="EBEDF0"/>
                </a:solidFill>
                <a:latin typeface="Arial" pitchFamily="34" charset="0"/>
                <a:ea typeface="Arial" pitchFamily="34" charset="-122"/>
                <a:cs typeface="Arial" pitchFamily="34" charset="-120"/>
              </a:rPr>
              <a:t> חסרונות</a:t>
            </a:r>
            <a:endParaRPr lang="he-IL" sz="1700" dirty="0"/>
          </a:p>
        </p:txBody>
      </p:sp>
      <p:sp>
        <p:nvSpPr>
          <p:cNvPr id="10" name="Text 7"/>
          <p:cNvSpPr/>
          <p:nvPr/>
        </p:nvSpPr>
        <p:spPr>
          <a:xfrm>
            <a:off x="8800483" y="2889845"/>
            <a:ext cx="2539837" cy="1959570"/>
          </a:xfrm>
          <a:prstGeom prst="rect">
            <a:avLst/>
          </a:prstGeom>
          <a:noFill/>
          <a:ln/>
        </p:spPr>
        <p:txBody>
          <a:bodyPr wrap="square" lIns="0" tIns="0" rIns="70882" bIns="0" rtlCol="0" anchor="t">
            <a:normAutofit/>
          </a:bodyPr>
          <a:lstStyle/>
          <a:p>
            <a:pPr rtl="1" algn="r" marL="274320" indent="-274320">
              <a:lnSpc>
                <a:spcPct val="105000"/>
              </a:lnSpc>
              <a:buSzPct val="100000"/>
              <a:buChar char="•"/>
            </a:pPr>
            <a:r>
              <a:rPr lang="he-IL" altLang="en-US" sz="1350" dirty="0">
                <a:solidFill>
                  <a:srgbClr val="EBEDF0"/>
                </a:solidFill>
                <a:latin typeface="Arial" pitchFamily="34" charset="0"/>
                <a:ea typeface="Arial" pitchFamily="34" charset="-122"/>
                <a:cs typeface="Arial" pitchFamily="34" charset="-120"/>
              </a:rPr>
              <a:t>לפעמים פחות עמוק בניתוח טקסטים</a:t>
            </a:r>
            <a:endParaRPr lang="he-IL" sz="1350" dirty="0"/>
          </a:p>
          <a:p>
            <a:pPr rtl="1" algn="r" marL="274320" indent="-274320">
              <a:lnSpc>
                <a:spcPct val="105000"/>
              </a:lnSpc>
              <a:buSzPct val="100000"/>
              <a:buChar char="•"/>
            </a:pPr>
            <a:r>
              <a:rPr lang="he-IL" altLang="en-US" sz="1350" dirty="0">
                <a:solidFill>
                  <a:srgbClr val="EBEDF0"/>
                </a:solidFill>
                <a:latin typeface="Arial" pitchFamily="34" charset="0"/>
                <a:ea typeface="Arial" pitchFamily="34" charset="-122"/>
                <a:cs typeface="Arial" pitchFamily="34" charset="-120"/>
              </a:rPr>
              <a:t>האינטגרציה עם Google Workspace דורשת הגדרה</a:t>
            </a:r>
            <a:endParaRPr lang="he-IL" sz="1350" dirty="0"/>
          </a:p>
          <a:p>
            <a:pPr rtl="1" algn="r" marL="274320" indent="-274320">
              <a:lnSpc>
                <a:spcPct val="105000"/>
              </a:lnSpc>
              <a:buSzPct val="100000"/>
              <a:buChar char="•"/>
            </a:pPr>
            <a:r>
              <a:rPr lang="he-IL" altLang="en-US" sz="1350" dirty="0">
                <a:solidFill>
                  <a:srgbClr val="EBEDF0"/>
                </a:solidFill>
                <a:latin typeface="Arial" pitchFamily="34" charset="0"/>
                <a:ea typeface="Arial" pitchFamily="34" charset="-122"/>
                <a:cs typeface="Arial" pitchFamily="34" charset="-120"/>
              </a:rPr>
              <a:t>פחות יצירתי בכתיבה לעומת ChatGPT וקלוד</a:t>
            </a:r>
            <a:endParaRPr lang="he-IL" sz="1350" dirty="0"/>
          </a:p>
          <a:p>
            <a:pPr rtl="1" algn="r" marL="274320" indent="-274320">
              <a:lnSpc>
                <a:spcPct val="105000"/>
              </a:lnSpc>
              <a:buSzPct val="100000"/>
              <a:buChar char="•"/>
            </a:pPr>
            <a:r>
              <a:rPr lang="he-IL" altLang="en-US" sz="1350" dirty="0">
                <a:solidFill>
                  <a:srgbClr val="EBEDF0"/>
                </a:solidFill>
                <a:latin typeface="Arial" pitchFamily="34" charset="0"/>
                <a:ea typeface="Arial" pitchFamily="34" charset="-122"/>
                <a:cs typeface="Arial" pitchFamily="34" charset="-120"/>
              </a:rPr>
              <a:t>ממשק שיחה פחות טבעי לפעמים</a:t>
            </a:r>
            <a:endParaRPr lang="he-IL" sz="1350" dirty="0"/>
          </a:p>
        </p:txBody>
      </p:sp>
      <p:sp>
        <p:nvSpPr>
          <p:cNvPr id="11" name="Shape 8"/>
          <p:cNvSpPr/>
          <p:nvPr/>
        </p:nvSpPr>
        <p:spPr>
          <a:xfrm>
            <a:off x="5233360" y="5419328"/>
            <a:ext cx="6296860" cy="850305"/>
          </a:xfrm>
          <a:prstGeom prst="roundRect">
            <a:avLst>
              <a:gd name="adj" fmla="val 8753"/>
            </a:avLst>
          </a:prstGeom>
          <a:solidFill>
            <a:srgbClr val="022349"/>
          </a:solidFill>
          <a:ln/>
        </p:spPr>
        <p:txBody>
          <a:bodyPr/>
          <a:p/>
        </p:txBody>
      </p:sp>
      <p:pic>
        <p:nvPicPr>
          <p:cNvPr id="12" name="Image 1" descr="preencoded.png">    </p:cNvPr>
          <p:cNvPicPr>
            <a:picLocks noChangeAspect="1"/>
          </p:cNvPicPr>
          <p:nvPr/>
        </p:nvPicPr>
        <p:blipFill>
          <a:blip r:embed="rId2"/>
          <a:stretch>
            <a:fillRect/>
          </a:stretch>
        </p:blipFill>
        <p:spPr>
          <a:xfrm>
            <a:off x="5410561" y="5633343"/>
            <a:ext cx="221451" cy="177205"/>
          </a:xfrm>
          <a:prstGeom prst="rect">
            <a:avLst/>
          </a:prstGeom>
        </p:spPr>
      </p:pic>
      <p:sp>
        <p:nvSpPr>
          <p:cNvPr id="13" name="Text 9"/>
          <p:cNvSpPr/>
          <p:nvPr/>
        </p:nvSpPr>
        <p:spPr>
          <a:xfrm>
            <a:off x="5809212" y="5629672"/>
            <a:ext cx="5543808" cy="446286"/>
          </a:xfrm>
          <a:prstGeom prst="rect">
            <a:avLst/>
          </a:prstGeom>
          <a:noFill/>
          <a:ln/>
        </p:spPr>
        <p:txBody>
          <a:bodyPr wrap="square" lIns="0" tIns="0" rIns="0" bIns="0" rtlCol="0" anchor="t">
            <a:normAutofit/>
          </a:bodyPr>
          <a:lstStyle/>
          <a:p>
            <a:pPr rtl="1" algn="r" indent="0" marL="0">
              <a:lnSpc>
                <a:spcPct val="105000"/>
              </a:lnSpc>
              <a:buNone/>
            </a:pPr>
            <a:r>
              <a:rPr lang="he-IL" altLang="en-US" sz="1350" dirty="0">
                <a:solidFill>
                  <a:srgbClr val="FFFFFF"/>
                </a:solidFill>
                <a:latin typeface="Arial" pitchFamily="34" charset="0"/>
                <a:ea typeface="Arial" pitchFamily="34" charset="-122"/>
                <a:cs typeface="Arial" pitchFamily="34" charset="-120"/>
              </a:rPr>
              <a:t>מתאים ל: חיפוש מידע עדכני, עבודה עם Google Workspace, שאלות על אירועים שוטפים</a:t>
            </a:r>
            <a:endParaRPr lang="he-IL" sz="1350" dirty="0"/>
          </a:p>
        </p:txBody>
      </p:sp>
      <p:sp>
        <p:nvSpPr>
          <p:cNvPr id="14" name="TextBox 13"/>
          <p:cNvSpPr txBox="1"/>
          <p:nvPr/>
        </p:nvSpPr>
        <p:spPr>
          <a:xfrm>
            <a:off x="6675120" y="6473952"/>
            <a:ext cx="4846320" cy="292608"/>
          </a:xfrm>
          <a:prstGeom prst="rect">
            <a:avLst/>
          </a:prstGeom>
          <a:noFill/>
        </p:spPr>
        <p:txBody>
          <a:bodyPr wrap="none" lIns="0" rIns="0" tIns="0" bIns="0">
            <a:spAutoFit/>
          </a:bodyPr>
          <a:lstStyle/>
          <a:p>
            <a:pPr algn="r" rtl="1"/>
            <a:r>
              <a:rPr sz="1000">
                <a:solidFill>
                  <a:srgbClr val="8A96AA"/>
                </a:solidFill>
                <a:latin typeface="Arial"/>
                <a:cs typeface="Arial"/>
              </a:rPr>
              <a:t>© נערך על ידי AI Finance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tretch>
            <a:fillRect/>
          </a:stretch>
        </p:blipFill>
        <p:spPr>
          <a:xfrm>
            <a:off x="7391215" y="0"/>
            <a:ext cx="4800480" cy="6858000"/>
          </a:xfrm>
          <a:custGeom>
            <a:avLst/>
            <a:gdLst/>
            <a:ahLst/>
            <a:cxnLst/>
            <a:rect l="0" t="0" r="100000" b="100000"/>
            <a:pathLst>
              <a:path w="100000" h="100000">
                <a:moveTo>
                  <a:pt x="9570" y="0"/>
                </a:moveTo>
                <a:lnTo>
                  <a:pt x="100000" y="0"/>
                </a:lnTo>
                <a:lnTo>
                  <a:pt x="100000" y="100000"/>
                </a:lnTo>
                <a:lnTo>
                  <a:pt x="30760" y="100000"/>
                </a:lnTo>
                <a:lnTo>
                  <a:pt x="26370" y="95510"/>
                </a:lnTo>
                <a:lnTo>
                  <a:pt x="26370" y="95310"/>
                </a:lnTo>
                <a:lnTo>
                  <a:pt x="25490" y="94530"/>
                </a:lnTo>
                <a:lnTo>
                  <a:pt x="25490" y="94340"/>
                </a:lnTo>
                <a:lnTo>
                  <a:pt x="22660" y="91210"/>
                </a:lnTo>
                <a:lnTo>
                  <a:pt x="18360" y="85550"/>
                </a:lnTo>
                <a:lnTo>
                  <a:pt x="15140" y="80660"/>
                </a:lnTo>
                <a:lnTo>
                  <a:pt x="11910" y="75000"/>
                </a:lnTo>
                <a:lnTo>
                  <a:pt x="9280" y="69530"/>
                </a:lnTo>
                <a:lnTo>
                  <a:pt x="6840" y="63380"/>
                </a:lnTo>
                <a:lnTo>
                  <a:pt x="4790" y="56740"/>
                </a:lnTo>
                <a:lnTo>
                  <a:pt x="3320" y="50200"/>
                </a:lnTo>
                <a:lnTo>
                  <a:pt x="2440" y="44140"/>
                </a:lnTo>
                <a:lnTo>
                  <a:pt x="2050" y="39060"/>
                </a:lnTo>
                <a:lnTo>
                  <a:pt x="2050" y="30860"/>
                </a:lnTo>
                <a:lnTo>
                  <a:pt x="2540" y="25000"/>
                </a:lnTo>
                <a:lnTo>
                  <a:pt x="3320" y="19820"/>
                </a:lnTo>
                <a:lnTo>
                  <a:pt x="4880" y="12890"/>
                </a:lnTo>
                <a:lnTo>
                  <a:pt x="6930" y="6350"/>
                </a:lnTo>
                <a:close/>
              </a:path>
            </a:pathLst>
          </a:custGeom>
        </p:spPr>
      </p:pic>
      <p:sp>
        <p:nvSpPr>
          <p:cNvPr id="3" name="Text 0"/>
          <p:cNvSpPr/>
          <p:nvPr/>
        </p:nvSpPr>
        <p:spPr>
          <a:xfrm>
            <a:off x="661475" y="526058"/>
            <a:ext cx="6296860" cy="566341"/>
          </a:xfrm>
          <a:prstGeom prst="rect">
            <a:avLst/>
          </a:prstGeom>
          <a:noFill/>
          <a:ln/>
        </p:spPr>
        <p:txBody>
          <a:bodyPr wrap="none" lIns="0" tIns="0" rIns="0" bIns="0" rtlCol="0" anchor="t"/>
          <a:lstStyle/>
          <a:p>
            <a:pPr rtl="1" algn="r" indent="0" marL="0">
              <a:lnSpc>
                <a:spcPct val="108000"/>
              </a:lnSpc>
              <a:buNone/>
            </a:pPr>
            <a:r>
              <a:rPr lang="he-IL" altLang="en-US" sz="3400" b="1" spc="-69" kern="100" dirty="0">
                <a:solidFill>
                  <a:srgbClr val="F2F5FA"/>
                </a:solidFill>
                <a:latin typeface="Arial" pitchFamily="34" charset="0"/>
                <a:ea typeface="Arial" pitchFamily="34" charset="-122"/>
                <a:cs typeface="Arial" pitchFamily="34" charset="-120"/>
              </a:rPr>
              <a:t>קופיילוט – Microsoft</a:t>
            </a:r>
            <a:endParaRPr lang="he-IL" sz="3400" dirty="0"/>
          </a:p>
        </p:txBody>
      </p:sp>
      <p:sp>
        <p:nvSpPr>
          <p:cNvPr id="4" name="Text 1"/>
          <p:cNvSpPr/>
          <p:nvPr/>
        </p:nvSpPr>
        <p:spPr>
          <a:xfrm>
            <a:off x="661475" y="1333302"/>
            <a:ext cx="6296860" cy="435173"/>
          </a:xfrm>
          <a:prstGeom prst="rect">
            <a:avLst/>
          </a:prstGeom>
          <a:noFill/>
          <a:ln/>
        </p:spPr>
        <p:txBody>
          <a:bodyPr wrap="square" lIns="0" tIns="0" rIns="0" bIns="0" rtlCol="0" anchor="t">
            <a:normAutofit/>
          </a:bodyPr>
          <a:lstStyle/>
          <a:p>
            <a:pPr rtl="1" algn="r" indent="0" marL="0">
              <a:lnSpc>
                <a:spcPct val="104000"/>
              </a:lnSpc>
              <a:buNone/>
            </a:pPr>
            <a:r>
              <a:rPr lang="he-IL" altLang="en-US" sz="1350" dirty="0">
                <a:solidFill>
                  <a:srgbClr val="EBEDF0"/>
                </a:solidFill>
                <a:latin typeface="Arial" pitchFamily="34" charset="0"/>
                <a:ea typeface="Arial" pitchFamily="34" charset="-122"/>
                <a:cs typeface="Arial" pitchFamily="34" charset="-120"/>
              </a:rPr>
              <a:t>פותח על ידי מיקרוסופט, בשיתוף עם OpenAI (שבה מיקרוסופט השקיעה מיליארדים). מובנה ישירות בתוך חבילת Office 365.</a:t>
            </a:r>
            <a:endParaRPr lang="he-IL" sz="1350" dirty="0"/>
          </a:p>
        </p:txBody>
      </p:sp>
      <p:sp>
        <p:nvSpPr>
          <p:cNvPr id="5" name="Shape 2"/>
          <p:cNvSpPr/>
          <p:nvPr/>
        </p:nvSpPr>
        <p:spPr>
          <a:xfrm>
            <a:off x="661475" y="2129830"/>
            <a:ext cx="2935909" cy="3013174"/>
          </a:xfrm>
          <a:prstGeom prst="roundRect">
            <a:avLst>
              <a:gd name="adj" fmla="val 2493"/>
            </a:avLst>
          </a:prstGeom>
          <a:solidFill>
            <a:srgbClr val="101620">
              <a:alpha val="95000"/>
            </a:srgbClr>
          </a:solidFill>
          <a:ln w="19050">
            <a:solidFill>
              <a:srgbClr val="002A80"/>
            </a:solidFill>
            <a:prstDash val="solid"/>
          </a:ln>
        </p:spPr>
        <p:txBody>
          <a:bodyPr/>
          <a:p/>
        </p:txBody>
      </p:sp>
      <p:sp>
        <p:nvSpPr>
          <p:cNvPr id="6" name="Text 3"/>
          <p:cNvSpPr/>
          <p:nvPr/>
        </p:nvSpPr>
        <p:spPr>
          <a:xfrm>
            <a:off x="854748" y="2323108"/>
            <a:ext cx="2549362" cy="283071"/>
          </a:xfrm>
          <a:prstGeom prst="rect">
            <a:avLst/>
          </a:prstGeom>
          <a:noFill/>
          <a:ln/>
        </p:spPr>
        <p:txBody>
          <a:bodyPr wrap="none" lIns="0" tIns="0" rIns="0" bIns="0" rtlCol="0" anchor="t"/>
          <a:lstStyle/>
          <a:p>
            <a:pPr rtl="1" algn="r" indent="0" marL="0">
              <a:lnSpc>
                <a:spcPct val="108000"/>
              </a:lnSpc>
              <a:buNone/>
            </a:pPr>
            <a:r>
              <a:rPr lang="he-IL" altLang="en-US" sz="1700" b="1" spc="-34"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700" b="1" spc="-34" kern="100" dirty="0">
                <a:solidFill>
                  <a:srgbClr val="EBEDF0"/>
                </a:solidFill>
                <a:latin typeface="Arial" pitchFamily="34" charset="0"/>
                <a:ea typeface="Arial" pitchFamily="34" charset="-122"/>
                <a:cs typeface="Arial" pitchFamily="34" charset="-120"/>
              </a:rPr>
              <a:t> יתרונות:</a:t>
            </a:r>
            <a:endParaRPr lang="he-IL" sz="1700" dirty="0"/>
          </a:p>
        </p:txBody>
      </p:sp>
      <p:sp>
        <p:nvSpPr>
          <p:cNvPr id="7" name="Text 4"/>
          <p:cNvSpPr/>
          <p:nvPr/>
        </p:nvSpPr>
        <p:spPr>
          <a:xfrm>
            <a:off x="854748" y="2766814"/>
            <a:ext cx="2549362" cy="2182912"/>
          </a:xfrm>
          <a:prstGeom prst="rect">
            <a:avLst/>
          </a:prstGeom>
          <a:noFill/>
          <a:ln/>
        </p:spPr>
        <p:txBody>
          <a:bodyPr wrap="square" lIns="0" tIns="0" rIns="69700" bIns="0" rtlCol="0" anchor="t">
            <a:normAutofit/>
          </a:bodyPr>
          <a:lstStyle/>
          <a:p>
            <a:pPr rtl="1" algn="r" marL="274320" indent="-274320">
              <a:lnSpc>
                <a:spcPct val="104000"/>
              </a:lnSpc>
              <a:buSzPct val="100000"/>
              <a:buChar char="•"/>
            </a:pPr>
            <a:r>
              <a:rPr lang="he-IL" altLang="en-US" sz="1350" dirty="0">
                <a:solidFill>
                  <a:srgbClr val="EBEDF0"/>
                </a:solidFill>
                <a:latin typeface="Arial" pitchFamily="34" charset="0"/>
                <a:ea typeface="Arial" pitchFamily="34" charset="-122"/>
                <a:cs typeface="Arial" pitchFamily="34" charset="-120"/>
              </a:rPr>
              <a:t>משולב ישירות ב-Word, Excel, PowerPoint, Teams ו-Outlook</a:t>
            </a:r>
            <a:endParaRPr lang="he-IL" sz="1350" dirty="0"/>
          </a:p>
          <a:p>
            <a:pPr rtl="1" algn="r" marL="274320" indent="-274320">
              <a:lnSpc>
                <a:spcPct val="104000"/>
              </a:lnSpc>
              <a:buSzPct val="100000"/>
              <a:buChar char="•"/>
            </a:pPr>
            <a:r>
              <a:rPr lang="he-IL" altLang="en-US" sz="1350" dirty="0">
                <a:solidFill>
                  <a:srgbClr val="EBEDF0"/>
                </a:solidFill>
                <a:latin typeface="Arial" pitchFamily="34" charset="0"/>
                <a:ea typeface="Arial" pitchFamily="34" charset="-122"/>
                <a:cs typeface="Arial" pitchFamily="34" charset="-120"/>
              </a:rPr>
              <a:t>מצוין לסיכום פגישות ב-Teams</a:t>
            </a:r>
            <a:endParaRPr lang="he-IL" sz="1350" dirty="0"/>
          </a:p>
          <a:p>
            <a:pPr rtl="1" algn="r" marL="274320" indent="-274320">
              <a:lnSpc>
                <a:spcPct val="104000"/>
              </a:lnSpc>
              <a:buSzPct val="100000"/>
              <a:buChar char="•"/>
            </a:pPr>
            <a:r>
              <a:rPr lang="he-IL" altLang="en-US" sz="1350" dirty="0">
                <a:solidFill>
                  <a:srgbClr val="EBEDF0"/>
                </a:solidFill>
                <a:latin typeface="Arial" pitchFamily="34" charset="0"/>
                <a:ea typeface="Arial" pitchFamily="34" charset="-122"/>
                <a:cs typeface="Arial" pitchFamily="34" charset="-120"/>
              </a:rPr>
              <a:t>יוצר מצגות מטקסט ב-PowerPoint</a:t>
            </a:r>
            <a:endParaRPr lang="he-IL" sz="1350" dirty="0"/>
          </a:p>
          <a:p>
            <a:pPr rtl="1" algn="r" marL="274320" indent="-274320">
              <a:lnSpc>
                <a:spcPct val="104000"/>
              </a:lnSpc>
              <a:buSzPct val="100000"/>
              <a:buChar char="•"/>
            </a:pPr>
            <a:r>
              <a:rPr lang="he-IL" altLang="en-US" sz="1350" dirty="0">
                <a:solidFill>
                  <a:srgbClr val="EBEDF0"/>
                </a:solidFill>
                <a:latin typeface="Arial" pitchFamily="34" charset="0"/>
                <a:ea typeface="Arial" pitchFamily="34" charset="-122"/>
                <a:cs typeface="Arial" pitchFamily="34" charset="-120"/>
              </a:rPr>
              <a:t>מנתח נתונים ב-Excel אוטומטית</a:t>
            </a:r>
            <a:endParaRPr lang="he-IL" sz="1350" dirty="0"/>
          </a:p>
          <a:p>
            <a:pPr rtl="1" algn="r" marL="274320" indent="-274320">
              <a:lnSpc>
                <a:spcPct val="104000"/>
              </a:lnSpc>
              <a:buSzPct val="100000"/>
              <a:buChar char="•"/>
            </a:pPr>
            <a:r>
              <a:rPr lang="he-IL" altLang="en-US" sz="1350" dirty="0">
                <a:solidFill>
                  <a:srgbClr val="EBEDF0"/>
                </a:solidFill>
                <a:latin typeface="Arial" pitchFamily="34" charset="0"/>
                <a:ea typeface="Arial" pitchFamily="34" charset="-122"/>
                <a:cs typeface="Arial" pitchFamily="34" charset="-120"/>
              </a:rPr>
              <a:t>מבוסס על המודלים של OpenAI – איכות גבוהה</a:t>
            </a:r>
            <a:endParaRPr lang="he-IL" sz="1350" dirty="0"/>
          </a:p>
        </p:txBody>
      </p:sp>
      <p:sp>
        <p:nvSpPr>
          <p:cNvPr id="8" name="Shape 5"/>
          <p:cNvSpPr/>
          <p:nvPr/>
        </p:nvSpPr>
        <p:spPr>
          <a:xfrm>
            <a:off x="4028776" y="2129830"/>
            <a:ext cx="2935909" cy="2739430"/>
          </a:xfrm>
          <a:prstGeom prst="roundRect">
            <a:avLst>
              <a:gd name="adj" fmla="val 2672"/>
            </a:avLst>
          </a:prstGeom>
          <a:solidFill>
            <a:srgbClr val="101620">
              <a:alpha val="95000"/>
            </a:srgbClr>
          </a:solidFill>
          <a:ln w="19050">
            <a:solidFill>
              <a:srgbClr val="002A80"/>
            </a:solidFill>
            <a:prstDash val="solid"/>
          </a:ln>
        </p:spPr>
        <p:txBody>
          <a:bodyPr/>
          <a:p/>
        </p:txBody>
      </p:sp>
      <p:sp>
        <p:nvSpPr>
          <p:cNvPr id="9" name="Text 6"/>
          <p:cNvSpPr/>
          <p:nvPr/>
        </p:nvSpPr>
        <p:spPr>
          <a:xfrm>
            <a:off x="4222049" y="2323108"/>
            <a:ext cx="2549362" cy="283071"/>
          </a:xfrm>
          <a:prstGeom prst="rect">
            <a:avLst/>
          </a:prstGeom>
          <a:noFill/>
          <a:ln/>
        </p:spPr>
        <p:txBody>
          <a:bodyPr wrap="none" lIns="0" tIns="0" rIns="0" bIns="0" rtlCol="0" anchor="t"/>
          <a:lstStyle/>
          <a:p>
            <a:pPr rtl="1" algn="r" indent="0" marL="0">
              <a:lnSpc>
                <a:spcPct val="108000"/>
              </a:lnSpc>
              <a:buNone/>
            </a:pPr>
            <a:r>
              <a:rPr lang="he-IL" altLang="en-US" sz="1700" b="1" spc="-34"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700" b="1" spc="-34" kern="100" dirty="0">
                <a:solidFill>
                  <a:srgbClr val="EBEDF0"/>
                </a:solidFill>
                <a:latin typeface="Arial" pitchFamily="34" charset="0"/>
                <a:ea typeface="Arial" pitchFamily="34" charset="-122"/>
                <a:cs typeface="Arial" pitchFamily="34" charset="-120"/>
              </a:rPr>
              <a:t> חסרונות:</a:t>
            </a:r>
            <a:endParaRPr lang="he-IL" sz="1700" dirty="0"/>
          </a:p>
        </p:txBody>
      </p:sp>
      <p:sp>
        <p:nvSpPr>
          <p:cNvPr id="10" name="Text 7"/>
          <p:cNvSpPr/>
          <p:nvPr/>
        </p:nvSpPr>
        <p:spPr>
          <a:xfrm>
            <a:off x="4222049" y="2766814"/>
            <a:ext cx="2549362" cy="1909167"/>
          </a:xfrm>
          <a:prstGeom prst="rect">
            <a:avLst/>
          </a:prstGeom>
          <a:noFill/>
          <a:ln/>
        </p:spPr>
        <p:txBody>
          <a:bodyPr wrap="square" lIns="0" tIns="0" rIns="69700" bIns="0" rtlCol="0" anchor="t">
            <a:normAutofit/>
          </a:bodyPr>
          <a:lstStyle/>
          <a:p>
            <a:pPr rtl="1" algn="r" marL="274320" indent="-274320">
              <a:lnSpc>
                <a:spcPct val="104000"/>
              </a:lnSpc>
              <a:buSzPct val="100000"/>
              <a:buChar char="•"/>
            </a:pPr>
            <a:r>
              <a:rPr lang="he-IL" altLang="en-US" sz="1350" dirty="0">
                <a:solidFill>
                  <a:srgbClr val="EBEDF0"/>
                </a:solidFill>
                <a:latin typeface="Arial" pitchFamily="34" charset="0"/>
                <a:ea typeface="Arial" pitchFamily="34" charset="-122"/>
                <a:cs typeface="Arial" pitchFamily="34" charset="-120"/>
              </a:rPr>
              <a:t>דורש רישיון Microsoft 365 (לא חינמי לחלוטין)</a:t>
            </a:r>
            <a:endParaRPr lang="he-IL" sz="1350" dirty="0"/>
          </a:p>
          <a:p>
            <a:pPr rtl="1" algn="r" marL="274320" indent="-274320">
              <a:lnSpc>
                <a:spcPct val="104000"/>
              </a:lnSpc>
              <a:buSzPct val="100000"/>
              <a:buChar char="•"/>
            </a:pPr>
            <a:r>
              <a:rPr lang="he-IL" altLang="en-US" sz="1350" dirty="0">
                <a:solidFill>
                  <a:srgbClr val="EBEDF0"/>
                </a:solidFill>
                <a:latin typeface="Arial" pitchFamily="34" charset="0"/>
                <a:ea typeface="Arial" pitchFamily="34" charset="-122"/>
                <a:cs typeface="Arial" pitchFamily="34" charset="-120"/>
              </a:rPr>
              <a:t>הגרסה החינמית (copilot.microsoft.com) מוגבלת יותר</a:t>
            </a:r>
            <a:endParaRPr lang="he-IL" sz="1350" dirty="0"/>
          </a:p>
          <a:p>
            <a:pPr rtl="1" algn="r" marL="274320" indent="-274320">
              <a:lnSpc>
                <a:spcPct val="104000"/>
              </a:lnSpc>
              <a:buSzPct val="100000"/>
              <a:buChar char="•"/>
            </a:pPr>
            <a:r>
              <a:rPr lang="he-IL" altLang="en-US" sz="1350" dirty="0">
                <a:solidFill>
                  <a:srgbClr val="EBEDF0"/>
                </a:solidFill>
                <a:latin typeface="Arial" pitchFamily="34" charset="0"/>
                <a:ea typeface="Arial" pitchFamily="34" charset="-122"/>
                <a:cs typeface="Arial" pitchFamily="34" charset="-120"/>
              </a:rPr>
              <a:t>פחות גמיש לשיחות חופשיות</a:t>
            </a:r>
            <a:endParaRPr lang="he-IL" sz="1350" dirty="0"/>
          </a:p>
          <a:p>
            <a:pPr rtl="1" algn="r" marL="274320" indent="-274320">
              <a:lnSpc>
                <a:spcPct val="104000"/>
              </a:lnSpc>
              <a:buSzPct val="100000"/>
              <a:buChar char="•"/>
            </a:pPr>
            <a:r>
              <a:rPr lang="he-IL" altLang="en-US" sz="1350" dirty="0">
                <a:solidFill>
                  <a:srgbClr val="EBEDF0"/>
                </a:solidFill>
                <a:latin typeface="Arial" pitchFamily="34" charset="0"/>
                <a:ea typeface="Arial" pitchFamily="34" charset="-122"/>
                <a:cs typeface="Arial" pitchFamily="34" charset="-120"/>
              </a:rPr>
              <a:t>תלוי בסביבת Microsoft – פחות שימושי מחוצה לה</a:t>
            </a:r>
            <a:endParaRPr lang="he-IL" sz="1350" dirty="0"/>
          </a:p>
        </p:txBody>
      </p:sp>
      <p:sp>
        <p:nvSpPr>
          <p:cNvPr id="11" name="Shape 8"/>
          <p:cNvSpPr/>
          <p:nvPr/>
        </p:nvSpPr>
        <p:spPr>
          <a:xfrm>
            <a:off x="661475" y="5504359"/>
            <a:ext cx="6296860" cy="827484"/>
          </a:xfrm>
          <a:prstGeom prst="roundRect">
            <a:avLst>
              <a:gd name="adj" fmla="val 8844"/>
            </a:avLst>
          </a:prstGeom>
          <a:solidFill>
            <a:srgbClr val="4B3F02"/>
          </a:solidFill>
          <a:ln/>
        </p:spPr>
        <p:txBody>
          <a:bodyPr/>
          <a:p/>
        </p:txBody>
      </p:sp>
      <p:pic>
        <p:nvPicPr>
          <p:cNvPr id="12" name="Image 1" descr="preencoded.png">    </p:cNvPr>
          <p:cNvPicPr>
            <a:picLocks noChangeAspect="1"/>
          </p:cNvPicPr>
          <p:nvPr/>
        </p:nvPicPr>
        <p:blipFill>
          <a:blip r:embed="rId2"/>
          <a:stretch>
            <a:fillRect/>
          </a:stretch>
        </p:blipFill>
        <p:spPr>
          <a:xfrm>
            <a:off x="835699" y="5714802"/>
            <a:ext cx="217780" cy="174228"/>
          </a:xfrm>
          <a:prstGeom prst="rect">
            <a:avLst/>
          </a:prstGeom>
        </p:spPr>
      </p:pic>
      <p:sp>
        <p:nvSpPr>
          <p:cNvPr id="13" name="Text 9"/>
          <p:cNvSpPr/>
          <p:nvPr/>
        </p:nvSpPr>
        <p:spPr>
          <a:xfrm>
            <a:off x="1227702" y="5708551"/>
            <a:ext cx="5556409" cy="435173"/>
          </a:xfrm>
          <a:prstGeom prst="rect">
            <a:avLst/>
          </a:prstGeom>
          <a:noFill/>
          <a:ln/>
        </p:spPr>
        <p:txBody>
          <a:bodyPr wrap="square" lIns="0" tIns="0" rIns="0" bIns="0" rtlCol="0" anchor="t">
            <a:normAutofit/>
          </a:bodyPr>
          <a:lstStyle/>
          <a:p>
            <a:pPr rtl="1" algn="r" indent="0" marL="0">
              <a:lnSpc>
                <a:spcPct val="104000"/>
              </a:lnSpc>
              <a:buNone/>
            </a:pPr>
            <a:r>
              <a:rPr lang="he-IL" altLang="en-US" sz="1350" b="1" dirty="0">
                <a:solidFill>
                  <a:srgbClr val="FFFFFF"/>
                </a:solidFill>
                <a:latin typeface="Arial" pitchFamily="34" charset="0"/>
                <a:ea typeface="Arial" pitchFamily="34" charset="-122"/>
                <a:cs typeface="Arial" pitchFamily="34" charset="-120"/>
              </a:rPr>
              <a:t>חשוב:</a:t>
            </a:r>
            <a:pPr rtl="1" algn="r" indent="0" marL="0">
              <a:lnSpc>
                <a:spcPct val="104000"/>
              </a:lnSpc>
              <a:buNone/>
            </a:pPr>
            <a:r>
              <a:rPr lang="he-IL" altLang="en-US" sz="1350" dirty="0">
                <a:solidFill>
                  <a:srgbClr val="FFFFFF"/>
                </a:solidFill>
                <a:latin typeface="Arial" pitchFamily="34" charset="0"/>
                <a:ea typeface="Arial" pitchFamily="34" charset="-122"/>
                <a:cs typeface="Arial" pitchFamily="34" charset="-120"/>
              </a:rPr>
              <a:t> הגרסה המשולבת ב-Office דורשת רישיון Copilot for Microsoft 365 – בדקו עם מחלקת IT</a:t>
            </a:r>
            <a:endParaRPr lang="he-IL" sz="1350" dirty="0"/>
          </a:p>
        </p:txBody>
      </p:sp>
      <p:sp>
        <p:nvSpPr>
          <p:cNvPr id="14" name="TextBox 13"/>
          <p:cNvSpPr txBox="1"/>
          <p:nvPr/>
        </p:nvSpPr>
        <p:spPr>
          <a:xfrm>
            <a:off x="6675120" y="6473952"/>
            <a:ext cx="4846320" cy="292608"/>
          </a:xfrm>
          <a:prstGeom prst="rect">
            <a:avLst/>
          </a:prstGeom>
          <a:noFill/>
        </p:spPr>
        <p:txBody>
          <a:bodyPr wrap="none" lIns="0" rIns="0" tIns="0" bIns="0">
            <a:spAutoFit/>
          </a:bodyPr>
          <a:lstStyle/>
          <a:p>
            <a:pPr algn="r" rtl="1"/>
            <a:r>
              <a:rPr sz="1000">
                <a:solidFill>
                  <a:srgbClr val="8A96AA"/>
                </a:solidFill>
                <a:latin typeface="Arial"/>
                <a:cs typeface="Arial"/>
              </a:rPr>
              <a:t>© נערך על ידי AI Finance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tretch>
            <a:fillRect/>
          </a:stretch>
        </p:blipFill>
        <p:spPr>
          <a:xfrm>
            <a:off x="0" y="0"/>
            <a:ext cx="4800480" cy="6858000"/>
          </a:xfrm>
          <a:custGeom>
            <a:avLst/>
            <a:gdLst/>
            <a:ahLst/>
            <a:cxnLst/>
            <a:rect l="0" t="0" r="100000" b="100000"/>
            <a:pathLst>
              <a:path w="100000" h="100000">
                <a:moveTo>
                  <a:pt x="0" y="0"/>
                </a:moveTo>
                <a:lnTo>
                  <a:pt x="90530" y="100"/>
                </a:lnTo>
                <a:lnTo>
                  <a:pt x="93070" y="6350"/>
                </a:lnTo>
                <a:lnTo>
                  <a:pt x="94920" y="12210"/>
                </a:lnTo>
                <a:lnTo>
                  <a:pt x="96680" y="19820"/>
                </a:lnTo>
                <a:lnTo>
                  <a:pt x="97560" y="25880"/>
                </a:lnTo>
                <a:lnTo>
                  <a:pt x="97950" y="30960"/>
                </a:lnTo>
                <a:lnTo>
                  <a:pt x="97950" y="39060"/>
                </a:lnTo>
                <a:lnTo>
                  <a:pt x="97270" y="46480"/>
                </a:lnTo>
                <a:lnTo>
                  <a:pt x="96190" y="52640"/>
                </a:lnTo>
                <a:lnTo>
                  <a:pt x="94730" y="58500"/>
                </a:lnTo>
                <a:lnTo>
                  <a:pt x="92480" y="65230"/>
                </a:lnTo>
                <a:lnTo>
                  <a:pt x="89550" y="72070"/>
                </a:lnTo>
                <a:lnTo>
                  <a:pt x="86820" y="77340"/>
                </a:lnTo>
                <a:lnTo>
                  <a:pt x="83500" y="82810"/>
                </a:lnTo>
                <a:lnTo>
                  <a:pt x="79200" y="88870"/>
                </a:lnTo>
                <a:lnTo>
                  <a:pt x="75880" y="92770"/>
                </a:lnTo>
                <a:lnTo>
                  <a:pt x="75880" y="92970"/>
                </a:lnTo>
                <a:lnTo>
                  <a:pt x="74510" y="94340"/>
                </a:lnTo>
                <a:lnTo>
                  <a:pt x="74510" y="94530"/>
                </a:lnTo>
                <a:lnTo>
                  <a:pt x="69240" y="100000"/>
                </a:lnTo>
                <a:lnTo>
                  <a:pt x="0" y="100000"/>
                </a:lnTo>
                <a:close/>
              </a:path>
            </a:pathLst>
          </a:custGeom>
        </p:spPr>
      </p:pic>
      <p:sp>
        <p:nvSpPr>
          <p:cNvPr id="3" name="Text 0"/>
          <p:cNvSpPr/>
          <p:nvPr/>
        </p:nvSpPr>
        <p:spPr>
          <a:xfrm>
            <a:off x="5233360" y="561975"/>
            <a:ext cx="6296860" cy="527844"/>
          </a:xfrm>
          <a:prstGeom prst="rect">
            <a:avLst/>
          </a:prstGeom>
          <a:noFill/>
          <a:ln/>
        </p:spPr>
        <p:txBody>
          <a:bodyPr wrap="none" lIns="0" tIns="0" rIns="0" bIns="0" rtlCol="0" anchor="t"/>
          <a:lstStyle/>
          <a:p>
            <a:pPr rtl="1" algn="r" indent="0" marL="0">
              <a:lnSpc>
                <a:spcPct val="108000"/>
              </a:lnSpc>
              <a:buNone/>
            </a:pPr>
            <a:r>
              <a:rPr lang="he-IL" altLang="en-US" sz="3150" b="1" spc="-64" kern="100" dirty="0">
                <a:solidFill>
                  <a:srgbClr val="F2F5FA"/>
                </a:solidFill>
                <a:latin typeface="Arial" pitchFamily="34" charset="0"/>
                <a:ea typeface="Arial" pitchFamily="34" charset="-122"/>
                <a:cs typeface="Arial" pitchFamily="34" charset="-120"/>
              </a:rPr>
              <a:t>דיפסיק – DeepSeek</a:t>
            </a:r>
            <a:endParaRPr lang="he-IL" sz="3150" dirty="0"/>
          </a:p>
        </p:txBody>
      </p:sp>
      <p:sp>
        <p:nvSpPr>
          <p:cNvPr id="4" name="Text 1"/>
          <p:cNvSpPr/>
          <p:nvPr/>
        </p:nvSpPr>
        <p:spPr>
          <a:xfrm>
            <a:off x="5233360" y="1299170"/>
            <a:ext cx="6296860" cy="392509"/>
          </a:xfrm>
          <a:prstGeom prst="rect">
            <a:avLst/>
          </a:prstGeom>
          <a:noFill/>
          <a:ln/>
        </p:spPr>
        <p:txBody>
          <a:bodyPr wrap="square" lIns="0" tIns="0" rIns="0" bIns="0" rtlCol="0" anchor="t">
            <a:normAutofit/>
          </a:bodyPr>
          <a:lstStyle/>
          <a:p>
            <a:pPr rtl="1" algn="r" indent="0" marL="0">
              <a:lnSpc>
                <a:spcPct val="101000"/>
              </a:lnSpc>
              <a:buNone/>
            </a:pPr>
            <a:r>
              <a:rPr lang="he-IL" altLang="en-US" sz="1250" dirty="0">
                <a:solidFill>
                  <a:srgbClr val="EBEDF0"/>
                </a:solidFill>
                <a:latin typeface="Arial" pitchFamily="34" charset="0"/>
                <a:ea typeface="Arial" pitchFamily="34" charset="-122"/>
                <a:cs typeface="Arial" pitchFamily="34" charset="-120"/>
              </a:rPr>
              <a:t>פותח על ידי חברת DeepSeek הסינית ב-2023. מודל קוד פתוח שהפתיע את עולם ה-AI בביצועים גבוהים במחיר נמוך בהרבה ממתחריו האמריקאים.</a:t>
            </a:r>
            <a:endParaRPr lang="he-IL" sz="1250" dirty="0"/>
          </a:p>
        </p:txBody>
      </p:sp>
      <p:sp>
        <p:nvSpPr>
          <p:cNvPr id="5" name="Shape 2"/>
          <p:cNvSpPr/>
          <p:nvPr/>
        </p:nvSpPr>
        <p:spPr>
          <a:xfrm>
            <a:off x="5233360" y="2005608"/>
            <a:ext cx="2950295" cy="2538115"/>
          </a:xfrm>
          <a:prstGeom prst="roundRect">
            <a:avLst>
              <a:gd name="adj" fmla="val 2688"/>
            </a:avLst>
          </a:prstGeom>
          <a:solidFill>
            <a:srgbClr val="101620">
              <a:alpha val="95000"/>
            </a:srgbClr>
          </a:solidFill>
          <a:ln w="19050">
            <a:solidFill>
              <a:srgbClr val="002A80"/>
            </a:solidFill>
            <a:prstDash val="solid"/>
          </a:ln>
        </p:spPr>
        <p:txBody>
          <a:bodyPr/>
          <a:p/>
        </p:txBody>
      </p:sp>
      <p:sp>
        <p:nvSpPr>
          <p:cNvPr id="6" name="Text 3"/>
          <p:cNvSpPr/>
          <p:nvPr/>
        </p:nvSpPr>
        <p:spPr>
          <a:xfrm>
            <a:off x="5414827" y="2187079"/>
            <a:ext cx="2587362" cy="270371"/>
          </a:xfrm>
          <a:prstGeom prst="rect">
            <a:avLst/>
          </a:prstGeom>
          <a:noFill/>
          <a:ln/>
        </p:spPr>
        <p:txBody>
          <a:bodyPr wrap="none" lIns="0" tIns="0" rIns="0" bIns="0" rtlCol="0" anchor="t"/>
          <a:lstStyle/>
          <a:p>
            <a:pPr rtl="1" algn="r" indent="0" marL="0">
              <a:lnSpc>
                <a:spcPct val="108000"/>
              </a:lnSpc>
              <a:buNone/>
            </a:pPr>
            <a:r>
              <a:rPr lang="he-IL" altLang="en-US" sz="1550" b="1" spc="-32"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550" b="1" spc="-32" kern="100" dirty="0">
                <a:solidFill>
                  <a:srgbClr val="EBEDF0"/>
                </a:solidFill>
                <a:latin typeface="Arial" pitchFamily="34" charset="0"/>
                <a:ea typeface="Arial" pitchFamily="34" charset="-122"/>
                <a:cs typeface="Arial" pitchFamily="34" charset="-120"/>
              </a:rPr>
              <a:t> יתרונות:</a:t>
            </a:r>
            <a:endParaRPr lang="he-IL" sz="1550" dirty="0"/>
          </a:p>
        </p:txBody>
      </p:sp>
      <p:sp>
        <p:nvSpPr>
          <p:cNvPr id="7" name="Text 4"/>
          <p:cNvSpPr/>
          <p:nvPr/>
        </p:nvSpPr>
        <p:spPr>
          <a:xfrm>
            <a:off x="5414827" y="2596952"/>
            <a:ext cx="2587362" cy="1765300"/>
          </a:xfrm>
          <a:prstGeom prst="rect">
            <a:avLst/>
          </a:prstGeom>
          <a:noFill/>
          <a:ln/>
        </p:spPr>
        <p:txBody>
          <a:bodyPr wrap="square" lIns="0" tIns="0" rIns="64975" bIns="0" rtlCol="0" anchor="t">
            <a:normAutofit/>
          </a:bodyPr>
          <a:lstStyle/>
          <a:p>
            <a:pPr rtl="1" algn="r" marL="254000" indent="-254000">
              <a:lnSpc>
                <a:spcPct val="101000"/>
              </a:lnSpc>
              <a:buSzPct val="100000"/>
              <a:buChar char="•"/>
            </a:pPr>
            <a:r>
              <a:rPr lang="he-IL" altLang="en-US" sz="1250" dirty="0">
                <a:solidFill>
                  <a:srgbClr val="EBEDF0"/>
                </a:solidFill>
                <a:latin typeface="Arial" pitchFamily="34" charset="0"/>
                <a:ea typeface="Arial" pitchFamily="34" charset="-122"/>
                <a:cs typeface="Arial" pitchFamily="34" charset="-120"/>
              </a:rPr>
              <a:t>קוד פתוח – ניתן להריץ מקומית בארגון</a:t>
            </a:r>
            <a:endParaRPr lang="he-IL" sz="1250" dirty="0"/>
          </a:p>
          <a:p>
            <a:pPr rtl="1" algn="r" marL="254000" indent="-254000">
              <a:lnSpc>
                <a:spcPct val="101000"/>
              </a:lnSpc>
              <a:buSzPct val="100000"/>
              <a:buChar char="•"/>
            </a:pPr>
            <a:r>
              <a:rPr lang="he-IL" altLang="en-US" sz="1250" dirty="0">
                <a:solidFill>
                  <a:srgbClr val="EBEDF0"/>
                </a:solidFill>
                <a:latin typeface="Arial" pitchFamily="34" charset="0"/>
                <a:ea typeface="Arial" pitchFamily="34" charset="-122"/>
                <a:cs typeface="Arial" pitchFamily="34" charset="-120"/>
              </a:rPr>
              <a:t>ביצועים גבוהים מאוד בניתוח לוגי וקוד</a:t>
            </a:r>
            <a:endParaRPr lang="he-IL" sz="1250" dirty="0"/>
          </a:p>
          <a:p>
            <a:pPr rtl="1" algn="r" marL="254000" indent="-254000">
              <a:lnSpc>
                <a:spcPct val="101000"/>
              </a:lnSpc>
              <a:buSzPct val="100000"/>
              <a:buChar char="•"/>
            </a:pPr>
            <a:r>
              <a:rPr lang="he-IL" altLang="en-US" sz="1250" dirty="0">
                <a:solidFill>
                  <a:srgbClr val="EBEDF0"/>
                </a:solidFill>
                <a:latin typeface="Arial" pitchFamily="34" charset="0"/>
                <a:ea typeface="Arial" pitchFamily="34" charset="-122"/>
                <a:cs typeface="Arial" pitchFamily="34" charset="-120"/>
              </a:rPr>
              <a:t>חינמי לחלוטין בגרסת הווב</a:t>
            </a:r>
            <a:endParaRPr lang="he-IL" sz="1250" dirty="0"/>
          </a:p>
          <a:p>
            <a:pPr rtl="1" algn="r" marL="254000" indent="-254000">
              <a:lnSpc>
                <a:spcPct val="101000"/>
              </a:lnSpc>
              <a:buSzPct val="100000"/>
              <a:buChar char="•"/>
            </a:pPr>
            <a:r>
              <a:rPr lang="he-IL" altLang="en-US" sz="1250" dirty="0">
                <a:solidFill>
                  <a:srgbClr val="EBEDF0"/>
                </a:solidFill>
                <a:latin typeface="Arial" pitchFamily="34" charset="0"/>
                <a:ea typeface="Arial" pitchFamily="34" charset="-122"/>
                <a:cs typeface="Arial" pitchFamily="34" charset="-120"/>
              </a:rPr>
              <a:t>מצוין למשימות מורכבות של חשיבה שלב-אחר-שלב</a:t>
            </a:r>
            <a:endParaRPr lang="he-IL" sz="1250" dirty="0"/>
          </a:p>
          <a:p>
            <a:pPr rtl="1" algn="r" marL="254000" indent="-254000">
              <a:lnSpc>
                <a:spcPct val="101000"/>
              </a:lnSpc>
              <a:buSzPct val="100000"/>
              <a:buChar char="•"/>
            </a:pPr>
            <a:r>
              <a:rPr lang="he-IL" altLang="en-US" sz="1250" dirty="0">
                <a:solidFill>
                  <a:srgbClr val="EBEDF0"/>
                </a:solidFill>
                <a:latin typeface="Arial" pitchFamily="34" charset="0"/>
                <a:ea typeface="Arial" pitchFamily="34" charset="-122"/>
                <a:cs typeface="Arial" pitchFamily="34" charset="-120"/>
              </a:rPr>
              <a:t>תמיכה בעברית סבירה</a:t>
            </a:r>
            <a:endParaRPr lang="he-IL" sz="1250" dirty="0"/>
          </a:p>
        </p:txBody>
      </p:sp>
      <p:sp>
        <p:nvSpPr>
          <p:cNvPr id="8" name="Shape 5"/>
          <p:cNvSpPr/>
          <p:nvPr/>
        </p:nvSpPr>
        <p:spPr>
          <a:xfrm>
            <a:off x="8586275" y="2005608"/>
            <a:ext cx="2950295" cy="2096790"/>
          </a:xfrm>
          <a:prstGeom prst="roundRect">
            <a:avLst>
              <a:gd name="adj" fmla="val 3254"/>
            </a:avLst>
          </a:prstGeom>
          <a:solidFill>
            <a:srgbClr val="101620">
              <a:alpha val="95000"/>
            </a:srgbClr>
          </a:solidFill>
          <a:ln w="19050">
            <a:solidFill>
              <a:srgbClr val="002A80"/>
            </a:solidFill>
            <a:prstDash val="solid"/>
          </a:ln>
        </p:spPr>
        <p:txBody>
          <a:bodyPr/>
          <a:p/>
        </p:txBody>
      </p:sp>
      <p:sp>
        <p:nvSpPr>
          <p:cNvPr id="9" name="Text 6"/>
          <p:cNvSpPr/>
          <p:nvPr/>
        </p:nvSpPr>
        <p:spPr>
          <a:xfrm>
            <a:off x="8767742" y="2187079"/>
            <a:ext cx="2587362" cy="270371"/>
          </a:xfrm>
          <a:prstGeom prst="rect">
            <a:avLst/>
          </a:prstGeom>
          <a:noFill/>
          <a:ln/>
        </p:spPr>
        <p:txBody>
          <a:bodyPr wrap="none" lIns="0" tIns="0" rIns="0" bIns="0" rtlCol="0" anchor="t"/>
          <a:lstStyle/>
          <a:p>
            <a:pPr rtl="1" algn="r" indent="0" marL="0">
              <a:lnSpc>
                <a:spcPct val="108000"/>
              </a:lnSpc>
              <a:buNone/>
            </a:pPr>
            <a:r>
              <a:rPr lang="he-IL" altLang="en-US" sz="1550" b="1" spc="-32"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550" b="1" spc="-32" kern="100" dirty="0">
                <a:solidFill>
                  <a:srgbClr val="EBEDF0"/>
                </a:solidFill>
                <a:latin typeface="Arial" pitchFamily="34" charset="0"/>
                <a:ea typeface="Arial" pitchFamily="34" charset="-122"/>
                <a:cs typeface="Arial" pitchFamily="34" charset="-120"/>
              </a:rPr>
              <a:t> חסרונות:</a:t>
            </a:r>
            <a:endParaRPr lang="he-IL" sz="1550" dirty="0"/>
          </a:p>
        </p:txBody>
      </p:sp>
      <p:sp>
        <p:nvSpPr>
          <p:cNvPr id="10" name="Text 7"/>
          <p:cNvSpPr/>
          <p:nvPr/>
        </p:nvSpPr>
        <p:spPr>
          <a:xfrm>
            <a:off x="8767742" y="2596952"/>
            <a:ext cx="2587362" cy="1323975"/>
          </a:xfrm>
          <a:prstGeom prst="rect">
            <a:avLst/>
          </a:prstGeom>
          <a:noFill/>
          <a:ln/>
        </p:spPr>
        <p:txBody>
          <a:bodyPr wrap="square" lIns="0" tIns="0" rIns="64975" bIns="0" rtlCol="0" anchor="t">
            <a:normAutofit/>
          </a:bodyPr>
          <a:lstStyle/>
          <a:p>
            <a:pPr rtl="1" algn="r" marL="254000" indent="-254000">
              <a:lnSpc>
                <a:spcPct val="101000"/>
              </a:lnSpc>
              <a:buSzPct val="100000"/>
              <a:buChar char="•"/>
            </a:pPr>
            <a:r>
              <a:rPr lang="he-IL" altLang="en-US" sz="1250" dirty="0">
                <a:solidFill>
                  <a:srgbClr val="EBEDF0"/>
                </a:solidFill>
                <a:latin typeface="Arial" pitchFamily="34" charset="0"/>
                <a:ea typeface="Arial" pitchFamily="34" charset="-122"/>
                <a:cs typeface="Arial" pitchFamily="34" charset="-120"/>
              </a:rPr>
              <a:t>שרתים ממוקמים בסין – שיקולי פרטיות ואבטחה</a:t>
            </a:r>
            <a:endParaRPr lang="he-IL" sz="1250" dirty="0"/>
          </a:p>
          <a:p>
            <a:pPr rtl="1" algn="r" marL="254000" indent="-254000">
              <a:lnSpc>
                <a:spcPct val="101000"/>
              </a:lnSpc>
              <a:buSzPct val="100000"/>
              <a:buChar char="•"/>
            </a:pPr>
            <a:r>
              <a:rPr lang="he-IL" altLang="en-US" sz="1250" dirty="0">
                <a:solidFill>
                  <a:srgbClr val="EBEDF0"/>
                </a:solidFill>
                <a:latin typeface="Arial" pitchFamily="34" charset="0"/>
                <a:ea typeface="Arial" pitchFamily="34" charset="-122"/>
                <a:cs typeface="Arial" pitchFamily="34" charset="-120"/>
              </a:rPr>
              <a:t>פחות מוכר ונפוץ בישראל</a:t>
            </a:r>
            <a:endParaRPr lang="he-IL" sz="1250" dirty="0"/>
          </a:p>
          <a:p>
            <a:pPr rtl="1" algn="r" marL="254000" indent="-254000">
              <a:lnSpc>
                <a:spcPct val="101000"/>
              </a:lnSpc>
              <a:buSzPct val="100000"/>
              <a:buChar char="•"/>
            </a:pPr>
            <a:r>
              <a:rPr lang="he-IL" altLang="en-US" sz="1250" dirty="0">
                <a:solidFill>
                  <a:srgbClr val="EBEDF0"/>
                </a:solidFill>
                <a:latin typeface="Arial" pitchFamily="34" charset="0"/>
                <a:ea typeface="Arial" pitchFamily="34" charset="-122"/>
                <a:cs typeface="Arial" pitchFamily="34" charset="-120"/>
              </a:rPr>
              <a:t>ממשק פחות מלוטש מ-ChatGPT</a:t>
            </a:r>
            <a:endParaRPr lang="he-IL" sz="1250" dirty="0"/>
          </a:p>
          <a:p>
            <a:pPr rtl="1" algn="r" marL="254000" indent="-254000">
              <a:lnSpc>
                <a:spcPct val="101000"/>
              </a:lnSpc>
              <a:buSzPct val="100000"/>
              <a:buChar char="•"/>
            </a:pPr>
            <a:r>
              <a:rPr lang="he-IL" altLang="en-US" sz="1250" dirty="0">
                <a:solidFill>
                  <a:srgbClr val="EBEDF0"/>
                </a:solidFill>
                <a:latin typeface="Arial" pitchFamily="34" charset="0"/>
                <a:ea typeface="Arial" pitchFamily="34" charset="-122"/>
                <a:cs typeface="Arial" pitchFamily="34" charset="-120"/>
              </a:rPr>
              <a:t>לפעמים מסרב לנושאים פוליטיים רגישים</a:t>
            </a:r>
            <a:endParaRPr lang="he-IL" sz="1250" dirty="0"/>
          </a:p>
        </p:txBody>
      </p:sp>
      <p:sp>
        <p:nvSpPr>
          <p:cNvPr id="11" name="Shape 8"/>
          <p:cNvSpPr/>
          <p:nvPr/>
        </p:nvSpPr>
        <p:spPr>
          <a:xfrm>
            <a:off x="5233360" y="4857651"/>
            <a:ext cx="6296860" cy="738783"/>
          </a:xfrm>
          <a:prstGeom prst="roundRect">
            <a:avLst>
              <a:gd name="adj" fmla="val 9235"/>
            </a:avLst>
          </a:prstGeom>
          <a:solidFill>
            <a:srgbClr val="4B3F02"/>
          </a:solidFill>
          <a:ln/>
        </p:spPr>
        <p:txBody>
          <a:bodyPr/>
          <a:p/>
        </p:txBody>
      </p:sp>
      <p:pic>
        <p:nvPicPr>
          <p:cNvPr id="12" name="Image 1" descr="preencoded.png">    </p:cNvPr>
          <p:cNvPicPr>
            <a:picLocks noChangeAspect="1"/>
          </p:cNvPicPr>
          <p:nvPr/>
        </p:nvPicPr>
        <p:blipFill>
          <a:blip r:embed="rId2"/>
          <a:stretch>
            <a:fillRect/>
          </a:stretch>
        </p:blipFill>
        <p:spPr>
          <a:xfrm>
            <a:off x="5395778" y="5037733"/>
            <a:ext cx="202996" cy="162421"/>
          </a:xfrm>
          <a:prstGeom prst="rect">
            <a:avLst/>
          </a:prstGeom>
        </p:spPr>
      </p:pic>
      <p:sp>
        <p:nvSpPr>
          <p:cNvPr id="13" name="Text 9"/>
          <p:cNvSpPr/>
          <p:nvPr/>
        </p:nvSpPr>
        <p:spPr>
          <a:xfrm>
            <a:off x="5761191" y="5037733"/>
            <a:ext cx="5606612" cy="392509"/>
          </a:xfrm>
          <a:prstGeom prst="rect">
            <a:avLst/>
          </a:prstGeom>
          <a:noFill/>
          <a:ln/>
        </p:spPr>
        <p:txBody>
          <a:bodyPr wrap="square" lIns="0" tIns="0" rIns="0" bIns="0" rtlCol="0" anchor="t">
            <a:normAutofit/>
          </a:bodyPr>
          <a:lstStyle/>
          <a:p>
            <a:pPr rtl="1" algn="r" indent="0" marL="0">
              <a:lnSpc>
                <a:spcPct val="101000"/>
              </a:lnSpc>
              <a:buNone/>
            </a:pPr>
            <a:r>
              <a:rPr lang="he-IL" altLang="en-US" sz="1250" b="1" dirty="0">
                <a:solidFill>
                  <a:srgbClr val="FFFFFF"/>
                </a:solidFill>
                <a:latin typeface="Arial" pitchFamily="34" charset="0"/>
                <a:ea typeface="Arial" pitchFamily="34" charset="-122"/>
                <a:cs typeface="Arial" pitchFamily="34" charset="-120"/>
              </a:rPr>
              <a:t>שימו לב:</a:t>
            </a:r>
            <a:pPr rtl="1" algn="r" indent="0" marL="0">
              <a:lnSpc>
                <a:spcPct val="101000"/>
              </a:lnSpc>
              <a:buNone/>
            </a:pPr>
            <a:r>
              <a:rPr lang="he-IL" altLang="en-US" sz="1250" dirty="0">
                <a:solidFill>
                  <a:srgbClr val="FFFFFF"/>
                </a:solidFill>
                <a:latin typeface="Arial" pitchFamily="34" charset="0"/>
                <a:ea typeface="Arial" pitchFamily="34" charset="-122"/>
                <a:cs typeface="Arial" pitchFamily="34" charset="-120"/>
              </a:rPr>
              <a:t> מידע שמוזן ל-DeepSeek עשוי להישמר על שרתים בסין. לא מומלץ להזין מידע ארגוני רגיש.</a:t>
            </a:r>
            <a:endParaRPr lang="he-IL" sz="1250" dirty="0"/>
          </a:p>
        </p:txBody>
      </p:sp>
      <p:sp>
        <p:nvSpPr>
          <p:cNvPr id="14" name="Shape 10"/>
          <p:cNvSpPr/>
          <p:nvPr/>
        </p:nvSpPr>
        <p:spPr>
          <a:xfrm>
            <a:off x="5233360" y="5753398"/>
            <a:ext cx="6296860" cy="542528"/>
          </a:xfrm>
          <a:prstGeom prst="roundRect">
            <a:avLst>
              <a:gd name="adj" fmla="val 12575"/>
            </a:avLst>
          </a:prstGeom>
          <a:solidFill>
            <a:srgbClr val="022349"/>
          </a:solidFill>
          <a:ln/>
        </p:spPr>
        <p:txBody>
          <a:bodyPr/>
          <a:p/>
        </p:txBody>
      </p:sp>
      <p:pic>
        <p:nvPicPr>
          <p:cNvPr id="15" name="Image 2" descr="preencoded.png">    </p:cNvPr>
          <p:cNvPicPr>
            <a:picLocks noChangeAspect="1"/>
          </p:cNvPicPr>
          <p:nvPr/>
        </p:nvPicPr>
        <p:blipFill>
          <a:blip r:embed="rId3"/>
          <a:stretch>
            <a:fillRect/>
          </a:stretch>
        </p:blipFill>
        <p:spPr>
          <a:xfrm>
            <a:off x="5395778" y="5933480"/>
            <a:ext cx="202996" cy="162421"/>
          </a:xfrm>
          <a:prstGeom prst="rect">
            <a:avLst/>
          </a:prstGeom>
        </p:spPr>
      </p:pic>
      <p:sp>
        <p:nvSpPr>
          <p:cNvPr id="16" name="Text 11"/>
          <p:cNvSpPr/>
          <p:nvPr/>
        </p:nvSpPr>
        <p:spPr>
          <a:xfrm>
            <a:off x="5151606" y="5933480"/>
            <a:ext cx="6216197" cy="196255"/>
          </a:xfrm>
          <a:prstGeom prst="rect">
            <a:avLst/>
          </a:prstGeom>
          <a:noFill/>
          <a:ln/>
        </p:spPr>
        <p:txBody>
          <a:bodyPr wrap="none" lIns="0" tIns="0" rIns="0" bIns="0" rtlCol="0" anchor="t"/>
          <a:lstStyle/>
          <a:p>
            <a:pPr rtl="1" algn="r" indent="0" marL="0">
              <a:lnSpc>
                <a:spcPct val="101000"/>
              </a:lnSpc>
              <a:buNone/>
            </a:pPr>
            <a:r>
              <a:rPr lang="he-IL" altLang="en-US" sz="1250" dirty="0">
                <a:solidFill>
                  <a:srgbClr val="FFFFFF"/>
                </a:solidFill>
                <a:latin typeface="Arial" pitchFamily="34" charset="0"/>
                <a:ea typeface="Arial" pitchFamily="34" charset="-122"/>
                <a:cs typeface="Arial" pitchFamily="34" charset="-120"/>
              </a:rPr>
              <a:t>מתאים ל: ניתוח לוגי, פתרון בעיות מורכבות, קוד, ארגונים שרוצים להריץ מודל מקומי</a:t>
            </a:r>
            <a:endParaRPr lang="he-IL" sz="1250" dirty="0"/>
          </a:p>
        </p:txBody>
      </p:sp>
      <p:sp>
        <p:nvSpPr>
          <p:cNvPr id="17" name="TextBox 16"/>
          <p:cNvSpPr txBox="1"/>
          <p:nvPr/>
        </p:nvSpPr>
        <p:spPr>
          <a:xfrm>
            <a:off x="6675120" y="6473952"/>
            <a:ext cx="4846320" cy="292608"/>
          </a:xfrm>
          <a:prstGeom prst="rect">
            <a:avLst/>
          </a:prstGeom>
          <a:noFill/>
        </p:spPr>
        <p:txBody>
          <a:bodyPr wrap="none" lIns="0" rIns="0" tIns="0" bIns="0">
            <a:spAutoFit/>
          </a:bodyPr>
          <a:lstStyle/>
          <a:p>
            <a:pPr algn="r" rtl="1"/>
            <a:r>
              <a:rPr sz="1000">
                <a:solidFill>
                  <a:srgbClr val="8A96AA"/>
                </a:solidFill>
                <a:latin typeface="Arial"/>
                <a:cs typeface="Arial"/>
              </a:rPr>
              <a:t>© נערך על ידי AI Finance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02920"/>
            <a:ext cx="10872216" cy="640080"/>
          </a:xfrm>
          <a:prstGeom prst="rect">
            <a:avLst/>
          </a:prstGeom>
          <a:noFill/>
        </p:spPr>
        <p:txBody>
          <a:bodyPr wrap="square" lIns="0" rIns="0" tIns="0" bIns="0" anchor="t" rtlCol="0">
            <a:spAutoFit/>
          </a:bodyPr>
          <a:lstStyle/>
          <a:p>
            <a:pPr rtl="1" algn="r" marL="0" indent="0">
              <a:lnSpc>
                <a:spcPct val="108000"/>
              </a:lnSpc>
              <a:buNone/>
            </a:pPr>
            <a:r>
              <a:rPr sz="3700" b="1" i="0" lang="he-IL">
                <a:solidFill>
                  <a:srgbClr val="F2F5FA"/>
                </a:solidFill>
                <a:latin typeface="Arial"/>
                <a:cs typeface="Arial"/>
              </a:rPr>
              <a:t>השוואה מהירה: מי חזק במה?</a:t>
            </a:r>
          </a:p>
        </p:txBody>
      </p:sp>
      <p:sp>
        <p:nvSpPr>
          <p:cNvPr id="3" name="TextBox 2"/>
          <p:cNvSpPr txBox="1"/>
          <p:nvPr/>
        </p:nvSpPr>
        <p:spPr>
          <a:xfrm>
            <a:off x="658368" y="1280160"/>
            <a:ext cx="10872216" cy="365760"/>
          </a:xfrm>
          <a:prstGeom prst="rect">
            <a:avLst/>
          </a:prstGeom>
          <a:noFill/>
        </p:spPr>
        <p:txBody>
          <a:bodyPr wrap="square" lIns="0" rIns="0" tIns="0" bIns="0" anchor="t" rtlCol="0">
            <a:spAutoFit/>
          </a:bodyPr>
          <a:lstStyle/>
          <a:p>
            <a:pPr rtl="1" algn="r" marL="0" indent="0">
              <a:lnSpc>
                <a:spcPct val="108000"/>
              </a:lnSpc>
              <a:buNone/>
            </a:pPr>
            <a:r>
              <a:rPr sz="1450" b="0" i="0" lang="he-IL">
                <a:solidFill>
                  <a:srgbClr val="A9B4C6"/>
                </a:solidFill>
                <a:latin typeface="Arial"/>
                <a:cs typeface="Arial"/>
              </a:rPr>
              <a:t>●●● מצוין    ●●○ טוב    ●○○ בסיסי    ✕ לא קיים</a:t>
            </a:r>
          </a:p>
        </p:txBody>
      </p:sp>
      <p:graphicFrame>
        <p:nvGraphicFramePr>
          <p:cNvPr id="4" name="Table 3"/>
          <p:cNvGraphicFramePr>
            <a:graphicFrameLocks noGrp="1"/>
          </p:cNvGraphicFramePr>
          <p:nvPr/>
        </p:nvGraphicFramePr>
        <p:xfrm>
          <a:off x="658368" y="1874519"/>
          <a:ext cx="10872216" cy="3520440"/>
        </p:xfrm>
        <a:graphic>
          <a:graphicData uri="http://schemas.openxmlformats.org/drawingml/2006/table">
            <a:tbl>
              <a:tblPr firstRow="0" bandRow="0" rtl="1">
                <a:tableStyleId>{2D5ABB26-0587-4C30-8999-92F81FD0307C}</a:tableStyleId>
              </a:tblPr>
              <a:tblGrid>
                <a:gridCol w="2459736"/>
                <a:gridCol w="1682496"/>
                <a:gridCol w="1682496"/>
                <a:gridCol w="1682496"/>
                <a:gridCol w="1682496"/>
                <a:gridCol w="1682496"/>
              </a:tblGrid>
              <a:tr h="502920">
                <a:tc>
                  <a:txBody>
                    <a:bodyPr/>
                    <a:lstStyle/>
                    <a:p>
                      <a:pPr rtl="1" algn="ctr" marL="0" indent="0">
                        <a:lnSpc>
                          <a:spcPct val="108000"/>
                        </a:lnSpc>
                        <a:buNone/>
                      </a:pPr>
                      <a:r>
                        <a:rPr sz="1500" b="1" i="0" lang="he-IL">
                          <a:solidFill>
                            <a:srgbClr val="F2F5FA"/>
                          </a:solidFill>
                          <a:latin typeface="Arial"/>
                          <a:cs typeface="Arial"/>
                        </a:rPr>
                        <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022349"/>
                    </a:solidFill>
                  </a:tcPr>
                </a:tc>
                <a:tc>
                  <a:txBody>
                    <a:bodyPr/>
                    <a:lstStyle/>
                    <a:p>
                      <a:pPr rtl="1" algn="ctr" marL="0" indent="0">
                        <a:lnSpc>
                          <a:spcPct val="108000"/>
                        </a:lnSpc>
                        <a:buNone/>
                      </a:pPr>
                      <a:r>
                        <a:rPr sz="1500" b="1" i="0" lang="he-IL">
                          <a:solidFill>
                            <a:srgbClr val="F2F5FA"/>
                          </a:solidFill>
                          <a:latin typeface="Arial"/>
                          <a:cs typeface="Arial"/>
                        </a:rPr>
                        <a:t>צ'אט ג'יפיטי</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022349"/>
                    </a:solidFill>
                  </a:tcPr>
                </a:tc>
                <a:tc>
                  <a:txBody>
                    <a:bodyPr/>
                    <a:lstStyle/>
                    <a:p>
                      <a:pPr rtl="1" algn="ctr" marL="0" indent="0">
                        <a:lnSpc>
                          <a:spcPct val="108000"/>
                        </a:lnSpc>
                        <a:buNone/>
                      </a:pPr>
                      <a:r>
                        <a:rPr sz="1500" b="1" i="0" lang="he-IL">
                          <a:solidFill>
                            <a:srgbClr val="F2F5FA"/>
                          </a:solidFill>
                          <a:latin typeface="Arial"/>
                          <a:cs typeface="Arial"/>
                        </a:rPr>
                        <a:t>קלוד</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022349"/>
                    </a:solidFill>
                  </a:tcPr>
                </a:tc>
                <a:tc>
                  <a:txBody>
                    <a:bodyPr/>
                    <a:lstStyle/>
                    <a:p>
                      <a:pPr rtl="1" algn="ctr" marL="0" indent="0">
                        <a:lnSpc>
                          <a:spcPct val="108000"/>
                        </a:lnSpc>
                        <a:buNone/>
                      </a:pPr>
                      <a:r>
                        <a:rPr sz="1500" b="1" i="0" lang="he-IL">
                          <a:solidFill>
                            <a:srgbClr val="F2F5FA"/>
                          </a:solidFill>
                          <a:latin typeface="Arial"/>
                          <a:cs typeface="Arial"/>
                        </a:rPr>
                        <a:t>ג'מיני</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022349"/>
                    </a:solidFill>
                  </a:tcPr>
                </a:tc>
                <a:tc>
                  <a:txBody>
                    <a:bodyPr/>
                    <a:lstStyle/>
                    <a:p>
                      <a:pPr rtl="1" algn="ctr" marL="0" indent="0">
                        <a:lnSpc>
                          <a:spcPct val="108000"/>
                        </a:lnSpc>
                        <a:buNone/>
                      </a:pPr>
                      <a:r>
                        <a:rPr sz="1500" b="1" i="0" lang="he-IL">
                          <a:solidFill>
                            <a:srgbClr val="F2F5FA"/>
                          </a:solidFill>
                          <a:latin typeface="Arial"/>
                          <a:cs typeface="Arial"/>
                        </a:rPr>
                        <a:t>קופיילוט</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022349"/>
                    </a:solidFill>
                  </a:tcPr>
                </a:tc>
                <a:tc>
                  <a:txBody>
                    <a:bodyPr/>
                    <a:lstStyle/>
                    <a:p>
                      <a:pPr rtl="1" algn="ctr" marL="0" indent="0">
                        <a:lnSpc>
                          <a:spcPct val="108000"/>
                        </a:lnSpc>
                        <a:buNone/>
                      </a:pPr>
                      <a:r>
                        <a:rPr sz="1500" b="1" i="0" lang="he-IL">
                          <a:solidFill>
                            <a:srgbClr val="F2F5FA"/>
                          </a:solidFill>
                          <a:latin typeface="Arial"/>
                          <a:cs typeface="Arial"/>
                        </a:rPr>
                        <a:t>דיפסיק</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022349"/>
                    </a:solidFill>
                  </a:tcPr>
                </a:tc>
              </a:tr>
              <a:tr h="502920">
                <a:tc>
                  <a:txBody>
                    <a:bodyPr/>
                    <a:lstStyle/>
                    <a:p>
                      <a:pPr rtl="1" algn="r" marL="0" indent="0">
                        <a:lnSpc>
                          <a:spcPct val="108000"/>
                        </a:lnSpc>
                        <a:buNone/>
                      </a:pPr>
                      <a:r>
                        <a:rPr sz="1450" b="1" i="0" lang="he-IL">
                          <a:solidFill>
                            <a:srgbClr val="EBEDF0"/>
                          </a:solidFill>
                          <a:latin typeface="Arial"/>
                          <a:cs typeface="Arial"/>
                        </a:rPr>
                        <a:t>כתיבה בעברית</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01620"/>
                    </a:solidFill>
                  </a:tcPr>
                </a:tc>
                <a:tc>
                  <a:txBody>
                    <a:bodyPr/>
                    <a:lstStyle/>
                    <a:p>
                      <a:pPr rtl="1" algn="ctr" marL="0" indent="0">
                        <a:lnSpc>
                          <a:spcPct val="108000"/>
                        </a:lnSpc>
                        <a:buNone/>
                      </a:pPr>
                      <a:r>
                        <a:rPr sz="1500" b="0" i="0" lang="he-IL">
                          <a:solidFill>
                            <a:srgbClr val="6296FF"/>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01620"/>
                    </a:solidFill>
                  </a:tcPr>
                </a:tc>
                <a:tc>
                  <a:txBody>
                    <a:bodyPr/>
                    <a:lstStyle/>
                    <a:p>
                      <a:pPr rtl="1" algn="ctr" marL="0" indent="0">
                        <a:lnSpc>
                          <a:spcPct val="108000"/>
                        </a:lnSpc>
                        <a:buNone/>
                      </a:pPr>
                      <a:r>
                        <a:rPr sz="1500" b="0" i="0" lang="he-IL">
                          <a:solidFill>
                            <a:srgbClr val="6296FF"/>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01620"/>
                    </a:solidFill>
                  </a:tcPr>
                </a:tc>
                <a:tc>
                  <a:txBody>
                    <a:bodyPr/>
                    <a:lstStyle/>
                    <a:p>
                      <a:pPr rtl="1" algn="ctr" marL="0" indent="0">
                        <a:lnSpc>
                          <a:spcPct val="108000"/>
                        </a:lnSpc>
                        <a:buNone/>
                      </a:pPr>
                      <a:r>
                        <a:rPr sz="1500" b="0" i="0" lang="he-IL">
                          <a:solidFill>
                            <a:srgbClr val="EBEDF0"/>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01620"/>
                    </a:solidFill>
                  </a:tcPr>
                </a:tc>
                <a:tc>
                  <a:txBody>
                    <a:bodyPr/>
                    <a:lstStyle/>
                    <a:p>
                      <a:pPr rtl="1" algn="ctr" marL="0" indent="0">
                        <a:lnSpc>
                          <a:spcPct val="108000"/>
                        </a:lnSpc>
                        <a:buNone/>
                      </a:pPr>
                      <a:r>
                        <a:rPr sz="1500" b="0" i="0" lang="he-IL">
                          <a:solidFill>
                            <a:srgbClr val="EBEDF0"/>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01620"/>
                    </a:solidFill>
                  </a:tcPr>
                </a:tc>
                <a:tc>
                  <a:txBody>
                    <a:bodyPr/>
                    <a:lstStyle/>
                    <a:p>
                      <a:pPr rtl="1" algn="ctr" marL="0" indent="0">
                        <a:lnSpc>
                          <a:spcPct val="108000"/>
                        </a:lnSpc>
                        <a:buNone/>
                      </a:pPr>
                      <a:r>
                        <a:rPr sz="1500" b="0" i="0" lang="he-IL">
                          <a:solidFill>
                            <a:srgbClr val="EBEDF0"/>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01620"/>
                    </a:solidFill>
                  </a:tcPr>
                </a:tc>
              </a:tr>
              <a:tr h="502920">
                <a:tc>
                  <a:txBody>
                    <a:bodyPr/>
                    <a:lstStyle/>
                    <a:p>
                      <a:pPr rtl="1" algn="r" marL="0" indent="0">
                        <a:lnSpc>
                          <a:spcPct val="108000"/>
                        </a:lnSpc>
                        <a:buNone/>
                      </a:pPr>
                      <a:r>
                        <a:rPr sz="1450" b="1" i="0" lang="he-IL">
                          <a:solidFill>
                            <a:srgbClr val="EBEDF0"/>
                          </a:solidFill>
                          <a:latin typeface="Arial"/>
                          <a:cs typeface="Arial"/>
                        </a:rPr>
                        <a:t>מסמכים ארוכים</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41C2A"/>
                    </a:solidFill>
                  </a:tcPr>
                </a:tc>
                <a:tc>
                  <a:txBody>
                    <a:bodyPr/>
                    <a:lstStyle/>
                    <a:p>
                      <a:pPr rtl="1" algn="ctr" marL="0" indent="0">
                        <a:lnSpc>
                          <a:spcPct val="108000"/>
                        </a:lnSpc>
                        <a:buNone/>
                      </a:pPr>
                      <a:r>
                        <a:rPr sz="1500" b="0" i="0" lang="he-IL">
                          <a:solidFill>
                            <a:srgbClr val="EBEDF0"/>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41C2A"/>
                    </a:solidFill>
                  </a:tcPr>
                </a:tc>
                <a:tc>
                  <a:txBody>
                    <a:bodyPr/>
                    <a:lstStyle/>
                    <a:p>
                      <a:pPr rtl="1" algn="ctr" marL="0" indent="0">
                        <a:lnSpc>
                          <a:spcPct val="108000"/>
                        </a:lnSpc>
                        <a:buNone/>
                      </a:pPr>
                      <a:r>
                        <a:rPr sz="1500" b="0" i="0" lang="he-IL">
                          <a:solidFill>
                            <a:srgbClr val="6296FF"/>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41C2A"/>
                    </a:solidFill>
                  </a:tcPr>
                </a:tc>
                <a:tc>
                  <a:txBody>
                    <a:bodyPr/>
                    <a:lstStyle/>
                    <a:p>
                      <a:pPr rtl="1" algn="ctr" marL="0" indent="0">
                        <a:lnSpc>
                          <a:spcPct val="108000"/>
                        </a:lnSpc>
                        <a:buNone/>
                      </a:pPr>
                      <a:r>
                        <a:rPr sz="1500" b="0" i="0" lang="he-IL">
                          <a:solidFill>
                            <a:srgbClr val="6296FF"/>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41C2A"/>
                    </a:solidFill>
                  </a:tcPr>
                </a:tc>
                <a:tc>
                  <a:txBody>
                    <a:bodyPr/>
                    <a:lstStyle/>
                    <a:p>
                      <a:pPr rtl="1" algn="ctr" marL="0" indent="0">
                        <a:lnSpc>
                          <a:spcPct val="108000"/>
                        </a:lnSpc>
                        <a:buNone/>
                      </a:pPr>
                      <a:r>
                        <a:rPr sz="1500" b="0" i="0" lang="he-IL">
                          <a:solidFill>
                            <a:srgbClr val="EBEDF0"/>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41C2A"/>
                    </a:solidFill>
                  </a:tcPr>
                </a:tc>
                <a:tc>
                  <a:txBody>
                    <a:bodyPr/>
                    <a:lstStyle/>
                    <a:p>
                      <a:pPr rtl="1" algn="ctr" marL="0" indent="0">
                        <a:lnSpc>
                          <a:spcPct val="108000"/>
                        </a:lnSpc>
                        <a:buNone/>
                      </a:pPr>
                      <a:r>
                        <a:rPr sz="1500" b="0" i="0" lang="he-IL">
                          <a:solidFill>
                            <a:srgbClr val="EBEDF0"/>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41C2A"/>
                    </a:solidFill>
                  </a:tcPr>
                </a:tc>
              </a:tr>
              <a:tr h="502920">
                <a:tc>
                  <a:txBody>
                    <a:bodyPr/>
                    <a:lstStyle/>
                    <a:p>
                      <a:pPr rtl="1" algn="r" marL="0" indent="0">
                        <a:lnSpc>
                          <a:spcPct val="108000"/>
                        </a:lnSpc>
                        <a:buNone/>
                      </a:pPr>
                      <a:r>
                        <a:rPr sz="1450" b="1" i="0" lang="he-IL">
                          <a:solidFill>
                            <a:srgbClr val="EBEDF0"/>
                          </a:solidFill>
                          <a:latin typeface="Arial"/>
                          <a:cs typeface="Arial"/>
                        </a:rPr>
                        <a:t>מידע עדכני מהרשת</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01620"/>
                    </a:solidFill>
                  </a:tcPr>
                </a:tc>
                <a:tc>
                  <a:txBody>
                    <a:bodyPr/>
                    <a:lstStyle/>
                    <a:p>
                      <a:pPr rtl="1" algn="ctr" marL="0" indent="0">
                        <a:lnSpc>
                          <a:spcPct val="108000"/>
                        </a:lnSpc>
                        <a:buNone/>
                      </a:pPr>
                      <a:r>
                        <a:rPr sz="1500" b="0" i="0" lang="he-IL">
                          <a:solidFill>
                            <a:srgbClr val="6296FF"/>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01620"/>
                    </a:solidFill>
                  </a:tcPr>
                </a:tc>
                <a:tc>
                  <a:txBody>
                    <a:bodyPr/>
                    <a:lstStyle/>
                    <a:p>
                      <a:pPr rtl="1" algn="ctr" marL="0" indent="0">
                        <a:lnSpc>
                          <a:spcPct val="108000"/>
                        </a:lnSpc>
                        <a:buNone/>
                      </a:pPr>
                      <a:r>
                        <a:rPr sz="1500" b="0" i="0" lang="he-IL">
                          <a:solidFill>
                            <a:srgbClr val="EBEDF0"/>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01620"/>
                    </a:solidFill>
                  </a:tcPr>
                </a:tc>
                <a:tc>
                  <a:txBody>
                    <a:bodyPr/>
                    <a:lstStyle/>
                    <a:p>
                      <a:pPr rtl="1" algn="ctr" marL="0" indent="0">
                        <a:lnSpc>
                          <a:spcPct val="108000"/>
                        </a:lnSpc>
                        <a:buNone/>
                      </a:pPr>
                      <a:r>
                        <a:rPr sz="1500" b="0" i="0" lang="he-IL">
                          <a:solidFill>
                            <a:srgbClr val="6296FF"/>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01620"/>
                    </a:solidFill>
                  </a:tcPr>
                </a:tc>
                <a:tc>
                  <a:txBody>
                    <a:bodyPr/>
                    <a:lstStyle/>
                    <a:p>
                      <a:pPr rtl="1" algn="ctr" marL="0" indent="0">
                        <a:lnSpc>
                          <a:spcPct val="108000"/>
                        </a:lnSpc>
                        <a:buNone/>
                      </a:pPr>
                      <a:r>
                        <a:rPr sz="1500" b="0" i="0" lang="he-IL">
                          <a:solidFill>
                            <a:srgbClr val="6296FF"/>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01620"/>
                    </a:solidFill>
                  </a:tcPr>
                </a:tc>
                <a:tc>
                  <a:txBody>
                    <a:bodyPr/>
                    <a:lstStyle/>
                    <a:p>
                      <a:pPr rtl="1" algn="ctr" marL="0" indent="0">
                        <a:lnSpc>
                          <a:spcPct val="108000"/>
                        </a:lnSpc>
                        <a:buNone/>
                      </a:pPr>
                      <a:r>
                        <a:rPr sz="1500" b="0" i="0" lang="he-IL">
                          <a:solidFill>
                            <a:srgbClr val="EBEDF0"/>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01620"/>
                    </a:solidFill>
                  </a:tcPr>
                </a:tc>
              </a:tr>
              <a:tr h="502920">
                <a:tc>
                  <a:txBody>
                    <a:bodyPr/>
                    <a:lstStyle/>
                    <a:p>
                      <a:pPr rtl="1" algn="r" marL="0" indent="0">
                        <a:lnSpc>
                          <a:spcPct val="108000"/>
                        </a:lnSpc>
                        <a:buNone/>
                      </a:pPr>
                      <a:r>
                        <a:rPr sz="1450" b="1" i="0" lang="he-IL">
                          <a:solidFill>
                            <a:srgbClr val="EBEDF0"/>
                          </a:solidFill>
                          <a:latin typeface="Arial"/>
                          <a:cs typeface="Arial"/>
                        </a:rPr>
                        <a:t>יצירת תמונות</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41C2A"/>
                    </a:solidFill>
                  </a:tcPr>
                </a:tc>
                <a:tc>
                  <a:txBody>
                    <a:bodyPr/>
                    <a:lstStyle/>
                    <a:p>
                      <a:pPr rtl="1" algn="ctr" marL="0" indent="0">
                        <a:lnSpc>
                          <a:spcPct val="108000"/>
                        </a:lnSpc>
                        <a:buNone/>
                      </a:pPr>
                      <a:r>
                        <a:rPr sz="1500" b="0" i="0" lang="he-IL">
                          <a:solidFill>
                            <a:srgbClr val="6296FF"/>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41C2A"/>
                    </a:solidFill>
                  </a:tcPr>
                </a:tc>
                <a:tc>
                  <a:txBody>
                    <a:bodyPr/>
                    <a:lstStyle/>
                    <a:p>
                      <a:pPr rtl="1" algn="ctr" marL="0" indent="0">
                        <a:lnSpc>
                          <a:spcPct val="108000"/>
                        </a:lnSpc>
                        <a:buNone/>
                      </a:pPr>
                      <a:r>
                        <a:rPr sz="1500" b="0" i="0" lang="he-IL">
                          <a:solidFill>
                            <a:srgbClr val="A9B4C6"/>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41C2A"/>
                    </a:solidFill>
                  </a:tcPr>
                </a:tc>
                <a:tc>
                  <a:txBody>
                    <a:bodyPr/>
                    <a:lstStyle/>
                    <a:p>
                      <a:pPr rtl="1" algn="ctr" marL="0" indent="0">
                        <a:lnSpc>
                          <a:spcPct val="108000"/>
                        </a:lnSpc>
                        <a:buNone/>
                      </a:pPr>
                      <a:r>
                        <a:rPr sz="1500" b="0" i="0" lang="he-IL">
                          <a:solidFill>
                            <a:srgbClr val="6296FF"/>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41C2A"/>
                    </a:solidFill>
                  </a:tcPr>
                </a:tc>
                <a:tc>
                  <a:txBody>
                    <a:bodyPr/>
                    <a:lstStyle/>
                    <a:p>
                      <a:pPr rtl="1" algn="ctr" marL="0" indent="0">
                        <a:lnSpc>
                          <a:spcPct val="108000"/>
                        </a:lnSpc>
                        <a:buNone/>
                      </a:pPr>
                      <a:r>
                        <a:rPr sz="1500" b="0" i="0" lang="he-IL">
                          <a:solidFill>
                            <a:srgbClr val="EBEDF0"/>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41C2A"/>
                    </a:solidFill>
                  </a:tcPr>
                </a:tc>
                <a:tc>
                  <a:txBody>
                    <a:bodyPr/>
                    <a:lstStyle/>
                    <a:p>
                      <a:pPr rtl="1" algn="ctr" marL="0" indent="0">
                        <a:lnSpc>
                          <a:spcPct val="108000"/>
                        </a:lnSpc>
                        <a:buNone/>
                      </a:pPr>
                      <a:r>
                        <a:rPr sz="1500" b="0" i="0" lang="he-IL">
                          <a:solidFill>
                            <a:srgbClr val="A9B4C6"/>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41C2A"/>
                    </a:solidFill>
                  </a:tcPr>
                </a:tc>
              </a:tr>
              <a:tr h="502920">
                <a:tc>
                  <a:txBody>
                    <a:bodyPr/>
                    <a:lstStyle/>
                    <a:p>
                      <a:pPr rtl="1" algn="r" marL="0" indent="0">
                        <a:lnSpc>
                          <a:spcPct val="108000"/>
                        </a:lnSpc>
                        <a:buNone/>
                      </a:pPr>
                      <a:r>
                        <a:rPr sz="1450" b="1" i="0" lang="he-IL">
                          <a:solidFill>
                            <a:srgbClr val="EBEDF0"/>
                          </a:solidFill>
                          <a:latin typeface="Arial"/>
                          <a:cs typeface="Arial"/>
                        </a:rPr>
                        <a:t>חיבור לכלי העבודה</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01620"/>
                    </a:solidFill>
                  </a:tcPr>
                </a:tc>
                <a:tc>
                  <a:txBody>
                    <a:bodyPr/>
                    <a:lstStyle/>
                    <a:p>
                      <a:pPr rtl="1" algn="ctr" marL="0" indent="0">
                        <a:lnSpc>
                          <a:spcPct val="108000"/>
                        </a:lnSpc>
                        <a:buNone/>
                      </a:pPr>
                      <a:r>
                        <a:rPr sz="1500" b="0" i="0" lang="he-IL">
                          <a:solidFill>
                            <a:srgbClr val="EBEDF0"/>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01620"/>
                    </a:solidFill>
                  </a:tcPr>
                </a:tc>
                <a:tc>
                  <a:txBody>
                    <a:bodyPr/>
                    <a:lstStyle/>
                    <a:p>
                      <a:pPr rtl="1" algn="ctr" marL="0" indent="0">
                        <a:lnSpc>
                          <a:spcPct val="108000"/>
                        </a:lnSpc>
                        <a:buNone/>
                      </a:pPr>
                      <a:r>
                        <a:rPr sz="1500" b="0" i="0" lang="he-IL">
                          <a:solidFill>
                            <a:srgbClr val="EBEDF0"/>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01620"/>
                    </a:solidFill>
                  </a:tcPr>
                </a:tc>
                <a:tc>
                  <a:txBody>
                    <a:bodyPr/>
                    <a:lstStyle/>
                    <a:p>
                      <a:pPr rtl="1" algn="ctr" marL="0" indent="0">
                        <a:lnSpc>
                          <a:spcPct val="108000"/>
                        </a:lnSpc>
                        <a:buNone/>
                      </a:pPr>
                      <a:r>
                        <a:rPr sz="1500" b="0" i="0" lang="he-IL">
                          <a:solidFill>
                            <a:srgbClr val="6296FF"/>
                          </a:solidFill>
                          <a:latin typeface="Arial"/>
                          <a:cs typeface="Arial"/>
                        </a:rPr>
                        <a:t>●●● גוגל</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01620"/>
                    </a:solidFill>
                  </a:tcPr>
                </a:tc>
                <a:tc>
                  <a:txBody>
                    <a:bodyPr/>
                    <a:lstStyle/>
                    <a:p>
                      <a:pPr rtl="1" algn="ctr" marL="0" indent="0">
                        <a:lnSpc>
                          <a:spcPct val="108000"/>
                        </a:lnSpc>
                        <a:buNone/>
                      </a:pPr>
                      <a:r>
                        <a:rPr sz="1500" b="0" i="0" lang="he-IL">
                          <a:solidFill>
                            <a:srgbClr val="6296FF"/>
                          </a:solidFill>
                          <a:latin typeface="Arial"/>
                          <a:cs typeface="Arial"/>
                        </a:rPr>
                        <a:t>●●● אופיס</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01620"/>
                    </a:solidFill>
                  </a:tcPr>
                </a:tc>
                <a:tc>
                  <a:txBody>
                    <a:bodyPr/>
                    <a:lstStyle/>
                    <a:p>
                      <a:pPr rtl="1" algn="ctr" marL="0" indent="0">
                        <a:lnSpc>
                          <a:spcPct val="108000"/>
                        </a:lnSpc>
                        <a:buNone/>
                      </a:pPr>
                      <a:r>
                        <a:rPr sz="1500" b="0" i="0" lang="he-IL">
                          <a:solidFill>
                            <a:srgbClr val="EBEDF0"/>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01620"/>
                    </a:solidFill>
                  </a:tcPr>
                </a:tc>
              </a:tr>
              <a:tr h="502920">
                <a:tc>
                  <a:txBody>
                    <a:bodyPr/>
                    <a:lstStyle/>
                    <a:p>
                      <a:pPr rtl="1" algn="r" marL="0" indent="0">
                        <a:lnSpc>
                          <a:spcPct val="108000"/>
                        </a:lnSpc>
                        <a:buNone/>
                      </a:pPr>
                      <a:r>
                        <a:rPr sz="1450" b="1" i="0" lang="he-IL">
                          <a:solidFill>
                            <a:srgbClr val="EBEDF0"/>
                          </a:solidFill>
                          <a:latin typeface="Arial"/>
                          <a:cs typeface="Arial"/>
                        </a:rPr>
                        <a:t>פרטיות מידע</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41C2A"/>
                    </a:solidFill>
                  </a:tcPr>
                </a:tc>
                <a:tc>
                  <a:txBody>
                    <a:bodyPr/>
                    <a:lstStyle/>
                    <a:p>
                      <a:pPr rtl="1" algn="ctr" marL="0" indent="0">
                        <a:lnSpc>
                          <a:spcPct val="108000"/>
                        </a:lnSpc>
                        <a:buNone/>
                      </a:pPr>
                      <a:r>
                        <a:rPr sz="1500" b="0" i="0" lang="he-IL">
                          <a:solidFill>
                            <a:srgbClr val="EBEDF0"/>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41C2A"/>
                    </a:solidFill>
                  </a:tcPr>
                </a:tc>
                <a:tc>
                  <a:txBody>
                    <a:bodyPr/>
                    <a:lstStyle/>
                    <a:p>
                      <a:pPr rtl="1" algn="ctr" marL="0" indent="0">
                        <a:lnSpc>
                          <a:spcPct val="108000"/>
                        </a:lnSpc>
                        <a:buNone/>
                      </a:pPr>
                      <a:r>
                        <a:rPr sz="1500" b="0" i="0" lang="he-IL">
                          <a:solidFill>
                            <a:srgbClr val="EBEDF0"/>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41C2A"/>
                    </a:solidFill>
                  </a:tcPr>
                </a:tc>
                <a:tc>
                  <a:txBody>
                    <a:bodyPr/>
                    <a:lstStyle/>
                    <a:p>
                      <a:pPr rtl="1" algn="ctr" marL="0" indent="0">
                        <a:lnSpc>
                          <a:spcPct val="108000"/>
                        </a:lnSpc>
                        <a:buNone/>
                      </a:pPr>
                      <a:r>
                        <a:rPr sz="1500" b="0" i="0" lang="he-IL">
                          <a:solidFill>
                            <a:srgbClr val="EBEDF0"/>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41C2A"/>
                    </a:solidFill>
                  </a:tcPr>
                </a:tc>
                <a:tc>
                  <a:txBody>
                    <a:bodyPr/>
                    <a:lstStyle/>
                    <a:p>
                      <a:pPr rtl="1" algn="ctr" marL="0" indent="0">
                        <a:lnSpc>
                          <a:spcPct val="108000"/>
                        </a:lnSpc>
                        <a:buNone/>
                      </a:pPr>
                      <a:r>
                        <a:rPr sz="1500" b="0" i="0" lang="he-IL">
                          <a:solidFill>
                            <a:srgbClr val="EBEDF0"/>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41C2A"/>
                    </a:solidFill>
                  </a:tcPr>
                </a:tc>
                <a:tc>
                  <a:txBody>
                    <a:bodyPr/>
                    <a:lstStyle/>
                    <a:p>
                      <a:pPr rtl="1" algn="ctr" marL="0" indent="0">
                        <a:lnSpc>
                          <a:spcPct val="108000"/>
                        </a:lnSpc>
                        <a:buNone/>
                      </a:pPr>
                      <a:r>
                        <a:rPr sz="1500" b="0" i="0" lang="he-IL">
                          <a:solidFill>
                            <a:srgbClr val="EBEDF0"/>
                          </a:solidFill>
                          <a:latin typeface="Arial"/>
                          <a:cs typeface="Arial"/>
                        </a:rPr>
                        <a:t>●○○ סין</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41C2A"/>
                    </a:solidFill>
                  </a:tcPr>
                </a:tc>
              </a:tr>
            </a:tbl>
          </a:graphicData>
        </a:graphic>
      </p:graphicFrame>
      <p:sp>
        <p:nvSpPr>
          <p:cNvPr id="5" name="TextBox 4"/>
          <p:cNvSpPr txBox="1"/>
          <p:nvPr/>
        </p:nvSpPr>
        <p:spPr>
          <a:xfrm>
            <a:off x="658368" y="5623560"/>
            <a:ext cx="10872216" cy="274320"/>
          </a:xfrm>
          <a:prstGeom prst="rect">
            <a:avLst/>
          </a:prstGeom>
          <a:noFill/>
        </p:spPr>
        <p:txBody>
          <a:bodyPr wrap="square" lIns="0" rIns="0" tIns="0" bIns="0" anchor="t" rtlCol="0">
            <a:spAutoFit/>
          </a:bodyPr>
          <a:lstStyle/>
          <a:p>
            <a:pPr rtl="1" algn="r" marL="0" indent="0">
              <a:lnSpc>
                <a:spcPct val="108000"/>
              </a:lnSpc>
              <a:buNone/>
            </a:pPr>
            <a:r>
              <a:rPr sz="1200" b="0" i="0" lang="he-IL">
                <a:solidFill>
                  <a:srgbClr val="A9B4C6"/>
                </a:solidFill>
                <a:latin typeface="Arial"/>
                <a:cs typeface="Arial"/>
              </a:rPr>
              <a:t>הערכה כללית לצורך היכרות. הכלים מתעדכנים כל כמה חודשים, ובגרסאות בתשלום יש יותר יכולות.</a:t>
            </a:r>
          </a:p>
        </p:txBody>
      </p:sp>
      <p:sp>
        <p:nvSpPr>
          <p:cNvPr id="6" name="TextBox 5"/>
          <p:cNvSpPr txBox="1"/>
          <p:nvPr/>
        </p:nvSpPr>
        <p:spPr>
          <a:xfrm>
            <a:off x="6675120" y="6473952"/>
            <a:ext cx="4846320" cy="292608"/>
          </a:xfrm>
          <a:prstGeom prst="rect">
            <a:avLst/>
          </a:prstGeom>
          <a:noFill/>
        </p:spPr>
        <p:txBody>
          <a:bodyPr wrap="none" lIns="0" rIns="0" tIns="0" bIns="0">
            <a:spAutoFit/>
          </a:bodyPr>
          <a:lstStyle/>
          <a:p>
            <a:pPr algn="r" rtl="1"/>
            <a:r>
              <a:rPr sz="1000">
                <a:solidFill>
                  <a:srgbClr val="8A96AA"/>
                </a:solidFill>
                <a:latin typeface="Arial"/>
                <a:cs typeface="Arial"/>
              </a:rPr>
              <a:t>© נערך על ידי AI Finance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524470"/>
            <a:ext cx="10868745" cy="316706"/>
          </a:xfrm>
          <a:prstGeom prst="rect">
            <a:avLst/>
          </a:prstGeom>
          <a:noFill/>
          <a:ln/>
        </p:spPr>
        <p:txBody>
          <a:bodyPr wrap="none" lIns="0" tIns="0" rIns="0" bIns="0" rtlCol="0" anchor="t"/>
          <a:lstStyle/>
          <a:p>
            <a:pPr rtl="1" algn="r" indent="0" marL="0">
              <a:lnSpc>
                <a:spcPct val="108000"/>
              </a:lnSpc>
              <a:buNone/>
            </a:pPr>
            <a:r>
              <a:rPr lang="he-IL" altLang="en-US" sz="1900" b="1" spc="-38" kern="100" dirty="0">
                <a:solidFill>
                  <a:srgbClr val="F2F5FA"/>
                </a:solidFill>
                <a:latin typeface="Arial" pitchFamily="34" charset="0"/>
                <a:ea typeface="Arial" pitchFamily="34" charset="-122"/>
                <a:cs typeface="Arial" pitchFamily="34" charset="-120"/>
              </a:rPr>
              <a:t>הדגמה חיה: אותה שאלה, שלושה כלים</a:t>
            </a:r>
            <a:endParaRPr lang="he-IL" sz="1900" dirty="0"/>
          </a:p>
        </p:txBody>
      </p:sp>
      <p:sp>
        <p:nvSpPr>
          <p:cNvPr id="3" name="Text 1"/>
          <p:cNvSpPr/>
          <p:nvPr/>
        </p:nvSpPr>
        <p:spPr>
          <a:xfrm>
            <a:off x="51890" y="998141"/>
            <a:ext cx="11332184" cy="95945"/>
          </a:xfrm>
          <a:prstGeom prst="rect">
            <a:avLst/>
          </a:prstGeom>
          <a:noFill/>
          <a:ln/>
        </p:spPr>
        <p:txBody>
          <a:bodyPr wrap="none" lIns="0" tIns="0" rIns="0" bIns="0" rtlCol="0" anchor="t"/>
          <a:lstStyle/>
          <a:p>
            <a:pPr rtl="1" algn="r" indent="0" marL="0">
              <a:lnSpc>
                <a:spcPct val="82000"/>
              </a:lnSpc>
              <a:buNone/>
            </a:pPr>
            <a:r>
              <a:rPr lang="he-IL" altLang="en-US" sz="750" dirty="0">
                <a:solidFill>
                  <a:srgbClr val="EBEDF0"/>
                </a:solidFill>
                <a:latin typeface="Arial" pitchFamily="34" charset="0"/>
                <a:ea typeface="Arial" pitchFamily="34" charset="-122"/>
                <a:cs typeface="Arial" pitchFamily="34" charset="-120"/>
              </a:rPr>
              <a:t>ההנחיה: </a:t>
            </a:r>
            <a:pPr rtl="1" algn="r" indent="0" marL="0">
              <a:lnSpc>
                <a:spcPct val="82000"/>
              </a:lnSpc>
              <a:buNone/>
            </a:pPr>
            <a:r>
              <a:rPr lang="he-IL" altLang="en-US" sz="750" b="1" dirty="0">
                <a:solidFill>
                  <a:srgbClr val="EBEDF0"/>
                </a:solidFill>
                <a:latin typeface="Arial" pitchFamily="34" charset="0"/>
                <a:ea typeface="Arial" pitchFamily="34" charset="-122"/>
                <a:cs typeface="Arial" pitchFamily="34" charset="-120"/>
              </a:rPr>
              <a:t>"הסבר לי מה זה ריבית דריבית, במשפט אחד, כאילו אני בן 12"</a:t>
            </a:r>
            <a:endParaRPr lang="he-IL" sz="750" dirty="0"/>
          </a:p>
        </p:txBody>
      </p:sp>
      <p:sp>
        <p:nvSpPr>
          <p:cNvPr id="4" name="Shape 2"/>
          <p:cNvSpPr/>
          <p:nvPr/>
        </p:nvSpPr>
        <p:spPr>
          <a:xfrm>
            <a:off x="11517520" y="941685"/>
            <a:ext cx="12700" cy="208855"/>
          </a:xfrm>
          <a:prstGeom prst="roundRect">
            <a:avLst>
              <a:gd name="adj" fmla="val 49999"/>
            </a:avLst>
          </a:prstGeom>
          <a:solidFill>
            <a:srgbClr val="6296FF"/>
          </a:solidFill>
          <a:ln/>
        </p:spPr>
        <p:txBody>
          <a:bodyPr/>
          <a:p/>
        </p:txBody>
      </p:sp>
      <p:pic>
        <p:nvPicPr>
          <p:cNvPr id="5" name="Image 0" descr="preencoded.png">    </p:cNvPr>
          <p:cNvPicPr>
            <a:picLocks noChangeAspect="1"/>
          </p:cNvPicPr>
          <p:nvPr/>
        </p:nvPicPr>
        <p:blipFill>
          <a:blip r:embed="rId1"/>
          <a:stretch>
            <a:fillRect/>
          </a:stretch>
        </p:blipFill>
        <p:spPr>
          <a:xfrm>
            <a:off x="661475" y="1206996"/>
            <a:ext cx="10868745" cy="4974134"/>
          </a:xfrm>
          <a:prstGeom prst="rect">
            <a:avLst/>
          </a:prstGeom>
        </p:spPr>
      </p:pic>
      <p:sp>
        <p:nvSpPr>
          <p:cNvPr id="6" name="Text 3"/>
          <p:cNvSpPr/>
          <p:nvPr/>
        </p:nvSpPr>
        <p:spPr>
          <a:xfrm>
            <a:off x="1164562" y="1980696"/>
            <a:ext cx="2404268" cy="312563"/>
          </a:xfrm>
          <a:prstGeom prst="rect">
            <a:avLst/>
          </a:prstGeom>
          <a:noFill/>
          <a:ln/>
        </p:spPr>
        <p:txBody>
          <a:bodyPr wrap="none" lIns="0" tIns="0" rIns="0" bIns="0" rtlCol="0" anchor="t"/>
          <a:lstStyle/>
          <a:p>
            <a:pPr rtl="1" algn="r" indent="0" marL="0">
              <a:lnSpc>
                <a:spcPct val="108000"/>
              </a:lnSpc>
              <a:buNone/>
            </a:pPr>
            <a:r>
              <a:rPr lang="he-IL" altLang="en-US" sz="1850" b="1" spc="-38" kern="100" dirty="0">
                <a:solidFill>
                  <a:srgbClr val="EBEDF0"/>
                </a:solidFill>
                <a:latin typeface="Arial" pitchFamily="34" charset="0"/>
                <a:ea typeface="Arial" pitchFamily="34" charset="-122"/>
                <a:cs typeface="Arial" pitchFamily="34" charset="-120"/>
              </a:rPr>
              <a:t>הרצה ב-ג'מיני</a:t>
            </a:r>
            <a:endParaRPr lang="he-IL" sz="1850" dirty="0"/>
          </a:p>
        </p:txBody>
      </p:sp>
      <p:sp>
        <p:nvSpPr>
          <p:cNvPr id="7" name="Text 4"/>
          <p:cNvSpPr/>
          <p:nvPr/>
        </p:nvSpPr>
        <p:spPr>
          <a:xfrm>
            <a:off x="918792" y="2378746"/>
            <a:ext cx="2650038" cy="182161"/>
          </a:xfrm>
          <a:prstGeom prst="rect">
            <a:avLst/>
          </a:prstGeom>
          <a:noFill/>
          <a:ln/>
        </p:spPr>
        <p:txBody>
          <a:bodyPr wrap="none" lIns="0" tIns="0" rIns="0" bIns="0" rtlCol="0" anchor="t"/>
          <a:lstStyle/>
          <a:p>
            <a:pPr rtl="1" algn="r" indent="0" marL="0">
              <a:lnSpc>
                <a:spcPct val="79000"/>
              </a:lnSpc>
              <a:buNone/>
            </a:pPr>
            <a:r>
              <a:rPr lang="he-IL" altLang="en-US" sz="1500" dirty="0">
                <a:solidFill>
                  <a:srgbClr val="EBEDF0"/>
                </a:solidFill>
                <a:latin typeface="Arial" pitchFamily="34" charset="0"/>
                <a:ea typeface="Arial" pitchFamily="34" charset="-122"/>
                <a:cs typeface="Arial" pitchFamily="34" charset="-120"/>
              </a:rPr>
              <a:t>סגנון שונה עם דגש מתמטי קל</a:t>
            </a:r>
            <a:endParaRPr lang="he-IL" sz="1500" dirty="0"/>
          </a:p>
        </p:txBody>
      </p:sp>
      <p:sp>
        <p:nvSpPr>
          <p:cNvPr id="8" name="Text 5"/>
          <p:cNvSpPr/>
          <p:nvPr/>
        </p:nvSpPr>
        <p:spPr>
          <a:xfrm>
            <a:off x="8836849" y="3524642"/>
            <a:ext cx="2404268" cy="312563"/>
          </a:xfrm>
          <a:prstGeom prst="rect">
            <a:avLst/>
          </a:prstGeom>
          <a:noFill/>
          <a:ln/>
        </p:spPr>
        <p:txBody>
          <a:bodyPr wrap="none" lIns="0" tIns="0" rIns="0" bIns="0" rtlCol="0" anchor="t"/>
          <a:lstStyle/>
          <a:p>
            <a:pPr rtl="1" algn="l" indent="0" marL="0">
              <a:lnSpc>
                <a:spcPct val="108000"/>
              </a:lnSpc>
              <a:buNone/>
            </a:pPr>
            <a:r>
              <a:rPr lang="he-IL" altLang="en-US" sz="1850" b="1" spc="-38" kern="100" dirty="0">
                <a:solidFill>
                  <a:srgbClr val="EBEDF0"/>
                </a:solidFill>
                <a:latin typeface="Arial" pitchFamily="34" charset="0"/>
                <a:ea typeface="Arial" pitchFamily="34" charset="-122"/>
                <a:cs typeface="Arial" pitchFamily="34" charset="-120"/>
              </a:rPr>
              <a:t>הרצה ב-קלוד</a:t>
            </a:r>
            <a:endParaRPr lang="he-IL" sz="1850" dirty="0"/>
          </a:p>
        </p:txBody>
      </p:sp>
      <p:sp>
        <p:nvSpPr>
          <p:cNvPr id="9" name="Text 6"/>
          <p:cNvSpPr/>
          <p:nvPr/>
        </p:nvSpPr>
        <p:spPr>
          <a:xfrm>
            <a:off x="8836849" y="3922692"/>
            <a:ext cx="2436325" cy="364323"/>
          </a:xfrm>
          <a:prstGeom prst="rect">
            <a:avLst/>
          </a:prstGeom>
          <a:noFill/>
          <a:ln/>
        </p:spPr>
        <p:txBody>
          <a:bodyPr wrap="square" lIns="0" tIns="0" rIns="0" bIns="0" rtlCol="0" anchor="t">
            <a:normAutofit/>
          </a:bodyPr>
          <a:lstStyle/>
          <a:p>
            <a:pPr rtl="1" algn="l" indent="0" marL="0">
              <a:lnSpc>
                <a:spcPct val="79000"/>
              </a:lnSpc>
              <a:buNone/>
            </a:pPr>
            <a:r>
              <a:rPr lang="he-IL" altLang="en-US" sz="1500" dirty="0">
                <a:solidFill>
                  <a:srgbClr val="EBEDF0"/>
                </a:solidFill>
                <a:latin typeface="Arial" pitchFamily="34" charset="0"/>
                <a:ea typeface="Arial" pitchFamily="34" charset="-122"/>
                <a:cs typeface="Arial" pitchFamily="34" charset="-120"/>
              </a:rPr>
              <a:t>תשובה תמציתית, סגנון ידידותי ומנוסח פשוט</a:t>
            </a:r>
            <a:endParaRPr lang="he-IL" sz="1500" dirty="0"/>
          </a:p>
        </p:txBody>
      </p:sp>
      <p:sp>
        <p:nvSpPr>
          <p:cNvPr id="10" name="Text 7"/>
          <p:cNvSpPr/>
          <p:nvPr/>
        </p:nvSpPr>
        <p:spPr>
          <a:xfrm>
            <a:off x="1164562" y="4459825"/>
            <a:ext cx="2404268" cy="312563"/>
          </a:xfrm>
          <a:prstGeom prst="rect">
            <a:avLst/>
          </a:prstGeom>
          <a:noFill/>
          <a:ln/>
        </p:spPr>
        <p:txBody>
          <a:bodyPr wrap="none" lIns="0" tIns="0" rIns="0" bIns="0" rtlCol="0" anchor="t"/>
          <a:lstStyle/>
          <a:p>
            <a:pPr rtl="1" algn="r" indent="0" marL="0">
              <a:lnSpc>
                <a:spcPct val="108000"/>
              </a:lnSpc>
              <a:buNone/>
            </a:pPr>
            <a:r>
              <a:rPr lang="he-IL" altLang="en-US" sz="1850" b="1" spc="-38" kern="100" dirty="0">
                <a:solidFill>
                  <a:srgbClr val="EBEDF0"/>
                </a:solidFill>
                <a:latin typeface="Arial" pitchFamily="34" charset="0"/>
                <a:ea typeface="Arial" pitchFamily="34" charset="-122"/>
                <a:cs typeface="Arial" pitchFamily="34" charset="-120"/>
              </a:rPr>
              <a:t>הרצה ב-ChatGPT</a:t>
            </a:r>
            <a:endParaRPr lang="he-IL" sz="1850" dirty="0"/>
          </a:p>
        </p:txBody>
      </p:sp>
      <p:sp>
        <p:nvSpPr>
          <p:cNvPr id="11" name="Text 8"/>
          <p:cNvSpPr/>
          <p:nvPr/>
        </p:nvSpPr>
        <p:spPr>
          <a:xfrm>
            <a:off x="918792" y="4857876"/>
            <a:ext cx="2650038" cy="182161"/>
          </a:xfrm>
          <a:prstGeom prst="rect">
            <a:avLst/>
          </a:prstGeom>
          <a:noFill/>
          <a:ln/>
        </p:spPr>
        <p:txBody>
          <a:bodyPr wrap="none" lIns="0" tIns="0" rIns="0" bIns="0" rtlCol="0" anchor="t"/>
          <a:lstStyle/>
          <a:p>
            <a:pPr rtl="1" algn="r" indent="0" marL="0">
              <a:lnSpc>
                <a:spcPct val="79000"/>
              </a:lnSpc>
              <a:buNone/>
            </a:pPr>
            <a:r>
              <a:rPr lang="he-IL" altLang="en-US" sz="1500" dirty="0">
                <a:solidFill>
                  <a:srgbClr val="EBEDF0"/>
                </a:solidFill>
                <a:latin typeface="Arial" pitchFamily="34" charset="0"/>
                <a:ea typeface="Arial" pitchFamily="34" charset="-122"/>
                <a:cs typeface="Arial" pitchFamily="34" charset="-120"/>
              </a:rPr>
              <a:t>הסבר ברור עם דוגמה קצרה</a:t>
            </a:r>
            <a:endParaRPr lang="he-IL" sz="1500" dirty="0"/>
          </a:p>
        </p:txBody>
      </p:sp>
      <p:sp>
        <p:nvSpPr>
          <p:cNvPr id="12" name="Text 9"/>
          <p:cNvSpPr/>
          <p:nvPr/>
        </p:nvSpPr>
        <p:spPr>
          <a:xfrm>
            <a:off x="51890" y="6237585"/>
            <a:ext cx="11478330" cy="95945"/>
          </a:xfrm>
          <a:prstGeom prst="rect">
            <a:avLst/>
          </a:prstGeom>
          <a:noFill/>
          <a:ln/>
        </p:spPr>
        <p:txBody>
          <a:bodyPr wrap="none" lIns="0" tIns="0" rIns="0" bIns="0" rtlCol="0" anchor="t"/>
          <a:lstStyle/>
          <a:p>
            <a:pPr rtl="1" algn="r" indent="0" marL="0">
              <a:lnSpc>
                <a:spcPct val="82000"/>
              </a:lnSpc>
              <a:buNone/>
            </a:pPr>
            <a:r>
              <a:rPr lang="he-IL" altLang="en-US" sz="750" dirty="0">
                <a:solidFill>
                  <a:srgbClr val="EBEDF0"/>
                </a:solidFill>
                <a:latin typeface="Arial" pitchFamily="34" charset="0"/>
                <a:ea typeface="Arial" pitchFamily="34" charset="-122"/>
                <a:cs typeface="Arial" pitchFamily="34" charset="-120"/>
              </a:rPr>
              <a:t>המסקנה: שלוש תשובות נכונות, שלושה סגנונות. אין "תשובה אחת נכונה" – בוחרים כלי לפי משימה.</a:t>
            </a:r>
            <a:endParaRPr lang="he-IL" sz="750" dirty="0"/>
          </a:p>
        </p:txBody>
      </p:sp>
      <p:sp>
        <p:nvSpPr>
          <p:cNvPr id="13" name="TextBox 12"/>
          <p:cNvSpPr txBox="1"/>
          <p:nvPr/>
        </p:nvSpPr>
        <p:spPr>
          <a:xfrm>
            <a:off x="6675120" y="6473952"/>
            <a:ext cx="4846320" cy="292608"/>
          </a:xfrm>
          <a:prstGeom prst="rect">
            <a:avLst/>
          </a:prstGeom>
          <a:noFill/>
        </p:spPr>
        <p:txBody>
          <a:bodyPr wrap="none" lIns="0" rIns="0" tIns="0" bIns="0">
            <a:spAutoFit/>
          </a:bodyPr>
          <a:lstStyle/>
          <a:p>
            <a:pPr algn="r" rtl="1"/>
            <a:r>
              <a:rPr sz="1000">
                <a:solidFill>
                  <a:srgbClr val="8A96AA"/>
                </a:solidFill>
                <a:latin typeface="Arial"/>
                <a:cs typeface="Arial"/>
              </a:rPr>
              <a:t>© נערך על ידי AI Finance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02920"/>
            <a:ext cx="10872216" cy="640080"/>
          </a:xfrm>
          <a:prstGeom prst="rect">
            <a:avLst/>
          </a:prstGeom>
          <a:noFill/>
        </p:spPr>
        <p:txBody>
          <a:bodyPr wrap="square" lIns="0" rIns="0" tIns="0" bIns="0" anchor="t" rtlCol="0">
            <a:spAutoFit/>
          </a:bodyPr>
          <a:lstStyle/>
          <a:p>
            <a:pPr rtl="1" algn="r" marL="0" indent="0">
              <a:lnSpc>
                <a:spcPct val="108000"/>
              </a:lnSpc>
              <a:buNone/>
            </a:pPr>
            <a:r>
              <a:rPr sz="3700" b="1" i="0" lang="he-IL">
                <a:solidFill>
                  <a:srgbClr val="F2F5FA"/>
                </a:solidFill>
                <a:latin typeface="Arial"/>
                <a:cs typeface="Arial"/>
              </a:rPr>
              <a:t>קרב כלים: שלוש משימות, מי מנצח?</a:t>
            </a:r>
          </a:p>
        </p:txBody>
      </p:sp>
      <p:sp>
        <p:nvSpPr>
          <p:cNvPr id="3" name="TextBox 2"/>
          <p:cNvSpPr txBox="1"/>
          <p:nvPr/>
        </p:nvSpPr>
        <p:spPr>
          <a:xfrm>
            <a:off x="658368" y="1280160"/>
            <a:ext cx="10872216" cy="365760"/>
          </a:xfrm>
          <a:prstGeom prst="rect">
            <a:avLst/>
          </a:prstGeom>
          <a:noFill/>
        </p:spPr>
        <p:txBody>
          <a:bodyPr wrap="square" lIns="0" rIns="0" tIns="0" bIns="0" anchor="t" rtlCol="0">
            <a:spAutoFit/>
          </a:bodyPr>
          <a:lstStyle/>
          <a:p>
            <a:pPr rtl="1" algn="r" marL="0" indent="0">
              <a:lnSpc>
                <a:spcPct val="108000"/>
              </a:lnSpc>
              <a:buNone/>
            </a:pPr>
            <a:r>
              <a:rPr sz="1450" b="0" i="0" lang="he-IL">
                <a:solidFill>
                  <a:srgbClr val="A9B4C6"/>
                </a:solidFill>
                <a:latin typeface="Arial"/>
                <a:cs typeface="Arial"/>
              </a:rPr>
              <a:t>אותה משימה בשני כלים, על המסך, בזמן אמת. אתם השופטים</a:t>
            </a:r>
          </a:p>
        </p:txBody>
      </p:sp>
      <p:sp>
        <p:nvSpPr>
          <p:cNvPr id="4" name="Rounded Rectangle 3"/>
          <p:cNvSpPr/>
          <p:nvPr/>
        </p:nvSpPr>
        <p:spPr>
          <a:xfrm>
            <a:off x="8156448" y="1920240"/>
            <a:ext cx="3383280" cy="342900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789920" y="2121408"/>
            <a:ext cx="548640" cy="548640"/>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700" b="1" i="0" lang="he-IL">
                <a:solidFill>
                  <a:srgbClr val="F2F5FA"/>
                </a:solidFill>
                <a:latin typeface="Arial"/>
                <a:cs typeface="Arial"/>
              </a:rPr>
              <a:t>📄</a:t>
            </a:r>
          </a:p>
        </p:txBody>
      </p:sp>
      <p:sp>
        <p:nvSpPr>
          <p:cNvPr id="6" name="TextBox 5"/>
          <p:cNvSpPr txBox="1"/>
          <p:nvPr/>
        </p:nvSpPr>
        <p:spPr>
          <a:xfrm>
            <a:off x="8357616" y="2121408"/>
            <a:ext cx="2286000" cy="274320"/>
          </a:xfrm>
          <a:prstGeom prst="rect">
            <a:avLst/>
          </a:prstGeom>
          <a:noFill/>
        </p:spPr>
        <p:txBody>
          <a:bodyPr wrap="square" lIns="0" rIns="0" tIns="0" bIns="0" anchor="t" rtlCol="0">
            <a:spAutoFit/>
          </a:bodyPr>
          <a:lstStyle/>
          <a:p>
            <a:pPr rtl="1" algn="r" marL="0" indent="0">
              <a:lnSpc>
                <a:spcPct val="108000"/>
              </a:lnSpc>
              <a:buNone/>
            </a:pPr>
            <a:r>
              <a:rPr sz="1250" b="1" i="0" lang="he-IL">
                <a:solidFill>
                  <a:srgbClr val="6296FF"/>
                </a:solidFill>
                <a:latin typeface="Arial"/>
                <a:cs typeface="Arial"/>
              </a:rPr>
              <a:t>סיבוב 1</a:t>
            </a:r>
          </a:p>
        </p:txBody>
      </p:sp>
      <p:sp>
        <p:nvSpPr>
          <p:cNvPr id="7" name="TextBox 6"/>
          <p:cNvSpPr txBox="1"/>
          <p:nvPr/>
        </p:nvSpPr>
        <p:spPr>
          <a:xfrm>
            <a:off x="8357616" y="2395728"/>
            <a:ext cx="228600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סיכום מסמך ארוך</a:t>
            </a:r>
          </a:p>
        </p:txBody>
      </p:sp>
      <p:sp>
        <p:nvSpPr>
          <p:cNvPr id="8" name="TextBox 7"/>
          <p:cNvSpPr txBox="1"/>
          <p:nvPr/>
        </p:nvSpPr>
        <p:spPr>
          <a:xfrm>
            <a:off x="8357616" y="2971800"/>
            <a:ext cx="2980944" cy="1280160"/>
          </a:xfrm>
          <a:prstGeom prst="rect">
            <a:avLst/>
          </a:prstGeom>
          <a:noFill/>
        </p:spPr>
        <p:txBody>
          <a:bodyPr wrap="square" lIns="0" rIns="0" tIns="0" bIns="0" anchor="t" rtlCol="0">
            <a:spAutoFit/>
          </a:bodyPr>
          <a:lstStyle/>
          <a:p>
            <a:pPr rtl="1" algn="r" marL="0" indent="0">
              <a:lnSpc>
                <a:spcPct val="115000"/>
              </a:lnSpc>
              <a:buNone/>
            </a:pPr>
            <a:r>
              <a:rPr sz="1350" b="0" i="0" lang="he-IL">
                <a:solidFill>
                  <a:srgbClr val="EBEDF0"/>
                </a:solidFill>
                <a:latin typeface="Arial"/>
                <a:cs typeface="Arial"/>
              </a:rPr>
              <a:t>"סכם לי את המסמך הזה בחמש נקודות" (קובץ PDF של 20 עמודים)</a:t>
            </a:r>
          </a:p>
        </p:txBody>
      </p:sp>
      <p:sp>
        <p:nvSpPr>
          <p:cNvPr id="9" name="Rounded Rectangle 8"/>
          <p:cNvSpPr/>
          <p:nvPr/>
        </p:nvSpPr>
        <p:spPr>
          <a:xfrm>
            <a:off x="8357616" y="4434840"/>
            <a:ext cx="2980944" cy="685800"/>
          </a:xfrm>
          <a:prstGeom prst="roundRect">
            <a:avLst>
              <a:gd name="adj" fmla="val 3000"/>
            </a:avLst>
          </a:prstGeom>
          <a:solidFill>
            <a:srgbClr val="022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357616" y="4434840"/>
            <a:ext cx="2980944" cy="685800"/>
          </a:xfrm>
          <a:prstGeom prst="rect">
            <a:avLst/>
          </a:prstGeom>
          <a:noFill/>
        </p:spPr>
        <p:txBody>
          <a:bodyPr wrap="square" lIns="0" rIns="0" tIns="0" bIns="0" anchor="ctr" rtlCol="0">
            <a:spAutoFit/>
          </a:bodyPr>
          <a:lstStyle/>
          <a:p>
            <a:pPr rtl="1" algn="ctr" marL="0" indent="0">
              <a:lnSpc>
                <a:spcPct val="108000"/>
              </a:lnSpc>
              <a:buNone/>
            </a:pPr>
            <a:r>
              <a:rPr sz="1450" b="1" i="0" lang="he-IL">
                <a:solidFill>
                  <a:srgbClr val="F2F5FA"/>
                </a:solidFill>
                <a:latin typeface="Arial"/>
                <a:cs typeface="Arial"/>
              </a:rPr>
              <a:t>קלוד  מול  צ'אט ג'יפיטי</a:t>
            </a:r>
          </a:p>
        </p:txBody>
      </p:sp>
      <p:sp>
        <p:nvSpPr>
          <p:cNvPr id="11" name="Rounded Rectangle 10"/>
          <p:cNvSpPr/>
          <p:nvPr/>
        </p:nvSpPr>
        <p:spPr>
          <a:xfrm>
            <a:off x="4407408" y="1920240"/>
            <a:ext cx="3383280" cy="342900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7040879" y="2121408"/>
            <a:ext cx="548640" cy="548640"/>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700" b="1" i="0" lang="he-IL">
                <a:solidFill>
                  <a:srgbClr val="F2F5FA"/>
                </a:solidFill>
                <a:latin typeface="Arial"/>
                <a:cs typeface="Arial"/>
              </a:rPr>
              <a:t>📰</a:t>
            </a:r>
          </a:p>
        </p:txBody>
      </p:sp>
      <p:sp>
        <p:nvSpPr>
          <p:cNvPr id="13" name="TextBox 12"/>
          <p:cNvSpPr txBox="1"/>
          <p:nvPr/>
        </p:nvSpPr>
        <p:spPr>
          <a:xfrm>
            <a:off x="4608576" y="2121408"/>
            <a:ext cx="2286000" cy="274320"/>
          </a:xfrm>
          <a:prstGeom prst="rect">
            <a:avLst/>
          </a:prstGeom>
          <a:noFill/>
        </p:spPr>
        <p:txBody>
          <a:bodyPr wrap="square" lIns="0" rIns="0" tIns="0" bIns="0" anchor="t" rtlCol="0">
            <a:spAutoFit/>
          </a:bodyPr>
          <a:lstStyle/>
          <a:p>
            <a:pPr rtl="1" algn="r" marL="0" indent="0">
              <a:lnSpc>
                <a:spcPct val="108000"/>
              </a:lnSpc>
              <a:buNone/>
            </a:pPr>
            <a:r>
              <a:rPr sz="1250" b="1" i="0" lang="he-IL">
                <a:solidFill>
                  <a:srgbClr val="6296FF"/>
                </a:solidFill>
                <a:latin typeface="Arial"/>
                <a:cs typeface="Arial"/>
              </a:rPr>
              <a:t>סיבוב 2</a:t>
            </a:r>
          </a:p>
        </p:txBody>
      </p:sp>
      <p:sp>
        <p:nvSpPr>
          <p:cNvPr id="14" name="TextBox 13"/>
          <p:cNvSpPr txBox="1"/>
          <p:nvPr/>
        </p:nvSpPr>
        <p:spPr>
          <a:xfrm>
            <a:off x="4608576" y="2395728"/>
            <a:ext cx="228600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מידע עדכני</a:t>
            </a:r>
          </a:p>
        </p:txBody>
      </p:sp>
      <p:sp>
        <p:nvSpPr>
          <p:cNvPr id="15" name="TextBox 14"/>
          <p:cNvSpPr txBox="1"/>
          <p:nvPr/>
        </p:nvSpPr>
        <p:spPr>
          <a:xfrm>
            <a:off x="4608576" y="2971800"/>
            <a:ext cx="2980944" cy="1280160"/>
          </a:xfrm>
          <a:prstGeom prst="rect">
            <a:avLst/>
          </a:prstGeom>
          <a:noFill/>
        </p:spPr>
        <p:txBody>
          <a:bodyPr wrap="square" lIns="0" rIns="0" tIns="0" bIns="0" anchor="t" rtlCol="0">
            <a:spAutoFit/>
          </a:bodyPr>
          <a:lstStyle/>
          <a:p>
            <a:pPr rtl="1" algn="r" marL="0" indent="0">
              <a:lnSpc>
                <a:spcPct val="115000"/>
              </a:lnSpc>
              <a:buNone/>
            </a:pPr>
            <a:r>
              <a:rPr sz="1350" b="0" i="0" lang="he-IL">
                <a:solidFill>
                  <a:srgbClr val="EBEDF0"/>
                </a:solidFill>
                <a:latin typeface="Arial"/>
                <a:cs typeface="Arial"/>
              </a:rPr>
              <a:t>"מה קרה השבוע בשוק הנדל"ן בישראל? תן מקורות"</a:t>
            </a:r>
          </a:p>
        </p:txBody>
      </p:sp>
      <p:sp>
        <p:nvSpPr>
          <p:cNvPr id="16" name="Rounded Rectangle 15"/>
          <p:cNvSpPr/>
          <p:nvPr/>
        </p:nvSpPr>
        <p:spPr>
          <a:xfrm>
            <a:off x="4608576" y="4434840"/>
            <a:ext cx="2980944" cy="685800"/>
          </a:xfrm>
          <a:prstGeom prst="roundRect">
            <a:avLst>
              <a:gd name="adj" fmla="val 3000"/>
            </a:avLst>
          </a:prstGeom>
          <a:solidFill>
            <a:srgbClr val="022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608576" y="4434840"/>
            <a:ext cx="2980944" cy="685800"/>
          </a:xfrm>
          <a:prstGeom prst="rect">
            <a:avLst/>
          </a:prstGeom>
          <a:noFill/>
        </p:spPr>
        <p:txBody>
          <a:bodyPr wrap="square" lIns="0" rIns="0" tIns="0" bIns="0" anchor="ctr" rtlCol="0">
            <a:spAutoFit/>
          </a:bodyPr>
          <a:lstStyle/>
          <a:p>
            <a:pPr rtl="1" algn="ctr" marL="0" indent="0">
              <a:lnSpc>
                <a:spcPct val="108000"/>
              </a:lnSpc>
              <a:buNone/>
            </a:pPr>
            <a:r>
              <a:rPr sz="1450" b="1" i="0" lang="he-IL">
                <a:solidFill>
                  <a:srgbClr val="F2F5FA"/>
                </a:solidFill>
                <a:latin typeface="Arial"/>
                <a:cs typeface="Arial"/>
              </a:rPr>
              <a:t>ג'מיני  מול  Perplexity</a:t>
            </a:r>
          </a:p>
        </p:txBody>
      </p:sp>
      <p:sp>
        <p:nvSpPr>
          <p:cNvPr id="18" name="Rounded Rectangle 17"/>
          <p:cNvSpPr/>
          <p:nvPr/>
        </p:nvSpPr>
        <p:spPr>
          <a:xfrm>
            <a:off x="658368" y="1920240"/>
            <a:ext cx="3383280" cy="342900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3291840" y="2121408"/>
            <a:ext cx="548640" cy="548640"/>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700" b="1" i="0" lang="he-IL">
                <a:solidFill>
                  <a:srgbClr val="F2F5FA"/>
                </a:solidFill>
                <a:latin typeface="Arial"/>
                <a:cs typeface="Arial"/>
              </a:rPr>
              <a:t>🎨</a:t>
            </a:r>
          </a:p>
        </p:txBody>
      </p:sp>
      <p:sp>
        <p:nvSpPr>
          <p:cNvPr id="20" name="TextBox 19"/>
          <p:cNvSpPr txBox="1"/>
          <p:nvPr/>
        </p:nvSpPr>
        <p:spPr>
          <a:xfrm>
            <a:off x="859536" y="2121408"/>
            <a:ext cx="2286000" cy="274320"/>
          </a:xfrm>
          <a:prstGeom prst="rect">
            <a:avLst/>
          </a:prstGeom>
          <a:noFill/>
        </p:spPr>
        <p:txBody>
          <a:bodyPr wrap="square" lIns="0" rIns="0" tIns="0" bIns="0" anchor="t" rtlCol="0">
            <a:spAutoFit/>
          </a:bodyPr>
          <a:lstStyle/>
          <a:p>
            <a:pPr rtl="1" algn="r" marL="0" indent="0">
              <a:lnSpc>
                <a:spcPct val="108000"/>
              </a:lnSpc>
              <a:buNone/>
            </a:pPr>
            <a:r>
              <a:rPr sz="1250" b="1" i="0" lang="he-IL">
                <a:solidFill>
                  <a:srgbClr val="6296FF"/>
                </a:solidFill>
                <a:latin typeface="Arial"/>
                <a:cs typeface="Arial"/>
              </a:rPr>
              <a:t>סיבוב 3</a:t>
            </a:r>
          </a:p>
        </p:txBody>
      </p:sp>
      <p:sp>
        <p:nvSpPr>
          <p:cNvPr id="21" name="TextBox 20"/>
          <p:cNvSpPr txBox="1"/>
          <p:nvPr/>
        </p:nvSpPr>
        <p:spPr>
          <a:xfrm>
            <a:off x="859536" y="2395728"/>
            <a:ext cx="228600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יצירת תמונה</a:t>
            </a:r>
          </a:p>
        </p:txBody>
      </p:sp>
      <p:sp>
        <p:nvSpPr>
          <p:cNvPr id="22" name="TextBox 21"/>
          <p:cNvSpPr txBox="1"/>
          <p:nvPr/>
        </p:nvSpPr>
        <p:spPr>
          <a:xfrm>
            <a:off x="859536" y="2971800"/>
            <a:ext cx="2980944" cy="1280160"/>
          </a:xfrm>
          <a:prstGeom prst="rect">
            <a:avLst/>
          </a:prstGeom>
          <a:noFill/>
        </p:spPr>
        <p:txBody>
          <a:bodyPr wrap="square" lIns="0" rIns="0" tIns="0" bIns="0" anchor="t" rtlCol="0">
            <a:spAutoFit/>
          </a:bodyPr>
          <a:lstStyle/>
          <a:p>
            <a:pPr rtl="1" algn="r" marL="0" indent="0">
              <a:lnSpc>
                <a:spcPct val="115000"/>
              </a:lnSpc>
              <a:buNone/>
            </a:pPr>
            <a:r>
              <a:rPr sz="1350" b="0" i="0" lang="he-IL">
                <a:solidFill>
                  <a:srgbClr val="EBEDF0"/>
                </a:solidFill>
                <a:latin typeface="Arial"/>
                <a:cs typeface="Arial"/>
              </a:rPr>
              <a:t>"צור הזמנה למסיבת יום הולדת 40 בסגנון שנות ה-80"</a:t>
            </a:r>
          </a:p>
        </p:txBody>
      </p:sp>
      <p:sp>
        <p:nvSpPr>
          <p:cNvPr id="23" name="Rounded Rectangle 22"/>
          <p:cNvSpPr/>
          <p:nvPr/>
        </p:nvSpPr>
        <p:spPr>
          <a:xfrm>
            <a:off x="859536" y="4434840"/>
            <a:ext cx="2980944" cy="685800"/>
          </a:xfrm>
          <a:prstGeom prst="roundRect">
            <a:avLst>
              <a:gd name="adj" fmla="val 3000"/>
            </a:avLst>
          </a:prstGeom>
          <a:solidFill>
            <a:srgbClr val="022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59536" y="4434840"/>
            <a:ext cx="2980944" cy="685800"/>
          </a:xfrm>
          <a:prstGeom prst="rect">
            <a:avLst/>
          </a:prstGeom>
          <a:noFill/>
        </p:spPr>
        <p:txBody>
          <a:bodyPr wrap="square" lIns="0" rIns="0" tIns="0" bIns="0" anchor="ctr" rtlCol="0">
            <a:spAutoFit/>
          </a:bodyPr>
          <a:lstStyle/>
          <a:p>
            <a:pPr rtl="1" algn="ctr" marL="0" indent="0">
              <a:lnSpc>
                <a:spcPct val="108000"/>
              </a:lnSpc>
              <a:buNone/>
            </a:pPr>
            <a:r>
              <a:rPr sz="1450" b="1" i="0" lang="he-IL">
                <a:solidFill>
                  <a:srgbClr val="F2F5FA"/>
                </a:solidFill>
                <a:latin typeface="Arial"/>
                <a:cs typeface="Arial"/>
              </a:rPr>
              <a:t>צ'אט ג'יפיטי  מול  ג'מיני</a:t>
            </a:r>
          </a:p>
        </p:txBody>
      </p:sp>
      <p:sp>
        <p:nvSpPr>
          <p:cNvPr id="25" name="Rounded Rectangle 24"/>
          <p:cNvSpPr/>
          <p:nvPr/>
        </p:nvSpPr>
        <p:spPr>
          <a:xfrm>
            <a:off x="658368" y="5577840"/>
            <a:ext cx="10872216" cy="594360"/>
          </a:xfrm>
          <a:prstGeom prst="roundRect">
            <a:avLst>
              <a:gd name="adj" fmla="val 3000"/>
            </a:avLst>
          </a:prstGeom>
          <a:solidFill>
            <a:srgbClr val="183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86968" y="5577840"/>
            <a:ext cx="10415016" cy="594360"/>
          </a:xfrm>
          <a:prstGeom prst="rect">
            <a:avLst/>
          </a:prstGeom>
          <a:noFill/>
        </p:spPr>
        <p:txBody>
          <a:bodyPr wrap="square" lIns="0" rIns="0" tIns="0" bIns="0" anchor="ctr" rtlCol="0">
            <a:spAutoFit/>
          </a:bodyPr>
          <a:lstStyle/>
          <a:p>
            <a:pPr rtl="1" algn="r" marL="0" indent="0">
              <a:lnSpc>
                <a:spcPct val="108000"/>
              </a:lnSpc>
              <a:buNone/>
            </a:pPr>
            <a:r>
              <a:rPr sz="1450" b="0" i="0" lang="he-IL">
                <a:solidFill>
                  <a:srgbClr val="EBEDF0"/>
                </a:solidFill>
                <a:latin typeface="Arial"/>
                <a:cs typeface="Arial"/>
              </a:rPr>
              <a:t>🏆  שופטים לפי: דיוק · סגנון · מהירות.  הצבעה בצ'אט אחרי כל סיבוב: 1 או 2.</a:t>
            </a:r>
          </a:p>
        </p:txBody>
      </p:sp>
      <p:sp>
        <p:nvSpPr>
          <p:cNvPr id="27" name="TextBox 26"/>
          <p:cNvSpPr txBox="1"/>
          <p:nvPr/>
        </p:nvSpPr>
        <p:spPr>
          <a:xfrm>
            <a:off x="6675120" y="6473952"/>
            <a:ext cx="4846320" cy="292608"/>
          </a:xfrm>
          <a:prstGeom prst="rect">
            <a:avLst/>
          </a:prstGeom>
          <a:noFill/>
        </p:spPr>
        <p:txBody>
          <a:bodyPr wrap="none" lIns="0" rIns="0" tIns="0" bIns="0">
            <a:spAutoFit/>
          </a:bodyPr>
          <a:lstStyle/>
          <a:p>
            <a:pPr algn="r" rtl="1"/>
            <a:r>
              <a:rPr sz="1000">
                <a:solidFill>
                  <a:srgbClr val="8A96AA"/>
                </a:solidFill>
                <a:latin typeface="Arial"/>
                <a:cs typeface="Arial"/>
              </a:rPr>
              <a:t>© נערך על ידי AI Finance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02920"/>
            <a:ext cx="10872216" cy="640080"/>
          </a:xfrm>
          <a:prstGeom prst="rect">
            <a:avLst/>
          </a:prstGeom>
          <a:noFill/>
        </p:spPr>
        <p:txBody>
          <a:bodyPr wrap="square" lIns="0" rIns="0" tIns="0" bIns="0" anchor="t" rtlCol="0">
            <a:spAutoFit/>
          </a:bodyPr>
          <a:lstStyle/>
          <a:p>
            <a:pPr rtl="1" algn="r" marL="0" indent="0">
              <a:lnSpc>
                <a:spcPct val="108000"/>
              </a:lnSpc>
              <a:buNone/>
            </a:pPr>
            <a:r>
              <a:rPr sz="3700" b="1" i="0" lang="he-IL">
                <a:solidFill>
                  <a:srgbClr val="F2F5FA"/>
                </a:solidFill>
                <a:latin typeface="Arial"/>
                <a:cs typeface="Arial"/>
              </a:rPr>
              <a:t>איזה כלי למה? מדריך כיס</a:t>
            </a:r>
          </a:p>
        </p:txBody>
      </p:sp>
      <p:sp>
        <p:nvSpPr>
          <p:cNvPr id="3" name="TextBox 2"/>
          <p:cNvSpPr txBox="1"/>
          <p:nvPr/>
        </p:nvSpPr>
        <p:spPr>
          <a:xfrm>
            <a:off x="658368" y="1280160"/>
            <a:ext cx="10872216" cy="365760"/>
          </a:xfrm>
          <a:prstGeom prst="rect">
            <a:avLst/>
          </a:prstGeom>
          <a:noFill/>
        </p:spPr>
        <p:txBody>
          <a:bodyPr wrap="square" lIns="0" rIns="0" tIns="0" bIns="0" anchor="t" rtlCol="0">
            <a:spAutoFit/>
          </a:bodyPr>
          <a:lstStyle/>
          <a:p>
            <a:pPr rtl="1" algn="r" marL="0" indent="0">
              <a:lnSpc>
                <a:spcPct val="108000"/>
              </a:lnSpc>
              <a:buNone/>
            </a:pPr>
            <a:r>
              <a:rPr sz="1450" b="0" i="0" lang="he-IL">
                <a:solidFill>
                  <a:srgbClr val="A9B4C6"/>
                </a:solidFill>
                <a:latin typeface="Arial"/>
                <a:cs typeface="Arial"/>
              </a:rPr>
              <a:t>צלמו מסך (הרשימה גם נשלחת בצ'אט), זה יחסוך לכם הרבה ניסוי וטעייה</a:t>
            </a:r>
          </a:p>
        </p:txBody>
      </p:sp>
      <p:sp>
        <p:nvSpPr>
          <p:cNvPr id="4" name="Rounded Rectangle 3"/>
          <p:cNvSpPr/>
          <p:nvPr/>
        </p:nvSpPr>
        <p:spPr>
          <a:xfrm>
            <a:off x="6199632" y="1920240"/>
            <a:ext cx="5330952" cy="713232"/>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577072" y="1920240"/>
            <a:ext cx="2770632" cy="713232"/>
          </a:xfrm>
          <a:prstGeom prst="rect">
            <a:avLst/>
          </a:prstGeom>
          <a:noFill/>
        </p:spPr>
        <p:txBody>
          <a:bodyPr wrap="square" lIns="0" rIns="0" tIns="0" bIns="0" anchor="ctr" rtlCol="0">
            <a:spAutoFit/>
          </a:bodyPr>
          <a:lstStyle/>
          <a:p>
            <a:pPr rtl="1" algn="r" marL="0" indent="0">
              <a:lnSpc>
                <a:spcPct val="108000"/>
              </a:lnSpc>
              <a:buNone/>
            </a:pPr>
            <a:r>
              <a:rPr sz="1450" b="0" i="0" lang="he-IL">
                <a:solidFill>
                  <a:srgbClr val="EBEDF0"/>
                </a:solidFill>
                <a:latin typeface="Arial"/>
                <a:cs typeface="Arial"/>
              </a:rPr>
              <a:t>לנסח מייל רגיש ללקוח</a:t>
            </a:r>
          </a:p>
        </p:txBody>
      </p:sp>
      <p:sp>
        <p:nvSpPr>
          <p:cNvPr id="6" name="Rounded Rectangle 5"/>
          <p:cNvSpPr/>
          <p:nvPr/>
        </p:nvSpPr>
        <p:spPr>
          <a:xfrm>
            <a:off x="6336792" y="2048256"/>
            <a:ext cx="2148840" cy="457200"/>
          </a:xfrm>
          <a:prstGeom prst="roundRect">
            <a:avLst>
              <a:gd name="adj" fmla="val 20000"/>
            </a:avLst>
          </a:prstGeom>
          <a:solidFill>
            <a:srgbClr val="022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336792" y="2048256"/>
            <a:ext cx="2148840" cy="457200"/>
          </a:xfrm>
          <a:prstGeom prst="rect">
            <a:avLst/>
          </a:prstGeom>
          <a:noFill/>
        </p:spPr>
        <p:txBody>
          <a:bodyPr wrap="square" lIns="0" rIns="0" tIns="0" bIns="0" anchor="ctr" rtlCol="0">
            <a:spAutoFit/>
          </a:bodyPr>
          <a:lstStyle/>
          <a:p>
            <a:pPr rtl="1" algn="ctr" marL="0" indent="0">
              <a:lnSpc>
                <a:spcPct val="108000"/>
              </a:lnSpc>
              <a:buNone/>
            </a:pPr>
            <a:r>
              <a:rPr sz="1300" b="1" i="0" lang="he-IL">
                <a:solidFill>
                  <a:srgbClr val="6296FF"/>
                </a:solidFill>
                <a:latin typeface="Arial"/>
                <a:cs typeface="Arial"/>
              </a:rPr>
              <a:t>צ'אט ג'יפיטי / קלוד</a:t>
            </a:r>
          </a:p>
        </p:txBody>
      </p:sp>
      <p:sp>
        <p:nvSpPr>
          <p:cNvPr id="8" name="Rounded Rectangle 7"/>
          <p:cNvSpPr/>
          <p:nvPr/>
        </p:nvSpPr>
        <p:spPr>
          <a:xfrm>
            <a:off x="658368" y="1920240"/>
            <a:ext cx="5330952" cy="713232"/>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035808" y="1920240"/>
            <a:ext cx="2770632" cy="713232"/>
          </a:xfrm>
          <a:prstGeom prst="rect">
            <a:avLst/>
          </a:prstGeom>
          <a:noFill/>
        </p:spPr>
        <p:txBody>
          <a:bodyPr wrap="square" lIns="0" rIns="0" tIns="0" bIns="0" anchor="ctr" rtlCol="0">
            <a:spAutoFit/>
          </a:bodyPr>
          <a:lstStyle/>
          <a:p>
            <a:pPr rtl="1" algn="r" marL="0" indent="0">
              <a:lnSpc>
                <a:spcPct val="108000"/>
              </a:lnSpc>
              <a:buNone/>
            </a:pPr>
            <a:r>
              <a:rPr sz="1450" b="0" i="0" lang="he-IL">
                <a:solidFill>
                  <a:srgbClr val="EBEDF0"/>
                </a:solidFill>
                <a:latin typeface="Arial"/>
                <a:cs typeface="Arial"/>
              </a:rPr>
              <a:t>לנתח חוזה של 40 עמודים</a:t>
            </a:r>
          </a:p>
        </p:txBody>
      </p:sp>
      <p:sp>
        <p:nvSpPr>
          <p:cNvPr id="10" name="Rounded Rectangle 9"/>
          <p:cNvSpPr/>
          <p:nvPr/>
        </p:nvSpPr>
        <p:spPr>
          <a:xfrm>
            <a:off x="795528" y="2048256"/>
            <a:ext cx="2148840" cy="457200"/>
          </a:xfrm>
          <a:prstGeom prst="roundRect">
            <a:avLst>
              <a:gd name="adj" fmla="val 20000"/>
            </a:avLst>
          </a:prstGeom>
          <a:solidFill>
            <a:srgbClr val="022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95528" y="2048256"/>
            <a:ext cx="2148840" cy="457200"/>
          </a:xfrm>
          <a:prstGeom prst="rect">
            <a:avLst/>
          </a:prstGeom>
          <a:noFill/>
        </p:spPr>
        <p:txBody>
          <a:bodyPr wrap="square" lIns="0" rIns="0" tIns="0" bIns="0" anchor="ctr" rtlCol="0">
            <a:spAutoFit/>
          </a:bodyPr>
          <a:lstStyle/>
          <a:p>
            <a:pPr rtl="1" algn="ctr" marL="0" indent="0">
              <a:lnSpc>
                <a:spcPct val="108000"/>
              </a:lnSpc>
              <a:buNone/>
            </a:pPr>
            <a:r>
              <a:rPr sz="1300" b="1" i="0" lang="he-IL">
                <a:solidFill>
                  <a:srgbClr val="6296FF"/>
                </a:solidFill>
                <a:latin typeface="Arial"/>
                <a:cs typeface="Arial"/>
              </a:rPr>
              <a:t>קלוד</a:t>
            </a:r>
          </a:p>
        </p:txBody>
      </p:sp>
      <p:sp>
        <p:nvSpPr>
          <p:cNvPr id="12" name="Rounded Rectangle 11"/>
          <p:cNvSpPr/>
          <p:nvPr/>
        </p:nvSpPr>
        <p:spPr>
          <a:xfrm>
            <a:off x="6199632" y="2788920"/>
            <a:ext cx="5330952" cy="713232"/>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577072" y="2788920"/>
            <a:ext cx="2770632" cy="713232"/>
          </a:xfrm>
          <a:prstGeom prst="rect">
            <a:avLst/>
          </a:prstGeom>
          <a:noFill/>
        </p:spPr>
        <p:txBody>
          <a:bodyPr wrap="square" lIns="0" rIns="0" tIns="0" bIns="0" anchor="ctr" rtlCol="0">
            <a:spAutoFit/>
          </a:bodyPr>
          <a:lstStyle/>
          <a:p>
            <a:pPr rtl="1" algn="r" marL="0" indent="0">
              <a:lnSpc>
                <a:spcPct val="108000"/>
              </a:lnSpc>
              <a:buNone/>
            </a:pPr>
            <a:r>
              <a:rPr sz="1450" b="0" i="0" lang="he-IL">
                <a:solidFill>
                  <a:srgbClr val="EBEDF0"/>
                </a:solidFill>
                <a:latin typeface="Arial"/>
                <a:cs typeface="Arial"/>
              </a:rPr>
              <a:t>לסכם פגישה בטימס</a:t>
            </a:r>
          </a:p>
        </p:txBody>
      </p:sp>
      <p:sp>
        <p:nvSpPr>
          <p:cNvPr id="14" name="Rounded Rectangle 13"/>
          <p:cNvSpPr/>
          <p:nvPr/>
        </p:nvSpPr>
        <p:spPr>
          <a:xfrm>
            <a:off x="6336792" y="2916936"/>
            <a:ext cx="2148840" cy="457200"/>
          </a:xfrm>
          <a:prstGeom prst="roundRect">
            <a:avLst>
              <a:gd name="adj" fmla="val 20000"/>
            </a:avLst>
          </a:prstGeom>
          <a:solidFill>
            <a:srgbClr val="022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336792" y="2916936"/>
            <a:ext cx="2148840" cy="457200"/>
          </a:xfrm>
          <a:prstGeom prst="rect">
            <a:avLst/>
          </a:prstGeom>
          <a:noFill/>
        </p:spPr>
        <p:txBody>
          <a:bodyPr wrap="square" lIns="0" rIns="0" tIns="0" bIns="0" anchor="ctr" rtlCol="0">
            <a:spAutoFit/>
          </a:bodyPr>
          <a:lstStyle/>
          <a:p>
            <a:pPr rtl="1" algn="ctr" marL="0" indent="0">
              <a:lnSpc>
                <a:spcPct val="108000"/>
              </a:lnSpc>
              <a:buNone/>
            </a:pPr>
            <a:r>
              <a:rPr sz="1300" b="1" i="0" lang="he-IL">
                <a:solidFill>
                  <a:srgbClr val="6296FF"/>
                </a:solidFill>
                <a:latin typeface="Arial"/>
                <a:cs typeface="Arial"/>
              </a:rPr>
              <a:t>קופיילוט</a:t>
            </a:r>
          </a:p>
        </p:txBody>
      </p:sp>
      <p:sp>
        <p:nvSpPr>
          <p:cNvPr id="16" name="Rounded Rectangle 15"/>
          <p:cNvSpPr/>
          <p:nvPr/>
        </p:nvSpPr>
        <p:spPr>
          <a:xfrm>
            <a:off x="658368" y="2788920"/>
            <a:ext cx="5330952" cy="713232"/>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035808" y="2788920"/>
            <a:ext cx="2770632" cy="713232"/>
          </a:xfrm>
          <a:prstGeom prst="rect">
            <a:avLst/>
          </a:prstGeom>
          <a:noFill/>
        </p:spPr>
        <p:txBody>
          <a:bodyPr wrap="square" lIns="0" rIns="0" tIns="0" bIns="0" anchor="ctr" rtlCol="0">
            <a:spAutoFit/>
          </a:bodyPr>
          <a:lstStyle/>
          <a:p>
            <a:pPr rtl="1" algn="r" marL="0" indent="0">
              <a:lnSpc>
                <a:spcPct val="108000"/>
              </a:lnSpc>
              <a:buNone/>
            </a:pPr>
            <a:r>
              <a:rPr sz="1450" b="0" i="0" lang="he-IL">
                <a:solidFill>
                  <a:srgbClr val="EBEDF0"/>
                </a:solidFill>
                <a:latin typeface="Arial"/>
                <a:cs typeface="Arial"/>
              </a:rPr>
              <a:t>לבנות ניתוח בקובץ אקסל</a:t>
            </a:r>
          </a:p>
        </p:txBody>
      </p:sp>
      <p:sp>
        <p:nvSpPr>
          <p:cNvPr id="18" name="Rounded Rectangle 17"/>
          <p:cNvSpPr/>
          <p:nvPr/>
        </p:nvSpPr>
        <p:spPr>
          <a:xfrm>
            <a:off x="795528" y="2916936"/>
            <a:ext cx="2148840" cy="457200"/>
          </a:xfrm>
          <a:prstGeom prst="roundRect">
            <a:avLst>
              <a:gd name="adj" fmla="val 20000"/>
            </a:avLst>
          </a:prstGeom>
          <a:solidFill>
            <a:srgbClr val="022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95528" y="2916936"/>
            <a:ext cx="2148840" cy="457200"/>
          </a:xfrm>
          <a:prstGeom prst="rect">
            <a:avLst/>
          </a:prstGeom>
          <a:noFill/>
        </p:spPr>
        <p:txBody>
          <a:bodyPr wrap="square" lIns="0" rIns="0" tIns="0" bIns="0" anchor="ctr" rtlCol="0">
            <a:spAutoFit/>
          </a:bodyPr>
          <a:lstStyle/>
          <a:p>
            <a:pPr rtl="1" algn="ctr" marL="0" indent="0">
              <a:lnSpc>
                <a:spcPct val="108000"/>
              </a:lnSpc>
              <a:buNone/>
            </a:pPr>
            <a:r>
              <a:rPr sz="1300" b="1" i="0" lang="he-IL">
                <a:solidFill>
                  <a:srgbClr val="6296FF"/>
                </a:solidFill>
                <a:latin typeface="Arial"/>
                <a:cs typeface="Arial"/>
              </a:rPr>
              <a:t>קופיילוט / צ'אט ג'יפיטי</a:t>
            </a:r>
          </a:p>
        </p:txBody>
      </p:sp>
      <p:sp>
        <p:nvSpPr>
          <p:cNvPr id="20" name="Rounded Rectangle 19"/>
          <p:cNvSpPr/>
          <p:nvPr/>
        </p:nvSpPr>
        <p:spPr>
          <a:xfrm>
            <a:off x="6199632" y="3657600"/>
            <a:ext cx="5330952" cy="713232"/>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577072" y="3657600"/>
            <a:ext cx="2770632" cy="713232"/>
          </a:xfrm>
          <a:prstGeom prst="rect">
            <a:avLst/>
          </a:prstGeom>
          <a:noFill/>
        </p:spPr>
        <p:txBody>
          <a:bodyPr wrap="square" lIns="0" rIns="0" tIns="0" bIns="0" anchor="ctr" rtlCol="0">
            <a:spAutoFit/>
          </a:bodyPr>
          <a:lstStyle/>
          <a:p>
            <a:pPr rtl="1" algn="r" marL="0" indent="0">
              <a:lnSpc>
                <a:spcPct val="108000"/>
              </a:lnSpc>
              <a:buNone/>
            </a:pPr>
            <a:r>
              <a:rPr sz="1450" b="0" i="0" lang="he-IL">
                <a:solidFill>
                  <a:srgbClr val="EBEDF0"/>
                </a:solidFill>
                <a:latin typeface="Arial"/>
                <a:cs typeface="Arial"/>
              </a:rPr>
              <a:t>לבדוק מה חדש בתחום שלי</a:t>
            </a:r>
          </a:p>
        </p:txBody>
      </p:sp>
      <p:sp>
        <p:nvSpPr>
          <p:cNvPr id="22" name="Rounded Rectangle 21"/>
          <p:cNvSpPr/>
          <p:nvPr/>
        </p:nvSpPr>
        <p:spPr>
          <a:xfrm>
            <a:off x="6336792" y="3785615"/>
            <a:ext cx="2148840" cy="457200"/>
          </a:xfrm>
          <a:prstGeom prst="roundRect">
            <a:avLst>
              <a:gd name="adj" fmla="val 20000"/>
            </a:avLst>
          </a:prstGeom>
          <a:solidFill>
            <a:srgbClr val="022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36792" y="3785615"/>
            <a:ext cx="2148840" cy="457200"/>
          </a:xfrm>
          <a:prstGeom prst="rect">
            <a:avLst/>
          </a:prstGeom>
          <a:noFill/>
        </p:spPr>
        <p:txBody>
          <a:bodyPr wrap="square" lIns="0" rIns="0" tIns="0" bIns="0" anchor="ctr" rtlCol="0">
            <a:spAutoFit/>
          </a:bodyPr>
          <a:lstStyle/>
          <a:p>
            <a:pPr rtl="1" algn="ctr" marL="0" indent="0">
              <a:lnSpc>
                <a:spcPct val="108000"/>
              </a:lnSpc>
              <a:buNone/>
            </a:pPr>
            <a:r>
              <a:rPr sz="1300" b="1" i="0" lang="he-IL">
                <a:solidFill>
                  <a:srgbClr val="6296FF"/>
                </a:solidFill>
                <a:latin typeface="Arial"/>
                <a:cs typeface="Arial"/>
              </a:rPr>
              <a:t>ג'מיני / Perplexity</a:t>
            </a:r>
          </a:p>
        </p:txBody>
      </p:sp>
      <p:sp>
        <p:nvSpPr>
          <p:cNvPr id="24" name="Rounded Rectangle 23"/>
          <p:cNvSpPr/>
          <p:nvPr/>
        </p:nvSpPr>
        <p:spPr>
          <a:xfrm>
            <a:off x="658368" y="3657600"/>
            <a:ext cx="5330952" cy="713232"/>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3035808" y="3657600"/>
            <a:ext cx="2770632" cy="713232"/>
          </a:xfrm>
          <a:prstGeom prst="rect">
            <a:avLst/>
          </a:prstGeom>
          <a:noFill/>
        </p:spPr>
        <p:txBody>
          <a:bodyPr wrap="square" lIns="0" rIns="0" tIns="0" bIns="0" anchor="ctr" rtlCol="0">
            <a:spAutoFit/>
          </a:bodyPr>
          <a:lstStyle/>
          <a:p>
            <a:pPr rtl="1" algn="r" marL="0" indent="0">
              <a:lnSpc>
                <a:spcPct val="108000"/>
              </a:lnSpc>
              <a:buNone/>
            </a:pPr>
            <a:r>
              <a:rPr sz="1450" b="0" i="0" lang="he-IL">
                <a:solidFill>
                  <a:srgbClr val="EBEDF0"/>
                </a:solidFill>
                <a:latin typeface="Arial"/>
                <a:cs typeface="Arial"/>
              </a:rPr>
              <a:t>להכין תמונה לפוסט</a:t>
            </a:r>
          </a:p>
        </p:txBody>
      </p:sp>
      <p:sp>
        <p:nvSpPr>
          <p:cNvPr id="26" name="Rounded Rectangle 25"/>
          <p:cNvSpPr/>
          <p:nvPr/>
        </p:nvSpPr>
        <p:spPr>
          <a:xfrm>
            <a:off x="795528" y="3785615"/>
            <a:ext cx="2148840" cy="457200"/>
          </a:xfrm>
          <a:prstGeom prst="roundRect">
            <a:avLst>
              <a:gd name="adj" fmla="val 20000"/>
            </a:avLst>
          </a:prstGeom>
          <a:solidFill>
            <a:srgbClr val="022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5528" y="3785615"/>
            <a:ext cx="2148840" cy="457200"/>
          </a:xfrm>
          <a:prstGeom prst="rect">
            <a:avLst/>
          </a:prstGeom>
          <a:noFill/>
        </p:spPr>
        <p:txBody>
          <a:bodyPr wrap="square" lIns="0" rIns="0" tIns="0" bIns="0" anchor="ctr" rtlCol="0">
            <a:spAutoFit/>
          </a:bodyPr>
          <a:lstStyle/>
          <a:p>
            <a:pPr rtl="1" algn="ctr" marL="0" indent="0">
              <a:lnSpc>
                <a:spcPct val="108000"/>
              </a:lnSpc>
              <a:buNone/>
            </a:pPr>
            <a:r>
              <a:rPr sz="1300" b="1" i="0" lang="he-IL">
                <a:solidFill>
                  <a:srgbClr val="6296FF"/>
                </a:solidFill>
                <a:latin typeface="Arial"/>
                <a:cs typeface="Arial"/>
              </a:rPr>
              <a:t>צ'אט ג'יפיטי / ג'מיני</a:t>
            </a:r>
          </a:p>
        </p:txBody>
      </p:sp>
      <p:sp>
        <p:nvSpPr>
          <p:cNvPr id="28" name="Rounded Rectangle 27"/>
          <p:cNvSpPr/>
          <p:nvPr/>
        </p:nvSpPr>
        <p:spPr>
          <a:xfrm>
            <a:off x="6199632" y="4526279"/>
            <a:ext cx="5330952" cy="713232"/>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577072" y="4526279"/>
            <a:ext cx="2770632" cy="713232"/>
          </a:xfrm>
          <a:prstGeom prst="rect">
            <a:avLst/>
          </a:prstGeom>
          <a:noFill/>
        </p:spPr>
        <p:txBody>
          <a:bodyPr wrap="square" lIns="0" rIns="0" tIns="0" bIns="0" anchor="ctr" rtlCol="0">
            <a:spAutoFit/>
          </a:bodyPr>
          <a:lstStyle/>
          <a:p>
            <a:pPr rtl="1" algn="r" marL="0" indent="0">
              <a:lnSpc>
                <a:spcPct val="108000"/>
              </a:lnSpc>
              <a:buNone/>
            </a:pPr>
            <a:r>
              <a:rPr sz="1450" b="0" i="0" lang="he-IL">
                <a:solidFill>
                  <a:srgbClr val="EBEDF0"/>
                </a:solidFill>
                <a:latin typeface="Arial"/>
                <a:cs typeface="Arial"/>
              </a:rPr>
              <a:t>ללמוד חומר מהמסמכים שלי</a:t>
            </a:r>
          </a:p>
        </p:txBody>
      </p:sp>
      <p:sp>
        <p:nvSpPr>
          <p:cNvPr id="30" name="Rounded Rectangle 29"/>
          <p:cNvSpPr/>
          <p:nvPr/>
        </p:nvSpPr>
        <p:spPr>
          <a:xfrm>
            <a:off x="6336792" y="4654295"/>
            <a:ext cx="2148840" cy="457200"/>
          </a:xfrm>
          <a:prstGeom prst="roundRect">
            <a:avLst>
              <a:gd name="adj" fmla="val 20000"/>
            </a:avLst>
          </a:prstGeom>
          <a:solidFill>
            <a:srgbClr val="022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336792" y="4654295"/>
            <a:ext cx="2148840" cy="457200"/>
          </a:xfrm>
          <a:prstGeom prst="rect">
            <a:avLst/>
          </a:prstGeom>
          <a:noFill/>
        </p:spPr>
        <p:txBody>
          <a:bodyPr wrap="square" lIns="0" rIns="0" tIns="0" bIns="0" anchor="ctr" rtlCol="0">
            <a:spAutoFit/>
          </a:bodyPr>
          <a:lstStyle/>
          <a:p>
            <a:pPr rtl="1" algn="ctr" marL="0" indent="0">
              <a:lnSpc>
                <a:spcPct val="108000"/>
              </a:lnSpc>
              <a:buNone/>
            </a:pPr>
            <a:r>
              <a:rPr sz="1300" b="1" i="0" lang="he-IL">
                <a:solidFill>
                  <a:srgbClr val="6296FF"/>
                </a:solidFill>
                <a:latin typeface="Arial"/>
                <a:cs typeface="Arial"/>
              </a:rPr>
              <a:t>NotebookLM</a:t>
            </a:r>
          </a:p>
        </p:txBody>
      </p:sp>
      <p:sp>
        <p:nvSpPr>
          <p:cNvPr id="32" name="Rounded Rectangle 31"/>
          <p:cNvSpPr/>
          <p:nvPr/>
        </p:nvSpPr>
        <p:spPr>
          <a:xfrm>
            <a:off x="658368" y="4526279"/>
            <a:ext cx="5330952" cy="713232"/>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3035808" y="4526279"/>
            <a:ext cx="2770632" cy="713232"/>
          </a:xfrm>
          <a:prstGeom prst="rect">
            <a:avLst/>
          </a:prstGeom>
          <a:noFill/>
        </p:spPr>
        <p:txBody>
          <a:bodyPr wrap="square" lIns="0" rIns="0" tIns="0" bIns="0" anchor="ctr" rtlCol="0">
            <a:spAutoFit/>
          </a:bodyPr>
          <a:lstStyle/>
          <a:p>
            <a:pPr rtl="1" algn="r" marL="0" indent="0">
              <a:lnSpc>
                <a:spcPct val="108000"/>
              </a:lnSpc>
              <a:buNone/>
            </a:pPr>
            <a:r>
              <a:rPr sz="1450" b="0" i="0" lang="he-IL">
                <a:solidFill>
                  <a:srgbClr val="EBEDF0"/>
                </a:solidFill>
                <a:latin typeface="Arial"/>
                <a:cs typeface="Arial"/>
              </a:rPr>
              <a:t>להכין מצגת בדקה</a:t>
            </a:r>
          </a:p>
        </p:txBody>
      </p:sp>
      <p:sp>
        <p:nvSpPr>
          <p:cNvPr id="34" name="Rounded Rectangle 33"/>
          <p:cNvSpPr/>
          <p:nvPr/>
        </p:nvSpPr>
        <p:spPr>
          <a:xfrm>
            <a:off x="795528" y="4654295"/>
            <a:ext cx="2148840" cy="457200"/>
          </a:xfrm>
          <a:prstGeom prst="roundRect">
            <a:avLst>
              <a:gd name="adj" fmla="val 20000"/>
            </a:avLst>
          </a:prstGeom>
          <a:solidFill>
            <a:srgbClr val="022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95528" y="4654295"/>
            <a:ext cx="2148840" cy="457200"/>
          </a:xfrm>
          <a:prstGeom prst="rect">
            <a:avLst/>
          </a:prstGeom>
          <a:noFill/>
        </p:spPr>
        <p:txBody>
          <a:bodyPr wrap="square" lIns="0" rIns="0" tIns="0" bIns="0" anchor="ctr" rtlCol="0">
            <a:spAutoFit/>
          </a:bodyPr>
          <a:lstStyle/>
          <a:p>
            <a:pPr rtl="1" algn="ctr" marL="0" indent="0">
              <a:lnSpc>
                <a:spcPct val="108000"/>
              </a:lnSpc>
              <a:buNone/>
            </a:pPr>
            <a:r>
              <a:rPr sz="1300" b="1" i="0" lang="he-IL">
                <a:solidFill>
                  <a:srgbClr val="6296FF"/>
                </a:solidFill>
                <a:latin typeface="Arial"/>
                <a:cs typeface="Arial"/>
              </a:rPr>
              <a:t>Gamma</a:t>
            </a:r>
          </a:p>
        </p:txBody>
      </p:sp>
      <p:sp>
        <p:nvSpPr>
          <p:cNvPr id="36" name="Rounded Rectangle 35"/>
          <p:cNvSpPr/>
          <p:nvPr/>
        </p:nvSpPr>
        <p:spPr>
          <a:xfrm>
            <a:off x="658368" y="5532120"/>
            <a:ext cx="10872216" cy="640080"/>
          </a:xfrm>
          <a:prstGeom prst="roundRect">
            <a:avLst>
              <a:gd name="adj" fmla="val 3000"/>
            </a:avLst>
          </a:prstGeom>
          <a:solidFill>
            <a:srgbClr val="022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86968" y="5532120"/>
            <a:ext cx="10415016" cy="640080"/>
          </a:xfrm>
          <a:prstGeom prst="rect">
            <a:avLst/>
          </a:prstGeom>
          <a:noFill/>
        </p:spPr>
        <p:txBody>
          <a:bodyPr wrap="square" lIns="0" rIns="0" tIns="0" bIns="0" anchor="ctr" rtlCol="0">
            <a:spAutoFit/>
          </a:bodyPr>
          <a:lstStyle/>
          <a:p>
            <a:pPr rtl="1" algn="r" marL="0" indent="0">
              <a:lnSpc>
                <a:spcPct val="108000"/>
              </a:lnSpc>
              <a:buNone/>
            </a:pPr>
            <a:r>
              <a:rPr sz="1450" b="0" i="0" lang="he-IL">
                <a:solidFill>
                  <a:srgbClr val="EBEDF0"/>
                </a:solidFill>
                <a:latin typeface="Arial"/>
                <a:cs typeface="Arial"/>
              </a:rPr>
              <a:t>🎯  אין כלי אחד שמנצח בכל. משתמשים מקצועיים עובדים עם שניים או שלושה כלים קבועים.</a:t>
            </a:r>
          </a:p>
        </p:txBody>
      </p:sp>
      <p:sp>
        <p:nvSpPr>
          <p:cNvPr id="38" name="TextBox 37"/>
          <p:cNvSpPr txBox="1"/>
          <p:nvPr/>
        </p:nvSpPr>
        <p:spPr>
          <a:xfrm>
            <a:off x="6675120" y="6473952"/>
            <a:ext cx="4846320" cy="292608"/>
          </a:xfrm>
          <a:prstGeom prst="rect">
            <a:avLst/>
          </a:prstGeom>
          <a:noFill/>
        </p:spPr>
        <p:txBody>
          <a:bodyPr wrap="none" lIns="0" rIns="0" tIns="0" bIns="0">
            <a:spAutoFit/>
          </a:bodyPr>
          <a:lstStyle/>
          <a:p>
            <a:pPr algn="r" rtl="1"/>
            <a:r>
              <a:rPr sz="1000">
                <a:solidFill>
                  <a:srgbClr val="8A96AA"/>
                </a:solidFill>
                <a:latin typeface="Arial"/>
                <a:cs typeface="Arial"/>
              </a:rPr>
              <a:t>© נערך על ידי AI Finance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eg"/>
          <p:cNvPicPr>
            <a:picLocks noChangeAspect="1"/>
          </p:cNvPicPr>
          <p:nvPr/>
        </p:nvPicPr>
        <p:blipFill>
          <a:blip r:embed="rId2"/>
          <a:stretch>
            <a:fillRect/>
          </a:stretch>
        </p:blipFill>
        <p:spPr>
          <a:xfrm>
            <a:off x="0" y="0"/>
            <a:ext cx="4800480" cy="6858000"/>
          </a:xfrm>
          <a:custGeom>
            <a:avLst/>
            <a:gdLst/>
            <a:ahLst/>
            <a:cxnLst/>
            <a:rect l="0" t="0" r="100000" b="100000"/>
            <a:pathLst>
              <a:path w="100000" h="100000">
                <a:moveTo>
                  <a:pt x="0" y="0"/>
                </a:moveTo>
                <a:lnTo>
                  <a:pt x="90530" y="100"/>
                </a:lnTo>
                <a:lnTo>
                  <a:pt x="93070" y="6350"/>
                </a:lnTo>
                <a:lnTo>
                  <a:pt x="94920" y="12210"/>
                </a:lnTo>
                <a:lnTo>
                  <a:pt x="96680" y="19820"/>
                </a:lnTo>
                <a:lnTo>
                  <a:pt x="97560" y="25880"/>
                </a:lnTo>
                <a:lnTo>
                  <a:pt x="97950" y="30960"/>
                </a:lnTo>
                <a:lnTo>
                  <a:pt x="97950" y="39060"/>
                </a:lnTo>
                <a:lnTo>
                  <a:pt x="97270" y="46480"/>
                </a:lnTo>
                <a:lnTo>
                  <a:pt x="96190" y="52640"/>
                </a:lnTo>
                <a:lnTo>
                  <a:pt x="94730" y="58500"/>
                </a:lnTo>
                <a:lnTo>
                  <a:pt x="92480" y="65230"/>
                </a:lnTo>
                <a:lnTo>
                  <a:pt x="89550" y="72070"/>
                </a:lnTo>
                <a:lnTo>
                  <a:pt x="86820" y="77340"/>
                </a:lnTo>
                <a:lnTo>
                  <a:pt x="83500" y="82810"/>
                </a:lnTo>
                <a:lnTo>
                  <a:pt x="79200" y="88870"/>
                </a:lnTo>
                <a:lnTo>
                  <a:pt x="75880" y="92770"/>
                </a:lnTo>
                <a:lnTo>
                  <a:pt x="75880" y="92970"/>
                </a:lnTo>
                <a:lnTo>
                  <a:pt x="74510" y="94340"/>
                </a:lnTo>
                <a:lnTo>
                  <a:pt x="74510" y="94530"/>
                </a:lnTo>
                <a:lnTo>
                  <a:pt x="69240" y="100000"/>
                </a:lnTo>
                <a:lnTo>
                  <a:pt x="0" y="100000"/>
                </a:lnTo>
                <a:close/>
              </a:path>
            </a:pathLst>
          </a:custGeom>
        </p:spPr>
      </p:pic>
      <p:sp>
        <p:nvSpPr>
          <p:cNvPr id="3" name="TextBox 2"/>
          <p:cNvSpPr txBox="1"/>
          <p:nvPr/>
        </p:nvSpPr>
        <p:spPr>
          <a:xfrm>
            <a:off x="5230368" y="2148840"/>
            <a:ext cx="6300216" cy="274320"/>
          </a:xfrm>
          <a:prstGeom prst="rect">
            <a:avLst/>
          </a:prstGeom>
          <a:noFill/>
        </p:spPr>
        <p:txBody>
          <a:bodyPr wrap="square" lIns="0" rIns="0" tIns="0" bIns="0" anchor="t" rtlCol="0">
            <a:spAutoFit/>
          </a:bodyPr>
          <a:lstStyle/>
          <a:p>
            <a:pPr rtl="1" algn="r" marL="0" indent="0">
              <a:lnSpc>
                <a:spcPct val="108000"/>
              </a:lnSpc>
              <a:buNone/>
            </a:pPr>
            <a:r>
              <a:rPr sz="1450" b="1" i="0" lang="he-IL">
                <a:solidFill>
                  <a:srgbClr val="6296FF"/>
                </a:solidFill>
                <a:latin typeface="Arial"/>
                <a:cs typeface="Arial"/>
              </a:rPr>
              <a:t>חלק 4</a:t>
            </a:r>
          </a:p>
        </p:txBody>
      </p:sp>
      <p:sp>
        <p:nvSpPr>
          <p:cNvPr id="4" name="TextBox 3"/>
          <p:cNvSpPr txBox="1"/>
          <p:nvPr/>
        </p:nvSpPr>
        <p:spPr>
          <a:xfrm>
            <a:off x="5230368" y="2514600"/>
            <a:ext cx="6300216" cy="731520"/>
          </a:xfrm>
          <a:prstGeom prst="rect">
            <a:avLst/>
          </a:prstGeom>
          <a:noFill/>
        </p:spPr>
        <p:txBody>
          <a:bodyPr wrap="square" lIns="0" rIns="0" tIns="0" bIns="0" anchor="t" rtlCol="0">
            <a:spAutoFit/>
          </a:bodyPr>
          <a:lstStyle/>
          <a:p>
            <a:pPr rtl="1" algn="r" marL="0" indent="0">
              <a:lnSpc>
                <a:spcPct val="108000"/>
              </a:lnSpc>
              <a:buNone/>
            </a:pPr>
            <a:r>
              <a:rPr sz="4000" b="1" i="0" lang="he-IL">
                <a:solidFill>
                  <a:srgbClr val="F2F5FA"/>
                </a:solidFill>
                <a:latin typeface="Arial"/>
                <a:cs typeface="Arial"/>
              </a:rPr>
              <a:t>מעבר לצ'אט: ארגז הכלים</a:t>
            </a:r>
          </a:p>
        </p:txBody>
      </p:sp>
      <p:sp>
        <p:nvSpPr>
          <p:cNvPr id="5" name="TextBox 4"/>
          <p:cNvSpPr txBox="1"/>
          <p:nvPr/>
        </p:nvSpPr>
        <p:spPr>
          <a:xfrm>
            <a:off x="5230368" y="3383280"/>
            <a:ext cx="6300216" cy="365760"/>
          </a:xfrm>
          <a:prstGeom prst="rect">
            <a:avLst/>
          </a:prstGeom>
          <a:noFill/>
        </p:spPr>
        <p:txBody>
          <a:bodyPr wrap="square" lIns="0" rIns="0" tIns="0" bIns="0" anchor="t" rtlCol="0">
            <a:spAutoFit/>
          </a:bodyPr>
          <a:lstStyle/>
          <a:p>
            <a:pPr rtl="1" algn="r" marL="0" indent="0">
              <a:lnSpc>
                <a:spcPct val="108000"/>
              </a:lnSpc>
              <a:buNone/>
            </a:pPr>
            <a:r>
              <a:rPr sz="1800" b="0" i="0" lang="he-IL">
                <a:solidFill>
                  <a:srgbClr val="EBEDF0"/>
                </a:solidFill>
                <a:latin typeface="Arial"/>
                <a:cs typeface="Arial"/>
              </a:rPr>
              <a:t>תמונה · וידאו · קול · מחקר · בנייה</a:t>
            </a:r>
          </a:p>
        </p:txBody>
      </p:sp>
      <p:sp>
        <p:nvSpPr>
          <p:cNvPr id="6" name="Rounded Rectangle 5"/>
          <p:cNvSpPr/>
          <p:nvPr/>
        </p:nvSpPr>
        <p:spPr>
          <a:xfrm>
            <a:off x="5230368" y="4160520"/>
            <a:ext cx="6300216" cy="868680"/>
          </a:xfrm>
          <a:prstGeom prst="roundRect">
            <a:avLst>
              <a:gd name="adj" fmla="val 3000"/>
            </a:avLst>
          </a:prstGeom>
          <a:solidFill>
            <a:srgbClr val="022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58968" y="4160520"/>
            <a:ext cx="5843016" cy="868680"/>
          </a:xfrm>
          <a:prstGeom prst="rect">
            <a:avLst/>
          </a:prstGeom>
          <a:noFill/>
        </p:spPr>
        <p:txBody>
          <a:bodyPr wrap="square" lIns="0" rIns="0" tIns="0" bIns="0" anchor="ctr" rtlCol="0">
            <a:spAutoFit/>
          </a:bodyPr>
          <a:lstStyle/>
          <a:p>
            <a:pPr rtl="1" algn="r" marL="0" indent="0">
              <a:lnSpc>
                <a:spcPct val="108000"/>
              </a:lnSpc>
              <a:buNone/>
            </a:pPr>
            <a:r>
              <a:rPr sz="1450" b="0" i="0" lang="he-IL">
                <a:solidFill>
                  <a:srgbClr val="EBEDF0"/>
                </a:solidFill>
                <a:latin typeface="Arial"/>
                <a:cs typeface="Arial"/>
              </a:rPr>
              <a:t>✨  כאן מתחיל החלק הכיפי: כלים שיוצרים דברים שלפני שלוש שנים דרשו סטודיו שלם.</a:t>
            </a:r>
          </a:p>
        </p:txBody>
      </p:sp>
      <p:sp>
        <p:nvSpPr>
          <p:cNvPr id="8" name="TextBox 7"/>
          <p:cNvSpPr txBox="1"/>
          <p:nvPr/>
        </p:nvSpPr>
        <p:spPr>
          <a:xfrm>
            <a:off x="6675120" y="6473952"/>
            <a:ext cx="4846320" cy="292608"/>
          </a:xfrm>
          <a:prstGeom prst="rect">
            <a:avLst/>
          </a:prstGeom>
          <a:noFill/>
        </p:spPr>
        <p:txBody>
          <a:bodyPr wrap="none" lIns="0" rIns="0" tIns="0" bIns="0">
            <a:spAutoFit/>
          </a:bodyPr>
          <a:lstStyle/>
          <a:p>
            <a:pPr algn="r" rtl="1"/>
            <a:r>
              <a:rPr sz="1000">
                <a:solidFill>
                  <a:srgbClr val="8A96AA"/>
                </a:solidFill>
                <a:latin typeface="Arial"/>
                <a:cs typeface="Arial"/>
              </a:rPr>
              <a:t>© נערך על ידי AI Finance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02920"/>
            <a:ext cx="10872216" cy="640080"/>
          </a:xfrm>
          <a:prstGeom prst="rect">
            <a:avLst/>
          </a:prstGeom>
          <a:noFill/>
        </p:spPr>
        <p:txBody>
          <a:bodyPr wrap="square" lIns="0" rIns="0" tIns="0" bIns="0" anchor="t" rtlCol="0">
            <a:spAutoFit/>
          </a:bodyPr>
          <a:lstStyle/>
          <a:p>
            <a:pPr rtl="1" algn="r" marL="0" indent="0">
              <a:lnSpc>
                <a:spcPct val="108000"/>
              </a:lnSpc>
              <a:buNone/>
            </a:pPr>
            <a:r>
              <a:rPr sz="3700" b="1" i="0" lang="he-IL">
                <a:solidFill>
                  <a:srgbClr val="F2F5FA"/>
                </a:solidFill>
                <a:latin typeface="Arial"/>
                <a:cs typeface="Arial"/>
              </a:rPr>
              <a:t>🎨 תמונות: מתיאור במילים לתמונה</a:t>
            </a:r>
          </a:p>
        </p:txBody>
      </p:sp>
      <p:sp>
        <p:nvSpPr>
          <p:cNvPr id="3" name="TextBox 2"/>
          <p:cNvSpPr txBox="1"/>
          <p:nvPr/>
        </p:nvSpPr>
        <p:spPr>
          <a:xfrm>
            <a:off x="658368" y="1280160"/>
            <a:ext cx="10872216" cy="365760"/>
          </a:xfrm>
          <a:prstGeom prst="rect">
            <a:avLst/>
          </a:prstGeom>
          <a:noFill/>
        </p:spPr>
        <p:txBody>
          <a:bodyPr wrap="square" lIns="0" rIns="0" tIns="0" bIns="0" anchor="t" rtlCol="0">
            <a:spAutoFit/>
          </a:bodyPr>
          <a:lstStyle/>
          <a:p>
            <a:pPr rtl="1" algn="r" marL="0" indent="0">
              <a:lnSpc>
                <a:spcPct val="108000"/>
              </a:lnSpc>
              <a:buNone/>
            </a:pPr>
            <a:r>
              <a:rPr sz="1450" b="0" i="0" lang="he-IL">
                <a:solidFill>
                  <a:srgbClr val="A9B4C6"/>
                </a:solidFill>
                <a:latin typeface="Arial"/>
                <a:cs typeface="Arial"/>
              </a:rPr>
              <a:t>כותבים מה רוצים לראות, ומקבלים תמונה תוך שניות</a:t>
            </a:r>
          </a:p>
        </p:txBody>
      </p:sp>
      <p:sp>
        <p:nvSpPr>
          <p:cNvPr id="4" name="Rounded Rectangle 3"/>
          <p:cNvSpPr/>
          <p:nvPr/>
        </p:nvSpPr>
        <p:spPr>
          <a:xfrm>
            <a:off x="8833104" y="1920240"/>
            <a:ext cx="2697480" cy="1627632"/>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034272" y="2121408"/>
            <a:ext cx="2295144" cy="365760"/>
          </a:xfrm>
          <a:prstGeom prst="rect">
            <a:avLst/>
          </a:prstGeom>
          <a:noFill/>
        </p:spPr>
        <p:txBody>
          <a:bodyPr wrap="square" lIns="0" rIns="0" tIns="0" bIns="0" anchor="t" rtlCol="0">
            <a:spAutoFit/>
          </a:bodyPr>
          <a:lstStyle/>
          <a:p>
            <a:pPr rtl="1" algn="r" marL="0" indent="0">
              <a:lnSpc>
                <a:spcPct val="108000"/>
              </a:lnSpc>
              <a:buNone/>
            </a:pPr>
            <a:r>
              <a:rPr sz="1550" b="1" i="0" lang="he-IL">
                <a:solidFill>
                  <a:srgbClr val="EBEDF0"/>
                </a:solidFill>
                <a:latin typeface="Arial"/>
                <a:cs typeface="Arial"/>
              </a:rPr>
              <a:t>צ'אט ג'יפיטי</a:t>
            </a:r>
          </a:p>
        </p:txBody>
      </p:sp>
      <p:sp>
        <p:nvSpPr>
          <p:cNvPr id="6" name="TextBox 5"/>
          <p:cNvSpPr txBox="1"/>
          <p:nvPr/>
        </p:nvSpPr>
        <p:spPr>
          <a:xfrm>
            <a:off x="9034272" y="2532888"/>
            <a:ext cx="2295144" cy="894283"/>
          </a:xfrm>
          <a:prstGeom prst="rect">
            <a:avLst/>
          </a:prstGeom>
          <a:noFill/>
        </p:spPr>
        <p:txBody>
          <a:bodyPr wrap="square" lIns="0" rIns="0" tIns="0" bIns="0" anchor="t" rtlCol="0">
            <a:spAutoFit/>
          </a:bodyPr>
          <a:lstStyle/>
          <a:p>
            <a:pPr rtl="1" algn="r" marL="0" indent="0">
              <a:lnSpc>
                <a:spcPct val="108000"/>
              </a:lnSpc>
              <a:buNone/>
            </a:pPr>
            <a:r>
              <a:rPr sz="1300" b="0" i="0" lang="he-IL">
                <a:solidFill>
                  <a:srgbClr val="EBEDF0"/>
                </a:solidFill>
                <a:latin typeface="Arial"/>
                <a:cs typeface="Arial"/>
              </a:rPr>
              <a:t>יוצר ועורך תמונות תוך כדי שיחה. "תעשה את הרקע כחול" וזה קורה</a:t>
            </a:r>
          </a:p>
        </p:txBody>
      </p:sp>
      <p:sp>
        <p:nvSpPr>
          <p:cNvPr id="7" name="Rounded Rectangle 6"/>
          <p:cNvSpPr/>
          <p:nvPr/>
        </p:nvSpPr>
        <p:spPr>
          <a:xfrm>
            <a:off x="6016752" y="1920240"/>
            <a:ext cx="2697480" cy="1627632"/>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217920" y="2121408"/>
            <a:ext cx="2295144" cy="365760"/>
          </a:xfrm>
          <a:prstGeom prst="rect">
            <a:avLst/>
          </a:prstGeom>
          <a:noFill/>
        </p:spPr>
        <p:txBody>
          <a:bodyPr wrap="square" lIns="0" rIns="0" tIns="0" bIns="0" anchor="t" rtlCol="0">
            <a:spAutoFit/>
          </a:bodyPr>
          <a:lstStyle/>
          <a:p>
            <a:pPr rtl="1" algn="r" marL="0" indent="0">
              <a:lnSpc>
                <a:spcPct val="108000"/>
              </a:lnSpc>
              <a:buNone/>
            </a:pPr>
            <a:r>
              <a:rPr sz="1550" b="1" i="0" lang="he-IL">
                <a:solidFill>
                  <a:srgbClr val="EBEDF0"/>
                </a:solidFill>
                <a:latin typeface="Arial"/>
                <a:cs typeface="Arial"/>
              </a:rPr>
              <a:t>ג'מיני</a:t>
            </a:r>
          </a:p>
        </p:txBody>
      </p:sp>
      <p:sp>
        <p:nvSpPr>
          <p:cNvPr id="9" name="TextBox 8"/>
          <p:cNvSpPr txBox="1"/>
          <p:nvPr/>
        </p:nvSpPr>
        <p:spPr>
          <a:xfrm>
            <a:off x="6217920" y="2532888"/>
            <a:ext cx="2295144" cy="894283"/>
          </a:xfrm>
          <a:prstGeom prst="rect">
            <a:avLst/>
          </a:prstGeom>
          <a:noFill/>
        </p:spPr>
        <p:txBody>
          <a:bodyPr wrap="square" lIns="0" rIns="0" tIns="0" bIns="0" anchor="t" rtlCol="0">
            <a:spAutoFit/>
          </a:bodyPr>
          <a:lstStyle/>
          <a:p>
            <a:pPr rtl="1" algn="r" marL="0" indent="0">
              <a:lnSpc>
                <a:spcPct val="108000"/>
              </a:lnSpc>
              <a:buNone/>
            </a:pPr>
            <a:r>
              <a:rPr sz="1300" b="0" i="0" lang="he-IL">
                <a:solidFill>
                  <a:srgbClr val="EBEDF0"/>
                </a:solidFill>
                <a:latin typeface="Arial"/>
                <a:cs typeface="Arial"/>
              </a:rPr>
              <a:t>מצוין בעריכת תמונות קיימות ובשמירה על אותה דמות לאורך כמה תמונות</a:t>
            </a:r>
          </a:p>
        </p:txBody>
      </p:sp>
      <p:sp>
        <p:nvSpPr>
          <p:cNvPr id="10" name="Rounded Rectangle 9"/>
          <p:cNvSpPr/>
          <p:nvPr/>
        </p:nvSpPr>
        <p:spPr>
          <a:xfrm>
            <a:off x="8833104" y="3703320"/>
            <a:ext cx="2697480" cy="1627632"/>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034272" y="3904487"/>
            <a:ext cx="2295144" cy="365760"/>
          </a:xfrm>
          <a:prstGeom prst="rect">
            <a:avLst/>
          </a:prstGeom>
          <a:noFill/>
        </p:spPr>
        <p:txBody>
          <a:bodyPr wrap="square" lIns="0" rIns="0" tIns="0" bIns="0" anchor="t" rtlCol="0">
            <a:spAutoFit/>
          </a:bodyPr>
          <a:lstStyle/>
          <a:p>
            <a:pPr rtl="1" algn="r" marL="0" indent="0">
              <a:lnSpc>
                <a:spcPct val="108000"/>
              </a:lnSpc>
              <a:buNone/>
            </a:pPr>
            <a:r>
              <a:rPr sz="1550" b="1" i="0" lang="he-IL">
                <a:solidFill>
                  <a:srgbClr val="EBEDF0"/>
                </a:solidFill>
                <a:latin typeface="Arial"/>
                <a:cs typeface="Arial"/>
              </a:rPr>
              <a:t>מידג'רני (Midjourney)</a:t>
            </a:r>
          </a:p>
        </p:txBody>
      </p:sp>
      <p:sp>
        <p:nvSpPr>
          <p:cNvPr id="12" name="TextBox 11"/>
          <p:cNvSpPr txBox="1"/>
          <p:nvPr/>
        </p:nvSpPr>
        <p:spPr>
          <a:xfrm>
            <a:off x="9034272" y="4315968"/>
            <a:ext cx="2295144" cy="894283"/>
          </a:xfrm>
          <a:prstGeom prst="rect">
            <a:avLst/>
          </a:prstGeom>
          <a:noFill/>
        </p:spPr>
        <p:txBody>
          <a:bodyPr wrap="square" lIns="0" rIns="0" tIns="0" bIns="0" anchor="t" rtlCol="0">
            <a:spAutoFit/>
          </a:bodyPr>
          <a:lstStyle/>
          <a:p>
            <a:pPr rtl="1" algn="r" marL="0" indent="0">
              <a:lnSpc>
                <a:spcPct val="108000"/>
              </a:lnSpc>
              <a:buNone/>
            </a:pPr>
            <a:r>
              <a:rPr sz="1300" b="0" i="0" lang="he-IL">
                <a:solidFill>
                  <a:srgbClr val="EBEDF0"/>
                </a:solidFill>
                <a:latin typeface="Arial"/>
                <a:cs typeface="Arial"/>
              </a:rPr>
              <a:t>האומנותי מכולם. מראה קולנועי ומרשים, בתשלום בלבד</a:t>
            </a:r>
          </a:p>
        </p:txBody>
      </p:sp>
      <p:sp>
        <p:nvSpPr>
          <p:cNvPr id="13" name="Rounded Rectangle 12"/>
          <p:cNvSpPr/>
          <p:nvPr/>
        </p:nvSpPr>
        <p:spPr>
          <a:xfrm>
            <a:off x="6016752" y="3703320"/>
            <a:ext cx="2697480" cy="1627632"/>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217920" y="3904487"/>
            <a:ext cx="2295144" cy="365760"/>
          </a:xfrm>
          <a:prstGeom prst="rect">
            <a:avLst/>
          </a:prstGeom>
          <a:noFill/>
        </p:spPr>
        <p:txBody>
          <a:bodyPr wrap="square" lIns="0" rIns="0" tIns="0" bIns="0" anchor="t" rtlCol="0">
            <a:spAutoFit/>
          </a:bodyPr>
          <a:lstStyle/>
          <a:p>
            <a:pPr rtl="1" algn="r" marL="0" indent="0">
              <a:lnSpc>
                <a:spcPct val="108000"/>
              </a:lnSpc>
              <a:buNone/>
            </a:pPr>
            <a:r>
              <a:rPr sz="1550" b="1" i="0" lang="he-IL">
                <a:solidFill>
                  <a:srgbClr val="EBEDF0"/>
                </a:solidFill>
                <a:latin typeface="Arial"/>
                <a:cs typeface="Arial"/>
              </a:rPr>
              <a:t>קנבה (Canva)</a:t>
            </a:r>
          </a:p>
        </p:txBody>
      </p:sp>
      <p:sp>
        <p:nvSpPr>
          <p:cNvPr id="15" name="TextBox 14"/>
          <p:cNvSpPr txBox="1"/>
          <p:nvPr/>
        </p:nvSpPr>
        <p:spPr>
          <a:xfrm>
            <a:off x="6217920" y="4315968"/>
            <a:ext cx="2295144" cy="894283"/>
          </a:xfrm>
          <a:prstGeom prst="rect">
            <a:avLst/>
          </a:prstGeom>
          <a:noFill/>
        </p:spPr>
        <p:txBody>
          <a:bodyPr wrap="square" lIns="0" rIns="0" tIns="0" bIns="0" anchor="t" rtlCol="0">
            <a:spAutoFit/>
          </a:bodyPr>
          <a:lstStyle/>
          <a:p>
            <a:pPr rtl="1" algn="r" marL="0" indent="0">
              <a:lnSpc>
                <a:spcPct val="108000"/>
              </a:lnSpc>
              <a:buNone/>
            </a:pPr>
            <a:r>
              <a:rPr sz="1300" b="0" i="0" lang="he-IL">
                <a:solidFill>
                  <a:srgbClr val="EBEDF0"/>
                </a:solidFill>
                <a:latin typeface="Arial"/>
                <a:cs typeface="Arial"/>
              </a:rPr>
              <a:t>יוצר תמונה ומכניס אותה ישר לעיצוב: פוסט, הזמנה, פלאייר</a:t>
            </a:r>
          </a:p>
        </p:txBody>
      </p:sp>
      <p:sp>
        <p:nvSpPr>
          <p:cNvPr id="16" name="Rounded Rectangle 15"/>
          <p:cNvSpPr/>
          <p:nvPr/>
        </p:nvSpPr>
        <p:spPr>
          <a:xfrm>
            <a:off x="658368" y="1920240"/>
            <a:ext cx="5074920" cy="3410712"/>
          </a:xfrm>
          <a:prstGeom prst="roundRect">
            <a:avLst>
              <a:gd name="adj" fmla="val 3000"/>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68680" y="2103120"/>
            <a:ext cx="4663440" cy="365760"/>
          </a:xfrm>
          <a:prstGeom prst="rect">
            <a:avLst/>
          </a:prstGeom>
          <a:noFill/>
        </p:spPr>
        <p:txBody>
          <a:bodyPr wrap="square" lIns="0" rIns="0" tIns="0" bIns="0" anchor="t" rtlCol="0">
            <a:spAutoFit/>
          </a:bodyPr>
          <a:lstStyle/>
          <a:p>
            <a:pPr rtl="1" algn="r" marL="0" indent="0">
              <a:lnSpc>
                <a:spcPct val="108000"/>
              </a:lnSpc>
              <a:buNone/>
            </a:pPr>
            <a:r>
              <a:rPr sz="1600" b="1" i="0" lang="he-IL">
                <a:solidFill>
                  <a:srgbClr val="F2F5FA"/>
                </a:solidFill>
                <a:latin typeface="Arial"/>
                <a:cs typeface="Arial"/>
              </a:rPr>
              <a:t>🎯 נסו עכשיו (ההנחיה מחכה לכם בצ'אט):</a:t>
            </a:r>
          </a:p>
        </p:txBody>
      </p:sp>
      <p:sp>
        <p:nvSpPr>
          <p:cNvPr id="18" name="TextBox 17"/>
          <p:cNvSpPr txBox="1"/>
          <p:nvPr/>
        </p:nvSpPr>
        <p:spPr>
          <a:xfrm>
            <a:off x="868680" y="2697480"/>
            <a:ext cx="4663440" cy="1828800"/>
          </a:xfrm>
          <a:prstGeom prst="rect">
            <a:avLst/>
          </a:prstGeom>
          <a:noFill/>
        </p:spPr>
        <p:txBody>
          <a:bodyPr wrap="square" lIns="0" rIns="0" tIns="0" bIns="0" anchor="t" rtlCol="0">
            <a:spAutoFit/>
          </a:bodyPr>
          <a:lstStyle/>
          <a:p>
            <a:pPr rtl="1" algn="r" marL="0" indent="0">
              <a:lnSpc>
                <a:spcPct val="125000"/>
              </a:lnSpc>
              <a:buNone/>
            </a:pPr>
            <a:r>
              <a:rPr sz="1500" b="0" i="0" lang="he-IL">
                <a:solidFill>
                  <a:srgbClr val="EBEDF0"/>
                </a:solidFill>
                <a:latin typeface="Arial"/>
                <a:cs typeface="Arial"/>
              </a:rPr>
              <a:t>"צור תמונה של חתול ג'ינג'י בחליפת אסטרונאוט, יושב על הירח ושותה הפוך מכוס זכוכית. כדור הארץ ברקע. סגנון סרט אנימציה, תאורה חמימה."</a:t>
            </a:r>
          </a:p>
        </p:txBody>
      </p:sp>
      <p:sp>
        <p:nvSpPr>
          <p:cNvPr id="19" name="TextBox 18"/>
          <p:cNvSpPr txBox="1"/>
          <p:nvPr/>
        </p:nvSpPr>
        <p:spPr>
          <a:xfrm>
            <a:off x="868680" y="4572000"/>
            <a:ext cx="4663440" cy="548640"/>
          </a:xfrm>
          <a:prstGeom prst="rect">
            <a:avLst/>
          </a:prstGeom>
          <a:noFill/>
        </p:spPr>
        <p:txBody>
          <a:bodyPr wrap="square" lIns="0" rIns="0" tIns="0" bIns="0" anchor="t" rtlCol="0">
            <a:spAutoFit/>
          </a:bodyPr>
          <a:lstStyle/>
          <a:p>
            <a:pPr rtl="1" algn="r" marL="0" indent="0">
              <a:lnSpc>
                <a:spcPct val="108000"/>
              </a:lnSpc>
              <a:buNone/>
            </a:pPr>
            <a:r>
              <a:rPr sz="1350" b="1" i="0" lang="he-IL">
                <a:solidFill>
                  <a:srgbClr val="6296FF"/>
                </a:solidFill>
                <a:latin typeface="Arial"/>
                <a:cs typeface="Arial"/>
              </a:rPr>
              <a:t>ואז בקשו שינוי אחד: "עכשיו בסגנון ציור שמן"</a:t>
            </a:r>
          </a:p>
        </p:txBody>
      </p:sp>
      <p:sp>
        <p:nvSpPr>
          <p:cNvPr id="20" name="Rounded Rectangle 19"/>
          <p:cNvSpPr/>
          <p:nvPr/>
        </p:nvSpPr>
        <p:spPr>
          <a:xfrm>
            <a:off x="658368" y="5532120"/>
            <a:ext cx="10872216" cy="640080"/>
          </a:xfrm>
          <a:prstGeom prst="roundRect">
            <a:avLst>
              <a:gd name="adj" fmla="val 3000"/>
            </a:avLst>
          </a:prstGeom>
          <a:solidFill>
            <a:srgbClr val="4B3F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86968" y="5532120"/>
            <a:ext cx="10415016" cy="640080"/>
          </a:xfrm>
          <a:prstGeom prst="rect">
            <a:avLst/>
          </a:prstGeom>
          <a:noFill/>
        </p:spPr>
        <p:txBody>
          <a:bodyPr wrap="square" lIns="0" rIns="0" tIns="0" bIns="0" anchor="ctr" rtlCol="0">
            <a:spAutoFit/>
          </a:bodyPr>
          <a:lstStyle/>
          <a:p>
            <a:pPr rtl="1" algn="r" marL="0" indent="0">
              <a:lnSpc>
                <a:spcPct val="108000"/>
              </a:lnSpc>
              <a:buNone/>
            </a:pPr>
            <a:r>
              <a:rPr sz="1400" b="0" i="0" lang="he-IL">
                <a:solidFill>
                  <a:srgbClr val="EBEDF0"/>
                </a:solidFill>
                <a:latin typeface="Arial"/>
                <a:cs typeface="Arial"/>
              </a:rPr>
              <a:t>⚠️  טקסט בעברית בתוך תמונה עדיין יוצא לפעמים משובש. את הכיתוב עדיף להוסיף אחר כך בקנבה.</a:t>
            </a:r>
          </a:p>
        </p:txBody>
      </p:sp>
      <p:sp>
        <p:nvSpPr>
          <p:cNvPr id="22" name="TextBox 21"/>
          <p:cNvSpPr txBox="1"/>
          <p:nvPr/>
        </p:nvSpPr>
        <p:spPr>
          <a:xfrm>
            <a:off x="6675120" y="6473952"/>
            <a:ext cx="4846320" cy="292608"/>
          </a:xfrm>
          <a:prstGeom prst="rect">
            <a:avLst/>
          </a:prstGeom>
          <a:noFill/>
        </p:spPr>
        <p:txBody>
          <a:bodyPr wrap="none" lIns="0" rIns="0" tIns="0" bIns="0">
            <a:spAutoFit/>
          </a:bodyPr>
          <a:lstStyle/>
          <a:p>
            <a:pPr algn="r" rtl="1"/>
            <a:r>
              <a:rPr sz="1000">
                <a:solidFill>
                  <a:srgbClr val="8A96AA"/>
                </a:solidFill>
                <a:latin typeface="Arial"/>
                <a:cs typeface="Arial"/>
              </a:rPr>
              <a:t>© נערך על ידי AI Finance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02920"/>
            <a:ext cx="10872216" cy="640080"/>
          </a:xfrm>
          <a:prstGeom prst="rect">
            <a:avLst/>
          </a:prstGeom>
          <a:noFill/>
        </p:spPr>
        <p:txBody>
          <a:bodyPr wrap="square" lIns="0" rIns="0" tIns="0" bIns="0" anchor="t" rtlCol="0">
            <a:spAutoFit/>
          </a:bodyPr>
          <a:lstStyle/>
          <a:p>
            <a:pPr rtl="1" algn="r" marL="0" indent="0">
              <a:lnSpc>
                <a:spcPct val="108000"/>
              </a:lnSpc>
              <a:buNone/>
            </a:pPr>
            <a:r>
              <a:rPr sz="3700" b="1" i="0" lang="he-IL">
                <a:solidFill>
                  <a:srgbClr val="F2F5FA"/>
                </a:solidFill>
                <a:latin typeface="Arial"/>
                <a:cs typeface="Arial"/>
              </a:rPr>
              <a:t>🎬 וידאו, קול ומוזיקה</a:t>
            </a:r>
          </a:p>
        </p:txBody>
      </p:sp>
      <p:sp>
        <p:nvSpPr>
          <p:cNvPr id="3" name="TextBox 2"/>
          <p:cNvSpPr txBox="1"/>
          <p:nvPr/>
        </p:nvSpPr>
        <p:spPr>
          <a:xfrm>
            <a:off x="658368" y="1280160"/>
            <a:ext cx="10872216" cy="365760"/>
          </a:xfrm>
          <a:prstGeom prst="rect">
            <a:avLst/>
          </a:prstGeom>
          <a:noFill/>
        </p:spPr>
        <p:txBody>
          <a:bodyPr wrap="square" lIns="0" rIns="0" tIns="0" bIns="0" anchor="t" rtlCol="0">
            <a:spAutoFit/>
          </a:bodyPr>
          <a:lstStyle/>
          <a:p>
            <a:pPr rtl="1" algn="r" marL="0" indent="0">
              <a:lnSpc>
                <a:spcPct val="108000"/>
              </a:lnSpc>
              <a:buNone/>
            </a:pPr>
            <a:r>
              <a:rPr sz="1450" b="0" i="0" lang="he-IL">
                <a:solidFill>
                  <a:srgbClr val="A9B4C6"/>
                </a:solidFill>
                <a:latin typeface="Arial"/>
                <a:cs typeface="Arial"/>
              </a:rPr>
              <a:t>מה שפעם דרש צלם, אולפן ושחקן, היום דורש משפט אחד</a:t>
            </a:r>
          </a:p>
        </p:txBody>
      </p:sp>
      <p:sp>
        <p:nvSpPr>
          <p:cNvPr id="4" name="Rounded Rectangle 3"/>
          <p:cNvSpPr/>
          <p:nvPr/>
        </p:nvSpPr>
        <p:spPr>
          <a:xfrm>
            <a:off x="8156448" y="1920240"/>
            <a:ext cx="3383280" cy="338328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771632" y="2103120"/>
            <a:ext cx="566928" cy="566928"/>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800" b="1" i="0" lang="he-IL">
                <a:solidFill>
                  <a:srgbClr val="F2F5FA"/>
                </a:solidFill>
                <a:latin typeface="Arial"/>
                <a:cs typeface="Arial"/>
              </a:rPr>
              <a:t>🎬</a:t>
            </a:r>
          </a:p>
        </p:txBody>
      </p:sp>
      <p:sp>
        <p:nvSpPr>
          <p:cNvPr id="6" name="TextBox 5"/>
          <p:cNvSpPr txBox="1"/>
          <p:nvPr/>
        </p:nvSpPr>
        <p:spPr>
          <a:xfrm>
            <a:off x="8357616" y="2103120"/>
            <a:ext cx="2286000" cy="365760"/>
          </a:xfrm>
          <a:prstGeom prst="rect">
            <a:avLst/>
          </a:prstGeom>
          <a:noFill/>
        </p:spPr>
        <p:txBody>
          <a:bodyPr wrap="square" lIns="0" rIns="0" tIns="0" bIns="0" anchor="t" rtlCol="0">
            <a:spAutoFit/>
          </a:bodyPr>
          <a:lstStyle/>
          <a:p>
            <a:pPr rtl="1" algn="r" marL="0" indent="0">
              <a:lnSpc>
                <a:spcPct val="108000"/>
              </a:lnSpc>
              <a:buNone/>
            </a:pPr>
            <a:r>
              <a:rPr sz="1800" b="1" i="0" lang="he-IL">
                <a:solidFill>
                  <a:srgbClr val="EBEDF0"/>
                </a:solidFill>
                <a:latin typeface="Arial"/>
                <a:cs typeface="Arial"/>
              </a:rPr>
              <a:t>וידאו</a:t>
            </a:r>
          </a:p>
        </p:txBody>
      </p:sp>
      <p:sp>
        <p:nvSpPr>
          <p:cNvPr id="7" name="TextBox 6"/>
          <p:cNvSpPr txBox="1"/>
          <p:nvPr/>
        </p:nvSpPr>
        <p:spPr>
          <a:xfrm>
            <a:off x="8357616" y="2514600"/>
            <a:ext cx="2286000" cy="274320"/>
          </a:xfrm>
          <a:prstGeom prst="rect">
            <a:avLst/>
          </a:prstGeom>
          <a:noFill/>
        </p:spPr>
        <p:txBody>
          <a:bodyPr wrap="square" lIns="0" rIns="0" tIns="0" bIns="0" anchor="t" rtlCol="0">
            <a:spAutoFit/>
          </a:bodyPr>
          <a:lstStyle/>
          <a:p>
            <a:pPr rtl="1" algn="r" marL="0" indent="0">
              <a:lnSpc>
                <a:spcPct val="108000"/>
              </a:lnSpc>
              <a:buNone/>
            </a:pPr>
            <a:r>
              <a:rPr sz="1250" b="1" i="0" lang="he-IL">
                <a:solidFill>
                  <a:srgbClr val="6296FF"/>
                </a:solidFill>
                <a:latin typeface="Arial"/>
                <a:cs typeface="Arial"/>
              </a:rPr>
              <a:t>Sora · Veo · Runway · Kling</a:t>
            </a:r>
          </a:p>
        </p:txBody>
      </p:sp>
      <p:sp>
        <p:nvSpPr>
          <p:cNvPr id="8" name="TextBox 7"/>
          <p:cNvSpPr txBox="1"/>
          <p:nvPr/>
        </p:nvSpPr>
        <p:spPr>
          <a:xfrm>
            <a:off x="8357616" y="2971800"/>
            <a:ext cx="2980944" cy="2194560"/>
          </a:xfrm>
          <a:prstGeom prst="rect">
            <a:avLst/>
          </a:prstGeom>
          <a:noFill/>
        </p:spPr>
        <p:txBody>
          <a:bodyPr wrap="square" lIns="0" rIns="0" tIns="0" bIns="0" anchor="t" rtlCol="0">
            <a:spAutoFit/>
          </a:bodyPr>
          <a:lstStyle/>
          <a:p>
            <a:pPr rtl="1" algn="r" marL="285750" indent="-285750">
              <a:lnSpc>
                <a:spcPct val="108000"/>
              </a:lnSpc>
              <a:spcAft>
                <a:spcPts val="600"/>
              </a:spcAft>
              <a:buSzPct val="100000"/>
              <a:buChar char="•"/>
            </a:pPr>
            <a:r>
              <a:rPr sz="1350" b="0" i="0" lang="he-IL">
                <a:solidFill>
                  <a:srgbClr val="EBEDF0"/>
                </a:solidFill>
                <a:latin typeface="Arial"/>
                <a:cs typeface="Arial"/>
              </a:rPr>
              <a:t>משפט אחד הופך לסרטון של כמה שניות</a:t>
            </a:r>
          </a:p>
          <a:p>
            <a:pPr rtl="1" algn="r" marL="285750" indent="-285750">
              <a:lnSpc>
                <a:spcPct val="108000"/>
              </a:lnSpc>
              <a:spcAft>
                <a:spcPts val="600"/>
              </a:spcAft>
              <a:buSzPct val="100000"/>
              <a:buChar char="•"/>
            </a:pPr>
            <a:r>
              <a:rPr sz="1350" b="0" i="0" lang="he-IL">
                <a:solidFill>
                  <a:srgbClr val="EBEDF0"/>
                </a:solidFill>
                <a:latin typeface="Arial"/>
                <a:cs typeface="Arial"/>
              </a:rPr>
              <a:t>מחיים תמונה קיימת: "תגרום לה לזוז"</a:t>
            </a:r>
          </a:p>
          <a:p>
            <a:pPr rtl="1" algn="r" marL="285750" indent="-285750">
              <a:lnSpc>
                <a:spcPct val="108000"/>
              </a:lnSpc>
              <a:buSzPct val="100000"/>
              <a:buChar char="•"/>
            </a:pPr>
            <a:r>
              <a:rPr sz="1350" b="0" i="0" lang="he-IL">
                <a:solidFill>
                  <a:srgbClr val="EBEDF0"/>
                </a:solidFill>
                <a:latin typeface="Arial"/>
                <a:cs typeface="Arial"/>
              </a:rPr>
              <a:t>מתאים לפרסומות קצרות ולרשתות</a:t>
            </a:r>
          </a:p>
        </p:txBody>
      </p:sp>
      <p:sp>
        <p:nvSpPr>
          <p:cNvPr id="9" name="Rounded Rectangle 8"/>
          <p:cNvSpPr/>
          <p:nvPr/>
        </p:nvSpPr>
        <p:spPr>
          <a:xfrm>
            <a:off x="4407408" y="1920240"/>
            <a:ext cx="3383280" cy="338328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7022591" y="2103120"/>
            <a:ext cx="566928" cy="566928"/>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800" b="1" i="0" lang="he-IL">
                <a:solidFill>
                  <a:srgbClr val="F2F5FA"/>
                </a:solidFill>
                <a:latin typeface="Arial"/>
                <a:cs typeface="Arial"/>
              </a:rPr>
              <a:t>🎙️</a:t>
            </a:r>
          </a:p>
        </p:txBody>
      </p:sp>
      <p:sp>
        <p:nvSpPr>
          <p:cNvPr id="11" name="TextBox 10"/>
          <p:cNvSpPr txBox="1"/>
          <p:nvPr/>
        </p:nvSpPr>
        <p:spPr>
          <a:xfrm>
            <a:off x="4608576" y="2103120"/>
            <a:ext cx="2286000" cy="365760"/>
          </a:xfrm>
          <a:prstGeom prst="rect">
            <a:avLst/>
          </a:prstGeom>
          <a:noFill/>
        </p:spPr>
        <p:txBody>
          <a:bodyPr wrap="square" lIns="0" rIns="0" tIns="0" bIns="0" anchor="t" rtlCol="0">
            <a:spAutoFit/>
          </a:bodyPr>
          <a:lstStyle/>
          <a:p>
            <a:pPr rtl="1" algn="r" marL="0" indent="0">
              <a:lnSpc>
                <a:spcPct val="108000"/>
              </a:lnSpc>
              <a:buNone/>
            </a:pPr>
            <a:r>
              <a:rPr sz="1800" b="1" i="0" lang="he-IL">
                <a:solidFill>
                  <a:srgbClr val="EBEDF0"/>
                </a:solidFill>
                <a:latin typeface="Arial"/>
                <a:cs typeface="Arial"/>
              </a:rPr>
              <a:t>קול</a:t>
            </a:r>
          </a:p>
        </p:txBody>
      </p:sp>
      <p:sp>
        <p:nvSpPr>
          <p:cNvPr id="12" name="TextBox 11"/>
          <p:cNvSpPr txBox="1"/>
          <p:nvPr/>
        </p:nvSpPr>
        <p:spPr>
          <a:xfrm>
            <a:off x="4608576" y="2514600"/>
            <a:ext cx="2286000" cy="274320"/>
          </a:xfrm>
          <a:prstGeom prst="rect">
            <a:avLst/>
          </a:prstGeom>
          <a:noFill/>
        </p:spPr>
        <p:txBody>
          <a:bodyPr wrap="square" lIns="0" rIns="0" tIns="0" bIns="0" anchor="t" rtlCol="0">
            <a:spAutoFit/>
          </a:bodyPr>
          <a:lstStyle/>
          <a:p>
            <a:pPr rtl="1" algn="r" marL="0" indent="0">
              <a:lnSpc>
                <a:spcPct val="108000"/>
              </a:lnSpc>
              <a:buNone/>
            </a:pPr>
            <a:r>
              <a:rPr sz="1250" b="1" i="0" lang="he-IL">
                <a:solidFill>
                  <a:srgbClr val="6296FF"/>
                </a:solidFill>
                <a:latin typeface="Arial"/>
                <a:cs typeface="Arial"/>
              </a:rPr>
              <a:t>ElevenLabs</a:t>
            </a:r>
          </a:p>
        </p:txBody>
      </p:sp>
      <p:sp>
        <p:nvSpPr>
          <p:cNvPr id="13" name="TextBox 12"/>
          <p:cNvSpPr txBox="1"/>
          <p:nvPr/>
        </p:nvSpPr>
        <p:spPr>
          <a:xfrm>
            <a:off x="4608576" y="2971800"/>
            <a:ext cx="2980944" cy="2194560"/>
          </a:xfrm>
          <a:prstGeom prst="rect">
            <a:avLst/>
          </a:prstGeom>
          <a:noFill/>
        </p:spPr>
        <p:txBody>
          <a:bodyPr wrap="square" lIns="0" rIns="0" tIns="0" bIns="0" anchor="t" rtlCol="0">
            <a:spAutoFit/>
          </a:bodyPr>
          <a:lstStyle/>
          <a:p>
            <a:pPr rtl="1" algn="r" marL="285750" indent="-285750">
              <a:lnSpc>
                <a:spcPct val="108000"/>
              </a:lnSpc>
              <a:spcAft>
                <a:spcPts val="600"/>
              </a:spcAft>
              <a:buSzPct val="100000"/>
              <a:buChar char="•"/>
            </a:pPr>
            <a:r>
              <a:rPr sz="1350" b="0" i="0" lang="he-IL">
                <a:solidFill>
                  <a:srgbClr val="EBEDF0"/>
                </a:solidFill>
                <a:latin typeface="Arial"/>
                <a:cs typeface="Arial"/>
              </a:rPr>
              <a:t>הקראת טקסט בקול טבעי, גם בעברית</a:t>
            </a:r>
          </a:p>
          <a:p>
            <a:pPr rtl="1" algn="r" marL="285750" indent="-285750">
              <a:lnSpc>
                <a:spcPct val="108000"/>
              </a:lnSpc>
              <a:spcAft>
                <a:spcPts val="600"/>
              </a:spcAft>
              <a:buSzPct val="100000"/>
              <a:buChar char="•"/>
            </a:pPr>
            <a:r>
              <a:rPr sz="1350" b="0" i="0" lang="he-IL">
                <a:solidFill>
                  <a:srgbClr val="EBEDF0"/>
                </a:solidFill>
                <a:latin typeface="Arial"/>
                <a:cs typeface="Arial"/>
              </a:rPr>
              <a:t>דיבוב סרטון לשפות אחרות</a:t>
            </a:r>
          </a:p>
          <a:p>
            <a:pPr rtl="1" algn="r" marL="285750" indent="-285750">
              <a:lnSpc>
                <a:spcPct val="108000"/>
              </a:lnSpc>
              <a:buSzPct val="100000"/>
              <a:buChar char="•"/>
            </a:pPr>
            <a:r>
              <a:rPr sz="1350" b="0" i="0" lang="he-IL">
                <a:solidFill>
                  <a:srgbClr val="EBEDF0"/>
                </a:solidFill>
                <a:latin typeface="Arial"/>
                <a:cs typeface="Arial"/>
              </a:rPr>
              <a:t>שיבוט קול (רק באישור בעל הקול!)</a:t>
            </a:r>
          </a:p>
        </p:txBody>
      </p:sp>
      <p:sp>
        <p:nvSpPr>
          <p:cNvPr id="14" name="Rounded Rectangle 13"/>
          <p:cNvSpPr/>
          <p:nvPr/>
        </p:nvSpPr>
        <p:spPr>
          <a:xfrm>
            <a:off x="658368" y="1920240"/>
            <a:ext cx="3383280" cy="338328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3273552" y="2103120"/>
            <a:ext cx="566928" cy="566928"/>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800" b="1" i="0" lang="he-IL">
                <a:solidFill>
                  <a:srgbClr val="F2F5FA"/>
                </a:solidFill>
                <a:latin typeface="Arial"/>
                <a:cs typeface="Arial"/>
              </a:rPr>
              <a:t>🎵</a:t>
            </a:r>
          </a:p>
        </p:txBody>
      </p:sp>
      <p:sp>
        <p:nvSpPr>
          <p:cNvPr id="16" name="TextBox 15"/>
          <p:cNvSpPr txBox="1"/>
          <p:nvPr/>
        </p:nvSpPr>
        <p:spPr>
          <a:xfrm>
            <a:off x="859536" y="2103120"/>
            <a:ext cx="2286000" cy="365760"/>
          </a:xfrm>
          <a:prstGeom prst="rect">
            <a:avLst/>
          </a:prstGeom>
          <a:noFill/>
        </p:spPr>
        <p:txBody>
          <a:bodyPr wrap="square" lIns="0" rIns="0" tIns="0" bIns="0" anchor="t" rtlCol="0">
            <a:spAutoFit/>
          </a:bodyPr>
          <a:lstStyle/>
          <a:p>
            <a:pPr rtl="1" algn="r" marL="0" indent="0">
              <a:lnSpc>
                <a:spcPct val="108000"/>
              </a:lnSpc>
              <a:buNone/>
            </a:pPr>
            <a:r>
              <a:rPr sz="1800" b="1" i="0" lang="he-IL">
                <a:solidFill>
                  <a:srgbClr val="EBEDF0"/>
                </a:solidFill>
                <a:latin typeface="Arial"/>
                <a:cs typeface="Arial"/>
              </a:rPr>
              <a:t>מוזיקה</a:t>
            </a:r>
          </a:p>
        </p:txBody>
      </p:sp>
      <p:sp>
        <p:nvSpPr>
          <p:cNvPr id="17" name="TextBox 16"/>
          <p:cNvSpPr txBox="1"/>
          <p:nvPr/>
        </p:nvSpPr>
        <p:spPr>
          <a:xfrm>
            <a:off x="859536" y="2514600"/>
            <a:ext cx="2286000" cy="274320"/>
          </a:xfrm>
          <a:prstGeom prst="rect">
            <a:avLst/>
          </a:prstGeom>
          <a:noFill/>
        </p:spPr>
        <p:txBody>
          <a:bodyPr wrap="square" lIns="0" rIns="0" tIns="0" bIns="0" anchor="t" rtlCol="0">
            <a:spAutoFit/>
          </a:bodyPr>
          <a:lstStyle/>
          <a:p>
            <a:pPr rtl="1" algn="r" marL="0" indent="0">
              <a:lnSpc>
                <a:spcPct val="108000"/>
              </a:lnSpc>
              <a:buNone/>
            </a:pPr>
            <a:r>
              <a:rPr sz="1250" b="1" i="0" lang="he-IL">
                <a:solidFill>
                  <a:srgbClr val="6296FF"/>
                </a:solidFill>
                <a:latin typeface="Arial"/>
                <a:cs typeface="Arial"/>
              </a:rPr>
              <a:t>Suno</a:t>
            </a:r>
          </a:p>
        </p:txBody>
      </p:sp>
      <p:sp>
        <p:nvSpPr>
          <p:cNvPr id="18" name="TextBox 17"/>
          <p:cNvSpPr txBox="1"/>
          <p:nvPr/>
        </p:nvSpPr>
        <p:spPr>
          <a:xfrm>
            <a:off x="859536" y="2971800"/>
            <a:ext cx="2980944" cy="2194560"/>
          </a:xfrm>
          <a:prstGeom prst="rect">
            <a:avLst/>
          </a:prstGeom>
          <a:noFill/>
        </p:spPr>
        <p:txBody>
          <a:bodyPr wrap="square" lIns="0" rIns="0" tIns="0" bIns="0" anchor="t" rtlCol="0">
            <a:spAutoFit/>
          </a:bodyPr>
          <a:lstStyle/>
          <a:p>
            <a:pPr rtl="1" algn="r" marL="285750" indent="-285750">
              <a:lnSpc>
                <a:spcPct val="108000"/>
              </a:lnSpc>
              <a:spcAft>
                <a:spcPts val="600"/>
              </a:spcAft>
              <a:buSzPct val="100000"/>
              <a:buChar char="•"/>
            </a:pPr>
            <a:r>
              <a:rPr sz="1350" b="0" i="0" lang="he-IL">
                <a:solidFill>
                  <a:srgbClr val="EBEDF0"/>
                </a:solidFill>
                <a:latin typeface="Arial"/>
                <a:cs typeface="Arial"/>
              </a:rPr>
              <a:t>שיר שלם, עם מילים, לחן ושירה</a:t>
            </a:r>
          </a:p>
          <a:p>
            <a:pPr rtl="1" algn="r" marL="285750" indent="-285750">
              <a:lnSpc>
                <a:spcPct val="108000"/>
              </a:lnSpc>
              <a:spcAft>
                <a:spcPts val="600"/>
              </a:spcAft>
              <a:buSzPct val="100000"/>
              <a:buChar char="•"/>
            </a:pPr>
            <a:r>
              <a:rPr sz="1350" b="0" i="0" lang="he-IL">
                <a:solidFill>
                  <a:srgbClr val="EBEDF0"/>
                </a:solidFill>
                <a:latin typeface="Arial"/>
                <a:cs typeface="Arial"/>
              </a:rPr>
              <a:t>פחות מדקה מהבקשה עד השיר</a:t>
            </a:r>
          </a:p>
          <a:p>
            <a:pPr rtl="1" algn="r" marL="285750" indent="-285750">
              <a:lnSpc>
                <a:spcPct val="108000"/>
              </a:lnSpc>
              <a:buSzPct val="100000"/>
              <a:buChar char="•"/>
            </a:pPr>
            <a:r>
              <a:rPr sz="1350" b="0" i="0" lang="he-IL">
                <a:solidFill>
                  <a:srgbClr val="EBEDF0"/>
                </a:solidFill>
                <a:latin typeface="Arial"/>
                <a:cs typeface="Arial"/>
              </a:rPr>
              <a:t>ג'ינגל לעסק, שיר ליום הולדת</a:t>
            </a:r>
          </a:p>
        </p:txBody>
      </p:sp>
      <p:sp>
        <p:nvSpPr>
          <p:cNvPr id="19" name="Rounded Rectangle 18"/>
          <p:cNvSpPr/>
          <p:nvPr/>
        </p:nvSpPr>
        <p:spPr>
          <a:xfrm>
            <a:off x="658368" y="5532120"/>
            <a:ext cx="10872216" cy="640080"/>
          </a:xfrm>
          <a:prstGeom prst="roundRect">
            <a:avLst>
              <a:gd name="adj" fmla="val 3000"/>
            </a:avLst>
          </a:prstGeom>
          <a:solidFill>
            <a:srgbClr val="4A18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86968" y="5532120"/>
            <a:ext cx="10415016" cy="640080"/>
          </a:xfrm>
          <a:prstGeom prst="rect">
            <a:avLst/>
          </a:prstGeom>
          <a:noFill/>
        </p:spPr>
        <p:txBody>
          <a:bodyPr wrap="square" lIns="0" rIns="0" tIns="0" bIns="0" anchor="ctr" rtlCol="0">
            <a:spAutoFit/>
          </a:bodyPr>
          <a:lstStyle/>
          <a:p>
            <a:pPr rtl="1" algn="r" marL="0" indent="0">
              <a:lnSpc>
                <a:spcPct val="108000"/>
              </a:lnSpc>
              <a:buNone/>
            </a:pPr>
            <a:r>
              <a:rPr sz="1400" b="0" i="0" lang="he-IL">
                <a:solidFill>
                  <a:srgbClr val="EBEDF0"/>
                </a:solidFill>
                <a:latin typeface="Arial"/>
                <a:cs typeface="Arial"/>
              </a:rPr>
              <a:t>🚨  הצד האפל: אותה טכנולוגיה משמשת להונאות. "הבן" מתקשר בבהלה ומבקש העברה דחופה? נתקו וחייגו אליו בחזרה.</a:t>
            </a:r>
          </a:p>
        </p:txBody>
      </p:sp>
      <p:sp>
        <p:nvSpPr>
          <p:cNvPr id="21" name="TextBox 20"/>
          <p:cNvSpPr txBox="1"/>
          <p:nvPr/>
        </p:nvSpPr>
        <p:spPr>
          <a:xfrm>
            <a:off x="6675120" y="6473952"/>
            <a:ext cx="4846320" cy="292608"/>
          </a:xfrm>
          <a:prstGeom prst="rect">
            <a:avLst/>
          </a:prstGeom>
          <a:noFill/>
        </p:spPr>
        <p:txBody>
          <a:bodyPr wrap="none" lIns="0" rIns="0" tIns="0" bIns="0">
            <a:spAutoFit/>
          </a:bodyPr>
          <a:lstStyle/>
          <a:p>
            <a:pPr algn="r" rtl="1"/>
            <a:r>
              <a:rPr sz="1000">
                <a:solidFill>
                  <a:srgbClr val="8A96AA"/>
                </a:solidFill>
                <a:latin typeface="Arial"/>
                <a:cs typeface="Arial"/>
              </a:rPr>
              <a:t>© נערך על ידי AI Finance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02920"/>
            <a:ext cx="10872216" cy="640080"/>
          </a:xfrm>
          <a:prstGeom prst="rect">
            <a:avLst/>
          </a:prstGeom>
          <a:noFill/>
        </p:spPr>
        <p:txBody>
          <a:bodyPr wrap="square" lIns="0" rIns="0" tIns="0" bIns="0" anchor="t" rtlCol="0">
            <a:spAutoFit/>
          </a:bodyPr>
          <a:lstStyle/>
          <a:p>
            <a:pPr rtl="1" algn="r" marL="0" indent="0">
              <a:lnSpc>
                <a:spcPct val="108000"/>
              </a:lnSpc>
              <a:buNone/>
            </a:pPr>
            <a:r>
              <a:rPr sz="3700" b="1" i="0" lang="he-IL">
                <a:solidFill>
                  <a:srgbClr val="F2F5FA"/>
                </a:solidFill>
                <a:latin typeface="Arial"/>
                <a:cs typeface="Arial"/>
              </a:rPr>
              <a:t>🔎 מחקר ולמידה: שני כלים שכדאי להכיר</a:t>
            </a:r>
          </a:p>
        </p:txBody>
      </p:sp>
      <p:sp>
        <p:nvSpPr>
          <p:cNvPr id="3" name="TextBox 2"/>
          <p:cNvSpPr txBox="1"/>
          <p:nvPr/>
        </p:nvSpPr>
        <p:spPr>
          <a:xfrm>
            <a:off x="658368" y="1280160"/>
            <a:ext cx="10872216" cy="365760"/>
          </a:xfrm>
          <a:prstGeom prst="rect">
            <a:avLst/>
          </a:prstGeom>
          <a:noFill/>
        </p:spPr>
        <p:txBody>
          <a:bodyPr wrap="square" lIns="0" rIns="0" tIns="0" bIns="0" anchor="t" rtlCol="0">
            <a:spAutoFit/>
          </a:bodyPr>
          <a:lstStyle/>
          <a:p>
            <a:pPr rtl="1" algn="r" marL="0" indent="0">
              <a:lnSpc>
                <a:spcPct val="108000"/>
              </a:lnSpc>
              <a:buNone/>
            </a:pPr>
            <a:r>
              <a:rPr sz="1450" b="0" i="0" lang="he-IL">
                <a:solidFill>
                  <a:srgbClr val="A9B4C6"/>
                </a:solidFill>
                <a:latin typeface="Arial"/>
                <a:cs typeface="Arial"/>
              </a:rPr>
              <a:t>כשחשוב לדעת מאיפה הגיעה התשובה</a:t>
            </a:r>
          </a:p>
        </p:txBody>
      </p:sp>
      <p:sp>
        <p:nvSpPr>
          <p:cNvPr id="4" name="Rounded Rectangle 3"/>
          <p:cNvSpPr/>
          <p:nvPr/>
        </p:nvSpPr>
        <p:spPr>
          <a:xfrm>
            <a:off x="6199632" y="1920240"/>
            <a:ext cx="5330952" cy="338328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73952" y="2103120"/>
            <a:ext cx="4782312" cy="411480"/>
          </a:xfrm>
          <a:prstGeom prst="rect">
            <a:avLst/>
          </a:prstGeom>
          <a:noFill/>
        </p:spPr>
        <p:txBody>
          <a:bodyPr wrap="square" lIns="0" rIns="0" tIns="0" bIns="0" anchor="t" rtlCol="0">
            <a:spAutoFit/>
          </a:bodyPr>
          <a:lstStyle/>
          <a:p>
            <a:pPr rtl="1" algn="r" marL="0" indent="0">
              <a:lnSpc>
                <a:spcPct val="108000"/>
              </a:lnSpc>
              <a:buNone/>
            </a:pPr>
            <a:r>
              <a:rPr sz="2000" b="1" i="0" lang="he-IL">
                <a:solidFill>
                  <a:srgbClr val="EBEDF0"/>
                </a:solidFill>
                <a:latin typeface="Arial"/>
                <a:cs typeface="Arial"/>
              </a:rPr>
              <a:t>Perplexity</a:t>
            </a:r>
          </a:p>
        </p:txBody>
      </p:sp>
      <p:sp>
        <p:nvSpPr>
          <p:cNvPr id="6" name="TextBox 5"/>
          <p:cNvSpPr txBox="1"/>
          <p:nvPr/>
        </p:nvSpPr>
        <p:spPr>
          <a:xfrm>
            <a:off x="6473952" y="2560320"/>
            <a:ext cx="4782312" cy="320040"/>
          </a:xfrm>
          <a:prstGeom prst="rect">
            <a:avLst/>
          </a:prstGeom>
          <a:noFill/>
        </p:spPr>
        <p:txBody>
          <a:bodyPr wrap="square" lIns="0" rIns="0" tIns="0" bIns="0" anchor="t" rtlCol="0">
            <a:spAutoFit/>
          </a:bodyPr>
          <a:lstStyle/>
          <a:p>
            <a:pPr rtl="1" algn="r" marL="0" indent="0">
              <a:lnSpc>
                <a:spcPct val="108000"/>
              </a:lnSpc>
              <a:buNone/>
            </a:pPr>
            <a:r>
              <a:rPr sz="1450" b="1" i="0" lang="he-IL">
                <a:solidFill>
                  <a:srgbClr val="6296FF"/>
                </a:solidFill>
                <a:latin typeface="Arial"/>
                <a:cs typeface="Arial"/>
              </a:rPr>
              <a:t>מנוע תשובות עם מקורות</a:t>
            </a:r>
          </a:p>
        </p:txBody>
      </p:sp>
      <p:sp>
        <p:nvSpPr>
          <p:cNvPr id="7" name="TextBox 6"/>
          <p:cNvSpPr txBox="1"/>
          <p:nvPr/>
        </p:nvSpPr>
        <p:spPr>
          <a:xfrm>
            <a:off x="6473952" y="3063240"/>
            <a:ext cx="4782312" cy="1463040"/>
          </a:xfrm>
          <a:prstGeom prst="rect">
            <a:avLst/>
          </a:prstGeom>
          <a:noFill/>
        </p:spPr>
        <p:txBody>
          <a:bodyPr wrap="square" lIns="0" rIns="0" tIns="0" bIns="0" anchor="t" rtlCol="0">
            <a:spAutoFit/>
          </a:bodyPr>
          <a:lstStyle/>
          <a:p>
            <a:pPr rtl="1" algn="r" marL="285750" indent="-285750">
              <a:lnSpc>
                <a:spcPct val="108000"/>
              </a:lnSpc>
              <a:spcAft>
                <a:spcPts val="600"/>
              </a:spcAft>
              <a:buSzPct val="100000"/>
              <a:buChar char="•"/>
            </a:pPr>
            <a:r>
              <a:rPr sz="1450" b="0" i="0" lang="he-IL">
                <a:solidFill>
                  <a:srgbClr val="EBEDF0"/>
                </a:solidFill>
                <a:latin typeface="Arial"/>
                <a:cs typeface="Arial"/>
              </a:rPr>
              <a:t>שואלים שאלה, מקבלים תשובה מסודרת</a:t>
            </a:r>
          </a:p>
          <a:p>
            <a:pPr rtl="1" algn="r" marL="285750" indent="-285750">
              <a:lnSpc>
                <a:spcPct val="108000"/>
              </a:lnSpc>
              <a:spcAft>
                <a:spcPts val="600"/>
              </a:spcAft>
              <a:buSzPct val="100000"/>
              <a:buChar char="•"/>
            </a:pPr>
            <a:r>
              <a:rPr sz="1450" b="0" i="0" lang="he-IL">
                <a:solidFill>
                  <a:srgbClr val="EBEDF0"/>
                </a:solidFill>
                <a:latin typeface="Arial"/>
                <a:cs typeface="Arial"/>
              </a:rPr>
              <a:t>ליד כל טענה יש קישור למקור</a:t>
            </a:r>
          </a:p>
          <a:p>
            <a:pPr rtl="1" algn="r" marL="285750" indent="-285750">
              <a:lnSpc>
                <a:spcPct val="108000"/>
              </a:lnSpc>
              <a:buSzPct val="100000"/>
              <a:buChar char="•"/>
            </a:pPr>
            <a:r>
              <a:rPr sz="1450" b="0" i="0" lang="he-IL">
                <a:solidFill>
                  <a:srgbClr val="EBEDF0"/>
                </a:solidFill>
                <a:latin typeface="Arial"/>
                <a:cs typeface="Arial"/>
              </a:rPr>
              <a:t>מצוין לשאלות עדכניות ולבדיקת עובדות</a:t>
            </a:r>
          </a:p>
        </p:txBody>
      </p:sp>
      <p:sp>
        <p:nvSpPr>
          <p:cNvPr id="8" name="Rounded Rectangle 7"/>
          <p:cNvSpPr/>
          <p:nvPr/>
        </p:nvSpPr>
        <p:spPr>
          <a:xfrm>
            <a:off x="6473952" y="4617720"/>
            <a:ext cx="2377440" cy="457200"/>
          </a:xfrm>
          <a:prstGeom prst="roundRect">
            <a:avLst>
              <a:gd name="adj" fmla="val 20000"/>
            </a:avLst>
          </a:prstGeom>
          <a:solidFill>
            <a:srgbClr val="022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73952" y="4617720"/>
            <a:ext cx="2377440" cy="457200"/>
          </a:xfrm>
          <a:prstGeom prst="rect">
            <a:avLst/>
          </a:prstGeom>
          <a:noFill/>
        </p:spPr>
        <p:txBody>
          <a:bodyPr wrap="square" lIns="0" rIns="0" tIns="0" bIns="0" anchor="ctr" rtlCol="0">
            <a:spAutoFit/>
          </a:bodyPr>
          <a:lstStyle/>
          <a:p>
            <a:pPr rtl="1" algn="ctr" marL="0" indent="0">
              <a:lnSpc>
                <a:spcPct val="108000"/>
              </a:lnSpc>
              <a:buNone/>
            </a:pPr>
            <a:r>
              <a:rPr sz="1300" b="1" i="0" lang="he-IL">
                <a:solidFill>
                  <a:srgbClr val="F2F5FA"/>
                </a:solidFill>
                <a:latin typeface="Arial"/>
                <a:cs typeface="Arial"/>
              </a:rPr>
              <a:t>מחפש בכל הרשת</a:t>
            </a:r>
          </a:p>
        </p:txBody>
      </p:sp>
      <p:sp>
        <p:nvSpPr>
          <p:cNvPr id="10" name="Rounded Rectangle 9"/>
          <p:cNvSpPr/>
          <p:nvPr/>
        </p:nvSpPr>
        <p:spPr>
          <a:xfrm>
            <a:off x="658368" y="1920240"/>
            <a:ext cx="5330952" cy="338328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103120"/>
            <a:ext cx="4782312" cy="411480"/>
          </a:xfrm>
          <a:prstGeom prst="rect">
            <a:avLst/>
          </a:prstGeom>
          <a:noFill/>
        </p:spPr>
        <p:txBody>
          <a:bodyPr wrap="square" lIns="0" rIns="0" tIns="0" bIns="0" anchor="t" rtlCol="0">
            <a:spAutoFit/>
          </a:bodyPr>
          <a:lstStyle/>
          <a:p>
            <a:pPr rtl="1" algn="r" marL="0" indent="0">
              <a:lnSpc>
                <a:spcPct val="108000"/>
              </a:lnSpc>
              <a:buNone/>
            </a:pPr>
            <a:r>
              <a:rPr sz="2000" b="1" i="0" lang="he-IL">
                <a:solidFill>
                  <a:srgbClr val="EBEDF0"/>
                </a:solidFill>
                <a:latin typeface="Arial"/>
                <a:cs typeface="Arial"/>
              </a:rPr>
              <a:t>NotebookLM (של גוגל)</a:t>
            </a:r>
          </a:p>
        </p:txBody>
      </p:sp>
      <p:sp>
        <p:nvSpPr>
          <p:cNvPr id="12" name="TextBox 11"/>
          <p:cNvSpPr txBox="1"/>
          <p:nvPr/>
        </p:nvSpPr>
        <p:spPr>
          <a:xfrm>
            <a:off x="932688" y="2560320"/>
            <a:ext cx="4782312" cy="320040"/>
          </a:xfrm>
          <a:prstGeom prst="rect">
            <a:avLst/>
          </a:prstGeom>
          <a:noFill/>
        </p:spPr>
        <p:txBody>
          <a:bodyPr wrap="square" lIns="0" rIns="0" tIns="0" bIns="0" anchor="t" rtlCol="0">
            <a:spAutoFit/>
          </a:bodyPr>
          <a:lstStyle/>
          <a:p>
            <a:pPr rtl="1" algn="r" marL="0" indent="0">
              <a:lnSpc>
                <a:spcPct val="108000"/>
              </a:lnSpc>
              <a:buNone/>
            </a:pPr>
            <a:r>
              <a:rPr sz="1450" b="1" i="0" lang="he-IL">
                <a:solidFill>
                  <a:srgbClr val="6296FF"/>
                </a:solidFill>
                <a:latin typeface="Arial"/>
                <a:cs typeface="Arial"/>
              </a:rPr>
              <a:t>מורה פרטי מהמסמכים שלכם</a:t>
            </a:r>
          </a:p>
        </p:txBody>
      </p:sp>
      <p:sp>
        <p:nvSpPr>
          <p:cNvPr id="13" name="TextBox 12"/>
          <p:cNvSpPr txBox="1"/>
          <p:nvPr/>
        </p:nvSpPr>
        <p:spPr>
          <a:xfrm>
            <a:off x="932688" y="3063240"/>
            <a:ext cx="4782312" cy="1463040"/>
          </a:xfrm>
          <a:prstGeom prst="rect">
            <a:avLst/>
          </a:prstGeom>
          <a:noFill/>
        </p:spPr>
        <p:txBody>
          <a:bodyPr wrap="square" lIns="0" rIns="0" tIns="0" bIns="0" anchor="t" rtlCol="0">
            <a:spAutoFit/>
          </a:bodyPr>
          <a:lstStyle/>
          <a:p>
            <a:pPr rtl="1" algn="r" marL="285750" indent="-285750">
              <a:lnSpc>
                <a:spcPct val="108000"/>
              </a:lnSpc>
              <a:spcAft>
                <a:spcPts val="600"/>
              </a:spcAft>
              <a:buSzPct val="100000"/>
              <a:buChar char="•"/>
            </a:pPr>
            <a:r>
              <a:rPr sz="1450" b="0" i="0" lang="he-IL">
                <a:solidFill>
                  <a:srgbClr val="EBEDF0"/>
                </a:solidFill>
                <a:latin typeface="Arial"/>
                <a:cs typeface="Arial"/>
              </a:rPr>
              <a:t>מעלים קבצים, קישורים או סרטונים</a:t>
            </a:r>
          </a:p>
          <a:p>
            <a:pPr rtl="1" algn="r" marL="285750" indent="-285750">
              <a:lnSpc>
                <a:spcPct val="108000"/>
              </a:lnSpc>
              <a:spcAft>
                <a:spcPts val="600"/>
              </a:spcAft>
              <a:buSzPct val="100000"/>
              <a:buChar char="•"/>
            </a:pPr>
            <a:r>
              <a:rPr sz="1450" b="0" i="0" lang="he-IL">
                <a:solidFill>
                  <a:srgbClr val="EBEDF0"/>
                </a:solidFill>
                <a:latin typeface="Arial"/>
                <a:cs typeface="Arial"/>
              </a:rPr>
              <a:t>עונה רק מתוך החומר, עם הפניה למקום</a:t>
            </a:r>
          </a:p>
          <a:p>
            <a:pPr rtl="1" algn="r" marL="285750" indent="-285750">
              <a:lnSpc>
                <a:spcPct val="108000"/>
              </a:lnSpc>
              <a:buSzPct val="100000"/>
              <a:buChar char="•"/>
            </a:pPr>
            <a:r>
              <a:rPr sz="1450" b="0" i="0" lang="he-IL">
                <a:solidFill>
                  <a:srgbClr val="EBEDF0"/>
                </a:solidFill>
                <a:latin typeface="Arial"/>
                <a:cs typeface="Arial"/>
              </a:rPr>
              <a:t>🎧 הופך את החומר לפודקאסט של שני מגישים</a:t>
            </a:r>
          </a:p>
        </p:txBody>
      </p:sp>
      <p:sp>
        <p:nvSpPr>
          <p:cNvPr id="14" name="Rounded Rectangle 13"/>
          <p:cNvSpPr/>
          <p:nvPr/>
        </p:nvSpPr>
        <p:spPr>
          <a:xfrm>
            <a:off x="932688" y="4617720"/>
            <a:ext cx="2377440" cy="457200"/>
          </a:xfrm>
          <a:prstGeom prst="roundRect">
            <a:avLst>
              <a:gd name="adj" fmla="val 20000"/>
            </a:avLst>
          </a:prstGeom>
          <a:solidFill>
            <a:srgbClr val="022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4617720"/>
            <a:ext cx="2377440" cy="457200"/>
          </a:xfrm>
          <a:prstGeom prst="rect">
            <a:avLst/>
          </a:prstGeom>
          <a:noFill/>
        </p:spPr>
        <p:txBody>
          <a:bodyPr wrap="square" lIns="0" rIns="0" tIns="0" bIns="0" anchor="ctr" rtlCol="0">
            <a:spAutoFit/>
          </a:bodyPr>
          <a:lstStyle/>
          <a:p>
            <a:pPr rtl="1" algn="ctr" marL="0" indent="0">
              <a:lnSpc>
                <a:spcPct val="108000"/>
              </a:lnSpc>
              <a:buNone/>
            </a:pPr>
            <a:r>
              <a:rPr sz="1300" b="1" i="0" lang="he-IL">
                <a:solidFill>
                  <a:srgbClr val="F2F5FA"/>
                </a:solidFill>
                <a:latin typeface="Arial"/>
                <a:cs typeface="Arial"/>
              </a:rPr>
              <a:t>עונה רק מהחומר שנתתם</a:t>
            </a:r>
          </a:p>
        </p:txBody>
      </p:sp>
      <p:sp>
        <p:nvSpPr>
          <p:cNvPr id="16" name="Rounded Rectangle 15"/>
          <p:cNvSpPr/>
          <p:nvPr/>
        </p:nvSpPr>
        <p:spPr>
          <a:xfrm>
            <a:off x="658368" y="5532120"/>
            <a:ext cx="10872216" cy="640080"/>
          </a:xfrm>
          <a:prstGeom prst="roundRect">
            <a:avLst>
              <a:gd name="adj" fmla="val 3000"/>
            </a:avLst>
          </a:prstGeom>
          <a:solidFill>
            <a:srgbClr val="022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86968" y="5532120"/>
            <a:ext cx="10415016" cy="640080"/>
          </a:xfrm>
          <a:prstGeom prst="rect">
            <a:avLst/>
          </a:prstGeom>
          <a:noFill/>
        </p:spPr>
        <p:txBody>
          <a:bodyPr wrap="square" lIns="0" rIns="0" tIns="0" bIns="0" anchor="ctr" rtlCol="0">
            <a:spAutoFit/>
          </a:bodyPr>
          <a:lstStyle/>
          <a:p>
            <a:pPr rtl="1" algn="r" marL="0" indent="0">
              <a:lnSpc>
                <a:spcPct val="108000"/>
              </a:lnSpc>
              <a:buNone/>
            </a:pPr>
            <a:r>
              <a:rPr sz="1450" b="0" i="0" lang="he-IL">
                <a:solidFill>
                  <a:srgbClr val="EBEDF0"/>
                </a:solidFill>
                <a:latin typeface="Arial"/>
                <a:cs typeface="Arial"/>
              </a:rPr>
              <a:t>🤯  הדגמה: נעלה את המצגת הזו ל-NotebookLM ונקבל פודקאסט שמסכם את המפגש.</a:t>
            </a:r>
          </a:p>
        </p:txBody>
      </p:sp>
      <p:sp>
        <p:nvSpPr>
          <p:cNvPr id="18" name="TextBox 17"/>
          <p:cNvSpPr txBox="1"/>
          <p:nvPr/>
        </p:nvSpPr>
        <p:spPr>
          <a:xfrm>
            <a:off x="6675120" y="6473952"/>
            <a:ext cx="4846320" cy="292608"/>
          </a:xfrm>
          <a:prstGeom prst="rect">
            <a:avLst/>
          </a:prstGeom>
          <a:noFill/>
        </p:spPr>
        <p:txBody>
          <a:bodyPr wrap="none" lIns="0" rIns="0" tIns="0" bIns="0">
            <a:spAutoFit/>
          </a:bodyPr>
          <a:lstStyle/>
          <a:p>
            <a:pPr algn="r" rtl="1"/>
            <a:r>
              <a:rPr sz="1000">
                <a:solidFill>
                  <a:srgbClr val="8A96AA"/>
                </a:solidFill>
                <a:latin typeface="Arial"/>
                <a:cs typeface="Arial"/>
              </a:rPr>
              <a:t>© נערך על ידי AI Finance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02920"/>
            <a:ext cx="10872216" cy="640080"/>
          </a:xfrm>
          <a:prstGeom prst="rect">
            <a:avLst/>
          </a:prstGeom>
          <a:noFill/>
        </p:spPr>
        <p:txBody>
          <a:bodyPr wrap="square" lIns="0" rIns="0" tIns="0" bIns="0" anchor="t" rtlCol="0">
            <a:spAutoFit/>
          </a:bodyPr>
          <a:lstStyle/>
          <a:p>
            <a:pPr rtl="1" algn="r" marL="0" indent="0">
              <a:lnSpc>
                <a:spcPct val="108000"/>
              </a:lnSpc>
              <a:buNone/>
            </a:pPr>
            <a:r>
              <a:rPr sz="3700" b="1" i="0" lang="he-IL">
                <a:solidFill>
                  <a:srgbClr val="F2F5FA"/>
                </a:solidFill>
                <a:latin typeface="Arial"/>
                <a:cs typeface="Arial"/>
              </a:rPr>
              <a:t>⚡ פרודוקטיביות ובנייה: מרעיון לתוצר</a:t>
            </a:r>
          </a:p>
        </p:txBody>
      </p:sp>
      <p:sp>
        <p:nvSpPr>
          <p:cNvPr id="3" name="TextBox 2"/>
          <p:cNvSpPr txBox="1"/>
          <p:nvPr/>
        </p:nvSpPr>
        <p:spPr>
          <a:xfrm>
            <a:off x="658368" y="1280160"/>
            <a:ext cx="10872216" cy="365760"/>
          </a:xfrm>
          <a:prstGeom prst="rect">
            <a:avLst/>
          </a:prstGeom>
          <a:noFill/>
        </p:spPr>
        <p:txBody>
          <a:bodyPr wrap="square" lIns="0" rIns="0" tIns="0" bIns="0" anchor="t" rtlCol="0">
            <a:spAutoFit/>
          </a:bodyPr>
          <a:lstStyle/>
          <a:p>
            <a:pPr rtl="1" algn="r" marL="0" indent="0">
              <a:lnSpc>
                <a:spcPct val="108000"/>
              </a:lnSpc>
              <a:buNone/>
            </a:pPr>
            <a:r>
              <a:rPr sz="1450" b="0" i="0" lang="he-IL">
                <a:solidFill>
                  <a:srgbClr val="A9B4C6"/>
                </a:solidFill>
                <a:latin typeface="Arial"/>
                <a:cs typeface="Arial"/>
              </a:rPr>
              <a:t>הכלים שהופכים טקסט למשהו מוחשי</a:t>
            </a:r>
          </a:p>
        </p:txBody>
      </p:sp>
      <p:sp>
        <p:nvSpPr>
          <p:cNvPr id="4" name="Rounded Rectangle 3"/>
          <p:cNvSpPr/>
          <p:nvPr/>
        </p:nvSpPr>
        <p:spPr>
          <a:xfrm>
            <a:off x="6199632" y="1920240"/>
            <a:ext cx="5330952" cy="1536192"/>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80192" y="2148840"/>
            <a:ext cx="621792" cy="621792"/>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900" b="1" i="0" lang="he-IL">
                <a:solidFill>
                  <a:srgbClr val="F2F5FA"/>
                </a:solidFill>
                <a:latin typeface="Arial"/>
                <a:cs typeface="Arial"/>
              </a:rPr>
              <a:t>📊</a:t>
            </a:r>
          </a:p>
        </p:txBody>
      </p:sp>
      <p:sp>
        <p:nvSpPr>
          <p:cNvPr id="6" name="TextBox 5"/>
          <p:cNvSpPr txBox="1"/>
          <p:nvPr/>
        </p:nvSpPr>
        <p:spPr>
          <a:xfrm>
            <a:off x="6428232" y="2176272"/>
            <a:ext cx="4206240" cy="365760"/>
          </a:xfrm>
          <a:prstGeom prst="rect">
            <a:avLst/>
          </a:prstGeom>
          <a:noFill/>
        </p:spPr>
        <p:txBody>
          <a:bodyPr wrap="square" lIns="0" rIns="0" tIns="0" bIns="0" anchor="t" rtlCol="0">
            <a:spAutoFit/>
          </a:bodyPr>
          <a:lstStyle/>
          <a:p>
            <a:pPr rtl="1" algn="r" marL="0" indent="0">
              <a:lnSpc>
                <a:spcPct val="108000"/>
              </a:lnSpc>
              <a:buNone/>
            </a:pPr>
            <a:r>
              <a:rPr sz="1800" b="1" i="0" lang="he-IL">
                <a:solidFill>
                  <a:srgbClr val="EBEDF0"/>
                </a:solidFill>
                <a:latin typeface="Arial"/>
                <a:cs typeface="Arial"/>
              </a:rPr>
              <a:t>Gamma</a:t>
            </a:r>
          </a:p>
        </p:txBody>
      </p:sp>
      <p:sp>
        <p:nvSpPr>
          <p:cNvPr id="7" name="TextBox 6"/>
          <p:cNvSpPr txBox="1"/>
          <p:nvPr/>
        </p:nvSpPr>
        <p:spPr>
          <a:xfrm>
            <a:off x="6428232" y="2615184"/>
            <a:ext cx="4206240" cy="731520"/>
          </a:xfrm>
          <a:prstGeom prst="rect">
            <a:avLst/>
          </a:prstGeom>
          <a:noFill/>
        </p:spPr>
        <p:txBody>
          <a:bodyPr wrap="square" lIns="0" rIns="0" tIns="0" bIns="0" anchor="t" rtlCol="0">
            <a:spAutoFit/>
          </a:bodyPr>
          <a:lstStyle/>
          <a:p>
            <a:pPr rtl="1" algn="r" marL="0" indent="0">
              <a:lnSpc>
                <a:spcPct val="108000"/>
              </a:lnSpc>
              <a:buNone/>
            </a:pPr>
            <a:r>
              <a:rPr sz="1400" b="0" i="0" lang="he-IL">
                <a:solidFill>
                  <a:srgbClr val="EBEDF0"/>
                </a:solidFill>
                <a:latin typeface="Arial"/>
                <a:cs typeface="Arial"/>
              </a:rPr>
              <a:t>מצגת או עמוד אינטרנט שלם מכמה שורות טקסט, תוך דקה</a:t>
            </a:r>
          </a:p>
        </p:txBody>
      </p:sp>
      <p:sp>
        <p:nvSpPr>
          <p:cNvPr id="8" name="Rounded Rectangle 7"/>
          <p:cNvSpPr/>
          <p:nvPr/>
        </p:nvSpPr>
        <p:spPr>
          <a:xfrm>
            <a:off x="658368" y="1920240"/>
            <a:ext cx="5330952" cy="1536192"/>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138928" y="2148840"/>
            <a:ext cx="621792" cy="621792"/>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900" b="1" i="0" lang="he-IL">
                <a:solidFill>
                  <a:srgbClr val="F2F5FA"/>
                </a:solidFill>
                <a:latin typeface="Arial"/>
                <a:cs typeface="Arial"/>
              </a:rPr>
              <a:t>🖌️</a:t>
            </a:r>
          </a:p>
        </p:txBody>
      </p:sp>
      <p:sp>
        <p:nvSpPr>
          <p:cNvPr id="10" name="TextBox 9"/>
          <p:cNvSpPr txBox="1"/>
          <p:nvPr/>
        </p:nvSpPr>
        <p:spPr>
          <a:xfrm>
            <a:off x="886968" y="2176272"/>
            <a:ext cx="4206240" cy="365760"/>
          </a:xfrm>
          <a:prstGeom prst="rect">
            <a:avLst/>
          </a:prstGeom>
          <a:noFill/>
        </p:spPr>
        <p:txBody>
          <a:bodyPr wrap="square" lIns="0" rIns="0" tIns="0" bIns="0" anchor="t" rtlCol="0">
            <a:spAutoFit/>
          </a:bodyPr>
          <a:lstStyle/>
          <a:p>
            <a:pPr rtl="1" algn="r" marL="0" indent="0">
              <a:lnSpc>
                <a:spcPct val="108000"/>
              </a:lnSpc>
              <a:buNone/>
            </a:pPr>
            <a:r>
              <a:rPr sz="1800" b="1" i="0" lang="he-IL">
                <a:solidFill>
                  <a:srgbClr val="EBEDF0"/>
                </a:solidFill>
                <a:latin typeface="Arial"/>
                <a:cs typeface="Arial"/>
              </a:rPr>
              <a:t>Canva AI</a:t>
            </a:r>
          </a:p>
        </p:txBody>
      </p:sp>
      <p:sp>
        <p:nvSpPr>
          <p:cNvPr id="11" name="TextBox 10"/>
          <p:cNvSpPr txBox="1"/>
          <p:nvPr/>
        </p:nvSpPr>
        <p:spPr>
          <a:xfrm>
            <a:off x="886968" y="2615184"/>
            <a:ext cx="4206240" cy="731520"/>
          </a:xfrm>
          <a:prstGeom prst="rect">
            <a:avLst/>
          </a:prstGeom>
          <a:noFill/>
        </p:spPr>
        <p:txBody>
          <a:bodyPr wrap="square" lIns="0" rIns="0" tIns="0" bIns="0" anchor="t" rtlCol="0">
            <a:spAutoFit/>
          </a:bodyPr>
          <a:lstStyle/>
          <a:p>
            <a:pPr rtl="1" algn="r" marL="0" indent="0">
              <a:lnSpc>
                <a:spcPct val="108000"/>
              </a:lnSpc>
              <a:buNone/>
            </a:pPr>
            <a:r>
              <a:rPr sz="1400" b="0" i="0" lang="he-IL">
                <a:solidFill>
                  <a:srgbClr val="EBEDF0"/>
                </a:solidFill>
                <a:latin typeface="Arial"/>
                <a:cs typeface="Arial"/>
              </a:rPr>
              <a:t>עיצוב, הסרת רקע בלחיצה, והתאמה אוטומטית לכל גודל</a:t>
            </a:r>
          </a:p>
        </p:txBody>
      </p:sp>
      <p:sp>
        <p:nvSpPr>
          <p:cNvPr id="12" name="Rounded Rectangle 11"/>
          <p:cNvSpPr/>
          <p:nvPr/>
        </p:nvSpPr>
        <p:spPr>
          <a:xfrm>
            <a:off x="6199632" y="3657600"/>
            <a:ext cx="5330952" cy="1536192"/>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680192" y="3886200"/>
            <a:ext cx="621792" cy="621792"/>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900" b="1" i="0" lang="he-IL">
                <a:solidFill>
                  <a:srgbClr val="F2F5FA"/>
                </a:solidFill>
                <a:latin typeface="Arial"/>
                <a:cs typeface="Arial"/>
              </a:rPr>
              <a:t>🤖</a:t>
            </a:r>
          </a:p>
        </p:txBody>
      </p:sp>
      <p:sp>
        <p:nvSpPr>
          <p:cNvPr id="14" name="TextBox 13"/>
          <p:cNvSpPr txBox="1"/>
          <p:nvPr/>
        </p:nvSpPr>
        <p:spPr>
          <a:xfrm>
            <a:off x="6428232" y="3913632"/>
            <a:ext cx="4206240" cy="365760"/>
          </a:xfrm>
          <a:prstGeom prst="rect">
            <a:avLst/>
          </a:prstGeom>
          <a:noFill/>
        </p:spPr>
        <p:txBody>
          <a:bodyPr wrap="square" lIns="0" rIns="0" tIns="0" bIns="0" anchor="t" rtlCol="0">
            <a:spAutoFit/>
          </a:bodyPr>
          <a:lstStyle/>
          <a:p>
            <a:pPr rtl="1" algn="r" marL="0" indent="0">
              <a:lnSpc>
                <a:spcPct val="108000"/>
              </a:lnSpc>
              <a:buNone/>
            </a:pPr>
            <a:r>
              <a:rPr sz="1800" b="1" i="0" lang="he-IL">
                <a:solidFill>
                  <a:srgbClr val="EBEDF0"/>
                </a:solidFill>
                <a:latin typeface="Arial"/>
                <a:cs typeface="Arial"/>
              </a:rPr>
              <a:t>עוזר אישי משלכם</a:t>
            </a:r>
          </a:p>
        </p:txBody>
      </p:sp>
      <p:sp>
        <p:nvSpPr>
          <p:cNvPr id="15" name="TextBox 14"/>
          <p:cNvSpPr txBox="1"/>
          <p:nvPr/>
        </p:nvSpPr>
        <p:spPr>
          <a:xfrm>
            <a:off x="6428232" y="4352544"/>
            <a:ext cx="4206240" cy="731520"/>
          </a:xfrm>
          <a:prstGeom prst="rect">
            <a:avLst/>
          </a:prstGeom>
          <a:noFill/>
        </p:spPr>
        <p:txBody>
          <a:bodyPr wrap="square" lIns="0" rIns="0" tIns="0" bIns="0" anchor="t" rtlCol="0">
            <a:spAutoFit/>
          </a:bodyPr>
          <a:lstStyle/>
          <a:p>
            <a:pPr rtl="1" algn="r" marL="0" indent="0">
              <a:lnSpc>
                <a:spcPct val="108000"/>
              </a:lnSpc>
              <a:buNone/>
            </a:pPr>
            <a:r>
              <a:rPr sz="1400" b="0" i="0" lang="he-IL">
                <a:solidFill>
                  <a:srgbClr val="EBEDF0"/>
                </a:solidFill>
                <a:latin typeface="Arial"/>
                <a:cs typeface="Arial"/>
              </a:rPr>
              <a:t>GPTs, Gems ו-Projects: עוזר שמכיר את העבודה שלכם ולא צריך הסבר מחדש</a:t>
            </a:r>
          </a:p>
        </p:txBody>
      </p:sp>
      <p:sp>
        <p:nvSpPr>
          <p:cNvPr id="16" name="Rounded Rectangle 15"/>
          <p:cNvSpPr/>
          <p:nvPr/>
        </p:nvSpPr>
        <p:spPr>
          <a:xfrm>
            <a:off x="658368" y="3657600"/>
            <a:ext cx="5330952" cy="1536192"/>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5138928" y="3886200"/>
            <a:ext cx="621792" cy="621792"/>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900" b="1" i="0" lang="he-IL">
                <a:solidFill>
                  <a:srgbClr val="F2F5FA"/>
                </a:solidFill>
                <a:latin typeface="Arial"/>
                <a:cs typeface="Arial"/>
              </a:rPr>
              <a:t>📱</a:t>
            </a:r>
          </a:p>
        </p:txBody>
      </p:sp>
      <p:sp>
        <p:nvSpPr>
          <p:cNvPr id="18" name="TextBox 17"/>
          <p:cNvSpPr txBox="1"/>
          <p:nvPr/>
        </p:nvSpPr>
        <p:spPr>
          <a:xfrm>
            <a:off x="886968" y="3913632"/>
            <a:ext cx="4206240" cy="365760"/>
          </a:xfrm>
          <a:prstGeom prst="rect">
            <a:avLst/>
          </a:prstGeom>
          <a:noFill/>
        </p:spPr>
        <p:txBody>
          <a:bodyPr wrap="square" lIns="0" rIns="0" tIns="0" bIns="0" anchor="t" rtlCol="0">
            <a:spAutoFit/>
          </a:bodyPr>
          <a:lstStyle/>
          <a:p>
            <a:pPr rtl="1" algn="r" marL="0" indent="0">
              <a:lnSpc>
                <a:spcPct val="108000"/>
              </a:lnSpc>
              <a:buNone/>
            </a:pPr>
            <a:r>
              <a:rPr sz="1800" b="1" i="0" lang="he-IL">
                <a:solidFill>
                  <a:srgbClr val="EBEDF0"/>
                </a:solidFill>
                <a:latin typeface="Arial"/>
                <a:cs typeface="Arial"/>
              </a:rPr>
              <a:t>Lovable / Claude</a:t>
            </a:r>
          </a:p>
        </p:txBody>
      </p:sp>
      <p:sp>
        <p:nvSpPr>
          <p:cNvPr id="19" name="TextBox 18"/>
          <p:cNvSpPr txBox="1"/>
          <p:nvPr/>
        </p:nvSpPr>
        <p:spPr>
          <a:xfrm>
            <a:off x="886968" y="4352544"/>
            <a:ext cx="4206240" cy="731520"/>
          </a:xfrm>
          <a:prstGeom prst="rect">
            <a:avLst/>
          </a:prstGeom>
          <a:noFill/>
        </p:spPr>
        <p:txBody>
          <a:bodyPr wrap="square" lIns="0" rIns="0" tIns="0" bIns="0" anchor="t" rtlCol="0">
            <a:spAutoFit/>
          </a:bodyPr>
          <a:lstStyle/>
          <a:p>
            <a:pPr rtl="1" algn="r" marL="0" indent="0">
              <a:lnSpc>
                <a:spcPct val="108000"/>
              </a:lnSpc>
              <a:buNone/>
            </a:pPr>
            <a:r>
              <a:rPr sz="1400" b="0" i="0" lang="he-IL">
                <a:solidFill>
                  <a:srgbClr val="EBEDF0"/>
                </a:solidFill>
                <a:latin typeface="Arial"/>
                <a:cs typeface="Arial"/>
              </a:rPr>
              <a:t>מתארים אפליקציה במילים ומקבלים אפליקציה עובדת. בלי לכתוב קוד</a:t>
            </a:r>
          </a:p>
        </p:txBody>
      </p:sp>
      <p:sp>
        <p:nvSpPr>
          <p:cNvPr id="20" name="Rounded Rectangle 19"/>
          <p:cNvSpPr/>
          <p:nvPr/>
        </p:nvSpPr>
        <p:spPr>
          <a:xfrm>
            <a:off x="658368" y="5532120"/>
            <a:ext cx="10872216" cy="640080"/>
          </a:xfrm>
          <a:prstGeom prst="roundRect">
            <a:avLst>
              <a:gd name="adj" fmla="val 3000"/>
            </a:avLst>
          </a:prstGeom>
          <a:solidFill>
            <a:srgbClr val="022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86968" y="5532120"/>
            <a:ext cx="10415016" cy="640080"/>
          </a:xfrm>
          <a:prstGeom prst="rect">
            <a:avLst/>
          </a:prstGeom>
          <a:noFill/>
        </p:spPr>
        <p:txBody>
          <a:bodyPr wrap="square" lIns="0" rIns="0" tIns="0" bIns="0" anchor="ctr" rtlCol="0">
            <a:spAutoFit/>
          </a:bodyPr>
          <a:lstStyle/>
          <a:p>
            <a:pPr rtl="1" algn="r" marL="0" indent="0">
              <a:lnSpc>
                <a:spcPct val="108000"/>
              </a:lnSpc>
              <a:buNone/>
            </a:pPr>
            <a:r>
              <a:rPr sz="1450" b="0" i="0" lang="he-IL">
                <a:solidFill>
                  <a:srgbClr val="EBEDF0"/>
                </a:solidFill>
                <a:latin typeface="Arial"/>
                <a:cs typeface="Arial"/>
              </a:rPr>
              <a:t>💡  נקודה למחשבה: איזו משימה חוזרת בעבודה שלכם הייתם שמחים "להעביר" לעוזר כזה?</a:t>
            </a:r>
          </a:p>
        </p:txBody>
      </p:sp>
      <p:sp>
        <p:nvSpPr>
          <p:cNvPr id="22" name="TextBox 21"/>
          <p:cNvSpPr txBox="1"/>
          <p:nvPr/>
        </p:nvSpPr>
        <p:spPr>
          <a:xfrm>
            <a:off x="6675120" y="6473952"/>
            <a:ext cx="4846320" cy="292608"/>
          </a:xfrm>
          <a:prstGeom prst="rect">
            <a:avLst/>
          </a:prstGeom>
          <a:noFill/>
        </p:spPr>
        <p:txBody>
          <a:bodyPr wrap="none" lIns="0" rIns="0" tIns="0" bIns="0">
            <a:spAutoFit/>
          </a:bodyPr>
          <a:lstStyle/>
          <a:p>
            <a:pPr algn="r" rtl="1"/>
            <a:r>
              <a:rPr sz="1000">
                <a:solidFill>
                  <a:srgbClr val="8A96AA"/>
                </a:solidFill>
                <a:latin typeface="Arial"/>
                <a:cs typeface="Arial"/>
              </a:rPr>
              <a:t>© נערך על ידי AI Finance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02920"/>
            <a:ext cx="10872216" cy="640080"/>
          </a:xfrm>
          <a:prstGeom prst="rect">
            <a:avLst/>
          </a:prstGeom>
          <a:noFill/>
        </p:spPr>
        <p:txBody>
          <a:bodyPr wrap="square" lIns="0" rIns="0" tIns="0" bIns="0" anchor="t" rtlCol="0">
            <a:spAutoFit/>
          </a:bodyPr>
          <a:lstStyle/>
          <a:p>
            <a:pPr rtl="1" algn="r" marL="0" indent="0">
              <a:lnSpc>
                <a:spcPct val="108000"/>
              </a:lnSpc>
              <a:buNone/>
            </a:pPr>
            <a:r>
              <a:rPr sz="3700" b="1" i="0" lang="he-IL">
                <a:solidFill>
                  <a:srgbClr val="F2F5FA"/>
                </a:solidFill>
                <a:latin typeface="Arial"/>
                <a:cs typeface="Arial"/>
              </a:rPr>
              <a:t>הדגמת וואו: 5 דקות, 3 יצירות</a:t>
            </a:r>
          </a:p>
        </p:txBody>
      </p:sp>
      <p:sp>
        <p:nvSpPr>
          <p:cNvPr id="3" name="TextBox 2"/>
          <p:cNvSpPr txBox="1"/>
          <p:nvPr/>
        </p:nvSpPr>
        <p:spPr>
          <a:xfrm>
            <a:off x="658368" y="1280160"/>
            <a:ext cx="10872216" cy="365760"/>
          </a:xfrm>
          <a:prstGeom prst="rect">
            <a:avLst/>
          </a:prstGeom>
          <a:noFill/>
        </p:spPr>
        <p:txBody>
          <a:bodyPr wrap="square" lIns="0" rIns="0" tIns="0" bIns="0" anchor="t" rtlCol="0">
            <a:spAutoFit/>
          </a:bodyPr>
          <a:lstStyle/>
          <a:p>
            <a:pPr rtl="1" algn="r" marL="0" indent="0">
              <a:lnSpc>
                <a:spcPct val="108000"/>
              </a:lnSpc>
              <a:buNone/>
            </a:pPr>
            <a:r>
              <a:rPr sz="1450" b="0" i="0" lang="he-IL">
                <a:solidFill>
                  <a:srgbClr val="A9B4C6"/>
                </a:solidFill>
                <a:latin typeface="Arial"/>
                <a:cs typeface="Arial"/>
              </a:rPr>
              <a:t>ממשפט אחד לתוצר מוגמר, בזמן אמת</a:t>
            </a:r>
          </a:p>
        </p:txBody>
      </p:sp>
      <p:sp>
        <p:nvSpPr>
          <p:cNvPr id="4" name="Rounded Rectangle 3"/>
          <p:cNvSpPr/>
          <p:nvPr/>
        </p:nvSpPr>
        <p:spPr>
          <a:xfrm>
            <a:off x="8156448" y="1920240"/>
            <a:ext cx="3383280" cy="338328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9390888" y="2194560"/>
            <a:ext cx="914400" cy="914400"/>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2800" b="1" i="0" lang="he-IL">
                <a:solidFill>
                  <a:srgbClr val="F2F5FA"/>
                </a:solidFill>
                <a:latin typeface="Arial"/>
                <a:cs typeface="Arial"/>
              </a:rPr>
              <a:t>🎵</a:t>
            </a:r>
          </a:p>
        </p:txBody>
      </p:sp>
      <p:sp>
        <p:nvSpPr>
          <p:cNvPr id="6" name="TextBox 5"/>
          <p:cNvSpPr txBox="1"/>
          <p:nvPr/>
        </p:nvSpPr>
        <p:spPr>
          <a:xfrm>
            <a:off x="8357616" y="3291840"/>
            <a:ext cx="2980944" cy="365760"/>
          </a:xfrm>
          <a:prstGeom prst="rect">
            <a:avLst/>
          </a:prstGeom>
          <a:noFill/>
        </p:spPr>
        <p:txBody>
          <a:bodyPr wrap="square" lIns="0" rIns="0" tIns="0" bIns="0" anchor="t" rtlCol="0">
            <a:spAutoFit/>
          </a:bodyPr>
          <a:lstStyle/>
          <a:p>
            <a:pPr rtl="1" algn="ctr" marL="0" indent="0">
              <a:lnSpc>
                <a:spcPct val="108000"/>
              </a:lnSpc>
              <a:buNone/>
            </a:pPr>
            <a:r>
              <a:rPr sz="1800" b="1" i="0" lang="he-IL">
                <a:solidFill>
                  <a:srgbClr val="EBEDF0"/>
                </a:solidFill>
                <a:latin typeface="Arial"/>
                <a:cs typeface="Arial"/>
              </a:rPr>
              <a:t>שיר על הקורס</a:t>
            </a:r>
          </a:p>
        </p:txBody>
      </p:sp>
      <p:sp>
        <p:nvSpPr>
          <p:cNvPr id="7" name="TextBox 6"/>
          <p:cNvSpPr txBox="1"/>
          <p:nvPr/>
        </p:nvSpPr>
        <p:spPr>
          <a:xfrm>
            <a:off x="8357616" y="3703320"/>
            <a:ext cx="2980944" cy="320040"/>
          </a:xfrm>
          <a:prstGeom prst="rect">
            <a:avLst/>
          </a:prstGeom>
          <a:noFill/>
        </p:spPr>
        <p:txBody>
          <a:bodyPr wrap="square" lIns="0" rIns="0" tIns="0" bIns="0" anchor="t" rtlCol="0">
            <a:spAutoFit/>
          </a:bodyPr>
          <a:lstStyle/>
          <a:p>
            <a:pPr rtl="1" algn="ctr" marL="0" indent="0">
              <a:lnSpc>
                <a:spcPct val="108000"/>
              </a:lnSpc>
              <a:buNone/>
            </a:pPr>
            <a:r>
              <a:rPr sz="1300" b="1" i="0" lang="he-IL">
                <a:solidFill>
                  <a:srgbClr val="6296FF"/>
                </a:solidFill>
                <a:latin typeface="Arial"/>
                <a:cs typeface="Arial"/>
              </a:rPr>
              <a:t>Suno</a:t>
            </a:r>
          </a:p>
        </p:txBody>
      </p:sp>
      <p:sp>
        <p:nvSpPr>
          <p:cNvPr id="8" name="TextBox 7"/>
          <p:cNvSpPr txBox="1"/>
          <p:nvPr/>
        </p:nvSpPr>
        <p:spPr>
          <a:xfrm>
            <a:off x="8430768" y="4160520"/>
            <a:ext cx="2834640" cy="1005840"/>
          </a:xfrm>
          <a:prstGeom prst="rect">
            <a:avLst/>
          </a:prstGeom>
          <a:noFill/>
        </p:spPr>
        <p:txBody>
          <a:bodyPr wrap="square" lIns="0" rIns="0" tIns="0" bIns="0" anchor="t" rtlCol="0">
            <a:spAutoFit/>
          </a:bodyPr>
          <a:lstStyle/>
          <a:p>
            <a:pPr rtl="1" algn="ctr" marL="0" indent="0">
              <a:lnSpc>
                <a:spcPct val="108000"/>
              </a:lnSpc>
              <a:buNone/>
            </a:pPr>
            <a:r>
              <a:rPr sz="1350" b="0" i="0" lang="he-IL">
                <a:solidFill>
                  <a:srgbClr val="EBEDF0"/>
                </a:solidFill>
                <a:latin typeface="Arial"/>
                <a:cs typeface="Arial"/>
              </a:rPr>
              <a:t>כתבו בצ'אט נושא ושלושה שמות, ותוך דקה יש לנו שיר.</a:t>
            </a:r>
          </a:p>
        </p:txBody>
      </p:sp>
      <p:sp>
        <p:nvSpPr>
          <p:cNvPr id="9" name="Rounded Rectangle 8"/>
          <p:cNvSpPr/>
          <p:nvPr/>
        </p:nvSpPr>
        <p:spPr>
          <a:xfrm>
            <a:off x="8339327" y="2057400"/>
            <a:ext cx="384048" cy="384048"/>
          </a:xfrm>
          <a:prstGeom prst="roundRect">
            <a:avLst>
              <a:gd name="adj" fmla="val 20000"/>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300" b="1" i="0" lang="he-IL">
                <a:solidFill>
                  <a:srgbClr val="F2F5FA"/>
                </a:solidFill>
                <a:latin typeface="Arial"/>
                <a:cs typeface="Arial"/>
              </a:rPr>
              <a:t>1</a:t>
            </a:r>
          </a:p>
        </p:txBody>
      </p:sp>
      <p:sp>
        <p:nvSpPr>
          <p:cNvPr id="10" name="Rounded Rectangle 9"/>
          <p:cNvSpPr/>
          <p:nvPr/>
        </p:nvSpPr>
        <p:spPr>
          <a:xfrm>
            <a:off x="4407408" y="1920240"/>
            <a:ext cx="3383280" cy="338328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641848" y="2194560"/>
            <a:ext cx="914400" cy="914400"/>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2800" b="1" i="0" lang="he-IL">
                <a:solidFill>
                  <a:srgbClr val="F2F5FA"/>
                </a:solidFill>
                <a:latin typeface="Arial"/>
                <a:cs typeface="Arial"/>
              </a:rPr>
              <a:t>🎧</a:t>
            </a:r>
          </a:p>
        </p:txBody>
      </p:sp>
      <p:sp>
        <p:nvSpPr>
          <p:cNvPr id="12" name="TextBox 11"/>
          <p:cNvSpPr txBox="1"/>
          <p:nvPr/>
        </p:nvSpPr>
        <p:spPr>
          <a:xfrm>
            <a:off x="4608576" y="3291840"/>
            <a:ext cx="2980944" cy="365760"/>
          </a:xfrm>
          <a:prstGeom prst="rect">
            <a:avLst/>
          </a:prstGeom>
          <a:noFill/>
        </p:spPr>
        <p:txBody>
          <a:bodyPr wrap="square" lIns="0" rIns="0" tIns="0" bIns="0" anchor="t" rtlCol="0">
            <a:spAutoFit/>
          </a:bodyPr>
          <a:lstStyle/>
          <a:p>
            <a:pPr rtl="1" algn="ctr" marL="0" indent="0">
              <a:lnSpc>
                <a:spcPct val="108000"/>
              </a:lnSpc>
              <a:buNone/>
            </a:pPr>
            <a:r>
              <a:rPr sz="1800" b="1" i="0" lang="he-IL">
                <a:solidFill>
                  <a:srgbClr val="EBEDF0"/>
                </a:solidFill>
                <a:latin typeface="Arial"/>
                <a:cs typeface="Arial"/>
              </a:rPr>
              <a:t>פודקאסט מהמצגת</a:t>
            </a:r>
          </a:p>
        </p:txBody>
      </p:sp>
      <p:sp>
        <p:nvSpPr>
          <p:cNvPr id="13" name="TextBox 12"/>
          <p:cNvSpPr txBox="1"/>
          <p:nvPr/>
        </p:nvSpPr>
        <p:spPr>
          <a:xfrm>
            <a:off x="4608576" y="3703320"/>
            <a:ext cx="2980944" cy="320040"/>
          </a:xfrm>
          <a:prstGeom prst="rect">
            <a:avLst/>
          </a:prstGeom>
          <a:noFill/>
        </p:spPr>
        <p:txBody>
          <a:bodyPr wrap="square" lIns="0" rIns="0" tIns="0" bIns="0" anchor="t" rtlCol="0">
            <a:spAutoFit/>
          </a:bodyPr>
          <a:lstStyle/>
          <a:p>
            <a:pPr rtl="1" algn="ctr" marL="0" indent="0">
              <a:lnSpc>
                <a:spcPct val="108000"/>
              </a:lnSpc>
              <a:buNone/>
            </a:pPr>
            <a:r>
              <a:rPr sz="1300" b="1" i="0" lang="he-IL">
                <a:solidFill>
                  <a:srgbClr val="6296FF"/>
                </a:solidFill>
                <a:latin typeface="Arial"/>
                <a:cs typeface="Arial"/>
              </a:rPr>
              <a:t>NotebookLM</a:t>
            </a:r>
          </a:p>
        </p:txBody>
      </p:sp>
      <p:sp>
        <p:nvSpPr>
          <p:cNvPr id="14" name="TextBox 13"/>
          <p:cNvSpPr txBox="1"/>
          <p:nvPr/>
        </p:nvSpPr>
        <p:spPr>
          <a:xfrm>
            <a:off x="4681728" y="4160520"/>
            <a:ext cx="2834640" cy="1005840"/>
          </a:xfrm>
          <a:prstGeom prst="rect">
            <a:avLst/>
          </a:prstGeom>
          <a:noFill/>
        </p:spPr>
        <p:txBody>
          <a:bodyPr wrap="square" lIns="0" rIns="0" tIns="0" bIns="0" anchor="t" rtlCol="0">
            <a:spAutoFit/>
          </a:bodyPr>
          <a:lstStyle/>
          <a:p>
            <a:pPr rtl="1" algn="ctr" marL="0" indent="0">
              <a:lnSpc>
                <a:spcPct val="108000"/>
              </a:lnSpc>
              <a:buNone/>
            </a:pPr>
            <a:r>
              <a:rPr sz="1350" b="0" i="0" lang="he-IL">
                <a:solidFill>
                  <a:srgbClr val="EBEDF0"/>
                </a:solidFill>
                <a:latin typeface="Arial"/>
                <a:cs typeface="Arial"/>
              </a:rPr>
              <a:t>שני מגישים מדברים על מה שלמדנו היום. בעברית.</a:t>
            </a:r>
          </a:p>
        </p:txBody>
      </p:sp>
      <p:sp>
        <p:nvSpPr>
          <p:cNvPr id="15" name="Rounded Rectangle 14"/>
          <p:cNvSpPr/>
          <p:nvPr/>
        </p:nvSpPr>
        <p:spPr>
          <a:xfrm>
            <a:off x="4590288" y="2057400"/>
            <a:ext cx="384048" cy="384048"/>
          </a:xfrm>
          <a:prstGeom prst="roundRect">
            <a:avLst>
              <a:gd name="adj" fmla="val 20000"/>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300" b="1" i="0" lang="he-IL">
                <a:solidFill>
                  <a:srgbClr val="F2F5FA"/>
                </a:solidFill>
                <a:latin typeface="Arial"/>
                <a:cs typeface="Arial"/>
              </a:rPr>
              <a:t>2</a:t>
            </a:r>
          </a:p>
        </p:txBody>
      </p:sp>
      <p:sp>
        <p:nvSpPr>
          <p:cNvPr id="16" name="Rounded Rectangle 15"/>
          <p:cNvSpPr/>
          <p:nvPr/>
        </p:nvSpPr>
        <p:spPr>
          <a:xfrm>
            <a:off x="658368" y="1920240"/>
            <a:ext cx="3383280" cy="338328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892808" y="2194560"/>
            <a:ext cx="914400" cy="914400"/>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2800" b="1" i="0" lang="he-IL">
                <a:solidFill>
                  <a:srgbClr val="F2F5FA"/>
                </a:solidFill>
                <a:latin typeface="Arial"/>
                <a:cs typeface="Arial"/>
              </a:rPr>
              <a:t>🎮</a:t>
            </a:r>
          </a:p>
        </p:txBody>
      </p:sp>
      <p:sp>
        <p:nvSpPr>
          <p:cNvPr id="18" name="TextBox 17"/>
          <p:cNvSpPr txBox="1"/>
          <p:nvPr/>
        </p:nvSpPr>
        <p:spPr>
          <a:xfrm>
            <a:off x="859536" y="3291840"/>
            <a:ext cx="2980944" cy="365760"/>
          </a:xfrm>
          <a:prstGeom prst="rect">
            <a:avLst/>
          </a:prstGeom>
          <a:noFill/>
        </p:spPr>
        <p:txBody>
          <a:bodyPr wrap="square" lIns="0" rIns="0" tIns="0" bIns="0" anchor="t" rtlCol="0">
            <a:spAutoFit/>
          </a:bodyPr>
          <a:lstStyle/>
          <a:p>
            <a:pPr rtl="1" algn="ctr" marL="0" indent="0">
              <a:lnSpc>
                <a:spcPct val="108000"/>
              </a:lnSpc>
              <a:buNone/>
            </a:pPr>
            <a:r>
              <a:rPr sz="1800" b="1" i="0" lang="he-IL">
                <a:solidFill>
                  <a:srgbClr val="EBEDF0"/>
                </a:solidFill>
                <a:latin typeface="Arial"/>
                <a:cs typeface="Arial"/>
              </a:rPr>
              <a:t>משחק טריוויה</a:t>
            </a:r>
          </a:p>
        </p:txBody>
      </p:sp>
      <p:sp>
        <p:nvSpPr>
          <p:cNvPr id="19" name="TextBox 18"/>
          <p:cNvSpPr txBox="1"/>
          <p:nvPr/>
        </p:nvSpPr>
        <p:spPr>
          <a:xfrm>
            <a:off x="859536" y="3703320"/>
            <a:ext cx="2980944" cy="320040"/>
          </a:xfrm>
          <a:prstGeom prst="rect">
            <a:avLst/>
          </a:prstGeom>
          <a:noFill/>
        </p:spPr>
        <p:txBody>
          <a:bodyPr wrap="square" lIns="0" rIns="0" tIns="0" bIns="0" anchor="t" rtlCol="0">
            <a:spAutoFit/>
          </a:bodyPr>
          <a:lstStyle/>
          <a:p>
            <a:pPr rtl="1" algn="ctr" marL="0" indent="0">
              <a:lnSpc>
                <a:spcPct val="108000"/>
              </a:lnSpc>
              <a:buNone/>
            </a:pPr>
            <a:r>
              <a:rPr sz="1300" b="1" i="0" lang="he-IL">
                <a:solidFill>
                  <a:srgbClr val="6296FF"/>
                </a:solidFill>
                <a:latin typeface="Arial"/>
                <a:cs typeface="Arial"/>
              </a:rPr>
              <a:t>Claude / Lovable</a:t>
            </a:r>
          </a:p>
        </p:txBody>
      </p:sp>
      <p:sp>
        <p:nvSpPr>
          <p:cNvPr id="20" name="TextBox 19"/>
          <p:cNvSpPr txBox="1"/>
          <p:nvPr/>
        </p:nvSpPr>
        <p:spPr>
          <a:xfrm>
            <a:off x="932688" y="4160520"/>
            <a:ext cx="2834640" cy="1005840"/>
          </a:xfrm>
          <a:prstGeom prst="rect">
            <a:avLst/>
          </a:prstGeom>
          <a:noFill/>
        </p:spPr>
        <p:txBody>
          <a:bodyPr wrap="square" lIns="0" rIns="0" tIns="0" bIns="0" anchor="t" rtlCol="0">
            <a:spAutoFit/>
          </a:bodyPr>
          <a:lstStyle/>
          <a:p>
            <a:pPr rtl="1" algn="ctr" marL="0" indent="0">
              <a:lnSpc>
                <a:spcPct val="108000"/>
              </a:lnSpc>
              <a:buNone/>
            </a:pPr>
            <a:r>
              <a:rPr sz="1350" b="0" i="0" lang="he-IL">
                <a:solidFill>
                  <a:srgbClr val="EBEDF0"/>
                </a:solidFill>
                <a:latin typeface="Arial"/>
                <a:cs typeface="Arial"/>
              </a:rPr>
              <a:t>"בנה לי משחק טריוויה על AI עם 10 שאלות". עונים בצ'אט.</a:t>
            </a:r>
          </a:p>
        </p:txBody>
      </p:sp>
      <p:sp>
        <p:nvSpPr>
          <p:cNvPr id="21" name="Rounded Rectangle 20"/>
          <p:cNvSpPr/>
          <p:nvPr/>
        </p:nvSpPr>
        <p:spPr>
          <a:xfrm>
            <a:off x="841248" y="2057400"/>
            <a:ext cx="384048" cy="384048"/>
          </a:xfrm>
          <a:prstGeom prst="roundRect">
            <a:avLst>
              <a:gd name="adj" fmla="val 20000"/>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300" b="1" i="0" lang="he-IL">
                <a:solidFill>
                  <a:srgbClr val="F2F5FA"/>
                </a:solidFill>
                <a:latin typeface="Arial"/>
                <a:cs typeface="Arial"/>
              </a:rPr>
              <a:t>3</a:t>
            </a:r>
          </a:p>
        </p:txBody>
      </p:sp>
      <p:sp>
        <p:nvSpPr>
          <p:cNvPr id="22" name="Rounded Rectangle 21"/>
          <p:cNvSpPr/>
          <p:nvPr/>
        </p:nvSpPr>
        <p:spPr>
          <a:xfrm>
            <a:off x="658368" y="5532120"/>
            <a:ext cx="10872216" cy="640080"/>
          </a:xfrm>
          <a:prstGeom prst="roundRect">
            <a:avLst>
              <a:gd name="adj" fmla="val 3000"/>
            </a:avLst>
          </a:prstGeom>
          <a:solidFill>
            <a:srgbClr val="183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86968" y="5532120"/>
            <a:ext cx="10415016" cy="640080"/>
          </a:xfrm>
          <a:prstGeom prst="rect">
            <a:avLst/>
          </a:prstGeom>
          <a:noFill/>
        </p:spPr>
        <p:txBody>
          <a:bodyPr wrap="square" lIns="0" rIns="0" tIns="0" bIns="0" anchor="ctr" rtlCol="0">
            <a:spAutoFit/>
          </a:bodyPr>
          <a:lstStyle/>
          <a:p>
            <a:pPr rtl="1" algn="r" marL="0" indent="0">
              <a:lnSpc>
                <a:spcPct val="108000"/>
              </a:lnSpc>
              <a:buNone/>
            </a:pPr>
            <a:r>
              <a:rPr sz="1450" b="0" i="0" lang="he-IL">
                <a:solidFill>
                  <a:srgbClr val="EBEDF0"/>
                </a:solidFill>
                <a:latin typeface="Arial"/>
                <a:cs typeface="Arial"/>
              </a:rPr>
              <a:t>🎓  כל אחד מאלה יהיה תרגיל שתעשו בעצמכם בהמשך הקורס.</a:t>
            </a:r>
          </a:p>
        </p:txBody>
      </p:sp>
      <p:sp>
        <p:nvSpPr>
          <p:cNvPr id="24" name="TextBox 23"/>
          <p:cNvSpPr txBox="1"/>
          <p:nvPr/>
        </p:nvSpPr>
        <p:spPr>
          <a:xfrm>
            <a:off x="6675120" y="6473952"/>
            <a:ext cx="4846320" cy="292608"/>
          </a:xfrm>
          <a:prstGeom prst="rect">
            <a:avLst/>
          </a:prstGeom>
          <a:noFill/>
        </p:spPr>
        <p:txBody>
          <a:bodyPr wrap="none" lIns="0" rIns="0" tIns="0" bIns="0">
            <a:spAutoFit/>
          </a:bodyPr>
          <a:lstStyle/>
          <a:p>
            <a:pPr algn="r" rtl="1"/>
            <a:r>
              <a:rPr sz="1000">
                <a:solidFill>
                  <a:srgbClr val="8A96AA"/>
                </a:solidFill>
                <a:latin typeface="Arial"/>
                <a:cs typeface="Arial"/>
              </a:rPr>
              <a:t>© נערך על ידי AI Finance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tretch>
            <a:fillRect/>
          </a:stretch>
        </p:blipFill>
        <p:spPr>
          <a:xfrm>
            <a:off x="0" y="0"/>
            <a:ext cx="4800480" cy="6858000"/>
          </a:xfrm>
          <a:custGeom>
            <a:avLst/>
            <a:gdLst/>
            <a:ahLst/>
            <a:cxnLst/>
            <a:rect l="0" t="0" r="100000" b="100000"/>
            <a:pathLst>
              <a:path w="100000" h="100000">
                <a:moveTo>
                  <a:pt x="0" y="0"/>
                </a:moveTo>
                <a:lnTo>
                  <a:pt x="90530" y="100"/>
                </a:lnTo>
                <a:lnTo>
                  <a:pt x="93070" y="6350"/>
                </a:lnTo>
                <a:lnTo>
                  <a:pt x="94920" y="12210"/>
                </a:lnTo>
                <a:lnTo>
                  <a:pt x="96680" y="19820"/>
                </a:lnTo>
                <a:lnTo>
                  <a:pt x="97560" y="25880"/>
                </a:lnTo>
                <a:lnTo>
                  <a:pt x="97950" y="30960"/>
                </a:lnTo>
                <a:lnTo>
                  <a:pt x="97950" y="39060"/>
                </a:lnTo>
                <a:lnTo>
                  <a:pt x="97270" y="46480"/>
                </a:lnTo>
                <a:lnTo>
                  <a:pt x="96190" y="52640"/>
                </a:lnTo>
                <a:lnTo>
                  <a:pt x="94730" y="58500"/>
                </a:lnTo>
                <a:lnTo>
                  <a:pt x="92480" y="65230"/>
                </a:lnTo>
                <a:lnTo>
                  <a:pt x="89550" y="72070"/>
                </a:lnTo>
                <a:lnTo>
                  <a:pt x="86820" y="77340"/>
                </a:lnTo>
                <a:lnTo>
                  <a:pt x="83500" y="82810"/>
                </a:lnTo>
                <a:lnTo>
                  <a:pt x="79200" y="88870"/>
                </a:lnTo>
                <a:lnTo>
                  <a:pt x="75880" y="92770"/>
                </a:lnTo>
                <a:lnTo>
                  <a:pt x="75880" y="92970"/>
                </a:lnTo>
                <a:lnTo>
                  <a:pt x="74510" y="94340"/>
                </a:lnTo>
                <a:lnTo>
                  <a:pt x="74510" y="94530"/>
                </a:lnTo>
                <a:lnTo>
                  <a:pt x="69240" y="100000"/>
                </a:lnTo>
                <a:lnTo>
                  <a:pt x="0" y="100000"/>
                </a:lnTo>
                <a:close/>
              </a:path>
            </a:pathLst>
          </a:custGeom>
        </p:spPr>
      </p:pic>
      <p:sp>
        <p:nvSpPr>
          <p:cNvPr id="3" name="Text 0"/>
          <p:cNvSpPr/>
          <p:nvPr/>
        </p:nvSpPr>
        <p:spPr>
          <a:xfrm>
            <a:off x="5233360" y="1207195"/>
            <a:ext cx="6296860" cy="1228527"/>
          </a:xfrm>
          <a:prstGeom prst="rect">
            <a:avLst/>
          </a:prstGeom>
          <a:noFill/>
          <a:ln/>
        </p:spPr>
        <p:txBody>
          <a:bodyPr wrap="square" lIns="0" tIns="0" rIns="0" bIns="0" rtlCol="0" anchor="t">
            <a:normAutofit/>
          </a:bodyPr>
          <a:lstStyle/>
          <a:p>
            <a:pPr rtl="1" algn="r" indent="0" marL="0">
              <a:lnSpc>
                <a:spcPct val="108000"/>
              </a:lnSpc>
              <a:buNone/>
            </a:pPr>
            <a:r>
              <a:rPr lang="he-IL" altLang="en-US" sz="3700" b="1" spc="-74" kern="100" dirty="0">
                <a:solidFill>
                  <a:srgbClr val="F2F5FA"/>
                </a:solidFill>
                <a:latin typeface="Arial" pitchFamily="34" charset="0"/>
                <a:ea typeface="Arial" pitchFamily="34" charset="-122"/>
                <a:cs typeface="Arial" pitchFamily="34" charset="-120"/>
              </a:rPr>
              <a:t>ידיים על המקלדת: פתיחת חשבון + תרגיל ראשון</a:t>
            </a:r>
            <a:endParaRPr lang="he-IL" sz="3700" dirty="0"/>
          </a:p>
        </p:txBody>
      </p:sp>
      <p:sp>
        <p:nvSpPr>
          <p:cNvPr id="4" name="Shape 1"/>
          <p:cNvSpPr/>
          <p:nvPr/>
        </p:nvSpPr>
        <p:spPr>
          <a:xfrm>
            <a:off x="11104979" y="2719189"/>
            <a:ext cx="425241" cy="425252"/>
          </a:xfrm>
          <a:prstGeom prst="roundRect">
            <a:avLst>
              <a:gd name="adj" fmla="val 18669"/>
            </a:avLst>
          </a:prstGeom>
          <a:solidFill>
            <a:srgbClr val="101620"/>
          </a:solidFill>
          <a:ln w="19050">
            <a:solidFill>
              <a:srgbClr val="002A80"/>
            </a:solidFill>
            <a:prstDash val="solid"/>
          </a:ln>
        </p:spPr>
        <p:txBody>
          <a:bodyPr/>
          <a:p/>
        </p:txBody>
      </p:sp>
      <p:sp>
        <p:nvSpPr>
          <p:cNvPr id="5" name="Text 2"/>
          <p:cNvSpPr/>
          <p:nvPr/>
        </p:nvSpPr>
        <p:spPr>
          <a:xfrm>
            <a:off x="11175869" y="2747566"/>
            <a:ext cx="283461" cy="368498"/>
          </a:xfrm>
          <a:prstGeom prst="rect">
            <a:avLst/>
          </a:prstGeom>
          <a:noFill/>
          <a:ln/>
        </p:spPr>
        <p:txBody>
          <a:bodyPr wrap="none" lIns="0" tIns="0" rIns="0" bIns="0" rtlCol="0" anchor="ctr"/>
          <a:lstStyle/>
          <a:p>
            <a:pPr rtl="1" algn="ctr" indent="0" marL="0">
              <a:lnSpc>
                <a:spcPct val="100000"/>
              </a:lnSpc>
              <a:buNone/>
            </a:pPr>
            <a:r>
              <a:rPr lang="en-US" sz="2200" b="1" spc="-45" kern="100" dirty="0">
                <a:solidFill>
                  <a:srgbClr val="EBEDF0"/>
                </a:solidFill>
                <a:latin typeface="Geist Bold" pitchFamily="34" charset="0"/>
                <a:ea typeface="Geist Bold" pitchFamily="34" charset="-122"/>
                <a:cs typeface="Geist Bold" pitchFamily="34" charset="-120"/>
              </a:rPr>
              <a:t>1</a:t>
            </a:r>
            <a:endParaRPr lang="en-US" sz="2200" dirty="0"/>
          </a:p>
        </p:txBody>
      </p:sp>
      <p:sp>
        <p:nvSpPr>
          <p:cNvPr id="6" name="Text 3"/>
          <p:cNvSpPr/>
          <p:nvPr/>
        </p:nvSpPr>
        <p:spPr>
          <a:xfrm>
            <a:off x="5233360" y="2778224"/>
            <a:ext cx="5682612" cy="307082"/>
          </a:xfrm>
          <a:prstGeom prst="rect">
            <a:avLst/>
          </a:prstGeom>
          <a:noFill/>
          <a:ln/>
        </p:spPr>
        <p:txBody>
          <a:bodyPr wrap="none" lIns="0" tIns="0" rIns="0" bIns="0" rtlCol="0" anchor="t"/>
          <a:lstStyle/>
          <a:p>
            <a:pPr rtl="1" algn="r" indent="0" marL="0">
              <a:lnSpc>
                <a:spcPct val="108000"/>
              </a:lnSpc>
              <a:buNone/>
            </a:pPr>
            <a:r>
              <a:rPr lang="he-IL" altLang="en-US" sz="1850" b="1" spc="-37" kern="100" dirty="0">
                <a:solidFill>
                  <a:srgbClr val="EBEDF0"/>
                </a:solidFill>
                <a:latin typeface="Arial" pitchFamily="34" charset="0"/>
                <a:ea typeface="Arial" pitchFamily="34" charset="-122"/>
                <a:cs typeface="Arial" pitchFamily="34" charset="-120"/>
              </a:rPr>
              <a:t>פתיחת חשבון</a:t>
            </a:r>
            <a:endParaRPr lang="he-IL" sz="1850" dirty="0"/>
          </a:p>
        </p:txBody>
      </p:sp>
      <p:sp>
        <p:nvSpPr>
          <p:cNvPr id="7" name="Text 4"/>
          <p:cNvSpPr/>
          <p:nvPr/>
        </p:nvSpPr>
        <p:spPr>
          <a:xfrm>
            <a:off x="5233360" y="3198713"/>
            <a:ext cx="5682612" cy="245666"/>
          </a:xfrm>
          <a:prstGeom prst="rect">
            <a:avLst/>
          </a:prstGeom>
          <a:noFill/>
          <a:ln/>
        </p:spPr>
        <p:txBody>
          <a:bodyPr wrap="none" lIns="0" tIns="0" rIns="0" bIns="0" rtlCol="0" anchor="t"/>
          <a:lstStyle/>
          <a:p>
            <a:pPr rtl="1" algn="r" indent="0" marL="0">
              <a:lnSpc>
                <a:spcPct val="108000"/>
              </a:lnSpc>
              <a:buNone/>
            </a:pPr>
            <a:r>
              <a:rPr lang="he-IL" altLang="en-US" sz="1450" dirty="0">
                <a:solidFill>
                  <a:srgbClr val="EBEDF0"/>
                </a:solidFill>
                <a:latin typeface="Arial" pitchFamily="34" charset="0"/>
                <a:ea typeface="Arial" pitchFamily="34" charset="-122"/>
                <a:cs typeface="Arial" pitchFamily="34" charset="-120"/>
              </a:rPr>
              <a:t>כולם פותחים חשבון עכשיו (הרשמה עם ג'ימייל).</a:t>
            </a:r>
            <a:endParaRPr lang="he-IL" sz="1450" dirty="0"/>
          </a:p>
        </p:txBody>
      </p:sp>
      <p:sp>
        <p:nvSpPr>
          <p:cNvPr id="8" name="Shape 5"/>
          <p:cNvSpPr/>
          <p:nvPr/>
        </p:nvSpPr>
        <p:spPr>
          <a:xfrm>
            <a:off x="11104979" y="3822402"/>
            <a:ext cx="425241" cy="425252"/>
          </a:xfrm>
          <a:prstGeom prst="roundRect">
            <a:avLst>
              <a:gd name="adj" fmla="val 18669"/>
            </a:avLst>
          </a:prstGeom>
          <a:solidFill>
            <a:srgbClr val="101620"/>
          </a:solidFill>
          <a:ln w="19050">
            <a:solidFill>
              <a:srgbClr val="002A80"/>
            </a:solidFill>
            <a:prstDash val="solid"/>
          </a:ln>
        </p:spPr>
        <p:txBody>
          <a:bodyPr/>
          <a:p/>
        </p:txBody>
      </p:sp>
      <p:sp>
        <p:nvSpPr>
          <p:cNvPr id="9" name="Text 6"/>
          <p:cNvSpPr/>
          <p:nvPr/>
        </p:nvSpPr>
        <p:spPr>
          <a:xfrm>
            <a:off x="11175869" y="3850779"/>
            <a:ext cx="283461" cy="368498"/>
          </a:xfrm>
          <a:prstGeom prst="rect">
            <a:avLst/>
          </a:prstGeom>
          <a:noFill/>
          <a:ln/>
        </p:spPr>
        <p:txBody>
          <a:bodyPr wrap="none" lIns="0" tIns="0" rIns="0" bIns="0" rtlCol="0" anchor="ctr"/>
          <a:lstStyle/>
          <a:p>
            <a:pPr rtl="1" algn="ctr" indent="0" marL="0">
              <a:lnSpc>
                <a:spcPct val="100000"/>
              </a:lnSpc>
              <a:buNone/>
            </a:pPr>
            <a:r>
              <a:rPr lang="en-US" sz="2200" b="1" spc="-45" kern="100" dirty="0">
                <a:solidFill>
                  <a:srgbClr val="EBEDF0"/>
                </a:solidFill>
                <a:latin typeface="Geist Bold" pitchFamily="34" charset="0"/>
                <a:ea typeface="Geist Bold" pitchFamily="34" charset="-122"/>
                <a:cs typeface="Geist Bold" pitchFamily="34" charset="-120"/>
              </a:rPr>
              <a:t>2</a:t>
            </a:r>
            <a:endParaRPr lang="en-US" sz="2200" dirty="0"/>
          </a:p>
        </p:txBody>
      </p:sp>
      <p:sp>
        <p:nvSpPr>
          <p:cNvPr id="10" name="Text 7"/>
          <p:cNvSpPr/>
          <p:nvPr/>
        </p:nvSpPr>
        <p:spPr>
          <a:xfrm>
            <a:off x="5233360" y="3881438"/>
            <a:ext cx="5682612" cy="307082"/>
          </a:xfrm>
          <a:prstGeom prst="rect">
            <a:avLst/>
          </a:prstGeom>
          <a:noFill/>
          <a:ln/>
        </p:spPr>
        <p:txBody>
          <a:bodyPr wrap="none" lIns="0" tIns="0" rIns="0" bIns="0" rtlCol="0" anchor="t"/>
          <a:lstStyle/>
          <a:p>
            <a:pPr rtl="1" algn="r" indent="0" marL="0">
              <a:lnSpc>
                <a:spcPct val="108000"/>
              </a:lnSpc>
              <a:buNone/>
            </a:pPr>
            <a:r>
              <a:rPr lang="he-IL" altLang="en-US" sz="1850" b="1" spc="-37" kern="100" dirty="0">
                <a:solidFill>
                  <a:srgbClr val="EBEDF0"/>
                </a:solidFill>
                <a:latin typeface="Arial" pitchFamily="34" charset="0"/>
                <a:ea typeface="Arial" pitchFamily="34" charset="-122"/>
                <a:cs typeface="Arial" pitchFamily="34" charset="-120"/>
              </a:rPr>
              <a:t>ההודעה הראשונה</a:t>
            </a:r>
            <a:endParaRPr lang="he-IL" sz="1850" dirty="0"/>
          </a:p>
        </p:txBody>
      </p:sp>
      <p:sp>
        <p:nvSpPr>
          <p:cNvPr id="11" name="Text 8"/>
          <p:cNvSpPr/>
          <p:nvPr/>
        </p:nvSpPr>
        <p:spPr>
          <a:xfrm>
            <a:off x="5233360" y="4301927"/>
            <a:ext cx="5682612" cy="245666"/>
          </a:xfrm>
          <a:prstGeom prst="rect">
            <a:avLst/>
          </a:prstGeom>
          <a:noFill/>
          <a:ln/>
        </p:spPr>
        <p:txBody>
          <a:bodyPr wrap="none" lIns="0" tIns="0" rIns="0" bIns="0" rtlCol="0" anchor="t"/>
          <a:lstStyle/>
          <a:p>
            <a:pPr rtl="1" algn="r" indent="0" marL="0">
              <a:lnSpc>
                <a:spcPct val="108000"/>
              </a:lnSpc>
              <a:buNone/>
            </a:pPr>
            <a:r>
              <a:rPr lang="he-IL" altLang="en-US" sz="1450" dirty="0">
                <a:solidFill>
                  <a:srgbClr val="EBEDF0"/>
                </a:solidFill>
                <a:latin typeface="Arial" pitchFamily="34" charset="0"/>
                <a:ea typeface="Arial" pitchFamily="34" charset="-122"/>
                <a:cs typeface="Arial" pitchFamily="34" charset="-120"/>
              </a:rPr>
              <a:t>"הצג את עצמך בשלושה משפטים ותן לי טיפ אחד לשימוש נכון בך"</a:t>
            </a:r>
            <a:endParaRPr lang="he-IL" sz="1450" dirty="0"/>
          </a:p>
        </p:txBody>
      </p:sp>
      <p:sp>
        <p:nvSpPr>
          <p:cNvPr id="12" name="Shape 9"/>
          <p:cNvSpPr/>
          <p:nvPr/>
        </p:nvSpPr>
        <p:spPr>
          <a:xfrm>
            <a:off x="11104979" y="4925616"/>
            <a:ext cx="425241" cy="425252"/>
          </a:xfrm>
          <a:prstGeom prst="roundRect">
            <a:avLst>
              <a:gd name="adj" fmla="val 18669"/>
            </a:avLst>
          </a:prstGeom>
          <a:solidFill>
            <a:srgbClr val="101620"/>
          </a:solidFill>
          <a:ln w="19050">
            <a:solidFill>
              <a:srgbClr val="002A80"/>
            </a:solidFill>
            <a:prstDash val="solid"/>
          </a:ln>
        </p:spPr>
        <p:txBody>
          <a:bodyPr/>
          <a:p/>
        </p:txBody>
      </p:sp>
      <p:sp>
        <p:nvSpPr>
          <p:cNvPr id="13" name="Text 10"/>
          <p:cNvSpPr/>
          <p:nvPr/>
        </p:nvSpPr>
        <p:spPr>
          <a:xfrm>
            <a:off x="11175869" y="4953992"/>
            <a:ext cx="283461" cy="368498"/>
          </a:xfrm>
          <a:prstGeom prst="rect">
            <a:avLst/>
          </a:prstGeom>
          <a:noFill/>
          <a:ln/>
        </p:spPr>
        <p:txBody>
          <a:bodyPr wrap="none" lIns="0" tIns="0" rIns="0" bIns="0" rtlCol="0" anchor="ctr"/>
          <a:lstStyle/>
          <a:p>
            <a:pPr rtl="1" algn="ctr" indent="0" marL="0">
              <a:lnSpc>
                <a:spcPct val="100000"/>
              </a:lnSpc>
              <a:buNone/>
            </a:pPr>
            <a:r>
              <a:rPr lang="en-US" sz="2200" b="1" spc="-45" kern="100" dirty="0">
                <a:solidFill>
                  <a:srgbClr val="EBEDF0"/>
                </a:solidFill>
                <a:latin typeface="Geist Bold" pitchFamily="34" charset="0"/>
                <a:ea typeface="Geist Bold" pitchFamily="34" charset="-122"/>
                <a:cs typeface="Geist Bold" pitchFamily="34" charset="-120"/>
              </a:rPr>
              <a:t>3</a:t>
            </a:r>
            <a:endParaRPr lang="en-US" sz="2200" dirty="0"/>
          </a:p>
        </p:txBody>
      </p:sp>
      <p:sp>
        <p:nvSpPr>
          <p:cNvPr id="14" name="Text 11"/>
          <p:cNvSpPr/>
          <p:nvPr/>
        </p:nvSpPr>
        <p:spPr>
          <a:xfrm>
            <a:off x="5233360" y="4984651"/>
            <a:ext cx="5682612" cy="307082"/>
          </a:xfrm>
          <a:prstGeom prst="rect">
            <a:avLst/>
          </a:prstGeom>
          <a:noFill/>
          <a:ln/>
        </p:spPr>
        <p:txBody>
          <a:bodyPr wrap="none" lIns="0" tIns="0" rIns="0" bIns="0" rtlCol="0" anchor="t"/>
          <a:lstStyle/>
          <a:p>
            <a:pPr rtl="1" algn="r" indent="0" marL="0">
              <a:lnSpc>
                <a:spcPct val="108000"/>
              </a:lnSpc>
              <a:buNone/>
            </a:pPr>
            <a:r>
              <a:rPr lang="he-IL" altLang="en-US" sz="1850" b="1" spc="-37" kern="100" dirty="0">
                <a:solidFill>
                  <a:srgbClr val="EBEDF0"/>
                </a:solidFill>
                <a:latin typeface="Arial" pitchFamily="34" charset="0"/>
                <a:ea typeface="Arial" pitchFamily="34" charset="-122"/>
                <a:cs typeface="Arial" pitchFamily="34" charset="-120"/>
              </a:rPr>
              <a:t>שימו לב</a:t>
            </a:r>
            <a:endParaRPr lang="he-IL" sz="1850" dirty="0"/>
          </a:p>
        </p:txBody>
      </p:sp>
      <p:sp>
        <p:nvSpPr>
          <p:cNvPr id="15" name="Text 12"/>
          <p:cNvSpPr/>
          <p:nvPr/>
        </p:nvSpPr>
        <p:spPr>
          <a:xfrm>
            <a:off x="5233360" y="5405140"/>
            <a:ext cx="5682612" cy="245666"/>
          </a:xfrm>
          <a:prstGeom prst="rect">
            <a:avLst/>
          </a:prstGeom>
          <a:noFill/>
          <a:ln/>
        </p:spPr>
        <p:txBody>
          <a:bodyPr wrap="none" lIns="0" tIns="0" rIns="0" bIns="0" rtlCol="0" anchor="t"/>
          <a:lstStyle/>
          <a:p>
            <a:pPr rtl="1" algn="r" indent="0" marL="0">
              <a:lnSpc>
                <a:spcPct val="108000"/>
              </a:lnSpc>
              <a:buNone/>
            </a:pPr>
            <a:r>
              <a:rPr lang="he-IL" altLang="en-US" sz="1450" dirty="0">
                <a:solidFill>
                  <a:srgbClr val="EBEDF0"/>
                </a:solidFill>
                <a:latin typeface="Arial" pitchFamily="34" charset="0"/>
                <a:ea typeface="Arial" pitchFamily="34" charset="-122"/>
                <a:cs typeface="Arial" pitchFamily="34" charset="-120"/>
              </a:rPr>
              <a:t>כל אחד קיבל תשובה שונה. זה לא באג – זה האופי של הכלי.</a:t>
            </a:r>
            <a:endParaRPr lang="he-IL" sz="1450" dirty="0"/>
          </a:p>
        </p:txBody>
      </p:sp>
      <p:sp>
        <p:nvSpPr>
          <p:cNvPr id="16" name="TextBox 15"/>
          <p:cNvSpPr txBox="1"/>
          <p:nvPr/>
        </p:nvSpPr>
        <p:spPr>
          <a:xfrm>
            <a:off x="6675120" y="6473952"/>
            <a:ext cx="4846320" cy="292608"/>
          </a:xfrm>
          <a:prstGeom prst="rect">
            <a:avLst/>
          </a:prstGeom>
          <a:noFill/>
        </p:spPr>
        <p:txBody>
          <a:bodyPr wrap="none" lIns="0" rIns="0" tIns="0" bIns="0">
            <a:spAutoFit/>
          </a:bodyPr>
          <a:lstStyle/>
          <a:p>
            <a:pPr algn="r" rtl="1"/>
            <a:r>
              <a:rPr sz="1000">
                <a:solidFill>
                  <a:srgbClr val="8A96AA"/>
                </a:solidFill>
                <a:latin typeface="Arial"/>
                <a:cs typeface="Arial"/>
              </a:rPr>
              <a:t>© נערך על ידי AI Finance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02920"/>
            <a:ext cx="10872216" cy="640080"/>
          </a:xfrm>
          <a:prstGeom prst="rect">
            <a:avLst/>
          </a:prstGeom>
          <a:noFill/>
        </p:spPr>
        <p:txBody>
          <a:bodyPr wrap="square" lIns="0" rIns="0" tIns="0" bIns="0" anchor="t" rtlCol="0">
            <a:spAutoFit/>
          </a:bodyPr>
          <a:lstStyle/>
          <a:p>
            <a:pPr rtl="1" algn="r" marL="0" indent="0">
              <a:lnSpc>
                <a:spcPct val="108000"/>
              </a:lnSpc>
              <a:buNone/>
            </a:pPr>
            <a:r>
              <a:rPr sz="3700" b="1" i="0" lang="he-IL">
                <a:solidFill>
                  <a:srgbClr val="F2F5FA"/>
                </a:solidFill>
                <a:latin typeface="Arial"/>
                <a:cs typeface="Arial"/>
              </a:rPr>
              <a:t>תרגיל 2: אותה משימה, שני כלים</a:t>
            </a:r>
          </a:p>
        </p:txBody>
      </p:sp>
      <p:sp>
        <p:nvSpPr>
          <p:cNvPr id="3" name="TextBox 2"/>
          <p:cNvSpPr txBox="1"/>
          <p:nvPr/>
        </p:nvSpPr>
        <p:spPr>
          <a:xfrm>
            <a:off x="658368" y="1280160"/>
            <a:ext cx="10872216" cy="365760"/>
          </a:xfrm>
          <a:prstGeom prst="rect">
            <a:avLst/>
          </a:prstGeom>
          <a:noFill/>
        </p:spPr>
        <p:txBody>
          <a:bodyPr wrap="square" lIns="0" rIns="0" tIns="0" bIns="0" anchor="t" rtlCol="0">
            <a:spAutoFit/>
          </a:bodyPr>
          <a:lstStyle/>
          <a:p>
            <a:pPr rtl="1" algn="r" marL="0" indent="0">
              <a:lnSpc>
                <a:spcPct val="108000"/>
              </a:lnSpc>
              <a:buNone/>
            </a:pPr>
            <a:r>
              <a:rPr sz="1450" b="0" i="0" lang="he-IL">
                <a:solidFill>
                  <a:srgbClr val="A9B4C6"/>
                </a:solidFill>
                <a:latin typeface="Arial"/>
                <a:cs typeface="Arial"/>
              </a:rPr>
              <a:t>15 דקות · זוגות בחדרי עבודה בזום · ההוראות בצ'אט</a:t>
            </a:r>
          </a:p>
        </p:txBody>
      </p:sp>
      <p:sp>
        <p:nvSpPr>
          <p:cNvPr id="4" name="Rounded Rectangle 3"/>
          <p:cNvSpPr/>
          <p:nvPr/>
        </p:nvSpPr>
        <p:spPr>
          <a:xfrm>
            <a:off x="11027664" y="1920240"/>
            <a:ext cx="457200" cy="457200"/>
          </a:xfrm>
          <a:prstGeom prst="roundRect">
            <a:avLst>
              <a:gd name="adj" fmla="val 20000"/>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500" b="1" i="0" lang="he-IL">
                <a:solidFill>
                  <a:srgbClr val="F2F5FA"/>
                </a:solidFill>
                <a:latin typeface="Arial"/>
                <a:cs typeface="Arial"/>
              </a:rPr>
              <a:t>1</a:t>
            </a:r>
          </a:p>
        </p:txBody>
      </p:sp>
      <p:sp>
        <p:nvSpPr>
          <p:cNvPr id="5" name="TextBox 4"/>
          <p:cNvSpPr txBox="1"/>
          <p:nvPr/>
        </p:nvSpPr>
        <p:spPr>
          <a:xfrm>
            <a:off x="6309360" y="1938528"/>
            <a:ext cx="457200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בחרו משימה אמיתית</a:t>
            </a:r>
          </a:p>
        </p:txBody>
      </p:sp>
      <p:sp>
        <p:nvSpPr>
          <p:cNvPr id="6" name="TextBox 5"/>
          <p:cNvSpPr txBox="1"/>
          <p:nvPr/>
        </p:nvSpPr>
        <p:spPr>
          <a:xfrm>
            <a:off x="6309360" y="2331720"/>
            <a:ext cx="4572000" cy="365760"/>
          </a:xfrm>
          <a:prstGeom prst="rect">
            <a:avLst/>
          </a:prstGeom>
          <a:noFill/>
        </p:spPr>
        <p:txBody>
          <a:bodyPr wrap="square" lIns="0" rIns="0" tIns="0" bIns="0" anchor="t" rtlCol="0">
            <a:spAutoFit/>
          </a:bodyPr>
          <a:lstStyle/>
          <a:p>
            <a:pPr rtl="1" algn="r" marL="0" indent="0">
              <a:lnSpc>
                <a:spcPct val="108000"/>
              </a:lnSpc>
              <a:buNone/>
            </a:pPr>
            <a:r>
              <a:rPr sz="1350" b="0" i="0" lang="he-IL">
                <a:solidFill>
                  <a:srgbClr val="A9B4C6"/>
                </a:solidFill>
                <a:latin typeface="Arial"/>
                <a:cs typeface="Arial"/>
              </a:rPr>
              <a:t>מייל, סיכום, רעיונות לאירוע או תוכנית לשבוע</a:t>
            </a:r>
          </a:p>
        </p:txBody>
      </p:sp>
      <p:sp>
        <p:nvSpPr>
          <p:cNvPr id="7" name="Rounded Rectangle 6"/>
          <p:cNvSpPr/>
          <p:nvPr/>
        </p:nvSpPr>
        <p:spPr>
          <a:xfrm>
            <a:off x="11027664" y="2788920"/>
            <a:ext cx="457200" cy="457200"/>
          </a:xfrm>
          <a:prstGeom prst="roundRect">
            <a:avLst>
              <a:gd name="adj" fmla="val 20000"/>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500" b="1" i="0" lang="he-IL">
                <a:solidFill>
                  <a:srgbClr val="F2F5FA"/>
                </a:solidFill>
                <a:latin typeface="Arial"/>
                <a:cs typeface="Arial"/>
              </a:rPr>
              <a:t>2</a:t>
            </a:r>
          </a:p>
        </p:txBody>
      </p:sp>
      <p:sp>
        <p:nvSpPr>
          <p:cNvPr id="8" name="TextBox 7"/>
          <p:cNvSpPr txBox="1"/>
          <p:nvPr/>
        </p:nvSpPr>
        <p:spPr>
          <a:xfrm>
            <a:off x="6309360" y="2807208"/>
            <a:ext cx="457200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הריצו אותה בשני כלים</a:t>
            </a:r>
          </a:p>
        </p:txBody>
      </p:sp>
      <p:sp>
        <p:nvSpPr>
          <p:cNvPr id="9" name="TextBox 8"/>
          <p:cNvSpPr txBox="1"/>
          <p:nvPr/>
        </p:nvSpPr>
        <p:spPr>
          <a:xfrm>
            <a:off x="6309360" y="3200400"/>
            <a:ext cx="4572000" cy="365760"/>
          </a:xfrm>
          <a:prstGeom prst="rect">
            <a:avLst/>
          </a:prstGeom>
          <a:noFill/>
        </p:spPr>
        <p:txBody>
          <a:bodyPr wrap="square" lIns="0" rIns="0" tIns="0" bIns="0" anchor="t" rtlCol="0">
            <a:spAutoFit/>
          </a:bodyPr>
          <a:lstStyle/>
          <a:p>
            <a:pPr rtl="1" algn="r" marL="0" indent="0">
              <a:lnSpc>
                <a:spcPct val="108000"/>
              </a:lnSpc>
              <a:buNone/>
            </a:pPr>
            <a:r>
              <a:rPr sz="1350" b="0" i="0" lang="he-IL">
                <a:solidFill>
                  <a:srgbClr val="A9B4C6"/>
                </a:solidFill>
                <a:latin typeface="Arial"/>
                <a:cs typeface="Arial"/>
              </a:rPr>
              <a:t>אחד בצ'אט ג'יפיטי, השני בקלוד או בג'מיני</a:t>
            </a:r>
          </a:p>
        </p:txBody>
      </p:sp>
      <p:sp>
        <p:nvSpPr>
          <p:cNvPr id="10" name="Rounded Rectangle 9"/>
          <p:cNvSpPr/>
          <p:nvPr/>
        </p:nvSpPr>
        <p:spPr>
          <a:xfrm>
            <a:off x="11027664" y="3657600"/>
            <a:ext cx="457200" cy="457200"/>
          </a:xfrm>
          <a:prstGeom prst="roundRect">
            <a:avLst>
              <a:gd name="adj" fmla="val 20000"/>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500" b="1" i="0" lang="he-IL">
                <a:solidFill>
                  <a:srgbClr val="F2F5FA"/>
                </a:solidFill>
                <a:latin typeface="Arial"/>
                <a:cs typeface="Arial"/>
              </a:rPr>
              <a:t>3</a:t>
            </a:r>
          </a:p>
        </p:txBody>
      </p:sp>
      <p:sp>
        <p:nvSpPr>
          <p:cNvPr id="11" name="TextBox 10"/>
          <p:cNvSpPr txBox="1"/>
          <p:nvPr/>
        </p:nvSpPr>
        <p:spPr>
          <a:xfrm>
            <a:off x="6309360" y="3675887"/>
            <a:ext cx="457200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תנו ציון מ-1 עד 5</a:t>
            </a:r>
          </a:p>
        </p:txBody>
      </p:sp>
      <p:sp>
        <p:nvSpPr>
          <p:cNvPr id="12" name="TextBox 11"/>
          <p:cNvSpPr txBox="1"/>
          <p:nvPr/>
        </p:nvSpPr>
        <p:spPr>
          <a:xfrm>
            <a:off x="6309360" y="4069080"/>
            <a:ext cx="4572000" cy="365760"/>
          </a:xfrm>
          <a:prstGeom prst="rect">
            <a:avLst/>
          </a:prstGeom>
          <a:noFill/>
        </p:spPr>
        <p:txBody>
          <a:bodyPr wrap="square" lIns="0" rIns="0" tIns="0" bIns="0" anchor="t" rtlCol="0">
            <a:spAutoFit/>
          </a:bodyPr>
          <a:lstStyle/>
          <a:p>
            <a:pPr rtl="1" algn="r" marL="0" indent="0">
              <a:lnSpc>
                <a:spcPct val="108000"/>
              </a:lnSpc>
              <a:buNone/>
            </a:pPr>
            <a:r>
              <a:rPr sz="1350" b="0" i="0" lang="he-IL">
                <a:solidFill>
                  <a:srgbClr val="A9B4C6"/>
                </a:solidFill>
                <a:latin typeface="Arial"/>
                <a:cs typeface="Arial"/>
              </a:rPr>
              <a:t>דיוק · עברית · כמה זה שימושי לי</a:t>
            </a:r>
          </a:p>
        </p:txBody>
      </p:sp>
      <p:sp>
        <p:nvSpPr>
          <p:cNvPr id="13" name="Rounded Rectangle 12"/>
          <p:cNvSpPr/>
          <p:nvPr/>
        </p:nvSpPr>
        <p:spPr>
          <a:xfrm>
            <a:off x="11027664" y="4526279"/>
            <a:ext cx="457200" cy="457200"/>
          </a:xfrm>
          <a:prstGeom prst="roundRect">
            <a:avLst>
              <a:gd name="adj" fmla="val 20000"/>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500" b="1" i="0" lang="he-IL">
                <a:solidFill>
                  <a:srgbClr val="F2F5FA"/>
                </a:solidFill>
                <a:latin typeface="Arial"/>
                <a:cs typeface="Arial"/>
              </a:rPr>
              <a:t>4</a:t>
            </a:r>
          </a:p>
        </p:txBody>
      </p:sp>
      <p:sp>
        <p:nvSpPr>
          <p:cNvPr id="14" name="TextBox 13"/>
          <p:cNvSpPr txBox="1"/>
          <p:nvPr/>
        </p:nvSpPr>
        <p:spPr>
          <a:xfrm>
            <a:off x="6309360" y="4544567"/>
            <a:ext cx="457200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שתפו את הקבוצה</a:t>
            </a:r>
          </a:p>
        </p:txBody>
      </p:sp>
      <p:sp>
        <p:nvSpPr>
          <p:cNvPr id="15" name="TextBox 14"/>
          <p:cNvSpPr txBox="1"/>
          <p:nvPr/>
        </p:nvSpPr>
        <p:spPr>
          <a:xfrm>
            <a:off x="6309360" y="4937759"/>
            <a:ext cx="4572000" cy="365760"/>
          </a:xfrm>
          <a:prstGeom prst="rect">
            <a:avLst/>
          </a:prstGeom>
          <a:noFill/>
        </p:spPr>
        <p:txBody>
          <a:bodyPr wrap="square" lIns="0" rIns="0" tIns="0" bIns="0" anchor="t" rtlCol="0">
            <a:spAutoFit/>
          </a:bodyPr>
          <a:lstStyle/>
          <a:p>
            <a:pPr rtl="1" algn="r" marL="0" indent="0">
              <a:lnSpc>
                <a:spcPct val="108000"/>
              </a:lnSpc>
              <a:buNone/>
            </a:pPr>
            <a:r>
              <a:rPr sz="1350" b="0" i="0" lang="he-IL">
                <a:solidFill>
                  <a:srgbClr val="A9B4C6"/>
                </a:solidFill>
                <a:latin typeface="Arial"/>
                <a:cs typeface="Arial"/>
              </a:rPr>
              <a:t>מי ניצח אצלכם, ולמה?</a:t>
            </a:r>
          </a:p>
        </p:txBody>
      </p:sp>
      <p:sp>
        <p:nvSpPr>
          <p:cNvPr id="16" name="Rounded Rectangle 15"/>
          <p:cNvSpPr/>
          <p:nvPr/>
        </p:nvSpPr>
        <p:spPr>
          <a:xfrm>
            <a:off x="658368" y="1920240"/>
            <a:ext cx="5120640" cy="338328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86968" y="2103120"/>
            <a:ext cx="466344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 כרטיס הניקוד שלכם</a:t>
            </a:r>
          </a:p>
        </p:txBody>
      </p:sp>
      <p:sp>
        <p:nvSpPr>
          <p:cNvPr id="18" name="TextBox 17"/>
          <p:cNvSpPr txBox="1"/>
          <p:nvPr/>
        </p:nvSpPr>
        <p:spPr>
          <a:xfrm>
            <a:off x="3108960" y="2697480"/>
            <a:ext cx="1097280" cy="320040"/>
          </a:xfrm>
          <a:prstGeom prst="rect">
            <a:avLst/>
          </a:prstGeom>
          <a:noFill/>
        </p:spPr>
        <p:txBody>
          <a:bodyPr wrap="square" lIns="0" rIns="0" tIns="0" bIns="0" anchor="t" rtlCol="0">
            <a:spAutoFit/>
          </a:bodyPr>
          <a:lstStyle/>
          <a:p>
            <a:pPr rtl="1" algn="ctr" marL="0" indent="0">
              <a:lnSpc>
                <a:spcPct val="108000"/>
              </a:lnSpc>
              <a:buNone/>
            </a:pPr>
            <a:r>
              <a:rPr sz="1350" b="1" i="0" lang="he-IL">
                <a:solidFill>
                  <a:srgbClr val="6296FF"/>
                </a:solidFill>
                <a:latin typeface="Arial"/>
                <a:cs typeface="Arial"/>
              </a:rPr>
              <a:t>כלי א</a:t>
            </a:r>
          </a:p>
        </p:txBody>
      </p:sp>
      <p:sp>
        <p:nvSpPr>
          <p:cNvPr id="19" name="TextBox 18"/>
          <p:cNvSpPr txBox="1"/>
          <p:nvPr/>
        </p:nvSpPr>
        <p:spPr>
          <a:xfrm>
            <a:off x="1783080" y="2697480"/>
            <a:ext cx="1097280" cy="320040"/>
          </a:xfrm>
          <a:prstGeom prst="rect">
            <a:avLst/>
          </a:prstGeom>
          <a:noFill/>
        </p:spPr>
        <p:txBody>
          <a:bodyPr wrap="square" lIns="0" rIns="0" tIns="0" bIns="0" anchor="t" rtlCol="0">
            <a:spAutoFit/>
          </a:bodyPr>
          <a:lstStyle/>
          <a:p>
            <a:pPr rtl="1" algn="ctr" marL="0" indent="0">
              <a:lnSpc>
                <a:spcPct val="108000"/>
              </a:lnSpc>
              <a:buNone/>
            </a:pPr>
            <a:r>
              <a:rPr sz="1350" b="1" i="0" lang="he-IL">
                <a:solidFill>
                  <a:srgbClr val="6296FF"/>
                </a:solidFill>
                <a:latin typeface="Arial"/>
                <a:cs typeface="Arial"/>
              </a:rPr>
              <a:t>כלי ב</a:t>
            </a:r>
          </a:p>
        </p:txBody>
      </p:sp>
      <p:sp>
        <p:nvSpPr>
          <p:cNvPr id="20" name="TextBox 19"/>
          <p:cNvSpPr txBox="1"/>
          <p:nvPr/>
        </p:nvSpPr>
        <p:spPr>
          <a:xfrm>
            <a:off x="4343400" y="3200400"/>
            <a:ext cx="1234440" cy="320040"/>
          </a:xfrm>
          <a:prstGeom prst="rect">
            <a:avLst/>
          </a:prstGeom>
          <a:noFill/>
        </p:spPr>
        <p:txBody>
          <a:bodyPr wrap="square" lIns="0" rIns="0" tIns="0" bIns="0" anchor="t" rtlCol="0">
            <a:spAutoFit/>
          </a:bodyPr>
          <a:lstStyle/>
          <a:p>
            <a:pPr rtl="1" algn="r" marL="0" indent="0">
              <a:lnSpc>
                <a:spcPct val="108000"/>
              </a:lnSpc>
              <a:buNone/>
            </a:pPr>
            <a:r>
              <a:rPr sz="1450" b="0" i="0" lang="he-IL">
                <a:solidFill>
                  <a:srgbClr val="EBEDF0"/>
                </a:solidFill>
                <a:latin typeface="Arial"/>
                <a:cs typeface="Arial"/>
              </a:rPr>
              <a:t>דיוק</a:t>
            </a:r>
          </a:p>
        </p:txBody>
      </p:sp>
      <p:sp>
        <p:nvSpPr>
          <p:cNvPr id="21" name="Rounded Rectangle 20"/>
          <p:cNvSpPr/>
          <p:nvPr/>
        </p:nvSpPr>
        <p:spPr>
          <a:xfrm>
            <a:off x="3246120" y="3154680"/>
            <a:ext cx="822960" cy="384048"/>
          </a:xfrm>
          <a:prstGeom prst="roundRect">
            <a:avLst>
              <a:gd name="adj" fmla="val 15000"/>
            </a:avLst>
          </a:prstGeom>
          <a:solidFill>
            <a:srgbClr val="141C2A"/>
          </a:solidFill>
          <a:ln w="1270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1920240" y="3154680"/>
            <a:ext cx="822960" cy="384048"/>
          </a:xfrm>
          <a:prstGeom prst="roundRect">
            <a:avLst>
              <a:gd name="adj" fmla="val 15000"/>
            </a:avLst>
          </a:prstGeom>
          <a:solidFill>
            <a:srgbClr val="141C2A"/>
          </a:solidFill>
          <a:ln w="1270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343400" y="3703320"/>
            <a:ext cx="1234440" cy="320040"/>
          </a:xfrm>
          <a:prstGeom prst="rect">
            <a:avLst/>
          </a:prstGeom>
          <a:noFill/>
        </p:spPr>
        <p:txBody>
          <a:bodyPr wrap="square" lIns="0" rIns="0" tIns="0" bIns="0" anchor="t" rtlCol="0">
            <a:spAutoFit/>
          </a:bodyPr>
          <a:lstStyle/>
          <a:p>
            <a:pPr rtl="1" algn="r" marL="0" indent="0">
              <a:lnSpc>
                <a:spcPct val="108000"/>
              </a:lnSpc>
              <a:buNone/>
            </a:pPr>
            <a:r>
              <a:rPr sz="1450" b="0" i="0" lang="he-IL">
                <a:solidFill>
                  <a:srgbClr val="EBEDF0"/>
                </a:solidFill>
                <a:latin typeface="Arial"/>
                <a:cs typeface="Arial"/>
              </a:rPr>
              <a:t>עברית</a:t>
            </a:r>
          </a:p>
        </p:txBody>
      </p:sp>
      <p:sp>
        <p:nvSpPr>
          <p:cNvPr id="24" name="Rounded Rectangle 23"/>
          <p:cNvSpPr/>
          <p:nvPr/>
        </p:nvSpPr>
        <p:spPr>
          <a:xfrm>
            <a:off x="3246120" y="3657600"/>
            <a:ext cx="822960" cy="384048"/>
          </a:xfrm>
          <a:prstGeom prst="roundRect">
            <a:avLst>
              <a:gd name="adj" fmla="val 15000"/>
            </a:avLst>
          </a:prstGeom>
          <a:solidFill>
            <a:srgbClr val="141C2A"/>
          </a:solidFill>
          <a:ln w="1270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1920240" y="3657600"/>
            <a:ext cx="822960" cy="384048"/>
          </a:xfrm>
          <a:prstGeom prst="roundRect">
            <a:avLst>
              <a:gd name="adj" fmla="val 15000"/>
            </a:avLst>
          </a:prstGeom>
          <a:solidFill>
            <a:srgbClr val="141C2A"/>
          </a:solidFill>
          <a:ln w="1270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343400" y="4206240"/>
            <a:ext cx="1234440" cy="320040"/>
          </a:xfrm>
          <a:prstGeom prst="rect">
            <a:avLst/>
          </a:prstGeom>
          <a:noFill/>
        </p:spPr>
        <p:txBody>
          <a:bodyPr wrap="square" lIns="0" rIns="0" tIns="0" bIns="0" anchor="t" rtlCol="0">
            <a:spAutoFit/>
          </a:bodyPr>
          <a:lstStyle/>
          <a:p>
            <a:pPr rtl="1" algn="r" marL="0" indent="0">
              <a:lnSpc>
                <a:spcPct val="108000"/>
              </a:lnSpc>
              <a:buNone/>
            </a:pPr>
            <a:r>
              <a:rPr sz="1450" b="0" i="0" lang="he-IL">
                <a:solidFill>
                  <a:srgbClr val="EBEDF0"/>
                </a:solidFill>
                <a:latin typeface="Arial"/>
                <a:cs typeface="Arial"/>
              </a:rPr>
              <a:t>שימושי לי</a:t>
            </a:r>
          </a:p>
        </p:txBody>
      </p:sp>
      <p:sp>
        <p:nvSpPr>
          <p:cNvPr id="27" name="Rounded Rectangle 26"/>
          <p:cNvSpPr/>
          <p:nvPr/>
        </p:nvSpPr>
        <p:spPr>
          <a:xfrm>
            <a:off x="3246120" y="4160520"/>
            <a:ext cx="822960" cy="384048"/>
          </a:xfrm>
          <a:prstGeom prst="roundRect">
            <a:avLst>
              <a:gd name="adj" fmla="val 15000"/>
            </a:avLst>
          </a:prstGeom>
          <a:solidFill>
            <a:srgbClr val="141C2A"/>
          </a:solidFill>
          <a:ln w="1270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1920240" y="4160520"/>
            <a:ext cx="822960" cy="384048"/>
          </a:xfrm>
          <a:prstGeom prst="roundRect">
            <a:avLst>
              <a:gd name="adj" fmla="val 15000"/>
            </a:avLst>
          </a:prstGeom>
          <a:solidFill>
            <a:srgbClr val="141C2A"/>
          </a:solidFill>
          <a:ln w="1270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4343400" y="4709160"/>
            <a:ext cx="1234440" cy="320040"/>
          </a:xfrm>
          <a:prstGeom prst="rect">
            <a:avLst/>
          </a:prstGeom>
          <a:noFill/>
        </p:spPr>
        <p:txBody>
          <a:bodyPr wrap="square" lIns="0" rIns="0" tIns="0" bIns="0" anchor="t" rtlCol="0">
            <a:spAutoFit/>
          </a:bodyPr>
          <a:lstStyle/>
          <a:p>
            <a:pPr rtl="1" algn="r" marL="0" indent="0">
              <a:lnSpc>
                <a:spcPct val="108000"/>
              </a:lnSpc>
              <a:buNone/>
            </a:pPr>
            <a:r>
              <a:rPr sz="1450" b="1" i="0" lang="he-IL">
                <a:solidFill>
                  <a:srgbClr val="EBEDF0"/>
                </a:solidFill>
                <a:latin typeface="Arial"/>
                <a:cs typeface="Arial"/>
              </a:rPr>
              <a:t>סה"כ</a:t>
            </a:r>
          </a:p>
        </p:txBody>
      </p:sp>
      <p:sp>
        <p:nvSpPr>
          <p:cNvPr id="30" name="Rounded Rectangle 29"/>
          <p:cNvSpPr/>
          <p:nvPr/>
        </p:nvSpPr>
        <p:spPr>
          <a:xfrm>
            <a:off x="3246120" y="4663440"/>
            <a:ext cx="822960" cy="384048"/>
          </a:xfrm>
          <a:prstGeom prst="roundRect">
            <a:avLst>
              <a:gd name="adj" fmla="val 15000"/>
            </a:avLst>
          </a:prstGeom>
          <a:solidFill>
            <a:srgbClr val="022349"/>
          </a:solidFill>
          <a:ln w="1270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1920240" y="4663440"/>
            <a:ext cx="822960" cy="384048"/>
          </a:xfrm>
          <a:prstGeom prst="roundRect">
            <a:avLst>
              <a:gd name="adj" fmla="val 15000"/>
            </a:avLst>
          </a:prstGeom>
          <a:solidFill>
            <a:srgbClr val="022349"/>
          </a:solidFill>
          <a:ln w="1270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658368" y="5532120"/>
            <a:ext cx="10872216" cy="640080"/>
          </a:xfrm>
          <a:prstGeom prst="roundRect">
            <a:avLst>
              <a:gd name="adj" fmla="val 3000"/>
            </a:avLst>
          </a:prstGeom>
          <a:solidFill>
            <a:srgbClr val="022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86968" y="5532120"/>
            <a:ext cx="10415016" cy="640080"/>
          </a:xfrm>
          <a:prstGeom prst="rect">
            <a:avLst/>
          </a:prstGeom>
          <a:noFill/>
        </p:spPr>
        <p:txBody>
          <a:bodyPr wrap="square" lIns="0" rIns="0" tIns="0" bIns="0" anchor="ctr" rtlCol="0">
            <a:spAutoFit/>
          </a:bodyPr>
          <a:lstStyle/>
          <a:p>
            <a:pPr rtl="1" algn="r" marL="0" indent="0">
              <a:lnSpc>
                <a:spcPct val="108000"/>
              </a:lnSpc>
              <a:buNone/>
            </a:pPr>
            <a:r>
              <a:rPr sz="1450" b="0" i="0" lang="he-IL">
                <a:solidFill>
                  <a:srgbClr val="EBEDF0"/>
                </a:solidFill>
                <a:latin typeface="Arial"/>
                <a:cs typeface="Arial"/>
              </a:rPr>
              <a:t>🔍  שימו לב להבדלים בסגנון, באורך, ובשאלות שהכלי שואל אתכם בחזרה.</a:t>
            </a:r>
          </a:p>
        </p:txBody>
      </p:sp>
      <p:sp>
        <p:nvSpPr>
          <p:cNvPr id="34" name="TextBox 33"/>
          <p:cNvSpPr txBox="1"/>
          <p:nvPr/>
        </p:nvSpPr>
        <p:spPr>
          <a:xfrm>
            <a:off x="6675120" y="6473952"/>
            <a:ext cx="4846320" cy="292608"/>
          </a:xfrm>
          <a:prstGeom prst="rect">
            <a:avLst/>
          </a:prstGeom>
          <a:noFill/>
        </p:spPr>
        <p:txBody>
          <a:bodyPr wrap="none" lIns="0" rIns="0" tIns="0" bIns="0">
            <a:spAutoFit/>
          </a:bodyPr>
          <a:lstStyle/>
          <a:p>
            <a:pPr algn="r" rtl="1"/>
            <a:r>
              <a:rPr sz="1000">
                <a:solidFill>
                  <a:srgbClr val="8A96AA"/>
                </a:solidFill>
                <a:latin typeface="Arial"/>
                <a:cs typeface="Arial"/>
              </a:rPr>
              <a:t>© נערך על ידי AI Finance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61475" y="2021086"/>
            <a:ext cx="10868745" cy="614263"/>
          </a:xfrm>
          <a:prstGeom prst="rect">
            <a:avLst/>
          </a:prstGeom>
          <a:noFill/>
          <a:ln/>
        </p:spPr>
        <p:txBody>
          <a:bodyPr wrap="none" lIns="0" tIns="0" rIns="0" bIns="0" rtlCol="0" anchor="t"/>
          <a:lstStyle/>
          <a:p>
            <a:pPr rtl="1" algn="r" indent="0" marL="0">
              <a:lnSpc>
                <a:spcPct val="108000"/>
              </a:lnSpc>
              <a:buNone/>
            </a:pPr>
            <a:r>
              <a:rPr lang="he-IL" altLang="en-US" sz="3700" b="1" spc="-74" kern="100" dirty="0">
                <a:solidFill>
                  <a:srgbClr val="F2F5FA"/>
                </a:solidFill>
                <a:latin typeface="Arial" pitchFamily="34" charset="0"/>
                <a:ea typeface="Arial" pitchFamily="34" charset="-122"/>
                <a:cs typeface="Arial" pitchFamily="34" charset="-120"/>
              </a:rPr>
              <a:t>חידה: כשה-AI ממציא עובדות</a:t>
            </a:r>
            <a:endParaRPr lang="he-IL" sz="3700" dirty="0"/>
          </a:p>
        </p:txBody>
      </p:sp>
      <p:sp>
        <p:nvSpPr>
          <p:cNvPr id="3" name="Text 1"/>
          <p:cNvSpPr/>
          <p:nvPr/>
        </p:nvSpPr>
        <p:spPr>
          <a:xfrm>
            <a:off x="661475" y="3301504"/>
            <a:ext cx="4920333" cy="491331"/>
          </a:xfrm>
          <a:prstGeom prst="rect">
            <a:avLst/>
          </a:prstGeom>
          <a:noFill/>
          <a:ln/>
        </p:spPr>
        <p:txBody>
          <a:bodyPr wrap="square" lIns="0" tIns="0" rIns="0" bIns="0" rtlCol="0" anchor="t">
            <a:normAutofit/>
          </a:bodyPr>
          <a:lstStyle/>
          <a:p>
            <a:pPr rtl="1" algn="r" indent="0" marL="0">
              <a:lnSpc>
                <a:spcPct val="108000"/>
              </a:lnSpc>
              <a:buNone/>
            </a:pPr>
            <a:r>
              <a:rPr lang="he-IL" altLang="en-US" sz="1450" dirty="0">
                <a:solidFill>
                  <a:srgbClr val="EBEDF0"/>
                </a:solidFill>
                <a:latin typeface="Arial" pitchFamily="34" charset="0"/>
                <a:ea typeface="Arial" pitchFamily="34" charset="-122"/>
                <a:cs typeface="Arial" pitchFamily="34" charset="-120"/>
              </a:rPr>
              <a:t>שאלתי כלי AI מתי הוקמה שופרסל. הוא ענה בביטחון מלא: </a:t>
            </a:r>
            <a:pPr rtl="1" algn="r" indent="0" marL="0">
              <a:lnSpc>
                <a:spcPct val="108000"/>
              </a:lnSpc>
              <a:buNone/>
            </a:pPr>
            <a:r>
              <a:rPr lang="he-IL" altLang="en-US" sz="1450" b="1" dirty="0">
                <a:solidFill>
                  <a:srgbClr val="EBEDF0"/>
                </a:solidFill>
                <a:latin typeface="Geist Bold" pitchFamily="34" charset="0"/>
                <a:ea typeface="Geist Bold" pitchFamily="34" charset="-122"/>
                <a:cs typeface="Geist Bold" pitchFamily="34" charset="-120"/>
              </a:rPr>
              <a:t>"1946"</a:t>
            </a:r>
            <a:pPr rtl="1" algn="r" indent="0" marL="0">
              <a:lnSpc>
                <a:spcPct val="108000"/>
              </a:lnSpc>
              <a:buNone/>
            </a:pPr>
            <a:r>
              <a:rPr lang="he-IL" altLang="en-US" sz="1450" dirty="0">
                <a:solidFill>
                  <a:srgbClr val="EBEDF0"/>
                </a:solidFill>
                <a:latin typeface="Arial" pitchFamily="34" charset="0"/>
                <a:ea typeface="Arial" pitchFamily="34" charset="-122"/>
                <a:cs typeface="Arial" pitchFamily="34" charset="-120"/>
              </a:rPr>
              <a:t>. התשובה הנכונה: </a:t>
            </a:r>
            <a:pPr rtl="1" algn="r" indent="0" marL="0">
              <a:lnSpc>
                <a:spcPct val="108000"/>
              </a:lnSpc>
              <a:buNone/>
            </a:pPr>
            <a:r>
              <a:rPr lang="he-IL" altLang="en-US" sz="1450" b="1" dirty="0">
                <a:solidFill>
                  <a:srgbClr val="487CFF"/>
                </a:solidFill>
                <a:latin typeface="Geist Bold" pitchFamily="34" charset="0"/>
                <a:ea typeface="Geist Bold" pitchFamily="34" charset="-122"/>
                <a:cs typeface="Geist Bold" pitchFamily="34" charset="-120"/>
              </a:rPr>
              <a:t>1958</a:t>
            </a:r>
            <a:pPr rtl="1" algn="r" indent="0" marL="0">
              <a:lnSpc>
                <a:spcPct val="108000"/>
              </a:lnSpc>
              <a:buNone/>
            </a:pPr>
            <a:r>
              <a:rPr lang="he-IL" altLang="en-US" sz="1450" dirty="0">
                <a:solidFill>
                  <a:srgbClr val="EBEDF0"/>
                </a:solidFill>
                <a:latin typeface="Geist" pitchFamily="34" charset="0"/>
                <a:ea typeface="Geist" pitchFamily="34" charset="-122"/>
                <a:cs typeface="Geist" pitchFamily="34" charset="-120"/>
              </a:rPr>
              <a:t>.</a:t>
            </a:r>
            <a:endParaRPr lang="he-IL" sz="1450" dirty="0"/>
          </a:p>
        </p:txBody>
      </p:sp>
      <p:sp>
        <p:nvSpPr>
          <p:cNvPr id="4" name="Shape 2"/>
          <p:cNvSpPr/>
          <p:nvPr/>
        </p:nvSpPr>
        <p:spPr>
          <a:xfrm>
            <a:off x="5839870" y="3131443"/>
            <a:ext cx="25399" cy="831453"/>
          </a:xfrm>
          <a:prstGeom prst="roundRect">
            <a:avLst>
              <a:gd name="adj" fmla="val 50001"/>
            </a:avLst>
          </a:prstGeom>
          <a:solidFill>
            <a:srgbClr val="6296FF"/>
          </a:solidFill>
          <a:ln/>
        </p:spPr>
        <p:txBody>
          <a:bodyPr/>
          <a:p/>
        </p:txBody>
      </p:sp>
      <p:sp>
        <p:nvSpPr>
          <p:cNvPr id="5" name="Text 3"/>
          <p:cNvSpPr/>
          <p:nvPr/>
        </p:nvSpPr>
        <p:spPr>
          <a:xfrm>
            <a:off x="661475" y="4175522"/>
            <a:ext cx="5203794" cy="491331"/>
          </a:xfrm>
          <a:prstGeom prst="rect">
            <a:avLst/>
          </a:prstGeom>
          <a:noFill/>
          <a:ln/>
        </p:spPr>
        <p:txBody>
          <a:bodyPr wrap="square" lIns="0" tIns="0" rIns="0" bIns="0" rtlCol="0" anchor="t">
            <a:normAutofit/>
          </a:bodyPr>
          <a:lstStyle/>
          <a:p>
            <a:pPr rtl="1" algn="r" indent="0" marL="0">
              <a:lnSpc>
                <a:spcPct val="108000"/>
              </a:lnSpc>
              <a:buNone/>
            </a:pPr>
            <a:r>
              <a:rPr lang="he-IL" altLang="en-US" sz="1450" b="1" dirty="0">
                <a:solidFill>
                  <a:srgbClr val="EBEDF0"/>
                </a:solidFill>
                <a:latin typeface="Arial" pitchFamily="34" charset="0"/>
                <a:ea typeface="Arial" pitchFamily="34" charset="-122"/>
                <a:cs typeface="Arial" pitchFamily="34" charset="-120"/>
              </a:rPr>
              <a:t>מה קרה כאן?</a:t>
            </a:r>
            <a:pPr rtl="1" algn="r" indent="0" marL="0">
              <a:lnSpc>
                <a:spcPct val="108000"/>
              </a:lnSpc>
              <a:buNone/>
            </a:pPr>
            <a:r>
              <a:rPr lang="he-IL" altLang="en-US" sz="1450" dirty="0">
                <a:solidFill>
                  <a:srgbClr val="EBEDF0"/>
                </a:solidFill>
                <a:latin typeface="Arial" pitchFamily="34" charset="0"/>
                <a:ea typeface="Arial" pitchFamily="34" charset="-122"/>
                <a:cs typeface="Arial" pitchFamily="34" charset="-120"/>
              </a:rPr>
              <a:t> הזיה (Hallucination): המודל לא שולף עובדות – הוא מנבא טקסט סביר. כשחסר לו מידע, הוא ממציא באותו ביטחון בדיוק.</a:t>
            </a:r>
            <a:endParaRPr lang="he-IL" sz="145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332776" y="3131443"/>
            <a:ext cx="5203794" cy="1170583"/>
          </a:xfrm>
          <a:prstGeom prst="rect">
            <a:avLst/>
          </a:prstGeom>
        </p:spPr>
      </p:pic>
      <p:sp>
        <p:nvSpPr>
          <p:cNvPr id="7" name="Text 4"/>
          <p:cNvSpPr/>
          <p:nvPr/>
        </p:nvSpPr>
        <p:spPr>
          <a:xfrm>
            <a:off x="6547182" y="3345855"/>
            <a:ext cx="4673384" cy="307082"/>
          </a:xfrm>
          <a:prstGeom prst="rect">
            <a:avLst/>
          </a:prstGeom>
          <a:noFill/>
          <a:ln/>
        </p:spPr>
        <p:txBody>
          <a:bodyPr wrap="none" lIns="0" tIns="0" rIns="0" bIns="0" rtlCol="0" anchor="t"/>
          <a:lstStyle/>
          <a:p>
            <a:pPr rtl="1" algn="r" indent="0" marL="0">
              <a:lnSpc>
                <a:spcPct val="108000"/>
              </a:lnSpc>
              <a:buNone/>
            </a:pPr>
            <a:r>
              <a:rPr lang="he-IL" altLang="en-US" sz="1850" b="1" spc="-37"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850" b="1" spc="-37" kern="100" dirty="0">
                <a:solidFill>
                  <a:srgbClr val="EBEDF0"/>
                </a:solidFill>
                <a:latin typeface="Arial" pitchFamily="34" charset="0"/>
                <a:ea typeface="Arial" pitchFamily="34" charset="-122"/>
                <a:cs typeface="Arial" pitchFamily="34" charset="-120"/>
              </a:rPr>
              <a:t> כלל הברזל</a:t>
            </a:r>
            <a:endParaRPr lang="he-IL" sz="1850" dirty="0"/>
          </a:p>
        </p:txBody>
      </p:sp>
      <p:sp>
        <p:nvSpPr>
          <p:cNvPr id="8" name="Text 5"/>
          <p:cNvSpPr/>
          <p:nvPr/>
        </p:nvSpPr>
        <p:spPr>
          <a:xfrm>
            <a:off x="6547182" y="3841948"/>
            <a:ext cx="4673384" cy="245666"/>
          </a:xfrm>
          <a:prstGeom prst="rect">
            <a:avLst/>
          </a:prstGeom>
          <a:noFill/>
          <a:ln/>
        </p:spPr>
        <p:txBody>
          <a:bodyPr wrap="none" lIns="0" tIns="0" rIns="0" bIns="0" rtlCol="0" anchor="t"/>
          <a:lstStyle/>
          <a:p>
            <a:pPr rtl="1" algn="r" indent="0" marL="0">
              <a:lnSpc>
                <a:spcPct val="108000"/>
              </a:lnSpc>
              <a:buNone/>
            </a:pPr>
            <a:r>
              <a:rPr lang="he-IL" altLang="en-US" sz="1450" dirty="0">
                <a:solidFill>
                  <a:srgbClr val="EBEDF0"/>
                </a:solidFill>
                <a:latin typeface="Arial" pitchFamily="34" charset="0"/>
                <a:ea typeface="Arial" pitchFamily="34" charset="-122"/>
                <a:cs typeface="Arial" pitchFamily="34" charset="-120"/>
              </a:rPr>
              <a:t>עובדות, מספרים, תאריכים, שמות – תמיד מאמתים.</a:t>
            </a:r>
            <a:endParaRPr lang="he-IL" sz="1450" dirty="0"/>
          </a:p>
        </p:txBody>
      </p:sp>
      <p:sp>
        <p:nvSpPr>
          <p:cNvPr id="9" name="TextBox 8"/>
          <p:cNvSpPr txBox="1"/>
          <p:nvPr/>
        </p:nvSpPr>
        <p:spPr>
          <a:xfrm>
            <a:off x="6675120" y="6473952"/>
            <a:ext cx="4846320" cy="292608"/>
          </a:xfrm>
          <a:prstGeom prst="rect">
            <a:avLst/>
          </a:prstGeom>
          <a:noFill/>
        </p:spPr>
        <p:txBody>
          <a:bodyPr wrap="none" lIns="0" rIns="0" tIns="0" bIns="0">
            <a:spAutoFit/>
          </a:bodyPr>
          <a:lstStyle/>
          <a:p>
            <a:pPr algn="r" rtl="1"/>
            <a:r>
              <a:rPr sz="1000">
                <a:solidFill>
                  <a:srgbClr val="8A96AA"/>
                </a:solidFill>
                <a:latin typeface="Arial"/>
                <a:cs typeface="Arial"/>
              </a:rPr>
              <a:t>© נערך על ידי AI Finance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02920"/>
            <a:ext cx="10872216" cy="640080"/>
          </a:xfrm>
          <a:prstGeom prst="rect">
            <a:avLst/>
          </a:prstGeom>
          <a:noFill/>
        </p:spPr>
        <p:txBody>
          <a:bodyPr wrap="square" lIns="0" rIns="0" tIns="0" bIns="0" anchor="t" rtlCol="0">
            <a:spAutoFit/>
          </a:bodyPr>
          <a:lstStyle/>
          <a:p>
            <a:pPr rtl="1" algn="r" marL="0" indent="0">
              <a:lnSpc>
                <a:spcPct val="108000"/>
              </a:lnSpc>
              <a:buNone/>
            </a:pPr>
            <a:r>
              <a:rPr sz="3700" b="1" i="0" lang="he-IL">
                <a:solidFill>
                  <a:srgbClr val="F2F5FA"/>
                </a:solidFill>
                <a:latin typeface="Arial"/>
                <a:cs typeface="Arial"/>
              </a:rPr>
              <a:t>ארבע מלכודות שכל משתמש צריך להכיר</a:t>
            </a:r>
          </a:p>
        </p:txBody>
      </p:sp>
      <p:sp>
        <p:nvSpPr>
          <p:cNvPr id="3" name="TextBox 2"/>
          <p:cNvSpPr txBox="1"/>
          <p:nvPr/>
        </p:nvSpPr>
        <p:spPr>
          <a:xfrm>
            <a:off x="658368" y="1280160"/>
            <a:ext cx="10872216" cy="365760"/>
          </a:xfrm>
          <a:prstGeom prst="rect">
            <a:avLst/>
          </a:prstGeom>
          <a:noFill/>
        </p:spPr>
        <p:txBody>
          <a:bodyPr wrap="square" lIns="0" rIns="0" tIns="0" bIns="0" anchor="t" rtlCol="0">
            <a:spAutoFit/>
          </a:bodyPr>
          <a:lstStyle/>
          <a:p>
            <a:pPr rtl="1" algn="r" marL="0" indent="0">
              <a:lnSpc>
                <a:spcPct val="108000"/>
              </a:lnSpc>
              <a:buNone/>
            </a:pPr>
            <a:r>
              <a:rPr sz="1450" b="0" i="0" lang="he-IL">
                <a:solidFill>
                  <a:srgbClr val="A9B4C6"/>
                </a:solidFill>
                <a:latin typeface="Arial"/>
                <a:cs typeface="Arial"/>
              </a:rPr>
              <a:t>AI הוא עוזר מצוין, לא מקור אמת</a:t>
            </a:r>
          </a:p>
        </p:txBody>
      </p:sp>
      <p:sp>
        <p:nvSpPr>
          <p:cNvPr id="4" name="Rounded Rectangle 3"/>
          <p:cNvSpPr/>
          <p:nvPr/>
        </p:nvSpPr>
        <p:spPr>
          <a:xfrm>
            <a:off x="6199632" y="1920240"/>
            <a:ext cx="5330952" cy="1536192"/>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80192" y="2148840"/>
            <a:ext cx="621792" cy="621792"/>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900" b="1" i="0" lang="he-IL">
                <a:solidFill>
                  <a:srgbClr val="F2F5FA"/>
                </a:solidFill>
                <a:latin typeface="Arial"/>
                <a:cs typeface="Arial"/>
              </a:rPr>
              <a:t>🌀</a:t>
            </a:r>
          </a:p>
        </p:txBody>
      </p:sp>
      <p:sp>
        <p:nvSpPr>
          <p:cNvPr id="6" name="TextBox 5"/>
          <p:cNvSpPr txBox="1"/>
          <p:nvPr/>
        </p:nvSpPr>
        <p:spPr>
          <a:xfrm>
            <a:off x="6428232" y="2176272"/>
            <a:ext cx="4206240" cy="365760"/>
          </a:xfrm>
          <a:prstGeom prst="rect">
            <a:avLst/>
          </a:prstGeom>
          <a:noFill/>
        </p:spPr>
        <p:txBody>
          <a:bodyPr wrap="square" lIns="0" rIns="0" tIns="0" bIns="0" anchor="t" rtlCol="0">
            <a:spAutoFit/>
          </a:bodyPr>
          <a:lstStyle/>
          <a:p>
            <a:pPr rtl="1" algn="r" marL="0" indent="0">
              <a:lnSpc>
                <a:spcPct val="108000"/>
              </a:lnSpc>
              <a:buNone/>
            </a:pPr>
            <a:r>
              <a:rPr sz="1800" b="1" i="0" lang="he-IL">
                <a:solidFill>
                  <a:srgbClr val="EBEDF0"/>
                </a:solidFill>
                <a:latin typeface="Arial"/>
                <a:cs typeface="Arial"/>
              </a:rPr>
              <a:t>הזיות</a:t>
            </a:r>
          </a:p>
        </p:txBody>
      </p:sp>
      <p:sp>
        <p:nvSpPr>
          <p:cNvPr id="7" name="TextBox 6"/>
          <p:cNvSpPr txBox="1"/>
          <p:nvPr/>
        </p:nvSpPr>
        <p:spPr>
          <a:xfrm>
            <a:off x="6428232" y="2615184"/>
            <a:ext cx="4206240" cy="731520"/>
          </a:xfrm>
          <a:prstGeom prst="rect">
            <a:avLst/>
          </a:prstGeom>
          <a:noFill/>
        </p:spPr>
        <p:txBody>
          <a:bodyPr wrap="square" lIns="0" rIns="0" tIns="0" bIns="0" anchor="t" rtlCol="0">
            <a:spAutoFit/>
          </a:bodyPr>
          <a:lstStyle/>
          <a:p>
            <a:pPr rtl="1" algn="r" marL="0" indent="0">
              <a:lnSpc>
                <a:spcPct val="108000"/>
              </a:lnSpc>
              <a:buNone/>
            </a:pPr>
            <a:r>
              <a:rPr sz="1400" b="0" i="0" lang="he-IL">
                <a:solidFill>
                  <a:srgbClr val="EBEDF0"/>
                </a:solidFill>
                <a:latin typeface="Arial"/>
                <a:cs typeface="Arial"/>
              </a:rPr>
              <a:t>ממציא עובדות, מקורות ואפילו פסקי דין, בביטחון מלא</a:t>
            </a:r>
          </a:p>
        </p:txBody>
      </p:sp>
      <p:sp>
        <p:nvSpPr>
          <p:cNvPr id="8" name="Rounded Rectangle 7"/>
          <p:cNvSpPr/>
          <p:nvPr/>
        </p:nvSpPr>
        <p:spPr>
          <a:xfrm>
            <a:off x="658368" y="1920240"/>
            <a:ext cx="5330952" cy="1536192"/>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138928" y="2148840"/>
            <a:ext cx="621792" cy="621792"/>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900" b="1" i="0" lang="he-IL">
                <a:solidFill>
                  <a:srgbClr val="F2F5FA"/>
                </a:solidFill>
                <a:latin typeface="Arial"/>
                <a:cs typeface="Arial"/>
              </a:rPr>
              <a:t>📅</a:t>
            </a:r>
          </a:p>
        </p:txBody>
      </p:sp>
      <p:sp>
        <p:nvSpPr>
          <p:cNvPr id="10" name="TextBox 9"/>
          <p:cNvSpPr txBox="1"/>
          <p:nvPr/>
        </p:nvSpPr>
        <p:spPr>
          <a:xfrm>
            <a:off x="886968" y="2176272"/>
            <a:ext cx="4206240" cy="365760"/>
          </a:xfrm>
          <a:prstGeom prst="rect">
            <a:avLst/>
          </a:prstGeom>
          <a:noFill/>
        </p:spPr>
        <p:txBody>
          <a:bodyPr wrap="square" lIns="0" rIns="0" tIns="0" bIns="0" anchor="t" rtlCol="0">
            <a:spAutoFit/>
          </a:bodyPr>
          <a:lstStyle/>
          <a:p>
            <a:pPr rtl="1" algn="r" marL="0" indent="0">
              <a:lnSpc>
                <a:spcPct val="108000"/>
              </a:lnSpc>
              <a:buNone/>
            </a:pPr>
            <a:r>
              <a:rPr sz="1800" b="1" i="0" lang="he-IL">
                <a:solidFill>
                  <a:srgbClr val="EBEDF0"/>
                </a:solidFill>
                <a:latin typeface="Arial"/>
                <a:cs typeface="Arial"/>
              </a:rPr>
              <a:t>ידע לא עדכני</a:t>
            </a:r>
          </a:p>
        </p:txBody>
      </p:sp>
      <p:sp>
        <p:nvSpPr>
          <p:cNvPr id="11" name="TextBox 10"/>
          <p:cNvSpPr txBox="1"/>
          <p:nvPr/>
        </p:nvSpPr>
        <p:spPr>
          <a:xfrm>
            <a:off x="886968" y="2615184"/>
            <a:ext cx="4206240" cy="731520"/>
          </a:xfrm>
          <a:prstGeom prst="rect">
            <a:avLst/>
          </a:prstGeom>
          <a:noFill/>
        </p:spPr>
        <p:txBody>
          <a:bodyPr wrap="square" lIns="0" rIns="0" tIns="0" bIns="0" anchor="t" rtlCol="0">
            <a:spAutoFit/>
          </a:bodyPr>
          <a:lstStyle/>
          <a:p>
            <a:pPr rtl="1" algn="r" marL="0" indent="0">
              <a:lnSpc>
                <a:spcPct val="108000"/>
              </a:lnSpc>
              <a:buNone/>
            </a:pPr>
            <a:r>
              <a:rPr sz="1400" b="0" i="0" lang="he-IL">
                <a:solidFill>
                  <a:srgbClr val="EBEDF0"/>
                </a:solidFill>
                <a:latin typeface="Arial"/>
                <a:cs typeface="Arial"/>
              </a:rPr>
              <a:t>בלי חיפוש ברשת, הוא לא יודע מה קרה בחודשים האחרונים</a:t>
            </a:r>
          </a:p>
        </p:txBody>
      </p:sp>
      <p:sp>
        <p:nvSpPr>
          <p:cNvPr id="12" name="Rounded Rectangle 11"/>
          <p:cNvSpPr/>
          <p:nvPr/>
        </p:nvSpPr>
        <p:spPr>
          <a:xfrm>
            <a:off x="6199632" y="3657600"/>
            <a:ext cx="5330952" cy="1536192"/>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680192" y="3886200"/>
            <a:ext cx="621792" cy="621792"/>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900" b="1" i="0" lang="he-IL">
                <a:solidFill>
                  <a:srgbClr val="F2F5FA"/>
                </a:solidFill>
                <a:latin typeface="Arial"/>
                <a:cs typeface="Arial"/>
              </a:rPr>
              <a:t>🙇</a:t>
            </a:r>
          </a:p>
        </p:txBody>
      </p:sp>
      <p:sp>
        <p:nvSpPr>
          <p:cNvPr id="14" name="TextBox 13"/>
          <p:cNvSpPr txBox="1"/>
          <p:nvPr/>
        </p:nvSpPr>
        <p:spPr>
          <a:xfrm>
            <a:off x="6428232" y="3913632"/>
            <a:ext cx="4206240" cy="365760"/>
          </a:xfrm>
          <a:prstGeom prst="rect">
            <a:avLst/>
          </a:prstGeom>
          <a:noFill/>
        </p:spPr>
        <p:txBody>
          <a:bodyPr wrap="square" lIns="0" rIns="0" tIns="0" bIns="0" anchor="t" rtlCol="0">
            <a:spAutoFit/>
          </a:bodyPr>
          <a:lstStyle/>
          <a:p>
            <a:pPr rtl="1" algn="r" marL="0" indent="0">
              <a:lnSpc>
                <a:spcPct val="108000"/>
              </a:lnSpc>
              <a:buNone/>
            </a:pPr>
            <a:r>
              <a:rPr sz="1800" b="1" i="0" lang="he-IL">
                <a:solidFill>
                  <a:srgbClr val="EBEDF0"/>
                </a:solidFill>
                <a:latin typeface="Arial"/>
                <a:cs typeface="Arial"/>
              </a:rPr>
              <a:t>חנפנות</a:t>
            </a:r>
          </a:p>
        </p:txBody>
      </p:sp>
      <p:sp>
        <p:nvSpPr>
          <p:cNvPr id="15" name="TextBox 14"/>
          <p:cNvSpPr txBox="1"/>
          <p:nvPr/>
        </p:nvSpPr>
        <p:spPr>
          <a:xfrm>
            <a:off x="6428232" y="4352544"/>
            <a:ext cx="4206240" cy="731520"/>
          </a:xfrm>
          <a:prstGeom prst="rect">
            <a:avLst/>
          </a:prstGeom>
          <a:noFill/>
        </p:spPr>
        <p:txBody>
          <a:bodyPr wrap="square" lIns="0" rIns="0" tIns="0" bIns="0" anchor="t" rtlCol="0">
            <a:spAutoFit/>
          </a:bodyPr>
          <a:lstStyle/>
          <a:p>
            <a:pPr rtl="1" algn="r" marL="0" indent="0">
              <a:lnSpc>
                <a:spcPct val="108000"/>
              </a:lnSpc>
              <a:buNone/>
            </a:pPr>
            <a:r>
              <a:rPr sz="1400" b="0" i="0" lang="he-IL">
                <a:solidFill>
                  <a:srgbClr val="EBEDF0"/>
                </a:solidFill>
                <a:latin typeface="Arial"/>
                <a:cs typeface="Arial"/>
              </a:rPr>
              <a:t>נוטה להסכים איתכם, גם כשאתם טועים. בקשו ממנו ביקורת</a:t>
            </a:r>
          </a:p>
        </p:txBody>
      </p:sp>
      <p:sp>
        <p:nvSpPr>
          <p:cNvPr id="16" name="Rounded Rectangle 15"/>
          <p:cNvSpPr/>
          <p:nvPr/>
        </p:nvSpPr>
        <p:spPr>
          <a:xfrm>
            <a:off x="658368" y="3657600"/>
            <a:ext cx="5330952" cy="1536192"/>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5138928" y="3886200"/>
            <a:ext cx="621792" cy="621792"/>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900" b="1" i="0" lang="he-IL">
                <a:solidFill>
                  <a:srgbClr val="F2F5FA"/>
                </a:solidFill>
                <a:latin typeface="Arial"/>
                <a:cs typeface="Arial"/>
              </a:rPr>
              <a:t>⚖️</a:t>
            </a:r>
          </a:p>
        </p:txBody>
      </p:sp>
      <p:sp>
        <p:nvSpPr>
          <p:cNvPr id="18" name="TextBox 17"/>
          <p:cNvSpPr txBox="1"/>
          <p:nvPr/>
        </p:nvSpPr>
        <p:spPr>
          <a:xfrm>
            <a:off x="886968" y="3913632"/>
            <a:ext cx="4206240" cy="365760"/>
          </a:xfrm>
          <a:prstGeom prst="rect">
            <a:avLst/>
          </a:prstGeom>
          <a:noFill/>
        </p:spPr>
        <p:txBody>
          <a:bodyPr wrap="square" lIns="0" rIns="0" tIns="0" bIns="0" anchor="t" rtlCol="0">
            <a:spAutoFit/>
          </a:bodyPr>
          <a:lstStyle/>
          <a:p>
            <a:pPr rtl="1" algn="r" marL="0" indent="0">
              <a:lnSpc>
                <a:spcPct val="108000"/>
              </a:lnSpc>
              <a:buNone/>
            </a:pPr>
            <a:r>
              <a:rPr sz="1800" b="1" i="0" lang="he-IL">
                <a:solidFill>
                  <a:srgbClr val="EBEDF0"/>
                </a:solidFill>
                <a:latin typeface="Arial"/>
                <a:cs typeface="Arial"/>
              </a:rPr>
              <a:t>הטיות</a:t>
            </a:r>
          </a:p>
        </p:txBody>
      </p:sp>
      <p:sp>
        <p:nvSpPr>
          <p:cNvPr id="19" name="TextBox 18"/>
          <p:cNvSpPr txBox="1"/>
          <p:nvPr/>
        </p:nvSpPr>
        <p:spPr>
          <a:xfrm>
            <a:off x="886968" y="4352544"/>
            <a:ext cx="4206240" cy="731520"/>
          </a:xfrm>
          <a:prstGeom prst="rect">
            <a:avLst/>
          </a:prstGeom>
          <a:noFill/>
        </p:spPr>
        <p:txBody>
          <a:bodyPr wrap="square" lIns="0" rIns="0" tIns="0" bIns="0" anchor="t" rtlCol="0">
            <a:spAutoFit/>
          </a:bodyPr>
          <a:lstStyle/>
          <a:p>
            <a:pPr rtl="1" algn="r" marL="0" indent="0">
              <a:lnSpc>
                <a:spcPct val="108000"/>
              </a:lnSpc>
              <a:buNone/>
            </a:pPr>
            <a:r>
              <a:rPr sz="1400" b="0" i="0" lang="he-IL">
                <a:solidFill>
                  <a:srgbClr val="EBEDF0"/>
                </a:solidFill>
                <a:latin typeface="Arial"/>
                <a:cs typeface="Arial"/>
              </a:rPr>
              <a:t>משקף דעות קדומות שקיימות בטקסטים שהוא למד מהם</a:t>
            </a:r>
          </a:p>
        </p:txBody>
      </p:sp>
      <p:sp>
        <p:nvSpPr>
          <p:cNvPr id="20" name="Rounded Rectangle 19"/>
          <p:cNvSpPr/>
          <p:nvPr/>
        </p:nvSpPr>
        <p:spPr>
          <a:xfrm>
            <a:off x="658368" y="5532120"/>
            <a:ext cx="10872216" cy="640080"/>
          </a:xfrm>
          <a:prstGeom prst="roundRect">
            <a:avLst>
              <a:gd name="adj" fmla="val 3000"/>
            </a:avLst>
          </a:prstGeom>
          <a:solidFill>
            <a:srgbClr val="183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86968" y="5532120"/>
            <a:ext cx="10415016" cy="640080"/>
          </a:xfrm>
          <a:prstGeom prst="rect">
            <a:avLst/>
          </a:prstGeom>
          <a:noFill/>
        </p:spPr>
        <p:txBody>
          <a:bodyPr wrap="square" lIns="0" rIns="0" tIns="0" bIns="0" anchor="ctr" rtlCol="0">
            <a:spAutoFit/>
          </a:bodyPr>
          <a:lstStyle/>
          <a:p>
            <a:pPr rtl="1" algn="r" marL="0" indent="0">
              <a:lnSpc>
                <a:spcPct val="108000"/>
              </a:lnSpc>
              <a:buNone/>
            </a:pPr>
            <a:r>
              <a:rPr sz="1450" b="0" i="0" lang="he-IL">
                <a:solidFill>
                  <a:srgbClr val="EBEDF0"/>
                </a:solidFill>
                <a:latin typeface="Arial"/>
                <a:cs typeface="Arial"/>
              </a:rPr>
              <a:t>✅  הפתרון: אתם העורכים. בודקים, מאמתים, ומבקשים "מה החולשות בתשובה שלך?"</a:t>
            </a:r>
          </a:p>
        </p:txBody>
      </p:sp>
      <p:sp>
        <p:nvSpPr>
          <p:cNvPr id="22" name="TextBox 21"/>
          <p:cNvSpPr txBox="1"/>
          <p:nvPr/>
        </p:nvSpPr>
        <p:spPr>
          <a:xfrm>
            <a:off x="6675120" y="6473952"/>
            <a:ext cx="4846320" cy="292608"/>
          </a:xfrm>
          <a:prstGeom prst="rect">
            <a:avLst/>
          </a:prstGeom>
          <a:noFill/>
        </p:spPr>
        <p:txBody>
          <a:bodyPr wrap="none" lIns="0" rIns="0" tIns="0" bIns="0">
            <a:spAutoFit/>
          </a:bodyPr>
          <a:lstStyle/>
          <a:p>
            <a:pPr algn="r" rtl="1"/>
            <a:r>
              <a:rPr sz="1000">
                <a:solidFill>
                  <a:srgbClr val="8A96AA"/>
                </a:solidFill>
                <a:latin typeface="Arial"/>
                <a:cs typeface="Arial"/>
              </a:rPr>
              <a:t>© נערך על ידי AI Finance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61475" y="1253331"/>
            <a:ext cx="10868745" cy="614263"/>
          </a:xfrm>
          <a:prstGeom prst="rect">
            <a:avLst/>
          </a:prstGeom>
          <a:noFill/>
          <a:ln/>
        </p:spPr>
        <p:txBody>
          <a:bodyPr wrap="none" lIns="0" tIns="0" rIns="0" bIns="0" rtlCol="0" anchor="t"/>
          <a:lstStyle/>
          <a:p>
            <a:pPr rtl="1" algn="r" indent="0" marL="0">
              <a:lnSpc>
                <a:spcPct val="108000"/>
              </a:lnSpc>
              <a:buNone/>
            </a:pPr>
            <a:r>
              <a:rPr lang="he-IL" altLang="en-US" sz="3700" b="1" spc="-74" kern="100" dirty="0">
                <a:solidFill>
                  <a:srgbClr val="F2F5FA"/>
                </a:solidFill>
                <a:latin typeface="Arial" pitchFamily="34" charset="0"/>
                <a:ea typeface="Arial" pitchFamily="34" charset="-122"/>
                <a:cs typeface="Arial" pitchFamily="34" charset="-120"/>
              </a:rPr>
              <a:t>מה AI עושה מצוין ומה גרוע</a:t>
            </a:r>
            <a:endParaRPr lang="he-IL" sz="3700" dirty="0"/>
          </a:p>
        </p:txBody>
      </p:sp>
      <p:sp>
        <p:nvSpPr>
          <p:cNvPr id="3" name="Shape 1"/>
          <p:cNvSpPr/>
          <p:nvPr/>
        </p:nvSpPr>
        <p:spPr>
          <a:xfrm>
            <a:off x="661475" y="2363688"/>
            <a:ext cx="5203794" cy="3028355"/>
          </a:xfrm>
          <a:prstGeom prst="roundRect">
            <a:avLst>
              <a:gd name="adj" fmla="val 2621"/>
            </a:avLst>
          </a:prstGeom>
          <a:solidFill>
            <a:srgbClr val="101620"/>
          </a:solidFill>
          <a:ln w="19050">
            <a:solidFill>
              <a:srgbClr val="002A80"/>
            </a:solidFill>
            <a:prstDash val="solid"/>
          </a:ln>
        </p:spPr>
        <p:txBody>
          <a:bodyPr/>
          <a:p/>
        </p:txBody>
      </p:sp>
      <p:sp>
        <p:nvSpPr>
          <p:cNvPr id="4" name="Text 2"/>
          <p:cNvSpPr/>
          <p:nvPr/>
        </p:nvSpPr>
        <p:spPr>
          <a:xfrm>
            <a:off x="869531" y="2571750"/>
            <a:ext cx="4787681" cy="307082"/>
          </a:xfrm>
          <a:prstGeom prst="rect">
            <a:avLst/>
          </a:prstGeom>
          <a:noFill/>
          <a:ln/>
        </p:spPr>
        <p:txBody>
          <a:bodyPr wrap="none" lIns="0" tIns="0" rIns="0" bIns="0" rtlCol="0" anchor="t"/>
          <a:lstStyle/>
          <a:p>
            <a:pPr rtl="1" algn="r" indent="0" marL="0">
              <a:lnSpc>
                <a:spcPct val="108000"/>
              </a:lnSpc>
              <a:buNone/>
            </a:pPr>
            <a:r>
              <a:rPr lang="he-IL" altLang="en-US" sz="1850" b="1" spc="-37"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850" b="1" spc="-37" kern="100" dirty="0">
                <a:solidFill>
                  <a:srgbClr val="EBEDF0"/>
                </a:solidFill>
                <a:latin typeface="Arial" pitchFamily="34" charset="0"/>
                <a:ea typeface="Arial" pitchFamily="34" charset="-122"/>
                <a:cs typeface="Arial" pitchFamily="34" charset="-120"/>
              </a:rPr>
              <a:t> מצוין</a:t>
            </a:r>
            <a:endParaRPr lang="he-IL" sz="1850" dirty="0"/>
          </a:p>
        </p:txBody>
      </p:sp>
      <p:sp>
        <p:nvSpPr>
          <p:cNvPr id="5" name="Text 3"/>
          <p:cNvSpPr/>
          <p:nvPr/>
        </p:nvSpPr>
        <p:spPr>
          <a:xfrm>
            <a:off x="869531" y="3067844"/>
            <a:ext cx="4787681" cy="2116138"/>
          </a:xfrm>
          <a:prstGeom prst="rect">
            <a:avLst/>
          </a:prstGeom>
          <a:noFill/>
          <a:ln/>
        </p:spPr>
        <p:txBody>
          <a:bodyPr wrap="square" lIns="0" tIns="0" rIns="75608" bIns="0" rtlCol="0" anchor="t">
            <a:normAutofit/>
          </a:bodyPr>
          <a:lstStyle/>
          <a:p>
            <a:pPr rtl="1" algn="r" marL="294640" indent="-294640">
              <a:lnSpc>
                <a:spcPct val="108000"/>
              </a:lnSpc>
              <a:buSzPct val="100000"/>
              <a:buChar char="•"/>
            </a:pPr>
            <a:r>
              <a:rPr lang="he-IL" altLang="en-US" sz="1450" dirty="0">
                <a:solidFill>
                  <a:srgbClr val="EBEDF0"/>
                </a:solidFill>
                <a:latin typeface="Arial" pitchFamily="34" charset="0"/>
                <a:ea typeface="Arial" pitchFamily="34" charset="-122"/>
                <a:cs typeface="Arial" pitchFamily="34" charset="-120"/>
              </a:rPr>
              <a:t>ניסוח</a:t>
            </a:r>
            <a:endParaRPr lang="he-IL" sz="1450" dirty="0"/>
          </a:p>
          <a:p>
            <a:pPr rtl="1" algn="r" marL="294640" indent="-294640">
              <a:lnSpc>
                <a:spcPct val="108000"/>
              </a:lnSpc>
              <a:buSzPct val="100000"/>
              <a:buChar char="•"/>
            </a:pPr>
            <a:r>
              <a:rPr lang="he-IL" altLang="en-US" sz="1450" dirty="0">
                <a:solidFill>
                  <a:srgbClr val="EBEDF0"/>
                </a:solidFill>
                <a:latin typeface="Arial" pitchFamily="34" charset="0"/>
                <a:ea typeface="Arial" pitchFamily="34" charset="-122"/>
                <a:cs typeface="Arial" pitchFamily="34" charset="-120"/>
              </a:rPr>
              <a:t>סיכום</a:t>
            </a:r>
            <a:endParaRPr lang="he-IL" sz="1450" dirty="0"/>
          </a:p>
          <a:p>
            <a:pPr rtl="1" algn="r" marL="294640" indent="-294640">
              <a:lnSpc>
                <a:spcPct val="108000"/>
              </a:lnSpc>
              <a:buSzPct val="100000"/>
              <a:buChar char="•"/>
            </a:pPr>
            <a:r>
              <a:rPr lang="he-IL" altLang="en-US" sz="1450" dirty="0">
                <a:solidFill>
                  <a:srgbClr val="EBEDF0"/>
                </a:solidFill>
                <a:latin typeface="Arial" pitchFamily="34" charset="0"/>
                <a:ea typeface="Arial" pitchFamily="34" charset="-122"/>
                <a:cs typeface="Arial" pitchFamily="34" charset="-120"/>
              </a:rPr>
              <a:t>תרגום</a:t>
            </a:r>
            <a:endParaRPr lang="he-IL" sz="1450" dirty="0"/>
          </a:p>
          <a:p>
            <a:pPr rtl="1" algn="r" marL="294640" indent="-294640">
              <a:lnSpc>
                <a:spcPct val="108000"/>
              </a:lnSpc>
              <a:buSzPct val="100000"/>
              <a:buChar char="•"/>
            </a:pPr>
            <a:r>
              <a:rPr lang="he-IL" altLang="en-US" sz="1450" dirty="0">
                <a:solidFill>
                  <a:srgbClr val="EBEDF0"/>
                </a:solidFill>
                <a:latin typeface="Arial" pitchFamily="34" charset="0"/>
                <a:ea typeface="Arial" pitchFamily="34" charset="-122"/>
                <a:cs typeface="Arial" pitchFamily="34" charset="-120"/>
              </a:rPr>
              <a:t>רעיונות</a:t>
            </a:r>
            <a:endParaRPr lang="he-IL" sz="1450" dirty="0"/>
          </a:p>
          <a:p>
            <a:pPr rtl="1" algn="r" marL="294640" indent="-294640">
              <a:lnSpc>
                <a:spcPct val="108000"/>
              </a:lnSpc>
              <a:buSzPct val="100000"/>
              <a:buChar char="•"/>
            </a:pPr>
            <a:r>
              <a:rPr lang="he-IL" altLang="en-US" sz="1450" dirty="0">
                <a:solidFill>
                  <a:srgbClr val="EBEDF0"/>
                </a:solidFill>
                <a:latin typeface="Arial" pitchFamily="34" charset="0"/>
                <a:ea typeface="Arial" pitchFamily="34" charset="-122"/>
                <a:cs typeface="Arial" pitchFamily="34" charset="-120"/>
              </a:rPr>
              <a:t>הסברים</a:t>
            </a:r>
            <a:endParaRPr lang="he-IL" sz="1450" dirty="0"/>
          </a:p>
          <a:p>
            <a:pPr rtl="1" algn="r" marL="294640" indent="-294640">
              <a:lnSpc>
                <a:spcPct val="108000"/>
              </a:lnSpc>
              <a:buSzPct val="100000"/>
              <a:buChar char="•"/>
            </a:pPr>
            <a:r>
              <a:rPr lang="he-IL" altLang="en-US" sz="1450" dirty="0">
                <a:solidFill>
                  <a:srgbClr val="EBEDF0"/>
                </a:solidFill>
                <a:latin typeface="Arial" pitchFamily="34" charset="0"/>
                <a:ea typeface="Arial" pitchFamily="34" charset="-122"/>
                <a:cs typeface="Arial" pitchFamily="34" charset="-120"/>
              </a:rPr>
              <a:t>טיוטות</a:t>
            </a:r>
            <a:endParaRPr lang="he-IL" sz="1450" dirty="0"/>
          </a:p>
          <a:p>
            <a:pPr rtl="1" algn="r" marL="294640" indent="-294640">
              <a:lnSpc>
                <a:spcPct val="108000"/>
              </a:lnSpc>
              <a:buSzPct val="100000"/>
              <a:buChar char="•"/>
            </a:pPr>
            <a:r>
              <a:rPr lang="he-IL" altLang="en-US" sz="1450" dirty="0">
                <a:solidFill>
                  <a:srgbClr val="EBEDF0"/>
                </a:solidFill>
                <a:latin typeface="Arial" pitchFamily="34" charset="0"/>
                <a:ea typeface="Arial" pitchFamily="34" charset="-122"/>
                <a:cs typeface="Arial" pitchFamily="34" charset="-120"/>
              </a:rPr>
              <a:t>ניתוח טקסט שנתתם לו</a:t>
            </a:r>
            <a:endParaRPr lang="he-IL" sz="1450" dirty="0"/>
          </a:p>
        </p:txBody>
      </p:sp>
      <p:sp>
        <p:nvSpPr>
          <p:cNvPr id="6" name="Shape 4"/>
          <p:cNvSpPr/>
          <p:nvPr/>
        </p:nvSpPr>
        <p:spPr>
          <a:xfrm>
            <a:off x="6332776" y="2363688"/>
            <a:ext cx="5203794" cy="2105819"/>
          </a:xfrm>
          <a:prstGeom prst="roundRect">
            <a:avLst>
              <a:gd name="adj" fmla="val 3770"/>
            </a:avLst>
          </a:prstGeom>
          <a:solidFill>
            <a:srgbClr val="101620">
              <a:alpha val="95000"/>
            </a:srgbClr>
          </a:solidFill>
          <a:ln w="25399">
            <a:solidFill>
              <a:srgbClr val="002A80"/>
            </a:solidFill>
            <a:prstDash val="solid"/>
          </a:ln>
        </p:spPr>
        <p:txBody>
          <a:bodyPr/>
          <a:p/>
        </p:txBody>
      </p:sp>
      <p:sp>
        <p:nvSpPr>
          <p:cNvPr id="7" name="Text 5"/>
          <p:cNvSpPr/>
          <p:nvPr/>
        </p:nvSpPr>
        <p:spPr>
          <a:xfrm>
            <a:off x="6547182" y="2578100"/>
            <a:ext cx="4774981" cy="307082"/>
          </a:xfrm>
          <a:prstGeom prst="rect">
            <a:avLst/>
          </a:prstGeom>
          <a:noFill/>
          <a:ln/>
        </p:spPr>
        <p:txBody>
          <a:bodyPr wrap="none" lIns="0" tIns="0" rIns="0" bIns="0" rtlCol="0" anchor="t"/>
          <a:lstStyle/>
          <a:p>
            <a:pPr rtl="1" algn="r" indent="0" marL="0">
              <a:lnSpc>
                <a:spcPct val="108000"/>
              </a:lnSpc>
              <a:buNone/>
            </a:pPr>
            <a:r>
              <a:rPr lang="he-IL" altLang="en-US" sz="1850" b="1" spc="-37"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850" b="1" spc="-37" kern="100" dirty="0">
                <a:solidFill>
                  <a:srgbClr val="EBEDF0"/>
                </a:solidFill>
                <a:latin typeface="Arial" pitchFamily="34" charset="0"/>
                <a:ea typeface="Arial" pitchFamily="34" charset="-122"/>
                <a:cs typeface="Arial" pitchFamily="34" charset="-120"/>
              </a:rPr>
              <a:t> גרוע</a:t>
            </a:r>
            <a:endParaRPr lang="he-IL" sz="1850" dirty="0"/>
          </a:p>
        </p:txBody>
      </p:sp>
      <p:sp>
        <p:nvSpPr>
          <p:cNvPr id="8" name="Text 6"/>
          <p:cNvSpPr/>
          <p:nvPr/>
        </p:nvSpPr>
        <p:spPr>
          <a:xfrm>
            <a:off x="6547182" y="3074194"/>
            <a:ext cx="4774981" cy="1180902"/>
          </a:xfrm>
          <a:prstGeom prst="rect">
            <a:avLst/>
          </a:prstGeom>
          <a:noFill/>
          <a:ln/>
        </p:spPr>
        <p:txBody>
          <a:bodyPr wrap="square" lIns="0" tIns="0" rIns="75608" bIns="0" rtlCol="0" anchor="t">
            <a:normAutofit/>
          </a:bodyPr>
          <a:lstStyle/>
          <a:p>
            <a:pPr rtl="1" algn="r" marL="294640" indent="-294640">
              <a:lnSpc>
                <a:spcPct val="108000"/>
              </a:lnSpc>
              <a:buSzPct val="100000"/>
              <a:buChar char="•"/>
            </a:pPr>
            <a:r>
              <a:rPr lang="he-IL" altLang="en-US" sz="1450" dirty="0">
                <a:solidFill>
                  <a:srgbClr val="EBEDF0"/>
                </a:solidFill>
                <a:latin typeface="Arial" pitchFamily="34" charset="0"/>
                <a:ea typeface="Arial" pitchFamily="34" charset="-122"/>
                <a:cs typeface="Arial" pitchFamily="34" charset="-120"/>
              </a:rPr>
              <a:t>עובדות עדכניות</a:t>
            </a:r>
            <a:endParaRPr lang="he-IL" sz="1450" dirty="0"/>
          </a:p>
          <a:p>
            <a:pPr rtl="1" algn="r" marL="294640" indent="-294640">
              <a:lnSpc>
                <a:spcPct val="108000"/>
              </a:lnSpc>
              <a:buSzPct val="100000"/>
              <a:buChar char="•"/>
            </a:pPr>
            <a:r>
              <a:rPr lang="he-IL" altLang="en-US" sz="1450" dirty="0">
                <a:solidFill>
                  <a:srgbClr val="EBEDF0"/>
                </a:solidFill>
                <a:latin typeface="Arial" pitchFamily="34" charset="0"/>
                <a:ea typeface="Arial" pitchFamily="34" charset="-122"/>
                <a:cs typeface="Arial" pitchFamily="34" charset="-120"/>
              </a:rPr>
              <a:t>חישובים מורכבים</a:t>
            </a:r>
            <a:endParaRPr lang="he-IL" sz="1450" dirty="0"/>
          </a:p>
          <a:p>
            <a:pPr rtl="1" algn="r" marL="294640" indent="-294640">
              <a:lnSpc>
                <a:spcPct val="108000"/>
              </a:lnSpc>
              <a:buSzPct val="100000"/>
              <a:buChar char="•"/>
            </a:pPr>
            <a:r>
              <a:rPr lang="he-IL" altLang="en-US" sz="1450" dirty="0">
                <a:solidFill>
                  <a:srgbClr val="EBEDF0"/>
                </a:solidFill>
                <a:latin typeface="Arial" pitchFamily="34" charset="0"/>
                <a:ea typeface="Arial" pitchFamily="34" charset="-122"/>
                <a:cs typeface="Arial" pitchFamily="34" charset="-120"/>
              </a:rPr>
              <a:t>ידע על החברה שלכם (אם לא סיפרתם)</a:t>
            </a:r>
            <a:endParaRPr lang="he-IL" sz="1450" dirty="0"/>
          </a:p>
          <a:p>
            <a:pPr rtl="1" algn="r" marL="294640" indent="-294640">
              <a:lnSpc>
                <a:spcPct val="108000"/>
              </a:lnSpc>
              <a:buSzPct val="100000"/>
              <a:buChar char="•"/>
            </a:pPr>
            <a:r>
              <a:rPr lang="he-IL" altLang="en-US" sz="1450" dirty="0">
                <a:solidFill>
                  <a:srgbClr val="EBEDF0"/>
                </a:solidFill>
                <a:latin typeface="Arial" pitchFamily="34" charset="0"/>
                <a:ea typeface="Arial" pitchFamily="34" charset="-122"/>
                <a:cs typeface="Arial" pitchFamily="34" charset="-120"/>
              </a:rPr>
              <a:t>החלטות במקומכם</a:t>
            </a:r>
            <a:endParaRPr lang="he-IL" sz="1450" dirty="0"/>
          </a:p>
        </p:txBody>
      </p:sp>
      <p:sp>
        <p:nvSpPr>
          <p:cNvPr id="9" name="TextBox 8"/>
          <p:cNvSpPr txBox="1"/>
          <p:nvPr/>
        </p:nvSpPr>
        <p:spPr>
          <a:xfrm>
            <a:off x="6675120" y="6473952"/>
            <a:ext cx="4846320" cy="292608"/>
          </a:xfrm>
          <a:prstGeom prst="rect">
            <a:avLst/>
          </a:prstGeom>
          <a:noFill/>
        </p:spPr>
        <p:txBody>
          <a:bodyPr wrap="none" lIns="0" rIns="0" tIns="0" bIns="0">
            <a:spAutoFit/>
          </a:bodyPr>
          <a:lstStyle/>
          <a:p>
            <a:pPr algn="r" rtl="1"/>
            <a:r>
              <a:rPr sz="1000">
                <a:solidFill>
                  <a:srgbClr val="8A96AA"/>
                </a:solidFill>
                <a:latin typeface="Arial"/>
                <a:cs typeface="Arial"/>
              </a:rPr>
              <a:t>© נערך על ידי AI Finance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61475" y="689769"/>
            <a:ext cx="10868745" cy="537468"/>
          </a:xfrm>
          <a:prstGeom prst="rect">
            <a:avLst/>
          </a:prstGeom>
          <a:noFill/>
          <a:ln/>
        </p:spPr>
        <p:txBody>
          <a:bodyPr wrap="none" lIns="0" tIns="0" rIns="0" bIns="0" rtlCol="0" anchor="t"/>
          <a:lstStyle/>
          <a:p>
            <a:pPr rtl="1" algn="r" indent="0" marL="0">
              <a:lnSpc>
                <a:spcPct val="108000"/>
              </a:lnSpc>
              <a:buNone/>
            </a:pPr>
            <a:r>
              <a:rPr lang="he-IL" altLang="en-US" sz="3250" b="1" spc="-65" kern="100" dirty="0">
                <a:solidFill>
                  <a:srgbClr val="F2F5FA"/>
                </a:solidFill>
                <a:latin typeface="Arial" pitchFamily="34" charset="0"/>
                <a:ea typeface="Arial" pitchFamily="34" charset="-122"/>
                <a:cs typeface="Arial" pitchFamily="34" charset="-120"/>
              </a:rPr>
              <a:t>תיקון 13 לחוק הגנת הפרטיות – מה זה אומר עלינו?</a:t>
            </a:r>
            <a:endParaRPr lang="he-IL" sz="3250" dirty="0"/>
          </a:p>
        </p:txBody>
      </p:sp>
      <p:sp>
        <p:nvSpPr>
          <p:cNvPr id="3" name="Text 1"/>
          <p:cNvSpPr/>
          <p:nvPr/>
        </p:nvSpPr>
        <p:spPr>
          <a:xfrm>
            <a:off x="51890" y="1516658"/>
            <a:ext cx="11478330" cy="201513"/>
          </a:xfrm>
          <a:prstGeom prst="rect">
            <a:avLst/>
          </a:prstGeom>
          <a:noFill/>
          <a:ln/>
        </p:spPr>
        <p:txBody>
          <a:bodyPr wrap="none" lIns="0" tIns="0" rIns="0" bIns="0" rtlCol="0" anchor="t"/>
          <a:lstStyle/>
          <a:p>
            <a:pPr rtl="1" algn="r" indent="0" marL="0">
              <a:lnSpc>
                <a:spcPct val="102000"/>
              </a:lnSpc>
              <a:buNone/>
            </a:pPr>
            <a:r>
              <a:rPr lang="he-IL" altLang="en-US" sz="1300" dirty="0">
                <a:solidFill>
                  <a:srgbClr val="EBEDF0"/>
                </a:solidFill>
                <a:latin typeface="Arial" pitchFamily="34" charset="0"/>
                <a:ea typeface="Arial" pitchFamily="34" charset="-122"/>
                <a:cs typeface="Arial" pitchFamily="34" charset="-120"/>
              </a:rPr>
              <a:t>התיקון המקיף ביותר לחוק הגנת הפרטיות מאז 1981. נחקק באוגוסט 2024, נכנס לתוקף אוגוסט 2025.</a:t>
            </a:r>
            <a:endParaRPr lang="he-IL" sz="13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043609"/>
            <a:ext cx="5232666" cy="983655"/>
          </a:xfrm>
          <a:prstGeom prst="rect">
            <a:avLst/>
          </a:prstGeom>
        </p:spPr>
      </p:pic>
      <p:sp>
        <p:nvSpPr>
          <p:cNvPr id="5" name="Text 2"/>
          <p:cNvSpPr/>
          <p:nvPr/>
        </p:nvSpPr>
        <p:spPr>
          <a:xfrm>
            <a:off x="845819" y="2227957"/>
            <a:ext cx="4787780" cy="268784"/>
          </a:xfrm>
          <a:prstGeom prst="rect">
            <a:avLst/>
          </a:prstGeom>
          <a:noFill/>
          <a:ln/>
        </p:spPr>
        <p:txBody>
          <a:bodyPr wrap="none" lIns="0" tIns="0" rIns="0" bIns="0" rtlCol="0" anchor="t"/>
          <a:lstStyle/>
          <a:p>
            <a:pPr rtl="1" algn="r" indent="0" marL="0">
              <a:lnSpc>
                <a:spcPct val="108000"/>
              </a:lnSpc>
              <a:buNone/>
            </a:pPr>
            <a:r>
              <a:rPr lang="he-IL" altLang="en-US" sz="1600" b="1" spc="-33"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600" b="1" spc="-33" kern="100" dirty="0">
                <a:solidFill>
                  <a:srgbClr val="EBEDF0"/>
                </a:solidFill>
                <a:latin typeface="Arial" pitchFamily="34" charset="0"/>
                <a:ea typeface="Arial" pitchFamily="34" charset="-122"/>
                <a:cs typeface="Arial" pitchFamily="34" charset="-120"/>
              </a:rPr>
              <a:t> מינוי ממונה פרטיות</a:t>
            </a:r>
            <a:endParaRPr lang="he-IL" sz="1600" dirty="0"/>
          </a:p>
        </p:txBody>
      </p:sp>
      <p:sp>
        <p:nvSpPr>
          <p:cNvPr id="6" name="Text 3"/>
          <p:cNvSpPr/>
          <p:nvPr/>
        </p:nvSpPr>
        <p:spPr>
          <a:xfrm>
            <a:off x="845819" y="2641402"/>
            <a:ext cx="4787780" cy="201513"/>
          </a:xfrm>
          <a:prstGeom prst="rect">
            <a:avLst/>
          </a:prstGeom>
          <a:noFill/>
          <a:ln/>
        </p:spPr>
        <p:txBody>
          <a:bodyPr wrap="none" lIns="0" tIns="0" rIns="0" bIns="0" rtlCol="0" anchor="t"/>
          <a:lstStyle/>
          <a:p>
            <a:pPr rtl="1" algn="r" indent="0" marL="0">
              <a:lnSpc>
                <a:spcPct val="102000"/>
              </a:lnSpc>
              <a:buNone/>
            </a:pPr>
            <a:r>
              <a:rPr lang="he-IL" altLang="en-US" sz="1300" dirty="0">
                <a:solidFill>
                  <a:srgbClr val="EBEDF0"/>
                </a:solidFill>
                <a:latin typeface="Arial" pitchFamily="34" charset="0"/>
                <a:ea typeface="Arial" pitchFamily="34" charset="-122"/>
                <a:cs typeface="Arial" pitchFamily="34" charset="-120"/>
              </a:rPr>
              <a:t>ארגונים בעלי מאגרי מידע גדולים חייבים למנות ממונה על הגנת הפרטיות.</a:t>
            </a:r>
            <a:endParaRPr lang="he-IL" sz="130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1475" y="3171924"/>
            <a:ext cx="5232666" cy="983655"/>
          </a:xfrm>
          <a:prstGeom prst="rect">
            <a:avLst/>
          </a:prstGeom>
        </p:spPr>
      </p:pic>
      <p:sp>
        <p:nvSpPr>
          <p:cNvPr id="8" name="Text 4"/>
          <p:cNvSpPr/>
          <p:nvPr/>
        </p:nvSpPr>
        <p:spPr>
          <a:xfrm>
            <a:off x="845819" y="3356273"/>
            <a:ext cx="4787780" cy="268784"/>
          </a:xfrm>
          <a:prstGeom prst="rect">
            <a:avLst/>
          </a:prstGeom>
          <a:noFill/>
          <a:ln/>
        </p:spPr>
        <p:txBody>
          <a:bodyPr wrap="none" lIns="0" tIns="0" rIns="0" bIns="0" rtlCol="0" anchor="t"/>
          <a:lstStyle/>
          <a:p>
            <a:pPr rtl="1" algn="r" indent="0" marL="0">
              <a:lnSpc>
                <a:spcPct val="108000"/>
              </a:lnSpc>
              <a:buNone/>
            </a:pPr>
            <a:r>
              <a:rPr lang="he-IL" altLang="en-US" sz="1600" b="1" spc="-33"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600" b="1" spc="-33" kern="100" dirty="0">
                <a:solidFill>
                  <a:srgbClr val="EBEDF0"/>
                </a:solidFill>
                <a:latin typeface="Arial" pitchFamily="34" charset="0"/>
                <a:ea typeface="Arial" pitchFamily="34" charset="-122"/>
                <a:cs typeface="Arial" pitchFamily="34" charset="-120"/>
              </a:rPr>
              <a:t> פיצוי ללא הוכחת נזק</a:t>
            </a:r>
            <a:endParaRPr lang="he-IL" sz="1600" dirty="0"/>
          </a:p>
        </p:txBody>
      </p:sp>
      <p:sp>
        <p:nvSpPr>
          <p:cNvPr id="9" name="Text 5"/>
          <p:cNvSpPr/>
          <p:nvPr/>
        </p:nvSpPr>
        <p:spPr>
          <a:xfrm>
            <a:off x="845819" y="3769717"/>
            <a:ext cx="4787780" cy="201513"/>
          </a:xfrm>
          <a:prstGeom prst="rect">
            <a:avLst/>
          </a:prstGeom>
          <a:noFill/>
          <a:ln/>
        </p:spPr>
        <p:txBody>
          <a:bodyPr wrap="none" lIns="0" tIns="0" rIns="0" bIns="0" rtlCol="0" anchor="t"/>
          <a:lstStyle/>
          <a:p>
            <a:pPr rtl="1" algn="r" indent="0" marL="0">
              <a:lnSpc>
                <a:spcPct val="102000"/>
              </a:lnSpc>
              <a:buNone/>
            </a:pPr>
            <a:r>
              <a:rPr lang="he-IL" altLang="en-US" sz="1300" dirty="0">
                <a:solidFill>
                  <a:srgbClr val="EBEDF0"/>
                </a:solidFill>
                <a:latin typeface="Arial" pitchFamily="34" charset="0"/>
                <a:ea typeface="Arial" pitchFamily="34" charset="-122"/>
                <a:cs typeface="Arial" pitchFamily="34" charset="-120"/>
              </a:rPr>
              <a:t>אזרחים יכולים לתבוע פיצוי על הפרת פרטיות גם בלי להוכיח נזק ממשי.</a:t>
            </a:r>
            <a:endParaRPr lang="he-IL" sz="130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4300240"/>
            <a:ext cx="5232666" cy="983655"/>
          </a:xfrm>
          <a:prstGeom prst="rect">
            <a:avLst/>
          </a:prstGeom>
        </p:spPr>
      </p:pic>
      <p:sp>
        <p:nvSpPr>
          <p:cNvPr id="11" name="Text 6"/>
          <p:cNvSpPr/>
          <p:nvPr/>
        </p:nvSpPr>
        <p:spPr>
          <a:xfrm>
            <a:off x="845819" y="4484588"/>
            <a:ext cx="4787780" cy="268784"/>
          </a:xfrm>
          <a:prstGeom prst="rect">
            <a:avLst/>
          </a:prstGeom>
          <a:noFill/>
          <a:ln/>
        </p:spPr>
        <p:txBody>
          <a:bodyPr wrap="none" lIns="0" tIns="0" rIns="0" bIns="0" rtlCol="0" anchor="t"/>
          <a:lstStyle/>
          <a:p>
            <a:pPr rtl="1" algn="r" indent="0" marL="0">
              <a:lnSpc>
                <a:spcPct val="108000"/>
              </a:lnSpc>
              <a:buNone/>
            </a:pPr>
            <a:r>
              <a:rPr lang="he-IL" altLang="en-US" sz="1600" b="1" spc="-33"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600" b="1" spc="-33" kern="100" dirty="0">
                <a:solidFill>
                  <a:srgbClr val="EBEDF0"/>
                </a:solidFill>
                <a:latin typeface="Arial" pitchFamily="34" charset="0"/>
                <a:ea typeface="Arial" pitchFamily="34" charset="-122"/>
                <a:cs typeface="Arial" pitchFamily="34" charset="-120"/>
              </a:rPr>
              <a:t> הרחבת הגדרת 'מידע אישי'</a:t>
            </a:r>
            <a:endParaRPr lang="he-IL" sz="1600" dirty="0"/>
          </a:p>
        </p:txBody>
      </p:sp>
      <p:sp>
        <p:nvSpPr>
          <p:cNvPr id="12" name="Text 7"/>
          <p:cNvSpPr/>
          <p:nvPr/>
        </p:nvSpPr>
        <p:spPr>
          <a:xfrm>
            <a:off x="845819" y="4898033"/>
            <a:ext cx="4787780" cy="201513"/>
          </a:xfrm>
          <a:prstGeom prst="rect">
            <a:avLst/>
          </a:prstGeom>
          <a:noFill/>
          <a:ln/>
        </p:spPr>
        <p:txBody>
          <a:bodyPr wrap="none" lIns="0" tIns="0" rIns="0" bIns="0" rtlCol="0" anchor="t"/>
          <a:lstStyle/>
          <a:p>
            <a:pPr rtl="1" algn="r" indent="0" marL="0">
              <a:lnSpc>
                <a:spcPct val="102000"/>
              </a:lnSpc>
              <a:buNone/>
            </a:pPr>
            <a:r>
              <a:rPr lang="he-IL" altLang="en-US" sz="1300" dirty="0">
                <a:solidFill>
                  <a:srgbClr val="EBEDF0"/>
                </a:solidFill>
                <a:latin typeface="Arial" pitchFamily="34" charset="0"/>
                <a:ea typeface="Arial" pitchFamily="34" charset="-122"/>
                <a:cs typeface="Arial" pitchFamily="34" charset="-120"/>
              </a:rPr>
              <a:t>כל נתון שמאפשר זיהוי אדם – גם עקיף – נחשב מידע אישי מוגן.</a:t>
            </a:r>
            <a:endParaRPr lang="he-IL" sz="130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992566" y="2043609"/>
            <a:ext cx="2544004" cy="1655465"/>
          </a:xfrm>
          <a:prstGeom prst="rect">
            <a:avLst/>
          </a:prstGeom>
        </p:spPr>
      </p:pic>
      <p:sp>
        <p:nvSpPr>
          <p:cNvPr id="14" name="Text 8"/>
          <p:cNvSpPr/>
          <p:nvPr/>
        </p:nvSpPr>
        <p:spPr>
          <a:xfrm>
            <a:off x="9176909" y="2227957"/>
            <a:ext cx="2099119" cy="537567"/>
          </a:xfrm>
          <a:prstGeom prst="rect">
            <a:avLst/>
          </a:prstGeom>
          <a:noFill/>
          <a:ln/>
        </p:spPr>
        <p:txBody>
          <a:bodyPr wrap="square" lIns="0" tIns="0" rIns="0" bIns="0" rtlCol="0" anchor="t">
            <a:normAutofit/>
          </a:bodyPr>
          <a:lstStyle/>
          <a:p>
            <a:pPr rtl="1" algn="r" indent="0" marL="0">
              <a:lnSpc>
                <a:spcPct val="108000"/>
              </a:lnSpc>
              <a:buNone/>
            </a:pPr>
            <a:r>
              <a:rPr lang="he-IL" altLang="en-US" sz="1600" b="1" spc="-33"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600" b="1" spc="-33" kern="100" dirty="0">
                <a:solidFill>
                  <a:srgbClr val="EBEDF0"/>
                </a:solidFill>
                <a:latin typeface="Arial" pitchFamily="34" charset="0"/>
                <a:ea typeface="Arial" pitchFamily="34" charset="-122"/>
                <a:cs typeface="Arial" pitchFamily="34" charset="-120"/>
              </a:rPr>
              <a:t> עיצומים כספיים כבדים</a:t>
            </a:r>
            <a:endParaRPr lang="he-IL" sz="1600" dirty="0"/>
          </a:p>
        </p:txBody>
      </p:sp>
      <p:sp>
        <p:nvSpPr>
          <p:cNvPr id="15" name="Text 9"/>
          <p:cNvSpPr/>
          <p:nvPr/>
        </p:nvSpPr>
        <p:spPr>
          <a:xfrm>
            <a:off x="9176909" y="2910185"/>
            <a:ext cx="2099119" cy="604540"/>
          </a:xfrm>
          <a:prstGeom prst="rect">
            <a:avLst/>
          </a:prstGeom>
          <a:noFill/>
          <a:ln/>
        </p:spPr>
        <p:txBody>
          <a:bodyPr wrap="square" lIns="0" tIns="0" rIns="0" bIns="0" rtlCol="0" anchor="t">
            <a:normAutofit/>
          </a:bodyPr>
          <a:lstStyle/>
          <a:p>
            <a:pPr rtl="1" algn="r" indent="0" marL="0">
              <a:lnSpc>
                <a:spcPct val="102000"/>
              </a:lnSpc>
              <a:buNone/>
            </a:pPr>
            <a:r>
              <a:rPr lang="he-IL" altLang="en-US" sz="1300" dirty="0">
                <a:solidFill>
                  <a:srgbClr val="EBEDF0"/>
                </a:solidFill>
                <a:latin typeface="Arial" pitchFamily="34" charset="0"/>
                <a:ea typeface="Arial" pitchFamily="34" charset="-122"/>
                <a:cs typeface="Arial" pitchFamily="34" charset="-120"/>
              </a:rPr>
              <a:t>קנסות מנהליים משמעותיים על הפרות – כולל הפרות של תקנות אבטחת מידע.</a:t>
            </a:r>
            <a:endParaRPr lang="he-IL" sz="1300" dirty="0"/>
          </a:p>
        </p:txBody>
      </p:sp>
      <p:pic>
        <p:nvPicPr>
          <p:cNvPr id="16"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303904" y="2043609"/>
            <a:ext cx="2544004" cy="1655465"/>
          </a:xfrm>
          <a:prstGeom prst="rect">
            <a:avLst/>
          </a:prstGeom>
        </p:spPr>
      </p:pic>
      <p:sp>
        <p:nvSpPr>
          <p:cNvPr id="17" name="Text 10"/>
          <p:cNvSpPr/>
          <p:nvPr/>
        </p:nvSpPr>
        <p:spPr>
          <a:xfrm>
            <a:off x="6488248" y="2227957"/>
            <a:ext cx="2099119" cy="268784"/>
          </a:xfrm>
          <a:prstGeom prst="rect">
            <a:avLst/>
          </a:prstGeom>
          <a:noFill/>
          <a:ln/>
        </p:spPr>
        <p:txBody>
          <a:bodyPr wrap="none" lIns="0" tIns="0" rIns="0" bIns="0" rtlCol="0" anchor="t"/>
          <a:lstStyle/>
          <a:p>
            <a:pPr rtl="1" algn="r" indent="0" marL="0">
              <a:lnSpc>
                <a:spcPct val="108000"/>
              </a:lnSpc>
              <a:buNone/>
            </a:pPr>
            <a:r>
              <a:rPr lang="he-IL" altLang="en-US" sz="1600" b="1" spc="-33"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600" b="1" spc="-33" kern="100" dirty="0">
                <a:solidFill>
                  <a:srgbClr val="EBEDF0"/>
                </a:solidFill>
                <a:latin typeface="Arial" pitchFamily="34" charset="0"/>
                <a:ea typeface="Arial" pitchFamily="34" charset="-122"/>
                <a:cs typeface="Arial" pitchFamily="34" charset="-120"/>
              </a:rPr>
              <a:t> רלוונטי ישירות ל-AI</a:t>
            </a:r>
            <a:endParaRPr lang="he-IL" sz="1600" dirty="0"/>
          </a:p>
        </p:txBody>
      </p:sp>
      <p:sp>
        <p:nvSpPr>
          <p:cNvPr id="18" name="Text 11"/>
          <p:cNvSpPr/>
          <p:nvPr/>
        </p:nvSpPr>
        <p:spPr>
          <a:xfrm>
            <a:off x="6488248" y="2641402"/>
            <a:ext cx="2099119" cy="604540"/>
          </a:xfrm>
          <a:prstGeom prst="rect">
            <a:avLst/>
          </a:prstGeom>
          <a:noFill/>
          <a:ln/>
        </p:spPr>
        <p:txBody>
          <a:bodyPr wrap="square" lIns="0" tIns="0" rIns="0" bIns="0" rtlCol="0" anchor="t">
            <a:normAutofit/>
          </a:bodyPr>
          <a:lstStyle/>
          <a:p>
            <a:pPr rtl="1" algn="r" indent="0" marL="0">
              <a:lnSpc>
                <a:spcPct val="102000"/>
              </a:lnSpc>
              <a:buNone/>
            </a:pPr>
            <a:r>
              <a:rPr lang="he-IL" altLang="en-US" sz="1300" dirty="0">
                <a:solidFill>
                  <a:srgbClr val="EBEDF0"/>
                </a:solidFill>
                <a:latin typeface="Arial" pitchFamily="34" charset="0"/>
                <a:ea typeface="Arial" pitchFamily="34" charset="-122"/>
                <a:cs typeface="Arial" pitchFamily="34" charset="-120"/>
              </a:rPr>
              <a:t>הזנת מידע אישי של לקוחות, עובדים או מטופלים לכלי AI עלולה להיות הפרה של החוק.</a:t>
            </a:r>
            <a:endParaRPr lang="he-IL" sz="1300" dirty="0"/>
          </a:p>
        </p:txBody>
      </p:sp>
      <p:sp>
        <p:nvSpPr>
          <p:cNvPr id="19" name="Shape 12"/>
          <p:cNvSpPr/>
          <p:nvPr/>
        </p:nvSpPr>
        <p:spPr>
          <a:xfrm>
            <a:off x="661475" y="5609332"/>
            <a:ext cx="10868745" cy="558899"/>
          </a:xfrm>
          <a:prstGeom prst="roundRect">
            <a:avLst>
              <a:gd name="adj" fmla="val 12429"/>
            </a:avLst>
          </a:prstGeom>
          <a:solidFill>
            <a:srgbClr val="4B3F02"/>
          </a:solidFill>
          <a:ln/>
        </p:spPr>
        <p:txBody>
          <a:bodyPr/>
          <a:p/>
        </p:txBody>
      </p:sp>
      <p:pic>
        <p:nvPicPr>
          <p:cNvPr id="20" name="Image 5" descr="preencoded.png">    </p:cNvPr>
          <p:cNvPicPr>
            <a:picLocks noChangeAspect="1"/>
          </p:cNvPicPr>
          <p:nvPr/>
        </p:nvPicPr>
        <p:blipFill>
          <a:blip r:embed="rId11"/>
          <a:stretch>
            <a:fillRect/>
          </a:stretch>
        </p:blipFill>
        <p:spPr>
          <a:xfrm>
            <a:off x="826769" y="5796657"/>
            <a:ext cx="206667" cy="165298"/>
          </a:xfrm>
          <a:prstGeom prst="rect">
            <a:avLst/>
          </a:prstGeom>
        </p:spPr>
      </p:pic>
      <p:sp>
        <p:nvSpPr>
          <p:cNvPr id="21" name="Text 13"/>
          <p:cNvSpPr/>
          <p:nvPr/>
        </p:nvSpPr>
        <p:spPr>
          <a:xfrm>
            <a:off x="589146" y="5795268"/>
            <a:ext cx="10775780" cy="201513"/>
          </a:xfrm>
          <a:prstGeom prst="rect">
            <a:avLst/>
          </a:prstGeom>
          <a:noFill/>
          <a:ln/>
        </p:spPr>
        <p:txBody>
          <a:bodyPr wrap="none" lIns="0" tIns="0" rIns="0" bIns="0" rtlCol="0" anchor="t"/>
          <a:lstStyle/>
          <a:p>
            <a:pPr rtl="1" algn="r" indent="0" marL="0">
              <a:lnSpc>
                <a:spcPct val="102000"/>
              </a:lnSpc>
              <a:buNone/>
            </a:pPr>
            <a:r>
              <a:rPr lang="he-IL" altLang="en-US" sz="1300" dirty="0">
                <a:solidFill>
                  <a:srgbClr val="FFFFFF"/>
                </a:solidFill>
                <a:latin typeface="Arial" pitchFamily="34" charset="0"/>
                <a:ea typeface="Arial" pitchFamily="34" charset="-122"/>
                <a:cs typeface="Arial" pitchFamily="34" charset="-120"/>
              </a:rPr>
              <a:t>כלל פשוט: לפני שמזינים מידע ל-AI – שאלו: האם הייתי מפרסם את זה ברבים? אם לא – אל תזינו.</a:t>
            </a:r>
            <a:endParaRPr lang="he-IL" sz="1300" dirty="0"/>
          </a:p>
        </p:txBody>
      </p:sp>
      <p:sp>
        <p:nvSpPr>
          <p:cNvPr id="22" name="TextBox 21"/>
          <p:cNvSpPr txBox="1"/>
          <p:nvPr/>
        </p:nvSpPr>
        <p:spPr>
          <a:xfrm>
            <a:off x="6675120" y="6473952"/>
            <a:ext cx="4846320" cy="292608"/>
          </a:xfrm>
          <a:prstGeom prst="rect">
            <a:avLst/>
          </a:prstGeom>
          <a:noFill/>
        </p:spPr>
        <p:txBody>
          <a:bodyPr wrap="none" lIns="0" rIns="0" tIns="0" bIns="0">
            <a:spAutoFit/>
          </a:bodyPr>
          <a:lstStyle/>
          <a:p>
            <a:pPr algn="r" rtl="1"/>
            <a:r>
              <a:rPr sz="1000">
                <a:solidFill>
                  <a:srgbClr val="8A96AA"/>
                </a:solidFill>
                <a:latin typeface="Arial"/>
                <a:cs typeface="Arial"/>
              </a:rPr>
              <a:t>© נערך על ידי AI Finance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61475" y="1772741"/>
            <a:ext cx="10868745" cy="614263"/>
          </a:xfrm>
          <a:prstGeom prst="rect">
            <a:avLst/>
          </a:prstGeom>
          <a:noFill/>
          <a:ln/>
        </p:spPr>
        <p:txBody>
          <a:bodyPr wrap="none" lIns="0" tIns="0" rIns="0" bIns="0" rtlCol="0" anchor="t"/>
          <a:lstStyle/>
          <a:p>
            <a:pPr rtl="1" algn="r" indent="0" marL="0">
              <a:lnSpc>
                <a:spcPct val="108000"/>
              </a:lnSpc>
              <a:buNone/>
            </a:pPr>
            <a:r>
              <a:rPr lang="he-IL" altLang="en-US" sz="3700" b="1" spc="-74" kern="100" dirty="0">
                <a:solidFill>
                  <a:srgbClr val="F2F5FA"/>
                </a:solidFill>
                <a:latin typeface="Arial" pitchFamily="34" charset="0"/>
                <a:ea typeface="Arial" pitchFamily="34" charset="-122"/>
                <a:cs typeface="Arial" pitchFamily="34" charset="-120"/>
              </a:rPr>
              <a:t>בטיחות: מה לא נכנס לצ'אט לעולם</a:t>
            </a:r>
            <a:endParaRPr lang="he-IL" sz="3700" dirty="0"/>
          </a:p>
        </p:txBody>
      </p:sp>
      <p:sp>
        <p:nvSpPr>
          <p:cNvPr id="3" name="Shape 1"/>
          <p:cNvSpPr/>
          <p:nvPr/>
        </p:nvSpPr>
        <p:spPr>
          <a:xfrm>
            <a:off x="661475" y="2765028"/>
            <a:ext cx="10868745" cy="1408311"/>
          </a:xfrm>
          <a:prstGeom prst="roundRect">
            <a:avLst>
              <a:gd name="adj" fmla="val 5637"/>
            </a:avLst>
          </a:prstGeom>
          <a:solidFill>
            <a:srgbClr val="101620"/>
          </a:solidFill>
          <a:ln w="19050">
            <a:solidFill>
              <a:srgbClr val="002A80"/>
            </a:solidFill>
            <a:prstDash val="solid"/>
          </a:ln>
        </p:spPr>
        <p:txBody>
          <a:bodyPr/>
          <a:p/>
        </p:txBody>
      </p:sp>
      <p:sp>
        <p:nvSpPr>
          <p:cNvPr id="4" name="Shape 2"/>
          <p:cNvSpPr/>
          <p:nvPr/>
        </p:nvSpPr>
        <p:spPr>
          <a:xfrm>
            <a:off x="7900988" y="2784078"/>
            <a:ext cx="3610182" cy="685105"/>
          </a:xfrm>
          <a:custGeom>
            <a:avLst/>
            <a:gdLst/>
            <a:ahLst/>
            <a:cxnLst/>
            <a:rect l="l" t="t" r="r" b="b"/>
            <a:pathLst>
              <a:path w="3610182" h="685105">
                <a:moveTo>
                  <a:pt x="66156" y="0"/>
                </a:moveTo>
                <a:lnTo>
                  <a:pt x="3610182" y="0"/>
                </a:lnTo>
                <a:lnTo>
                  <a:pt x="3610182" y="685105"/>
                </a:lnTo>
                <a:lnTo>
                  <a:pt x="0" y="685105"/>
                </a:lnTo>
                <a:lnTo>
                  <a:pt x="0" y="66158"/>
                </a:lnTo>
                <a:arcTo hR="66158" wR="66156" stAng="10800000" swAng="5400000"/>
                <a:close/>
              </a:path>
            </a:pathLst>
          </a:custGeom>
          <a:solidFill>
            <a:srgbClr val="101620"/>
          </a:solidFill>
          <a:ln/>
        </p:spPr>
        <p:txBody>
          <a:bodyPr/>
          <a:p/>
        </p:txBody>
      </p:sp>
      <p:sp>
        <p:nvSpPr>
          <p:cNvPr id="5" name="Text 3"/>
          <p:cNvSpPr/>
          <p:nvPr/>
        </p:nvSpPr>
        <p:spPr>
          <a:xfrm>
            <a:off x="8089995" y="2973090"/>
            <a:ext cx="3232168" cy="307082"/>
          </a:xfrm>
          <a:prstGeom prst="rect">
            <a:avLst/>
          </a:prstGeom>
          <a:noFill/>
          <a:ln/>
        </p:spPr>
        <p:txBody>
          <a:bodyPr wrap="none" lIns="0" tIns="0" rIns="0" bIns="0" rtlCol="0" anchor="t"/>
          <a:lstStyle/>
          <a:p>
            <a:pPr rtl="1" algn="r" indent="0" marL="0">
              <a:lnSpc>
                <a:spcPct val="108000"/>
              </a:lnSpc>
              <a:buNone/>
            </a:pPr>
            <a:r>
              <a:rPr lang="he-IL" altLang="en-US" sz="1850" b="1" spc="-37"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850" b="1" spc="-37" kern="100" dirty="0">
                <a:solidFill>
                  <a:srgbClr val="EBEDF0"/>
                </a:solidFill>
                <a:latin typeface="Arial" pitchFamily="34" charset="0"/>
                <a:ea typeface="Arial" pitchFamily="34" charset="-122"/>
                <a:cs typeface="Arial" pitchFamily="34" charset="-120"/>
              </a:rPr>
              <a:t> תעודות זהות</a:t>
            </a:r>
            <a:endParaRPr lang="he-IL" sz="1850" dirty="0"/>
          </a:p>
        </p:txBody>
      </p:sp>
      <p:sp>
        <p:nvSpPr>
          <p:cNvPr id="6" name="Shape 4"/>
          <p:cNvSpPr/>
          <p:nvPr/>
        </p:nvSpPr>
        <p:spPr>
          <a:xfrm>
            <a:off x="4290806" y="2784078"/>
            <a:ext cx="3610182" cy="685105"/>
          </a:xfrm>
          <a:prstGeom prst="rect">
            <a:avLst/>
          </a:prstGeom>
          <a:solidFill>
            <a:srgbClr val="101620"/>
          </a:solidFill>
          <a:ln/>
        </p:spPr>
        <p:txBody>
          <a:bodyPr/>
          <a:p/>
        </p:txBody>
      </p:sp>
      <p:sp>
        <p:nvSpPr>
          <p:cNvPr id="7" name="Shape 5"/>
          <p:cNvSpPr/>
          <p:nvPr/>
        </p:nvSpPr>
        <p:spPr>
          <a:xfrm>
            <a:off x="4290806" y="2784078"/>
            <a:ext cx="25399" cy="685105"/>
          </a:xfrm>
          <a:prstGeom prst="roundRect">
            <a:avLst>
              <a:gd name="adj" fmla="val 50001"/>
            </a:avLst>
          </a:prstGeom>
          <a:solidFill>
            <a:srgbClr val="002A80"/>
          </a:solidFill>
          <a:ln/>
        </p:spPr>
        <p:txBody>
          <a:bodyPr/>
          <a:p/>
        </p:txBody>
      </p:sp>
      <p:sp>
        <p:nvSpPr>
          <p:cNvPr id="8" name="Text 6"/>
          <p:cNvSpPr/>
          <p:nvPr/>
        </p:nvSpPr>
        <p:spPr>
          <a:xfrm>
            <a:off x="4479813" y="2973090"/>
            <a:ext cx="3232168" cy="307082"/>
          </a:xfrm>
          <a:prstGeom prst="rect">
            <a:avLst/>
          </a:prstGeom>
          <a:noFill/>
          <a:ln/>
        </p:spPr>
        <p:txBody>
          <a:bodyPr wrap="none" lIns="0" tIns="0" rIns="0" bIns="0" rtlCol="0" anchor="t"/>
          <a:lstStyle/>
          <a:p>
            <a:pPr rtl="1" algn="r" indent="0" marL="0">
              <a:lnSpc>
                <a:spcPct val="108000"/>
              </a:lnSpc>
              <a:buNone/>
            </a:pPr>
            <a:r>
              <a:rPr lang="he-IL" altLang="en-US" sz="1850" b="1" spc="-37"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850" b="1" spc="-37" kern="100" dirty="0">
                <a:solidFill>
                  <a:srgbClr val="EBEDF0"/>
                </a:solidFill>
                <a:latin typeface="Arial" pitchFamily="34" charset="0"/>
                <a:ea typeface="Arial" pitchFamily="34" charset="-122"/>
                <a:cs typeface="Arial" pitchFamily="34" charset="-120"/>
              </a:rPr>
              <a:t> סיסמאות</a:t>
            </a:r>
            <a:endParaRPr lang="he-IL" sz="1850" dirty="0"/>
          </a:p>
        </p:txBody>
      </p:sp>
      <p:sp>
        <p:nvSpPr>
          <p:cNvPr id="9" name="Shape 7"/>
          <p:cNvSpPr/>
          <p:nvPr/>
        </p:nvSpPr>
        <p:spPr>
          <a:xfrm>
            <a:off x="680524" y="2784078"/>
            <a:ext cx="3610282" cy="685105"/>
          </a:xfrm>
          <a:custGeom>
            <a:avLst/>
            <a:gdLst/>
            <a:ahLst/>
            <a:cxnLst/>
            <a:rect l="l" t="t" r="r" b="b"/>
            <a:pathLst>
              <a:path w="3610282" h="685105">
                <a:moveTo>
                  <a:pt x="0" y="0"/>
                </a:moveTo>
                <a:lnTo>
                  <a:pt x="3544125" y="0"/>
                </a:lnTo>
                <a:arcTo hR="66158" wR="66156" stAng="16200000" swAng="5400000"/>
                <a:lnTo>
                  <a:pt x="3610282" y="685105"/>
                </a:lnTo>
                <a:lnTo>
                  <a:pt x="0" y="685105"/>
                </a:lnTo>
                <a:lnTo>
                  <a:pt x="0" y="0"/>
                </a:lnTo>
                <a:close/>
              </a:path>
            </a:pathLst>
          </a:custGeom>
          <a:solidFill>
            <a:srgbClr val="101620"/>
          </a:solidFill>
          <a:ln/>
        </p:spPr>
        <p:txBody>
          <a:bodyPr/>
          <a:p/>
        </p:txBody>
      </p:sp>
      <p:sp>
        <p:nvSpPr>
          <p:cNvPr id="10" name="Shape 8"/>
          <p:cNvSpPr/>
          <p:nvPr/>
        </p:nvSpPr>
        <p:spPr>
          <a:xfrm>
            <a:off x="680524" y="2784078"/>
            <a:ext cx="25399" cy="685105"/>
          </a:xfrm>
          <a:prstGeom prst="roundRect">
            <a:avLst>
              <a:gd name="adj" fmla="val 50001"/>
            </a:avLst>
          </a:prstGeom>
          <a:solidFill>
            <a:srgbClr val="002A80"/>
          </a:solidFill>
          <a:ln/>
        </p:spPr>
        <p:txBody>
          <a:bodyPr/>
          <a:p/>
        </p:txBody>
      </p:sp>
      <p:sp>
        <p:nvSpPr>
          <p:cNvPr id="11" name="Text 9"/>
          <p:cNvSpPr/>
          <p:nvPr/>
        </p:nvSpPr>
        <p:spPr>
          <a:xfrm>
            <a:off x="869531" y="2973090"/>
            <a:ext cx="3232268" cy="307082"/>
          </a:xfrm>
          <a:prstGeom prst="rect">
            <a:avLst/>
          </a:prstGeom>
          <a:noFill/>
          <a:ln/>
        </p:spPr>
        <p:txBody>
          <a:bodyPr wrap="none" lIns="0" tIns="0" rIns="0" bIns="0" rtlCol="0" anchor="t"/>
          <a:lstStyle/>
          <a:p>
            <a:pPr rtl="1" algn="r" indent="0" marL="0">
              <a:lnSpc>
                <a:spcPct val="108000"/>
              </a:lnSpc>
              <a:buNone/>
            </a:pPr>
            <a:r>
              <a:rPr lang="he-IL" altLang="en-US" sz="1850" b="1" spc="-37"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850" b="1" spc="-37" kern="100" dirty="0">
                <a:solidFill>
                  <a:srgbClr val="EBEDF0"/>
                </a:solidFill>
                <a:latin typeface="Arial" pitchFamily="34" charset="0"/>
                <a:ea typeface="Arial" pitchFamily="34" charset="-122"/>
                <a:cs typeface="Arial" pitchFamily="34" charset="-120"/>
              </a:rPr>
              <a:t> מידע רפואי של אחרים</a:t>
            </a:r>
            <a:endParaRPr lang="he-IL" sz="1850" dirty="0"/>
          </a:p>
        </p:txBody>
      </p:sp>
      <p:sp>
        <p:nvSpPr>
          <p:cNvPr id="12" name="Shape 10"/>
          <p:cNvSpPr/>
          <p:nvPr/>
        </p:nvSpPr>
        <p:spPr>
          <a:xfrm>
            <a:off x="6095848" y="3469184"/>
            <a:ext cx="5415323" cy="685105"/>
          </a:xfrm>
          <a:custGeom>
            <a:avLst/>
            <a:gdLst/>
            <a:ahLst/>
            <a:cxnLst/>
            <a:rect l="l" t="t" r="r" b="b"/>
            <a:pathLst>
              <a:path w="5415323" h="685105">
                <a:moveTo>
                  <a:pt x="0" y="0"/>
                </a:moveTo>
                <a:lnTo>
                  <a:pt x="5415323" y="0"/>
                </a:lnTo>
                <a:lnTo>
                  <a:pt x="5415323" y="685105"/>
                </a:lnTo>
                <a:lnTo>
                  <a:pt x="66156" y="685105"/>
                </a:lnTo>
                <a:arcTo hR="66158" wR="66156" stAng="5400000" swAng="5400000"/>
                <a:lnTo>
                  <a:pt x="0" y="0"/>
                </a:lnTo>
                <a:close/>
              </a:path>
            </a:pathLst>
          </a:custGeom>
          <a:solidFill>
            <a:srgbClr val="101620"/>
          </a:solidFill>
          <a:ln/>
        </p:spPr>
        <p:txBody>
          <a:bodyPr/>
          <a:p/>
        </p:txBody>
      </p:sp>
      <p:sp>
        <p:nvSpPr>
          <p:cNvPr id="13" name="Shape 11"/>
          <p:cNvSpPr/>
          <p:nvPr/>
        </p:nvSpPr>
        <p:spPr>
          <a:xfrm>
            <a:off x="6095848" y="3469184"/>
            <a:ext cx="5415323" cy="25400"/>
          </a:xfrm>
          <a:prstGeom prst="roundRect">
            <a:avLst>
              <a:gd name="adj" fmla="val 49999"/>
            </a:avLst>
          </a:prstGeom>
          <a:solidFill>
            <a:srgbClr val="002A80"/>
          </a:solidFill>
          <a:ln/>
        </p:spPr>
        <p:txBody>
          <a:bodyPr/>
          <a:p/>
        </p:txBody>
      </p:sp>
      <p:sp>
        <p:nvSpPr>
          <p:cNvPr id="14" name="Text 12"/>
          <p:cNvSpPr/>
          <p:nvPr/>
        </p:nvSpPr>
        <p:spPr>
          <a:xfrm>
            <a:off x="6284854" y="3658195"/>
            <a:ext cx="5037309" cy="307082"/>
          </a:xfrm>
          <a:prstGeom prst="rect">
            <a:avLst/>
          </a:prstGeom>
          <a:noFill/>
          <a:ln/>
        </p:spPr>
        <p:txBody>
          <a:bodyPr wrap="none" lIns="0" tIns="0" rIns="0" bIns="0" rtlCol="0" anchor="t"/>
          <a:lstStyle/>
          <a:p>
            <a:pPr rtl="1" algn="r" indent="0" marL="0">
              <a:lnSpc>
                <a:spcPct val="108000"/>
              </a:lnSpc>
              <a:buNone/>
            </a:pPr>
            <a:r>
              <a:rPr lang="he-IL" altLang="en-US" sz="1850" b="1" spc="-37"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850" b="1" spc="-37" kern="100" dirty="0">
                <a:solidFill>
                  <a:srgbClr val="EBEDF0"/>
                </a:solidFill>
                <a:latin typeface="Arial" pitchFamily="34" charset="0"/>
                <a:ea typeface="Arial" pitchFamily="34" charset="-122"/>
                <a:cs typeface="Arial" pitchFamily="34" charset="-120"/>
              </a:rPr>
              <a:t> סודות מסחריים</a:t>
            </a:r>
            <a:endParaRPr lang="he-IL" sz="1850" dirty="0"/>
          </a:p>
        </p:txBody>
      </p:sp>
      <p:sp>
        <p:nvSpPr>
          <p:cNvPr id="15" name="Shape 13"/>
          <p:cNvSpPr/>
          <p:nvPr/>
        </p:nvSpPr>
        <p:spPr>
          <a:xfrm>
            <a:off x="680524" y="3469184"/>
            <a:ext cx="5415323" cy="685105"/>
          </a:xfrm>
          <a:custGeom>
            <a:avLst/>
            <a:gdLst/>
            <a:ahLst/>
            <a:cxnLst/>
            <a:rect l="l" t="t" r="r" b="b"/>
            <a:pathLst>
              <a:path w="5415323" h="685105">
                <a:moveTo>
                  <a:pt x="0" y="0"/>
                </a:moveTo>
                <a:lnTo>
                  <a:pt x="5415323" y="0"/>
                </a:lnTo>
                <a:lnTo>
                  <a:pt x="5415323" y="618947"/>
                </a:lnTo>
                <a:arcTo hR="66158" wR="66156" stAng="0" swAng="5400000"/>
                <a:lnTo>
                  <a:pt x="0" y="685105"/>
                </a:lnTo>
                <a:lnTo>
                  <a:pt x="0" y="0"/>
                </a:lnTo>
                <a:close/>
              </a:path>
            </a:pathLst>
          </a:custGeom>
          <a:solidFill>
            <a:srgbClr val="101620"/>
          </a:solidFill>
          <a:ln/>
        </p:spPr>
        <p:txBody>
          <a:bodyPr/>
          <a:p/>
        </p:txBody>
      </p:sp>
      <p:sp>
        <p:nvSpPr>
          <p:cNvPr id="16" name="Shape 14"/>
          <p:cNvSpPr/>
          <p:nvPr/>
        </p:nvSpPr>
        <p:spPr>
          <a:xfrm>
            <a:off x="680524" y="3469184"/>
            <a:ext cx="25399" cy="685105"/>
          </a:xfrm>
          <a:prstGeom prst="roundRect">
            <a:avLst>
              <a:gd name="adj" fmla="val 50001"/>
            </a:avLst>
          </a:prstGeom>
          <a:solidFill>
            <a:srgbClr val="002A80"/>
          </a:solidFill>
          <a:ln/>
        </p:spPr>
        <p:txBody>
          <a:bodyPr/>
          <a:p/>
        </p:txBody>
      </p:sp>
      <p:sp>
        <p:nvSpPr>
          <p:cNvPr id="17" name="Shape 15"/>
          <p:cNvSpPr/>
          <p:nvPr/>
        </p:nvSpPr>
        <p:spPr>
          <a:xfrm>
            <a:off x="680524" y="3469184"/>
            <a:ext cx="5415323" cy="25400"/>
          </a:xfrm>
          <a:prstGeom prst="roundRect">
            <a:avLst>
              <a:gd name="adj" fmla="val 49999"/>
            </a:avLst>
          </a:prstGeom>
          <a:solidFill>
            <a:srgbClr val="002A80"/>
          </a:solidFill>
          <a:ln/>
        </p:spPr>
        <p:txBody>
          <a:bodyPr/>
          <a:p/>
        </p:txBody>
      </p:sp>
      <p:sp>
        <p:nvSpPr>
          <p:cNvPr id="18" name="Text 16"/>
          <p:cNvSpPr/>
          <p:nvPr/>
        </p:nvSpPr>
        <p:spPr>
          <a:xfrm>
            <a:off x="869531" y="3658195"/>
            <a:ext cx="5037309" cy="307082"/>
          </a:xfrm>
          <a:prstGeom prst="rect">
            <a:avLst/>
          </a:prstGeom>
          <a:noFill/>
          <a:ln/>
        </p:spPr>
        <p:txBody>
          <a:bodyPr wrap="none" lIns="0" tIns="0" rIns="0" bIns="0" rtlCol="0" anchor="t"/>
          <a:lstStyle/>
          <a:p>
            <a:pPr rtl="1" algn="r" indent="0" marL="0">
              <a:lnSpc>
                <a:spcPct val="108000"/>
              </a:lnSpc>
              <a:buNone/>
            </a:pPr>
            <a:r>
              <a:rPr lang="he-IL" altLang="en-US" sz="1850" b="1" spc="-37"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850" b="1" spc="-37" kern="100" dirty="0">
                <a:solidFill>
                  <a:srgbClr val="EBEDF0"/>
                </a:solidFill>
                <a:latin typeface="Arial" pitchFamily="34" charset="0"/>
                <a:ea typeface="Arial" pitchFamily="34" charset="-122"/>
                <a:cs typeface="Arial" pitchFamily="34" charset="-120"/>
              </a:rPr>
              <a:t> פרטי לקוחות</a:t>
            </a:r>
            <a:endParaRPr lang="he-IL" sz="1850" dirty="0"/>
          </a:p>
        </p:txBody>
      </p:sp>
      <p:sp>
        <p:nvSpPr>
          <p:cNvPr id="19" name="Shape 17"/>
          <p:cNvSpPr/>
          <p:nvPr/>
        </p:nvSpPr>
        <p:spPr>
          <a:xfrm>
            <a:off x="661475" y="4385965"/>
            <a:ext cx="10868745" cy="699195"/>
          </a:xfrm>
          <a:prstGeom prst="roundRect">
            <a:avLst>
              <a:gd name="adj" fmla="val 11354"/>
            </a:avLst>
          </a:prstGeom>
          <a:solidFill>
            <a:srgbClr val="4B3F02"/>
          </a:solidFill>
          <a:ln/>
        </p:spPr>
        <p:txBody>
          <a:bodyPr/>
          <a:p/>
        </p:txBody>
      </p:sp>
      <p:pic>
        <p:nvPicPr>
          <p:cNvPr id="20" name="Image 0" descr="preencoded.png">    </p:cNvPr>
          <p:cNvPicPr>
            <a:picLocks noChangeAspect="1"/>
          </p:cNvPicPr>
          <p:nvPr/>
        </p:nvPicPr>
        <p:blipFill>
          <a:blip r:embed="rId1"/>
          <a:stretch>
            <a:fillRect/>
          </a:stretch>
        </p:blipFill>
        <p:spPr>
          <a:xfrm>
            <a:off x="850482" y="4628257"/>
            <a:ext cx="236234" cy="189012"/>
          </a:xfrm>
          <a:prstGeom prst="rect">
            <a:avLst/>
          </a:prstGeom>
        </p:spPr>
      </p:pic>
      <p:sp>
        <p:nvSpPr>
          <p:cNvPr id="21" name="Text 18"/>
          <p:cNvSpPr/>
          <p:nvPr/>
        </p:nvSpPr>
        <p:spPr>
          <a:xfrm>
            <a:off x="666138" y="4622205"/>
            <a:ext cx="10675075" cy="245666"/>
          </a:xfrm>
          <a:prstGeom prst="rect">
            <a:avLst/>
          </a:prstGeom>
          <a:noFill/>
          <a:ln/>
        </p:spPr>
        <p:txBody>
          <a:bodyPr wrap="none" lIns="0" tIns="0" rIns="0" bIns="0" rtlCol="0" anchor="t"/>
          <a:lstStyle/>
          <a:p>
            <a:pPr rtl="1" algn="r" indent="0" marL="0">
              <a:lnSpc>
                <a:spcPct val="108000"/>
              </a:lnSpc>
              <a:buNone/>
            </a:pPr>
            <a:r>
              <a:rPr lang="he-IL" altLang="en-US" sz="1450" dirty="0">
                <a:solidFill>
                  <a:srgbClr val="FFFFFF"/>
                </a:solidFill>
                <a:latin typeface="Arial" pitchFamily="34" charset="0"/>
                <a:ea typeface="Arial" pitchFamily="34" charset="-122"/>
                <a:cs typeface="Arial" pitchFamily="34" charset="-120"/>
              </a:rPr>
              <a:t>כלל אצבע: מה שלא הייתם כותבים במייל לאדם זר – לא כותבים ל-AI.</a:t>
            </a:r>
            <a:endParaRPr lang="he-IL" sz="1450" dirty="0"/>
          </a:p>
        </p:txBody>
      </p:sp>
      <p:sp>
        <p:nvSpPr>
          <p:cNvPr id="22" name="TextBox 21"/>
          <p:cNvSpPr txBox="1"/>
          <p:nvPr/>
        </p:nvSpPr>
        <p:spPr>
          <a:xfrm>
            <a:off x="6675120" y="6473952"/>
            <a:ext cx="4846320" cy="292608"/>
          </a:xfrm>
          <a:prstGeom prst="rect">
            <a:avLst/>
          </a:prstGeom>
          <a:noFill/>
        </p:spPr>
        <p:txBody>
          <a:bodyPr wrap="none" lIns="0" rIns="0" tIns="0" bIns="0">
            <a:spAutoFit/>
          </a:bodyPr>
          <a:lstStyle/>
          <a:p>
            <a:pPr algn="r" rtl="1"/>
            <a:r>
              <a:rPr sz="1000">
                <a:solidFill>
                  <a:srgbClr val="8A96AA"/>
                </a:solidFill>
                <a:latin typeface="Arial"/>
                <a:cs typeface="Arial"/>
              </a:rPr>
              <a:t>© נערך על ידי AI Finance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02920"/>
            <a:ext cx="10872216" cy="640080"/>
          </a:xfrm>
          <a:prstGeom prst="rect">
            <a:avLst/>
          </a:prstGeom>
          <a:noFill/>
        </p:spPr>
        <p:txBody>
          <a:bodyPr wrap="square" lIns="0" rIns="0" tIns="0" bIns="0" anchor="t" rtlCol="0">
            <a:spAutoFit/>
          </a:bodyPr>
          <a:lstStyle/>
          <a:p>
            <a:pPr rtl="1" algn="r" marL="0" indent="0">
              <a:lnSpc>
                <a:spcPct val="108000"/>
              </a:lnSpc>
              <a:buNone/>
            </a:pPr>
            <a:r>
              <a:rPr sz="3700" b="1" i="0" lang="he-IL">
                <a:solidFill>
                  <a:srgbClr val="F2F5FA"/>
                </a:solidFill>
                <a:latin typeface="Arial"/>
                <a:cs typeface="Arial"/>
              </a:rPr>
              <a:t>מה נבנה יחד בקורס</a:t>
            </a:r>
          </a:p>
        </p:txBody>
      </p:sp>
      <p:sp>
        <p:nvSpPr>
          <p:cNvPr id="3" name="TextBox 2"/>
          <p:cNvSpPr txBox="1"/>
          <p:nvPr/>
        </p:nvSpPr>
        <p:spPr>
          <a:xfrm>
            <a:off x="658368" y="1280160"/>
            <a:ext cx="10872216" cy="365760"/>
          </a:xfrm>
          <a:prstGeom prst="rect">
            <a:avLst/>
          </a:prstGeom>
          <a:noFill/>
        </p:spPr>
        <p:txBody>
          <a:bodyPr wrap="square" lIns="0" rIns="0" tIns="0" bIns="0" anchor="t" rtlCol="0">
            <a:spAutoFit/>
          </a:bodyPr>
          <a:lstStyle/>
          <a:p>
            <a:pPr rtl="1" algn="r" marL="0" indent="0">
              <a:lnSpc>
                <a:spcPct val="108000"/>
              </a:lnSpc>
              <a:buNone/>
            </a:pPr>
            <a:r>
              <a:rPr sz="1450" b="0" i="0" lang="he-IL">
                <a:solidFill>
                  <a:srgbClr val="A9B4C6"/>
                </a:solidFill>
                <a:latin typeface="Arial"/>
                <a:cs typeface="Arial"/>
              </a:rPr>
              <a:t>בסוף הקורס, כל אחד יוצא עם תיק עבודות שבנה בעצמו</a:t>
            </a:r>
          </a:p>
        </p:txBody>
      </p:sp>
      <p:sp>
        <p:nvSpPr>
          <p:cNvPr id="4" name="Rounded Rectangle 3"/>
          <p:cNvSpPr/>
          <p:nvPr/>
        </p:nvSpPr>
        <p:spPr>
          <a:xfrm>
            <a:off x="8092440" y="1920240"/>
            <a:ext cx="3447288" cy="146304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789920" y="2121408"/>
            <a:ext cx="566928" cy="566928"/>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800" b="1" i="0" lang="he-IL">
                <a:solidFill>
                  <a:srgbClr val="F2F5FA"/>
                </a:solidFill>
                <a:latin typeface="Arial"/>
                <a:cs typeface="Arial"/>
              </a:rPr>
              <a:t>🤖</a:t>
            </a:r>
          </a:p>
        </p:txBody>
      </p:sp>
      <p:sp>
        <p:nvSpPr>
          <p:cNvPr id="6" name="TextBox 5"/>
          <p:cNvSpPr txBox="1"/>
          <p:nvPr/>
        </p:nvSpPr>
        <p:spPr>
          <a:xfrm>
            <a:off x="8275319" y="2194560"/>
            <a:ext cx="2331720" cy="365760"/>
          </a:xfrm>
          <a:prstGeom prst="rect">
            <a:avLst/>
          </a:prstGeom>
          <a:noFill/>
        </p:spPr>
        <p:txBody>
          <a:bodyPr wrap="square" lIns="0" rIns="0" tIns="0" bIns="0" anchor="t" rtlCol="0">
            <a:spAutoFit/>
          </a:bodyPr>
          <a:lstStyle/>
          <a:p>
            <a:pPr rtl="1" algn="r" marL="0" indent="0">
              <a:lnSpc>
                <a:spcPct val="108000"/>
              </a:lnSpc>
              <a:buNone/>
            </a:pPr>
            <a:r>
              <a:rPr sz="1650" b="1" i="0" lang="he-IL">
                <a:solidFill>
                  <a:srgbClr val="EBEDF0"/>
                </a:solidFill>
                <a:latin typeface="Arial"/>
                <a:cs typeface="Arial"/>
              </a:rPr>
              <a:t>עוזר אישי משלכם</a:t>
            </a:r>
          </a:p>
        </p:txBody>
      </p:sp>
      <p:sp>
        <p:nvSpPr>
          <p:cNvPr id="7" name="TextBox 6"/>
          <p:cNvSpPr txBox="1"/>
          <p:nvPr/>
        </p:nvSpPr>
        <p:spPr>
          <a:xfrm>
            <a:off x="8275319" y="2670048"/>
            <a:ext cx="2377440" cy="640080"/>
          </a:xfrm>
          <a:prstGeom prst="rect">
            <a:avLst/>
          </a:prstGeom>
          <a:noFill/>
        </p:spPr>
        <p:txBody>
          <a:bodyPr wrap="square" lIns="0" rIns="0" tIns="0" bIns="0" anchor="t" rtlCol="0">
            <a:spAutoFit/>
          </a:bodyPr>
          <a:lstStyle/>
          <a:p>
            <a:pPr rtl="1" algn="r" marL="0" indent="0">
              <a:lnSpc>
                <a:spcPct val="108000"/>
              </a:lnSpc>
              <a:buNone/>
            </a:pPr>
            <a:r>
              <a:rPr sz="1350" b="0" i="0" lang="he-IL">
                <a:solidFill>
                  <a:srgbClr val="A9B4C6"/>
                </a:solidFill>
                <a:latin typeface="Arial"/>
                <a:cs typeface="Arial"/>
              </a:rPr>
              <a:t>שמכיר את התפקיד, הסגנון והלקוחות שלכם</a:t>
            </a:r>
          </a:p>
        </p:txBody>
      </p:sp>
      <p:sp>
        <p:nvSpPr>
          <p:cNvPr id="8" name="Rounded Rectangle 7"/>
          <p:cNvSpPr/>
          <p:nvPr/>
        </p:nvSpPr>
        <p:spPr>
          <a:xfrm>
            <a:off x="4370831" y="1920240"/>
            <a:ext cx="3447288" cy="146304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068312" y="2121408"/>
            <a:ext cx="566928" cy="566928"/>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800" b="1" i="0" lang="he-IL">
                <a:solidFill>
                  <a:srgbClr val="F2F5FA"/>
                </a:solidFill>
                <a:latin typeface="Arial"/>
                <a:cs typeface="Arial"/>
              </a:rPr>
              <a:t>📊</a:t>
            </a:r>
          </a:p>
        </p:txBody>
      </p:sp>
      <p:sp>
        <p:nvSpPr>
          <p:cNvPr id="10" name="TextBox 9"/>
          <p:cNvSpPr txBox="1"/>
          <p:nvPr/>
        </p:nvSpPr>
        <p:spPr>
          <a:xfrm>
            <a:off x="4553712" y="2194560"/>
            <a:ext cx="2331720" cy="365760"/>
          </a:xfrm>
          <a:prstGeom prst="rect">
            <a:avLst/>
          </a:prstGeom>
          <a:noFill/>
        </p:spPr>
        <p:txBody>
          <a:bodyPr wrap="square" lIns="0" rIns="0" tIns="0" bIns="0" anchor="t" rtlCol="0">
            <a:spAutoFit/>
          </a:bodyPr>
          <a:lstStyle/>
          <a:p>
            <a:pPr rtl="1" algn="r" marL="0" indent="0">
              <a:lnSpc>
                <a:spcPct val="108000"/>
              </a:lnSpc>
              <a:buNone/>
            </a:pPr>
            <a:r>
              <a:rPr sz="1650" b="1" i="0" lang="he-IL">
                <a:solidFill>
                  <a:srgbClr val="EBEDF0"/>
                </a:solidFill>
                <a:latin typeface="Arial"/>
                <a:cs typeface="Arial"/>
              </a:rPr>
              <a:t>מצגת מקצועית בדקות</a:t>
            </a:r>
          </a:p>
        </p:txBody>
      </p:sp>
      <p:sp>
        <p:nvSpPr>
          <p:cNvPr id="11" name="TextBox 10"/>
          <p:cNvSpPr txBox="1"/>
          <p:nvPr/>
        </p:nvSpPr>
        <p:spPr>
          <a:xfrm>
            <a:off x="4553712" y="2670048"/>
            <a:ext cx="2377440" cy="640080"/>
          </a:xfrm>
          <a:prstGeom prst="rect">
            <a:avLst/>
          </a:prstGeom>
          <a:noFill/>
        </p:spPr>
        <p:txBody>
          <a:bodyPr wrap="square" lIns="0" rIns="0" tIns="0" bIns="0" anchor="t" rtlCol="0">
            <a:spAutoFit/>
          </a:bodyPr>
          <a:lstStyle/>
          <a:p>
            <a:pPr rtl="1" algn="r" marL="0" indent="0">
              <a:lnSpc>
                <a:spcPct val="108000"/>
              </a:lnSpc>
              <a:buNone/>
            </a:pPr>
            <a:r>
              <a:rPr sz="1350" b="0" i="0" lang="he-IL">
                <a:solidFill>
                  <a:srgbClr val="A9B4C6"/>
                </a:solidFill>
                <a:latin typeface="Arial"/>
                <a:cs typeface="Arial"/>
              </a:rPr>
              <a:t>מרעיון גולמי למצגת מעוצבת</a:t>
            </a:r>
          </a:p>
        </p:txBody>
      </p:sp>
      <p:sp>
        <p:nvSpPr>
          <p:cNvPr id="12" name="Rounded Rectangle 11"/>
          <p:cNvSpPr/>
          <p:nvPr/>
        </p:nvSpPr>
        <p:spPr>
          <a:xfrm>
            <a:off x="649223" y="1920240"/>
            <a:ext cx="3447288" cy="146304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3346703" y="2121408"/>
            <a:ext cx="566928" cy="566928"/>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800" b="1" i="0" lang="he-IL">
                <a:solidFill>
                  <a:srgbClr val="F2F5FA"/>
                </a:solidFill>
                <a:latin typeface="Arial"/>
                <a:cs typeface="Arial"/>
              </a:rPr>
              <a:t>🎨</a:t>
            </a:r>
          </a:p>
        </p:txBody>
      </p:sp>
      <p:sp>
        <p:nvSpPr>
          <p:cNvPr id="14" name="TextBox 13"/>
          <p:cNvSpPr txBox="1"/>
          <p:nvPr/>
        </p:nvSpPr>
        <p:spPr>
          <a:xfrm>
            <a:off x="832103" y="2194560"/>
            <a:ext cx="2331720" cy="365760"/>
          </a:xfrm>
          <a:prstGeom prst="rect">
            <a:avLst/>
          </a:prstGeom>
          <a:noFill/>
        </p:spPr>
        <p:txBody>
          <a:bodyPr wrap="square" lIns="0" rIns="0" tIns="0" bIns="0" anchor="t" rtlCol="0">
            <a:spAutoFit/>
          </a:bodyPr>
          <a:lstStyle/>
          <a:p>
            <a:pPr rtl="1" algn="r" marL="0" indent="0">
              <a:lnSpc>
                <a:spcPct val="108000"/>
              </a:lnSpc>
              <a:buNone/>
            </a:pPr>
            <a:r>
              <a:rPr sz="1650" b="1" i="0" lang="he-IL">
                <a:solidFill>
                  <a:srgbClr val="EBEDF0"/>
                </a:solidFill>
                <a:latin typeface="Arial"/>
                <a:cs typeface="Arial"/>
              </a:rPr>
              <a:t>סט תמונות ממותג</a:t>
            </a:r>
          </a:p>
        </p:txBody>
      </p:sp>
      <p:sp>
        <p:nvSpPr>
          <p:cNvPr id="15" name="TextBox 14"/>
          <p:cNvSpPr txBox="1"/>
          <p:nvPr/>
        </p:nvSpPr>
        <p:spPr>
          <a:xfrm>
            <a:off x="832103" y="2670048"/>
            <a:ext cx="2377440" cy="640080"/>
          </a:xfrm>
          <a:prstGeom prst="rect">
            <a:avLst/>
          </a:prstGeom>
          <a:noFill/>
        </p:spPr>
        <p:txBody>
          <a:bodyPr wrap="square" lIns="0" rIns="0" tIns="0" bIns="0" anchor="t" rtlCol="0">
            <a:spAutoFit/>
          </a:bodyPr>
          <a:lstStyle/>
          <a:p>
            <a:pPr rtl="1" algn="r" marL="0" indent="0">
              <a:lnSpc>
                <a:spcPct val="108000"/>
              </a:lnSpc>
              <a:buNone/>
            </a:pPr>
            <a:r>
              <a:rPr sz="1350" b="0" i="0" lang="he-IL">
                <a:solidFill>
                  <a:srgbClr val="A9B4C6"/>
                </a:solidFill>
                <a:latin typeface="Arial"/>
                <a:cs typeface="Arial"/>
              </a:rPr>
              <a:t>לפוסטים, להזמנות ולשיווק</a:t>
            </a:r>
          </a:p>
        </p:txBody>
      </p:sp>
      <p:sp>
        <p:nvSpPr>
          <p:cNvPr id="16" name="Rounded Rectangle 15"/>
          <p:cNvSpPr/>
          <p:nvPr/>
        </p:nvSpPr>
        <p:spPr>
          <a:xfrm>
            <a:off x="8092440" y="3611880"/>
            <a:ext cx="3447288" cy="146304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0789920" y="3813048"/>
            <a:ext cx="566928" cy="566928"/>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800" b="1" i="0" lang="he-IL">
                <a:solidFill>
                  <a:srgbClr val="F2F5FA"/>
                </a:solidFill>
                <a:latin typeface="Arial"/>
                <a:cs typeface="Arial"/>
              </a:rPr>
              <a:t>🎧</a:t>
            </a:r>
          </a:p>
        </p:txBody>
      </p:sp>
      <p:sp>
        <p:nvSpPr>
          <p:cNvPr id="18" name="TextBox 17"/>
          <p:cNvSpPr txBox="1"/>
          <p:nvPr/>
        </p:nvSpPr>
        <p:spPr>
          <a:xfrm>
            <a:off x="8275319" y="3886200"/>
            <a:ext cx="2331720" cy="365760"/>
          </a:xfrm>
          <a:prstGeom prst="rect">
            <a:avLst/>
          </a:prstGeom>
          <a:noFill/>
        </p:spPr>
        <p:txBody>
          <a:bodyPr wrap="square" lIns="0" rIns="0" tIns="0" bIns="0" anchor="t" rtlCol="0">
            <a:spAutoFit/>
          </a:bodyPr>
          <a:lstStyle/>
          <a:p>
            <a:pPr rtl="1" algn="r" marL="0" indent="0">
              <a:lnSpc>
                <a:spcPct val="108000"/>
              </a:lnSpc>
              <a:buNone/>
            </a:pPr>
            <a:r>
              <a:rPr sz="1650" b="1" i="0" lang="he-IL">
                <a:solidFill>
                  <a:srgbClr val="EBEDF0"/>
                </a:solidFill>
                <a:latin typeface="Arial"/>
                <a:cs typeface="Arial"/>
              </a:rPr>
              <a:t>פודקאסט מהמסמכים</a:t>
            </a:r>
          </a:p>
        </p:txBody>
      </p:sp>
      <p:sp>
        <p:nvSpPr>
          <p:cNvPr id="19" name="TextBox 18"/>
          <p:cNvSpPr txBox="1"/>
          <p:nvPr/>
        </p:nvSpPr>
        <p:spPr>
          <a:xfrm>
            <a:off x="8275319" y="4361688"/>
            <a:ext cx="2377440" cy="640080"/>
          </a:xfrm>
          <a:prstGeom prst="rect">
            <a:avLst/>
          </a:prstGeom>
          <a:noFill/>
        </p:spPr>
        <p:txBody>
          <a:bodyPr wrap="square" lIns="0" rIns="0" tIns="0" bIns="0" anchor="t" rtlCol="0">
            <a:spAutoFit/>
          </a:bodyPr>
          <a:lstStyle/>
          <a:p>
            <a:pPr rtl="1" algn="r" marL="0" indent="0">
              <a:lnSpc>
                <a:spcPct val="108000"/>
              </a:lnSpc>
              <a:buNone/>
            </a:pPr>
            <a:r>
              <a:rPr sz="1350" b="0" i="0" lang="he-IL">
                <a:solidFill>
                  <a:srgbClr val="A9B4C6"/>
                </a:solidFill>
                <a:latin typeface="Arial"/>
                <a:cs typeface="Arial"/>
              </a:rPr>
              <a:t>ללמוד כל חומר בדרך לעבודה</a:t>
            </a:r>
          </a:p>
        </p:txBody>
      </p:sp>
      <p:sp>
        <p:nvSpPr>
          <p:cNvPr id="20" name="Rounded Rectangle 19"/>
          <p:cNvSpPr/>
          <p:nvPr/>
        </p:nvSpPr>
        <p:spPr>
          <a:xfrm>
            <a:off x="4370831" y="3611880"/>
            <a:ext cx="3447288" cy="146304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7068312" y="3813048"/>
            <a:ext cx="566928" cy="566928"/>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800" b="1" i="0" lang="he-IL">
                <a:solidFill>
                  <a:srgbClr val="F2F5FA"/>
                </a:solidFill>
                <a:latin typeface="Arial"/>
                <a:cs typeface="Arial"/>
              </a:rPr>
              <a:t>🎵</a:t>
            </a:r>
          </a:p>
        </p:txBody>
      </p:sp>
      <p:sp>
        <p:nvSpPr>
          <p:cNvPr id="22" name="TextBox 21"/>
          <p:cNvSpPr txBox="1"/>
          <p:nvPr/>
        </p:nvSpPr>
        <p:spPr>
          <a:xfrm>
            <a:off x="4553712" y="3886200"/>
            <a:ext cx="2331720" cy="365760"/>
          </a:xfrm>
          <a:prstGeom prst="rect">
            <a:avLst/>
          </a:prstGeom>
          <a:noFill/>
        </p:spPr>
        <p:txBody>
          <a:bodyPr wrap="square" lIns="0" rIns="0" tIns="0" bIns="0" anchor="t" rtlCol="0">
            <a:spAutoFit/>
          </a:bodyPr>
          <a:lstStyle/>
          <a:p>
            <a:pPr rtl="1" algn="r" marL="0" indent="0">
              <a:lnSpc>
                <a:spcPct val="108000"/>
              </a:lnSpc>
              <a:buNone/>
            </a:pPr>
            <a:r>
              <a:rPr sz="1650" b="1" i="0" lang="he-IL">
                <a:solidFill>
                  <a:srgbClr val="EBEDF0"/>
                </a:solidFill>
                <a:latin typeface="Arial"/>
                <a:cs typeface="Arial"/>
              </a:rPr>
              <a:t>ג'ינגל או שיר אישי</a:t>
            </a:r>
          </a:p>
        </p:txBody>
      </p:sp>
      <p:sp>
        <p:nvSpPr>
          <p:cNvPr id="23" name="TextBox 22"/>
          <p:cNvSpPr txBox="1"/>
          <p:nvPr/>
        </p:nvSpPr>
        <p:spPr>
          <a:xfrm>
            <a:off x="4553712" y="4361688"/>
            <a:ext cx="2377440" cy="640080"/>
          </a:xfrm>
          <a:prstGeom prst="rect">
            <a:avLst/>
          </a:prstGeom>
          <a:noFill/>
        </p:spPr>
        <p:txBody>
          <a:bodyPr wrap="square" lIns="0" rIns="0" tIns="0" bIns="0" anchor="t" rtlCol="0">
            <a:spAutoFit/>
          </a:bodyPr>
          <a:lstStyle/>
          <a:p>
            <a:pPr rtl="1" algn="r" marL="0" indent="0">
              <a:lnSpc>
                <a:spcPct val="108000"/>
              </a:lnSpc>
              <a:buNone/>
            </a:pPr>
            <a:r>
              <a:rPr sz="1350" b="0" i="0" lang="he-IL">
                <a:solidFill>
                  <a:srgbClr val="A9B4C6"/>
                </a:solidFill>
                <a:latin typeface="Arial"/>
                <a:cs typeface="Arial"/>
              </a:rPr>
              <a:t>לעסק, לאירוע או סתם בשביל הכיף</a:t>
            </a:r>
          </a:p>
        </p:txBody>
      </p:sp>
      <p:sp>
        <p:nvSpPr>
          <p:cNvPr id="24" name="Rounded Rectangle 23"/>
          <p:cNvSpPr/>
          <p:nvPr/>
        </p:nvSpPr>
        <p:spPr>
          <a:xfrm>
            <a:off x="649223" y="3611880"/>
            <a:ext cx="3447288" cy="146304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3346703" y="3813048"/>
            <a:ext cx="566928" cy="566928"/>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800" b="1" i="0" lang="he-IL">
                <a:solidFill>
                  <a:srgbClr val="F2F5FA"/>
                </a:solidFill>
                <a:latin typeface="Arial"/>
                <a:cs typeface="Arial"/>
              </a:rPr>
              <a:t>📱</a:t>
            </a:r>
          </a:p>
        </p:txBody>
      </p:sp>
      <p:sp>
        <p:nvSpPr>
          <p:cNvPr id="26" name="TextBox 25"/>
          <p:cNvSpPr txBox="1"/>
          <p:nvPr/>
        </p:nvSpPr>
        <p:spPr>
          <a:xfrm>
            <a:off x="832103" y="3886200"/>
            <a:ext cx="2331720" cy="365760"/>
          </a:xfrm>
          <a:prstGeom prst="rect">
            <a:avLst/>
          </a:prstGeom>
          <a:noFill/>
        </p:spPr>
        <p:txBody>
          <a:bodyPr wrap="square" lIns="0" rIns="0" tIns="0" bIns="0" anchor="t" rtlCol="0">
            <a:spAutoFit/>
          </a:bodyPr>
          <a:lstStyle/>
          <a:p>
            <a:pPr rtl="1" algn="r" marL="0" indent="0">
              <a:lnSpc>
                <a:spcPct val="108000"/>
              </a:lnSpc>
              <a:buNone/>
            </a:pPr>
            <a:r>
              <a:rPr sz="1650" b="1" i="0" lang="he-IL">
                <a:solidFill>
                  <a:srgbClr val="EBEDF0"/>
                </a:solidFill>
                <a:latin typeface="Arial"/>
                <a:cs typeface="Arial"/>
              </a:rPr>
              <a:t>מיני-אפליקציה</a:t>
            </a:r>
          </a:p>
        </p:txBody>
      </p:sp>
      <p:sp>
        <p:nvSpPr>
          <p:cNvPr id="27" name="TextBox 26"/>
          <p:cNvSpPr txBox="1"/>
          <p:nvPr/>
        </p:nvSpPr>
        <p:spPr>
          <a:xfrm>
            <a:off x="832103" y="4361688"/>
            <a:ext cx="2377440" cy="640080"/>
          </a:xfrm>
          <a:prstGeom prst="rect">
            <a:avLst/>
          </a:prstGeom>
          <a:noFill/>
        </p:spPr>
        <p:txBody>
          <a:bodyPr wrap="square" lIns="0" rIns="0" tIns="0" bIns="0" anchor="t" rtlCol="0">
            <a:spAutoFit/>
          </a:bodyPr>
          <a:lstStyle/>
          <a:p>
            <a:pPr rtl="1" algn="r" marL="0" indent="0">
              <a:lnSpc>
                <a:spcPct val="108000"/>
              </a:lnSpc>
              <a:buNone/>
            </a:pPr>
            <a:r>
              <a:rPr sz="1350" b="0" i="0" lang="he-IL">
                <a:solidFill>
                  <a:srgbClr val="A9B4C6"/>
                </a:solidFill>
                <a:latin typeface="Arial"/>
                <a:cs typeface="Arial"/>
              </a:rPr>
              <a:t>כלי קטן שפותר בעיה אמיתית שלכם</a:t>
            </a:r>
          </a:p>
        </p:txBody>
      </p:sp>
      <p:sp>
        <p:nvSpPr>
          <p:cNvPr id="28" name="Rounded Rectangle 27"/>
          <p:cNvSpPr/>
          <p:nvPr/>
        </p:nvSpPr>
        <p:spPr>
          <a:xfrm>
            <a:off x="658368" y="5532120"/>
            <a:ext cx="10872216" cy="640080"/>
          </a:xfrm>
          <a:prstGeom prst="roundRect">
            <a:avLst>
              <a:gd name="adj" fmla="val 3000"/>
            </a:avLst>
          </a:prstGeom>
          <a:solidFill>
            <a:srgbClr val="022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86968" y="5532120"/>
            <a:ext cx="10415016" cy="640080"/>
          </a:xfrm>
          <a:prstGeom prst="rect">
            <a:avLst/>
          </a:prstGeom>
          <a:noFill/>
        </p:spPr>
        <p:txBody>
          <a:bodyPr wrap="square" lIns="0" rIns="0" tIns="0" bIns="0" anchor="ctr" rtlCol="0">
            <a:spAutoFit/>
          </a:bodyPr>
          <a:lstStyle/>
          <a:p>
            <a:pPr rtl="1" algn="r" marL="0" indent="0">
              <a:lnSpc>
                <a:spcPct val="108000"/>
              </a:lnSpc>
              <a:buNone/>
            </a:pPr>
            <a:r>
              <a:rPr sz="1450" b="0" i="0" lang="he-IL">
                <a:solidFill>
                  <a:srgbClr val="EBEDF0"/>
                </a:solidFill>
                <a:latin typeface="Arial"/>
                <a:cs typeface="Arial"/>
              </a:rPr>
              <a:t>🚀  ובכל מפגש: משימה אמיתית מהעבודה שלכם, לא תרגילים מומצאים.</a:t>
            </a:r>
          </a:p>
        </p:txBody>
      </p:sp>
      <p:sp>
        <p:nvSpPr>
          <p:cNvPr id="30" name="TextBox 29"/>
          <p:cNvSpPr txBox="1"/>
          <p:nvPr/>
        </p:nvSpPr>
        <p:spPr>
          <a:xfrm>
            <a:off x="6675120" y="6473952"/>
            <a:ext cx="4846320" cy="292608"/>
          </a:xfrm>
          <a:prstGeom prst="rect">
            <a:avLst/>
          </a:prstGeom>
          <a:noFill/>
        </p:spPr>
        <p:txBody>
          <a:bodyPr wrap="none" lIns="0" rIns="0" tIns="0" bIns="0">
            <a:spAutoFit/>
          </a:bodyPr>
          <a:lstStyle/>
          <a:p>
            <a:pPr algn="r" rtl="1"/>
            <a:r>
              <a:rPr sz="1000">
                <a:solidFill>
                  <a:srgbClr val="8A96AA"/>
                </a:solidFill>
                <a:latin typeface="Arial"/>
                <a:cs typeface="Arial"/>
              </a:rPr>
              <a:t>© נערך על ידי AI Finance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02920"/>
            <a:ext cx="10872216" cy="640080"/>
          </a:xfrm>
          <a:prstGeom prst="rect">
            <a:avLst/>
          </a:prstGeom>
          <a:noFill/>
        </p:spPr>
        <p:txBody>
          <a:bodyPr wrap="square" lIns="0" rIns="0" tIns="0" bIns="0" anchor="t" rtlCol="0">
            <a:spAutoFit/>
          </a:bodyPr>
          <a:lstStyle/>
          <a:p>
            <a:pPr rtl="1" algn="r" marL="0" indent="0">
              <a:lnSpc>
                <a:spcPct val="108000"/>
              </a:lnSpc>
              <a:buNone/>
            </a:pPr>
            <a:r>
              <a:rPr sz="3700" b="1" i="0" lang="he-IL">
                <a:solidFill>
                  <a:srgbClr val="F2F5FA"/>
                </a:solidFill>
                <a:latin typeface="Arial"/>
                <a:cs typeface="Arial"/>
              </a:rPr>
              <a:t>טעימה ממפגש 2: הסוד הוא בהנחיה</a:t>
            </a:r>
          </a:p>
        </p:txBody>
      </p:sp>
      <p:sp>
        <p:nvSpPr>
          <p:cNvPr id="3" name="TextBox 2"/>
          <p:cNvSpPr txBox="1"/>
          <p:nvPr/>
        </p:nvSpPr>
        <p:spPr>
          <a:xfrm>
            <a:off x="658368" y="1280160"/>
            <a:ext cx="10872216" cy="365760"/>
          </a:xfrm>
          <a:prstGeom prst="rect">
            <a:avLst/>
          </a:prstGeom>
          <a:noFill/>
        </p:spPr>
        <p:txBody>
          <a:bodyPr wrap="square" lIns="0" rIns="0" tIns="0" bIns="0" anchor="t" rtlCol="0">
            <a:spAutoFit/>
          </a:bodyPr>
          <a:lstStyle/>
          <a:p>
            <a:pPr rtl="1" algn="r" marL="0" indent="0">
              <a:lnSpc>
                <a:spcPct val="108000"/>
              </a:lnSpc>
              <a:buNone/>
            </a:pPr>
            <a:r>
              <a:rPr sz="1450" b="0" i="0" lang="he-IL">
                <a:solidFill>
                  <a:srgbClr val="A9B4C6"/>
                </a:solidFill>
                <a:latin typeface="Arial"/>
                <a:cs typeface="Arial"/>
              </a:rPr>
              <a:t>למה אותה שאלה מקבלת תשובות שונות? כי הכלי עונה בדיוק על מה שביקשתם</a:t>
            </a:r>
          </a:p>
        </p:txBody>
      </p:sp>
      <p:sp>
        <p:nvSpPr>
          <p:cNvPr id="4" name="Rounded Rectangle 3"/>
          <p:cNvSpPr/>
          <p:nvPr/>
        </p:nvSpPr>
        <p:spPr>
          <a:xfrm>
            <a:off x="6199632" y="1920240"/>
            <a:ext cx="5330952" cy="342900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28232" y="2103120"/>
            <a:ext cx="4873752" cy="365760"/>
          </a:xfrm>
          <a:prstGeom prst="rect">
            <a:avLst/>
          </a:prstGeom>
          <a:noFill/>
        </p:spPr>
        <p:txBody>
          <a:bodyPr wrap="square" lIns="0" rIns="0" tIns="0" bIns="0" anchor="t" rtlCol="0">
            <a:spAutoFit/>
          </a:bodyPr>
          <a:lstStyle/>
          <a:p>
            <a:pPr rtl="1" algn="r" marL="0" indent="0">
              <a:lnSpc>
                <a:spcPct val="108000"/>
              </a:lnSpc>
              <a:buNone/>
            </a:pPr>
            <a:r>
              <a:rPr sz="1800" b="1" i="0" lang="he-IL">
                <a:solidFill>
                  <a:srgbClr val="EBEDF0"/>
                </a:solidFill>
                <a:latin typeface="Arial"/>
                <a:cs typeface="Arial"/>
              </a:rPr>
              <a:t>❌  הנחיה חלשה</a:t>
            </a:r>
          </a:p>
        </p:txBody>
      </p:sp>
      <p:sp>
        <p:nvSpPr>
          <p:cNvPr id="6" name="TextBox 5"/>
          <p:cNvSpPr txBox="1"/>
          <p:nvPr/>
        </p:nvSpPr>
        <p:spPr>
          <a:xfrm>
            <a:off x="6428232" y="2697480"/>
            <a:ext cx="4873752" cy="731520"/>
          </a:xfrm>
          <a:prstGeom prst="rect">
            <a:avLst/>
          </a:prstGeom>
          <a:noFill/>
        </p:spPr>
        <p:txBody>
          <a:bodyPr wrap="square" lIns="0" rIns="0" tIns="0" bIns="0" anchor="t" rtlCol="0">
            <a:spAutoFit/>
          </a:bodyPr>
          <a:lstStyle/>
          <a:p>
            <a:pPr rtl="1" algn="r" marL="0" indent="0">
              <a:lnSpc>
                <a:spcPct val="108000"/>
              </a:lnSpc>
              <a:buNone/>
            </a:pPr>
            <a:r>
              <a:rPr sz="1600" b="0" i="0" lang="he-IL">
                <a:solidFill>
                  <a:srgbClr val="EBEDF0"/>
                </a:solidFill>
                <a:latin typeface="Arial"/>
                <a:cs typeface="Arial"/>
              </a:rPr>
              <a:t>"כתוב פוסט על המוצר שלנו"</a:t>
            </a:r>
          </a:p>
        </p:txBody>
      </p:sp>
      <p:sp>
        <p:nvSpPr>
          <p:cNvPr id="7" name="TextBox 6"/>
          <p:cNvSpPr txBox="1"/>
          <p:nvPr/>
        </p:nvSpPr>
        <p:spPr>
          <a:xfrm>
            <a:off x="6428232" y="3749039"/>
            <a:ext cx="4873752" cy="274320"/>
          </a:xfrm>
          <a:prstGeom prst="rect">
            <a:avLst/>
          </a:prstGeom>
          <a:noFill/>
        </p:spPr>
        <p:txBody>
          <a:bodyPr wrap="square" lIns="0" rIns="0" tIns="0" bIns="0" anchor="t" rtlCol="0">
            <a:spAutoFit/>
          </a:bodyPr>
          <a:lstStyle/>
          <a:p>
            <a:pPr rtl="1" algn="r" marL="0" indent="0">
              <a:lnSpc>
                <a:spcPct val="108000"/>
              </a:lnSpc>
              <a:buNone/>
            </a:pPr>
            <a:r>
              <a:rPr sz="1350" b="1" i="0" lang="he-IL">
                <a:solidFill>
                  <a:srgbClr val="A9B4C6"/>
                </a:solidFill>
                <a:latin typeface="Arial"/>
                <a:cs typeface="Arial"/>
              </a:rPr>
              <a:t>התוצאה:</a:t>
            </a:r>
          </a:p>
        </p:txBody>
      </p:sp>
      <p:sp>
        <p:nvSpPr>
          <p:cNvPr id="8" name="TextBox 7"/>
          <p:cNvSpPr txBox="1"/>
          <p:nvPr/>
        </p:nvSpPr>
        <p:spPr>
          <a:xfrm>
            <a:off x="6428232" y="4069080"/>
            <a:ext cx="4873752" cy="1097280"/>
          </a:xfrm>
          <a:prstGeom prst="rect">
            <a:avLst/>
          </a:prstGeom>
          <a:noFill/>
        </p:spPr>
        <p:txBody>
          <a:bodyPr wrap="square" lIns="0" rIns="0" tIns="0" bIns="0" anchor="t" rtlCol="0">
            <a:spAutoFit/>
          </a:bodyPr>
          <a:lstStyle/>
          <a:p>
            <a:pPr rtl="1" algn="r" marL="0" indent="0">
              <a:lnSpc>
                <a:spcPct val="108000"/>
              </a:lnSpc>
              <a:buNone/>
            </a:pPr>
            <a:r>
              <a:rPr sz="1450" b="0" i="0" lang="he-IL">
                <a:solidFill>
                  <a:srgbClr val="A9B4C6"/>
                </a:solidFill>
                <a:latin typeface="Arial"/>
                <a:cs typeface="Arial"/>
              </a:rPr>
              <a:t>פוסט גנרי, ארוך, מלא סופרלטיבים, שמתאים לכל מוצר בעולם.</a:t>
            </a:r>
          </a:p>
        </p:txBody>
      </p:sp>
      <p:sp>
        <p:nvSpPr>
          <p:cNvPr id="9" name="Rounded Rectangle 8"/>
          <p:cNvSpPr/>
          <p:nvPr/>
        </p:nvSpPr>
        <p:spPr>
          <a:xfrm>
            <a:off x="658368" y="1920240"/>
            <a:ext cx="5330952" cy="3429000"/>
          </a:xfrm>
          <a:prstGeom prst="roundRect">
            <a:avLst>
              <a:gd name="adj" fmla="val 3000"/>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86968" y="2103120"/>
            <a:ext cx="4873752" cy="365760"/>
          </a:xfrm>
          <a:prstGeom prst="rect">
            <a:avLst/>
          </a:prstGeom>
          <a:noFill/>
        </p:spPr>
        <p:txBody>
          <a:bodyPr wrap="square" lIns="0" rIns="0" tIns="0" bIns="0" anchor="t" rtlCol="0">
            <a:spAutoFit/>
          </a:bodyPr>
          <a:lstStyle/>
          <a:p>
            <a:pPr rtl="1" algn="r" marL="0" indent="0">
              <a:lnSpc>
                <a:spcPct val="108000"/>
              </a:lnSpc>
              <a:buNone/>
            </a:pPr>
            <a:r>
              <a:rPr sz="1800" b="1" i="0" lang="he-IL">
                <a:solidFill>
                  <a:srgbClr val="EBEDF0"/>
                </a:solidFill>
                <a:latin typeface="Arial"/>
                <a:cs typeface="Arial"/>
              </a:rPr>
              <a:t>✅  הנחיה חזקה</a:t>
            </a:r>
          </a:p>
        </p:txBody>
      </p:sp>
      <p:sp>
        <p:nvSpPr>
          <p:cNvPr id="11" name="TextBox 10"/>
          <p:cNvSpPr txBox="1"/>
          <p:nvPr/>
        </p:nvSpPr>
        <p:spPr>
          <a:xfrm>
            <a:off x="886968" y="2697480"/>
            <a:ext cx="4873752" cy="1371600"/>
          </a:xfrm>
          <a:prstGeom prst="rect">
            <a:avLst/>
          </a:prstGeom>
          <a:noFill/>
        </p:spPr>
        <p:txBody>
          <a:bodyPr wrap="square" lIns="0" rIns="0" tIns="0" bIns="0" anchor="t" rtlCol="0">
            <a:spAutoFit/>
          </a:bodyPr>
          <a:lstStyle/>
          <a:p>
            <a:pPr rtl="1" algn="r" marL="0" indent="0">
              <a:lnSpc>
                <a:spcPct val="118000"/>
              </a:lnSpc>
              <a:buNone/>
            </a:pPr>
            <a:r>
              <a:rPr sz="1450" b="0" i="0" lang="he-IL">
                <a:solidFill>
                  <a:srgbClr val="EBEDF0"/>
                </a:solidFill>
                <a:latin typeface="Arial"/>
                <a:cs typeface="Arial"/>
              </a:rPr>
              <a:t>"אתה קופירייטר. כתוב פוסט לינקדאין של 80 מילים לבעלי עסקים קטנים, על תוכנת הנהלת החשבונות שלנו. טון חם ואישי, ותסיים בשאלה לקוראים."</a:t>
            </a:r>
          </a:p>
        </p:txBody>
      </p:sp>
      <p:sp>
        <p:nvSpPr>
          <p:cNvPr id="12" name="TextBox 11"/>
          <p:cNvSpPr txBox="1"/>
          <p:nvPr/>
        </p:nvSpPr>
        <p:spPr>
          <a:xfrm>
            <a:off x="886968" y="4343400"/>
            <a:ext cx="4873752" cy="274320"/>
          </a:xfrm>
          <a:prstGeom prst="rect">
            <a:avLst/>
          </a:prstGeom>
          <a:noFill/>
        </p:spPr>
        <p:txBody>
          <a:bodyPr wrap="square" lIns="0" rIns="0" tIns="0" bIns="0" anchor="t" rtlCol="0">
            <a:spAutoFit/>
          </a:bodyPr>
          <a:lstStyle/>
          <a:p>
            <a:pPr rtl="1" algn="r" marL="0" indent="0">
              <a:lnSpc>
                <a:spcPct val="108000"/>
              </a:lnSpc>
              <a:buNone/>
            </a:pPr>
            <a:r>
              <a:rPr sz="1350" b="1" i="0" lang="he-IL">
                <a:solidFill>
                  <a:srgbClr val="6296FF"/>
                </a:solidFill>
                <a:latin typeface="Arial"/>
                <a:cs typeface="Arial"/>
              </a:rPr>
              <a:t>התוצאה:</a:t>
            </a:r>
          </a:p>
        </p:txBody>
      </p:sp>
      <p:sp>
        <p:nvSpPr>
          <p:cNvPr id="13" name="TextBox 12"/>
          <p:cNvSpPr txBox="1"/>
          <p:nvPr/>
        </p:nvSpPr>
        <p:spPr>
          <a:xfrm>
            <a:off x="886968" y="4663440"/>
            <a:ext cx="4873752" cy="548640"/>
          </a:xfrm>
          <a:prstGeom prst="rect">
            <a:avLst/>
          </a:prstGeom>
          <a:noFill/>
        </p:spPr>
        <p:txBody>
          <a:bodyPr wrap="square" lIns="0" rIns="0" tIns="0" bIns="0" anchor="t" rtlCol="0">
            <a:spAutoFit/>
          </a:bodyPr>
          <a:lstStyle/>
          <a:p>
            <a:pPr rtl="1" algn="r" marL="0" indent="0">
              <a:lnSpc>
                <a:spcPct val="108000"/>
              </a:lnSpc>
              <a:buNone/>
            </a:pPr>
            <a:r>
              <a:rPr sz="1450" b="0" i="0" lang="he-IL">
                <a:solidFill>
                  <a:srgbClr val="EBEDF0"/>
                </a:solidFill>
                <a:latin typeface="Arial"/>
                <a:cs typeface="Arial"/>
              </a:rPr>
              <a:t>פוסט ממוקד, באורך הנכון, שנשמע כמו העסק שלכם.</a:t>
            </a:r>
          </a:p>
        </p:txBody>
      </p:sp>
      <p:sp>
        <p:nvSpPr>
          <p:cNvPr id="14" name="Rounded Rectangle 13"/>
          <p:cNvSpPr/>
          <p:nvPr/>
        </p:nvSpPr>
        <p:spPr>
          <a:xfrm>
            <a:off x="658368" y="5532120"/>
            <a:ext cx="10872216" cy="640080"/>
          </a:xfrm>
          <a:prstGeom prst="roundRect">
            <a:avLst>
              <a:gd name="adj" fmla="val 3000"/>
            </a:avLst>
          </a:prstGeom>
          <a:solidFill>
            <a:srgbClr val="183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86968" y="5532120"/>
            <a:ext cx="10415016" cy="640080"/>
          </a:xfrm>
          <a:prstGeom prst="rect">
            <a:avLst/>
          </a:prstGeom>
          <a:noFill/>
        </p:spPr>
        <p:txBody>
          <a:bodyPr wrap="square" lIns="0" rIns="0" tIns="0" bIns="0" anchor="ctr" rtlCol="0">
            <a:spAutoFit/>
          </a:bodyPr>
          <a:lstStyle/>
          <a:p>
            <a:pPr rtl="1" algn="r" marL="0" indent="0">
              <a:lnSpc>
                <a:spcPct val="108000"/>
              </a:lnSpc>
              <a:buNone/>
            </a:pPr>
            <a:r>
              <a:rPr sz="1450" b="0" i="0" lang="he-IL">
                <a:solidFill>
                  <a:srgbClr val="EBEDF0"/>
                </a:solidFill>
                <a:latin typeface="Arial"/>
                <a:cs typeface="Arial"/>
              </a:rPr>
              <a:t>📌  במפגש הבא: הנוסחה לכתיבת הנחיות שעובדות. בכל כלי.</a:t>
            </a:r>
          </a:p>
        </p:txBody>
      </p:sp>
      <p:sp>
        <p:nvSpPr>
          <p:cNvPr id="16" name="TextBox 15"/>
          <p:cNvSpPr txBox="1"/>
          <p:nvPr/>
        </p:nvSpPr>
        <p:spPr>
          <a:xfrm>
            <a:off x="6675120" y="6473952"/>
            <a:ext cx="4846320" cy="292608"/>
          </a:xfrm>
          <a:prstGeom prst="rect">
            <a:avLst/>
          </a:prstGeom>
          <a:noFill/>
        </p:spPr>
        <p:txBody>
          <a:bodyPr wrap="none" lIns="0" rIns="0" tIns="0" bIns="0">
            <a:spAutoFit/>
          </a:bodyPr>
          <a:lstStyle/>
          <a:p>
            <a:pPr algn="r" rtl="1"/>
            <a:r>
              <a:rPr sz="1000">
                <a:solidFill>
                  <a:srgbClr val="8A96AA"/>
                </a:solidFill>
                <a:latin typeface="Arial"/>
                <a:cs typeface="Arial"/>
              </a:rPr>
              <a:t>© נערך על ידי AI Finance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tretch>
            <a:fillRect/>
          </a:stretch>
        </p:blipFill>
        <p:spPr>
          <a:xfrm>
            <a:off x="0" y="0"/>
            <a:ext cx="4800480" cy="6858000"/>
          </a:xfrm>
          <a:custGeom>
            <a:avLst/>
            <a:gdLst/>
            <a:ahLst/>
            <a:cxnLst/>
            <a:rect l="0" t="0" r="100000" b="100000"/>
            <a:pathLst>
              <a:path w="100000" h="100000">
                <a:moveTo>
                  <a:pt x="0" y="0"/>
                </a:moveTo>
                <a:lnTo>
                  <a:pt x="90530" y="100"/>
                </a:lnTo>
                <a:lnTo>
                  <a:pt x="93070" y="6350"/>
                </a:lnTo>
                <a:lnTo>
                  <a:pt x="94920" y="12210"/>
                </a:lnTo>
                <a:lnTo>
                  <a:pt x="96680" y="19820"/>
                </a:lnTo>
                <a:lnTo>
                  <a:pt x="97560" y="25880"/>
                </a:lnTo>
                <a:lnTo>
                  <a:pt x="97950" y="30960"/>
                </a:lnTo>
                <a:lnTo>
                  <a:pt x="97950" y="39060"/>
                </a:lnTo>
                <a:lnTo>
                  <a:pt x="97270" y="46480"/>
                </a:lnTo>
                <a:lnTo>
                  <a:pt x="96190" y="52640"/>
                </a:lnTo>
                <a:lnTo>
                  <a:pt x="94730" y="58500"/>
                </a:lnTo>
                <a:lnTo>
                  <a:pt x="92480" y="65230"/>
                </a:lnTo>
                <a:lnTo>
                  <a:pt x="89550" y="72070"/>
                </a:lnTo>
                <a:lnTo>
                  <a:pt x="86820" y="77340"/>
                </a:lnTo>
                <a:lnTo>
                  <a:pt x="83500" y="82810"/>
                </a:lnTo>
                <a:lnTo>
                  <a:pt x="79200" y="88870"/>
                </a:lnTo>
                <a:lnTo>
                  <a:pt x="75880" y="92770"/>
                </a:lnTo>
                <a:lnTo>
                  <a:pt x="75880" y="92970"/>
                </a:lnTo>
                <a:lnTo>
                  <a:pt x="74510" y="94340"/>
                </a:lnTo>
                <a:lnTo>
                  <a:pt x="74510" y="94530"/>
                </a:lnTo>
                <a:lnTo>
                  <a:pt x="69240" y="100000"/>
                </a:lnTo>
                <a:lnTo>
                  <a:pt x="0" y="100000"/>
                </a:lnTo>
                <a:close/>
              </a:path>
            </a:pathLst>
          </a:custGeom>
        </p:spPr>
      </p:pic>
      <p:sp>
        <p:nvSpPr>
          <p:cNvPr id="3" name="Text 0"/>
          <p:cNvSpPr/>
          <p:nvPr/>
        </p:nvSpPr>
        <p:spPr>
          <a:xfrm>
            <a:off x="5233360" y="1813719"/>
            <a:ext cx="6296860" cy="614263"/>
          </a:xfrm>
          <a:prstGeom prst="rect">
            <a:avLst/>
          </a:prstGeom>
          <a:noFill/>
          <a:ln/>
        </p:spPr>
        <p:txBody>
          <a:bodyPr wrap="none" lIns="0" tIns="0" rIns="0" bIns="0" rtlCol="0" anchor="t"/>
          <a:lstStyle/>
          <a:p>
            <a:pPr rtl="1" algn="r" indent="0" marL="0">
              <a:lnSpc>
                <a:spcPct val="108000"/>
              </a:lnSpc>
              <a:buNone/>
            </a:pPr>
            <a:r>
              <a:rPr lang="he-IL" altLang="en-US" sz="3700" b="1" spc="-74" kern="100" dirty="0">
                <a:solidFill>
                  <a:srgbClr val="F2F5FA"/>
                </a:solidFill>
                <a:latin typeface="Arial" pitchFamily="34" charset="0"/>
                <a:ea typeface="Arial" pitchFamily="34" charset="-122"/>
                <a:cs typeface="Arial" pitchFamily="34" charset="-120"/>
              </a:rPr>
              <a:t>תרגיל מסכם + תרגול בית</a:t>
            </a:r>
            <a:endParaRPr lang="he-IL"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3360" y="2924076"/>
            <a:ext cx="2917851" cy="1416248"/>
          </a:xfrm>
          <a:prstGeom prst="rect">
            <a:avLst/>
          </a:prstGeom>
        </p:spPr>
      </p:pic>
      <p:sp>
        <p:nvSpPr>
          <p:cNvPr id="5" name="Text 1"/>
          <p:cNvSpPr/>
          <p:nvPr/>
        </p:nvSpPr>
        <p:spPr>
          <a:xfrm>
            <a:off x="5447767" y="3138488"/>
            <a:ext cx="2387441" cy="307082"/>
          </a:xfrm>
          <a:prstGeom prst="rect">
            <a:avLst/>
          </a:prstGeom>
          <a:noFill/>
          <a:ln/>
        </p:spPr>
        <p:txBody>
          <a:bodyPr wrap="none" lIns="0" tIns="0" rIns="0" bIns="0" rtlCol="0" anchor="t"/>
          <a:lstStyle/>
          <a:p>
            <a:pPr rtl="1" algn="r" indent="0" marL="0">
              <a:lnSpc>
                <a:spcPct val="108000"/>
              </a:lnSpc>
              <a:buNone/>
            </a:pPr>
            <a:r>
              <a:rPr lang="he-IL" altLang="en-US" sz="1850" b="1" spc="-37"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850" b="1" spc="-37" kern="100" dirty="0">
                <a:solidFill>
                  <a:srgbClr val="EBEDF0"/>
                </a:solidFill>
                <a:latin typeface="Arial" pitchFamily="34" charset="0"/>
                <a:ea typeface="Arial" pitchFamily="34" charset="-122"/>
                <a:cs typeface="Arial" pitchFamily="34" charset="-120"/>
              </a:rPr>
              <a:t> עכשיו</a:t>
            </a:r>
            <a:endParaRPr lang="he-IL" sz="1850" dirty="0"/>
          </a:p>
        </p:txBody>
      </p:sp>
      <p:sp>
        <p:nvSpPr>
          <p:cNvPr id="6" name="Text 2"/>
          <p:cNvSpPr/>
          <p:nvPr/>
        </p:nvSpPr>
        <p:spPr>
          <a:xfrm>
            <a:off x="5447767" y="3634581"/>
            <a:ext cx="2387441" cy="491331"/>
          </a:xfrm>
          <a:prstGeom prst="rect">
            <a:avLst/>
          </a:prstGeom>
          <a:noFill/>
          <a:ln/>
        </p:spPr>
        <p:txBody>
          <a:bodyPr wrap="square" lIns="0" tIns="0" rIns="0" bIns="0" rtlCol="0" anchor="t">
            <a:normAutofit/>
          </a:bodyPr>
          <a:lstStyle/>
          <a:p>
            <a:pPr rtl="1" algn="r" indent="0" marL="0">
              <a:lnSpc>
                <a:spcPct val="108000"/>
              </a:lnSpc>
              <a:buNone/>
            </a:pPr>
            <a:r>
              <a:rPr lang="he-IL" altLang="en-US" sz="1450" dirty="0">
                <a:solidFill>
                  <a:srgbClr val="EBEDF0"/>
                </a:solidFill>
                <a:latin typeface="Arial" pitchFamily="34" charset="0"/>
                <a:ea typeface="Arial" pitchFamily="34" charset="-122"/>
                <a:cs typeface="Arial" pitchFamily="34" charset="-120"/>
              </a:rPr>
              <a:t>בחרו משימה אמיתית מהשבוע שלכם ובקשו עזרה מהכלי.</a:t>
            </a:r>
            <a:endParaRPr lang="he-IL" sz="145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618719" y="2924076"/>
            <a:ext cx="2917851" cy="1907580"/>
          </a:xfrm>
          <a:prstGeom prst="rect">
            <a:avLst/>
          </a:prstGeom>
        </p:spPr>
      </p:pic>
      <p:sp>
        <p:nvSpPr>
          <p:cNvPr id="8" name="Text 3"/>
          <p:cNvSpPr/>
          <p:nvPr/>
        </p:nvSpPr>
        <p:spPr>
          <a:xfrm>
            <a:off x="8833125" y="3138488"/>
            <a:ext cx="2387441" cy="307082"/>
          </a:xfrm>
          <a:prstGeom prst="rect">
            <a:avLst/>
          </a:prstGeom>
          <a:noFill/>
          <a:ln/>
        </p:spPr>
        <p:txBody>
          <a:bodyPr wrap="none" lIns="0" tIns="0" rIns="0" bIns="0" rtlCol="0" anchor="t"/>
          <a:lstStyle/>
          <a:p>
            <a:pPr rtl="1" algn="r" indent="0" marL="0">
              <a:lnSpc>
                <a:spcPct val="108000"/>
              </a:lnSpc>
              <a:buNone/>
            </a:pPr>
            <a:r>
              <a:rPr lang="he-IL" altLang="en-US" sz="1850" b="1" spc="-37"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850" b="1" spc="-37" kern="100" dirty="0">
                <a:solidFill>
                  <a:srgbClr val="EBEDF0"/>
                </a:solidFill>
                <a:latin typeface="Arial" pitchFamily="34" charset="0"/>
                <a:ea typeface="Arial" pitchFamily="34" charset="-122"/>
                <a:cs typeface="Arial" pitchFamily="34" charset="-120"/>
              </a:rPr>
              <a:t> תרגול בית</a:t>
            </a:r>
            <a:endParaRPr lang="he-IL" sz="1850" dirty="0"/>
          </a:p>
        </p:txBody>
      </p:sp>
      <p:sp>
        <p:nvSpPr>
          <p:cNvPr id="9" name="Text 4"/>
          <p:cNvSpPr/>
          <p:nvPr/>
        </p:nvSpPr>
        <p:spPr>
          <a:xfrm>
            <a:off x="8833125" y="3634581"/>
            <a:ext cx="2387441" cy="982663"/>
          </a:xfrm>
          <a:prstGeom prst="rect">
            <a:avLst/>
          </a:prstGeom>
          <a:noFill/>
          <a:ln/>
        </p:spPr>
        <p:txBody>
          <a:bodyPr wrap="square" lIns="0" tIns="0" rIns="0" bIns="0" rtlCol="0" anchor="t">
            <a:normAutofit/>
          </a:bodyPr>
          <a:lstStyle/>
          <a:p>
            <a:pPr rtl="1" algn="r" indent="0" marL="0">
              <a:lnSpc>
                <a:spcPct val="108000"/>
              </a:lnSpc>
              <a:buNone/>
            </a:pPr>
            <a:r>
              <a:rPr lang="he-IL" altLang="en-US" sz="1450" dirty="0">
                <a:solidFill>
                  <a:srgbClr val="EBEDF0"/>
                </a:solidFill>
                <a:latin typeface="Arial" pitchFamily="34" charset="0"/>
                <a:ea typeface="Arial" pitchFamily="34" charset="-122"/>
                <a:cs typeface="Arial" pitchFamily="34" charset="-120"/>
              </a:rPr>
              <a:t>שימוש אחד ביום, בשני כלים שונים לפחות, עד המפגש הבא. רשמו מה עבד ומה אכזב – נפתח עם זה את מפגש 2.</a:t>
            </a:r>
            <a:endParaRPr lang="he-IL" sz="1450" dirty="0"/>
          </a:p>
        </p:txBody>
      </p:sp>
      <p:sp>
        <p:nvSpPr>
          <p:cNvPr id="10" name="TextBox 9"/>
          <p:cNvSpPr txBox="1"/>
          <p:nvPr/>
        </p:nvSpPr>
        <p:spPr>
          <a:xfrm>
            <a:off x="6675120" y="6473952"/>
            <a:ext cx="4846320" cy="292608"/>
          </a:xfrm>
          <a:prstGeom prst="rect">
            <a:avLst/>
          </a:prstGeom>
          <a:noFill/>
        </p:spPr>
        <p:txBody>
          <a:bodyPr wrap="none" lIns="0" rIns="0" tIns="0" bIns="0">
            <a:spAutoFit/>
          </a:bodyPr>
          <a:lstStyle/>
          <a:p>
            <a:pPr algn="r" rtl="1"/>
            <a:r>
              <a:rPr sz="1000">
                <a:solidFill>
                  <a:srgbClr val="8A96AA"/>
                </a:solidFill>
                <a:latin typeface="Arial"/>
                <a:cs typeface="Arial"/>
              </a:rPr>
              <a:t>© נערך על ידי AI Finance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2026-10-03T13:43:15Z</dcterms:created>
  <dcterms:modified xsi:type="dcterms:W3CDTF">2026-10-03T13:43:15Z</dcterms:modified>
</cp:coreProperties>
</file>