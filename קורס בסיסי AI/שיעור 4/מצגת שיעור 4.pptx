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3-3.svg" ContentType="image/svg+xml"/>
  <Override PartName="/ppt/media/image-13-5.svg" ContentType="image/svg+xml"/>
  <Override PartName="/ppt/media/image-13-7.svg" ContentType="image/svg+xml"/>
  <Override PartName="/ppt/media/image-14-2.svg" ContentType="image/svg+xml"/>
  <Override PartName="/ppt/media/image-14-8.svg" ContentType="image/svg+xml"/>
  <Override PartName="/ppt/media/s3-image-8-3.svg" ContentType="image/svg+xml"/>
  <Override PartName="/ppt/media/s3-image-8-5.svg" ContentType="image/svg+xml"/>
  <Override PartName="/ppt/media/s3-image-8-7.svg" ContentType="image/svg+xml"/>
  <Override PartName="/ppt/media/s3-image-8-9.svg" ContentType="image/svg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001.xml" ContentType="application/vnd.openxmlformats-officedocument.presentationml.slide+xml"/>
  <Override PartName="/ppt/slides/slide2002.xml" ContentType="application/vnd.openxmlformats-officedocument.presentationml.slide+xml"/>
  <Override PartName="/ppt/slides/slide2003.xml" ContentType="application/vnd.openxmlformats-officedocument.presentationml.slide+xml"/>
  <Override PartName="/ppt/slides/slide2004.xml" ContentType="application/vnd.openxmlformats-officedocument.presentationml.slide+xml"/>
  <Override PartName="/ppt/slides/slide2005.xml" ContentType="application/vnd.openxmlformats-officedocument.presentationml.slide+xml"/>
  <Override PartName="/ppt/slides/slide2006.xml" ContentType="application/vnd.openxmlformats-officedocument.presentationml.slide+xml"/>
  <Override PartName="/ppt/slides/slide2007.xml" ContentType="application/vnd.openxmlformats-officedocument.presentationml.slide+xml"/>
  <Override PartName="/ppt/slides/slide2008.xml" ContentType="application/vnd.openxmlformats-officedocument.presentationml.slide+xml"/>
  <Override PartName="/ppt/slides/slide2009.xml" ContentType="application/vnd.openxmlformats-officedocument.presentationml.slide+xml"/>
  <Override PartName="/ppt/slides/slide2010.xml" ContentType="application/vnd.openxmlformats-officedocument.presentationml.slide+xml"/>
  <Override PartName="/ppt/slides/slide2011.xml" ContentType="application/vnd.openxmlformats-officedocument.presentationml.slide+xml"/>
  <Override PartName="/ppt/slides/slide2012.xml" ContentType="application/vnd.openxmlformats-officedocument.presentationml.slide+xml"/>
  <Override PartName="/ppt/slides/slide2013.xml" ContentType="application/vnd.openxmlformats-officedocument.presentationml.slide+xml"/>
  <Override PartName="/ppt/slides/slide2014.xml" ContentType="application/vnd.openxmlformats-officedocument.presentationml.slide+xml"/>
  <Override PartName="/ppt/slides/slide2015.xml" ContentType="application/vnd.openxmlformats-officedocument.presentationml.slide+xml"/>
  <Override PartName="/ppt/slides/slide2016.xml" ContentType="application/vnd.openxmlformats-officedocument.presentationml.slide+xml"/>
  <Override PartName="/ppt/slides/slide2017.xml" ContentType="application/vnd.openxmlformats-officedocument.presentationml.slide+xml"/>
  <Override PartName="/ppt/slides/slide2018.xml" ContentType="application/vnd.openxmlformats-officedocument.presentationml.slide+xml"/>
  <Override PartName="/ppt/slides/slide2019.xml" ContentType="application/vnd.openxmlformats-officedocument.presentationml.slide+xml"/>
  <Override PartName="/ppt/slides/slide2020.xml" ContentType="application/vnd.openxmlformats-officedocument.presentationml.slide+xml"/>
  <Override PartName="/ppt/slides/slide2021.xml" ContentType="application/vnd.openxmlformats-officedocument.presentationml.slide+xml"/>
  <Override PartName="/ppt/slides/slide2022.xml" ContentType="application/vnd.openxmlformats-officedocument.presentationml.slide+xml"/>
  <Override PartName="/ppt/slides/slide202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8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</p:sldIdLst>
  <p:notesMasterIdLst>
    <p:notesMasterId r:id="rId16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S31" Type="http://schemas.openxmlformats.org/officeDocument/2006/relationships/slide" Target="slides/slide15.xml"/><Relationship Id="rIdS37" Type="http://schemas.openxmlformats.org/officeDocument/2006/relationships/slide" Target="slides/slide21.xml"/><Relationship Id="rIdS38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9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9" Type="http://schemas.openxmlformats.org/officeDocument/2006/relationships/slide" Target="slides/slide2001.xml"/><Relationship Id="rId50" Type="http://schemas.openxmlformats.org/officeDocument/2006/relationships/slide" Target="slides/slide2002.xml"/><Relationship Id="rId51" Type="http://schemas.openxmlformats.org/officeDocument/2006/relationships/slide" Target="slides/slide2003.xml"/><Relationship Id="rId52" Type="http://schemas.openxmlformats.org/officeDocument/2006/relationships/slide" Target="slides/slide2004.xml"/><Relationship Id="rId53" Type="http://schemas.openxmlformats.org/officeDocument/2006/relationships/slide" Target="slides/slide2005.xml"/><Relationship Id="rId54" Type="http://schemas.openxmlformats.org/officeDocument/2006/relationships/slide" Target="slides/slide2006.xml"/><Relationship Id="rId55" Type="http://schemas.openxmlformats.org/officeDocument/2006/relationships/slide" Target="slides/slide2007.xml"/><Relationship Id="rId56" Type="http://schemas.openxmlformats.org/officeDocument/2006/relationships/slide" Target="slides/slide2008.xml"/><Relationship Id="rId57" Type="http://schemas.openxmlformats.org/officeDocument/2006/relationships/slide" Target="slides/slide2009.xml"/><Relationship Id="rId58" Type="http://schemas.openxmlformats.org/officeDocument/2006/relationships/slide" Target="slides/slide2010.xml"/><Relationship Id="rId59" Type="http://schemas.openxmlformats.org/officeDocument/2006/relationships/slide" Target="slides/slide2011.xml"/><Relationship Id="rId60" Type="http://schemas.openxmlformats.org/officeDocument/2006/relationships/slide" Target="slides/slide2012.xml"/><Relationship Id="rId61" Type="http://schemas.openxmlformats.org/officeDocument/2006/relationships/slide" Target="slides/slide2013.xml"/><Relationship Id="rId62" Type="http://schemas.openxmlformats.org/officeDocument/2006/relationships/slide" Target="slides/slide2014.xml"/><Relationship Id="rId63" Type="http://schemas.openxmlformats.org/officeDocument/2006/relationships/slide" Target="slides/slide2015.xml"/><Relationship Id="rId64" Type="http://schemas.openxmlformats.org/officeDocument/2006/relationships/slide" Target="slides/slide2016.xml"/><Relationship Id="rId65" Type="http://schemas.openxmlformats.org/officeDocument/2006/relationships/slide" Target="slides/slide2017.xml"/><Relationship Id="rId66" Type="http://schemas.openxmlformats.org/officeDocument/2006/relationships/slide" Target="slides/slide2018.xml"/><Relationship Id="rId67" Type="http://schemas.openxmlformats.org/officeDocument/2006/relationships/slide" Target="slides/slide2019.xml"/><Relationship Id="rId68" Type="http://schemas.openxmlformats.org/officeDocument/2006/relationships/slide" Target="slides/slide2020.xml"/><Relationship Id="rId69" Type="http://schemas.openxmlformats.org/officeDocument/2006/relationships/slide" Target="slides/slide2021.xml"/><Relationship Id="rId70" Type="http://schemas.openxmlformats.org/officeDocument/2006/relationships/slide" Target="slides/slide2022.xml"/><Relationship Id="rId71" Type="http://schemas.openxmlformats.org/officeDocument/2006/relationships/slide" Target="slides/slide2023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3.xml"/></Relationships>
</file>

<file path=ppt/notesSlides/_rels/notesSlide9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0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 דקות  |  🎯 לחבר חדשות השבוע לנושא של היום: סוכנים.</a:t>
            </a:r>
          </a:p>
          <a:p/>
          <a:p>
            <a:r>
              <a:t>🧰 הכנה מראש: לפני המפגש: לעדכן את החדשות לשבוע הנוכחי.</a:t>
            </a:r>
          </a:p>
          <a:p/>
          <a:p>
            <a:r>
              <a:t>🗣 מה לומר:</a:t>
            </a:r>
          </a:p>
          <a:p>
            <a:r>
              <a:t>הכותרת הגדולה: OpenAI הוציאו את Dots. עוזר עם מחשב משלו בענן, שממשיך לעבוד גם כשאתם ישנים. כרגע רק בתשלום, אבל תכף נבין איך זה עובד.</a:t>
            </a:r>
          </a:p>
          <a:p>
            <a:r>
              <a:t>Instinct, עוזר אישי שמתקשר ומזמין בשבילכם, גייס מיליארד דולר.</a:t>
            </a:r>
          </a:p>
          <a:p>
            <a:r>
              <a:t>ו-xAI של אילון מאסק הוציאו את Grok Bot, סוכן שלומד משימה מהקלטת מסך.</a:t>
            </a:r>
          </a:p>
          <a:p>
            <a:r>
              <a:t>שימו לב: כל החדשות השבוע הן על אותו דבר. AI שעושה. בדיוק הנושא שלנו.</a:t>
            </a:r>
          </a:p>
          <a:p>
            <a:r>
              <a:t>כתבו בצ'אט: הייתם נותנים לסוכן לשלוח מיילים בשמכם? כן או לא?</a:t>
            </a:r>
          </a:p>
          <a:p/>
          <a:p>
            <a:r>
              <a:t>➡️ מעבר: אז הנה המסלול של היום.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מפת דרך פשוטה.</a:t>
            </a:r>
          </a:p>
          <a:p/>
          <a:p>
            <a:r>
              <a:t>🗣 מה לומר:</a:t>
            </a:r>
          </a:p>
          <a:p>
            <a:r>
              <a:t>שבעה שלבים, וכולם פשוטים.</a:t>
            </a:r>
          </a:p>
          <a:p>
            <a:r>
              <a:t>נבין במשפט אחד מה זה API ומה זה MCP. נעבור על מיילים בלי לפתוח את ג'ימייל. נבנה עוזר אישי שזוכר את העסק. נכיר סוכנים. נבנה אוטומציה ראשונה ב-Make. ונסיים ביום הצגות.</a:t>
            </a:r>
          </a:p>
          <a:p>
            <a:r>
              <a:t>והטבלה של הקורס נסגרת הערב, אז כל נקודה חשובה.</a:t>
            </a:r>
          </a:p>
          <a:p/>
          <a:p>
            <a:r>
              <a:t>➡️ מעבר: נתחיל בתמונה אחת שמסבירה הכול.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מודל פשוט: צ'אט, עוזר, אוטומציה, סוכן.</a:t>
            </a:r>
          </a:p>
          <a:p/>
          <a:p>
            <a:r>
              <a:t>🗣 מה לומר:</a:t>
            </a:r>
          </a:p>
          <a:p>
            <a:r>
              <a:t>ארבע מדרגות.</a:t>
            </a:r>
          </a:p>
          <a:p>
            <a:r>
              <a:t>מדרגה אחת: צ'אט. שואלים, הוא עונה, ואתם עושים את השאר. כאן היינו עד עכשיו.</a:t>
            </a:r>
          </a:p>
          <a:p>
            <a:r>
              <a:t>מדרגה שתיים: עוזר. הוא זוכר הוראות וקבצים, ולא צריך להסביר לו כל פעם מהתחלה.</a:t>
            </a:r>
          </a:p>
          <a:p>
            <a:r>
              <a:t>מדרגה שלוש: אוטומציה. "כשקורה משהו, תעשה משהו". רץ לבד, כל פעם.</a:t>
            </a:r>
          </a:p>
          <a:p>
            <a:r>
              <a:t>מדרגה ארבע: סוכן. נותנים לו מטרה, והוא מתכנן ופועל בעצמו.</a:t>
            </a:r>
          </a:p>
          <a:p>
            <a:r>
              <a:t>וככל שעולים, נותנים לו יותר שליטה. לכן גם הכללים חשובים יותר.</a:t>
            </a:r>
          </a:p>
          <a:p/>
          <a:p>
            <a:r>
              <a:t>➡️ מעבר: אבל איך AI בכלל מדבר עם אפליקציות? מלצר.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להבין API בשפה פשוטה, בעזרת דימוי המלצר.</a:t>
            </a:r>
          </a:p>
          <a:p/>
          <a:p>
            <a:r>
              <a:t>🗣 מה לומר:</a:t>
            </a:r>
          </a:p>
          <a:p>
            <a:r>
              <a:t>דמיינו מסעדה.</a:t>
            </a:r>
          </a:p>
          <a:p>
            <a:r>
              <a:t>אתם יושבים ליד השולחן. אתם לא נכנסים למטבח, ולא מדברים עם הטבח.</a:t>
            </a:r>
          </a:p>
          <a:p>
            <a:r>
              <a:t>יש מלצר. אתם אומרים לו מה אתם רוצים, הוא מעביר למטבח בשפה שהמטבח מבין, ומחזיר לכם מנה.</a:t>
            </a:r>
          </a:p>
          <a:p>
            <a:r>
              <a:t>API זה המלצר הזה, בין אפליקציות. אפליקציה אחת מבקשת "תביא לי את המיילים מהיום", ה-API מעביר לג'ימייל, וג'ימייל מחזיר רשימה.</a:t>
            </a:r>
          </a:p>
          <a:p>
            <a:r>
              <a:t>לא צריך לדעת לבשל. רק לדעת מה להזמין. כל אוטומציה שנראה היום עובדת ככה.</a:t>
            </a:r>
          </a:p>
          <a:p/>
          <a:p>
            <a:r>
              <a:t>➡️ מעבר: ויש עוד מילה שתשמעו הרבה: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להבין MCP כמטען אוניברסלי.</a:t>
            </a:r>
          </a:p>
          <a:p/>
          <a:p>
            <a:r>
              <a:t>🗣 מה לומר:</a:t>
            </a:r>
          </a:p>
          <a:p>
            <a:r>
              <a:t>זוכרים שפעם היה מטען אחר לכל טלפון? מגירה שלמה של כבלים.</a:t>
            </a:r>
          </a:p>
          <a:p>
            <a:r>
              <a:t>היום יש USB-C, שקע אחד שמתאים כמעט לכל דבר.</a:t>
            </a:r>
          </a:p>
          <a:p>
            <a:r>
              <a:t>MCP זה ה-USB-C של עולם ה-AI. סטנדרט אחד, שמאפשר לכל כלי AI להתחבר לכל אפליקציה: ג'ימייל, יומן, דרייב ועוד.</a:t>
            </a:r>
          </a:p>
          <a:p>
            <a:r>
              <a:t>אתם לא צריכים לדעת איך זה עובד. רק לדעת שכשאתם רואים בקלוד או בצ'אט ג'יפיטי "Connectors" או "Apps", זה הקסם הזה.</a:t>
            </a:r>
          </a:p>
          <a:p>
            <a:r>
              <a:t>במשפט אחד: API הוא המלצר. MCP הוא תפריט אחיד שכל מלצר מבין.</a:t>
            </a:r>
          </a:p>
          <a:p/>
          <a:p>
            <a:r>
              <a:t>➡️ מעבר: ועכשיו נראה את זה בעבודה, על המיילים שלכם.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7 דקות  |  🎯 שימוש חינמי ומעשי: סקירת מיילים וניסוח תשובות.</a:t>
            </a:r>
          </a:p>
          <a:p/>
          <a:p>
            <a:r>
              <a:t>🧰 הכנה מראש: בג'מיני: הגדרות &gt; Apps &gt; Gmail מופעל. מייל לדוגמה בתיבה.</a:t>
            </a:r>
          </a:p>
          <a:p/>
          <a:p>
            <a:r>
              <a:t>🗣 מה לומר:</a:t>
            </a:r>
          </a:p>
          <a:p>
            <a:r>
              <a:t>ג'מיני יכול לקרוא את הג'ימייל שלכם, בחינם.</a:t>
            </a:r>
          </a:p>
          <a:p>
            <a:r>
              <a:t>מפעילים פעם אחת: בהגדרות של ג'מיני, Apps, ומדליקים את Gmail.</a:t>
            </a:r>
          </a:p>
          <a:p>
            <a:r>
              <a:t>ואז כותבים @Gmail, ומבקשים. ההנחיה בצ'אט.</a:t>
            </a:r>
          </a:p>
          <a:p>
            <a:r>
              <a:t>(מדביקים בצ'אט, ומריצים על התיבה שלכם בשידור חי, אחרי שמסתירים מיילים פרטיים)</a:t>
            </a:r>
          </a:p>
          <a:p>
            <a:r>
              <a:t>תראו: טבלה עם שולח, נושא, מה דחוף ולמה. ולשלושה הכי דחופים, טיוטת תשובה בטון שלי.</a:t>
            </a:r>
          </a:p>
          <a:p>
            <a:r>
              <a:t>ומי שולח? אני. קוראת, מתקנת, מעתיקה ולוחצת שלח.</a:t>
            </a:r>
          </a:p>
          <a:p>
            <a:r>
              <a:t>זה הכלל של כל הערב: ה-AI מכין, אתם מאשרים.</a:t>
            </a:r>
          </a:p>
          <a:p>
            <a:r>
              <a:t>נסו עכשיו, שלוש דקות. מי שלא רוצה לחבר את המייל, יכול להדביק לג'מיני מייל אחד ולבקש תשובה.</a:t>
            </a:r>
          </a:p>
          <a:p/>
          <a:p>
            <a:r>
              <a:t>➡️ מעבר: עכשיו נבנה לכם עוזר שזוכר את העסק.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ראשון: עוזר אישי, שזוכר מי אתם ומה העסק שלכם.</a:t>
            </a:r>
          </a:p>
          <a:p/>
          <a:p>
            <a:r>
              <a:t>➡️ מעבר: בג'מיני קוראים לזה 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9 דקות  |  🎯 שכל משתתף יבנה Gem חינמי לעסק שלו.</a:t>
            </a:r>
          </a:p>
          <a:p/>
          <a:p>
            <a:r>
              <a:t>🗣 מה לומר:</a:t>
            </a:r>
          </a:p>
          <a:p>
            <a:r>
              <a:t>כמה פעמים כבר הדבקתם את האפיון של העסק? Gem פותר את זה.</a:t>
            </a:r>
          </a:p>
          <a:p>
            <a:r>
              <a:t>Gem הוא עוזר שמקבל הוראות פעם אחת, וזוכר אותן תמיד. בחינם.</a:t>
            </a:r>
          </a:p>
          <a:p>
            <a:r>
              <a:t>אחת: בג'מיני, Gems, ואז New Gem. נותנים שם, למשל "העוזר של העסק".</a:t>
            </a:r>
          </a:p>
          <a:p>
            <a:r>
              <a:t>שתיים: מדביקים הוראות. התבנית בצ'אט: מי אתם, האפיון, הטון, ואיך לכתוב הצעת מחיר.</a:t>
            </a:r>
          </a:p>
          <a:p>
            <a:r>
              <a:t>(מדביקים בצ'אט, ובונים Gem בשידור חי)</a:t>
            </a:r>
          </a:p>
          <a:p>
            <a:r>
              <a:t>שלוש: שומרים. ומעכשיו כותבים לו רק "הצעת מחיר", והוא יודע הכול.</a:t>
            </a:r>
          </a:p>
          <a:p>
            <a:r>
              <a:t>(מדגימים)</a:t>
            </a:r>
          </a:p>
          <a:p>
            <a:r>
              <a:t>אותו רעיון קיים גם בקלוד, שם קוראים לזה Skills ו-Projects, ובצ'אט ג'יפיטי, GPTs.</a:t>
            </a:r>
          </a:p>
          <a:p>
            <a:r>
              <a:t>עכשיו תורכם. שש דקות.</a:t>
            </a:r>
          </a:p>
          <a:p/>
          <a:p>
            <a:r>
              <a:t>➡️ מעבר: ויש גם משימות שרצות לבד, לפי שעון.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להכיר את רעיון התזמון, ולדעת שבחינם עושים את זה ב-Make.</a:t>
            </a:r>
          </a:p>
          <a:p/>
          <a:p>
            <a:r>
              <a:t>🗣 מה לומר:</a:t>
            </a:r>
          </a:p>
          <a:p>
            <a:r>
              <a:t>דמיינו שכל בוקר ב-8 מחכה לכם תדריך: שלושה מיילים דחופים, הפגישות של היום ומה להכין.</a:t>
            </a:r>
          </a:p>
          <a:p>
            <a:r>
              <a:t>או שכל ראשון מגיעה סקירה של חמש חדשות מהתחום שלכם.</a:t>
            </a:r>
          </a:p>
          <a:p>
            <a:r>
              <a:t>בג'מיני ובצ'אט ג'יפיטי כותבים "כל בוקר ב-8" בתוך ההנחיה, ומאשרים. בחלק מהחשבונות זה בתשלום, אז אני מראה.</a:t>
            </a:r>
          </a:p>
          <a:p>
            <a:r>
              <a:t>(מראים משימה מתוזמנת קיימת)</a:t>
            </a:r>
          </a:p>
          <a:p>
            <a:r>
              <a:t>ובחינם לגמרי? Make יודע להריץ כל דבר לפי שעון. ואליו נגיע עוד מעט.</a:t>
            </a:r>
          </a:p>
          <a:p/>
          <a:p>
            <a:r>
              <a:t>➡️ מעבר: עכשיו המדרגה הרביעית: סוכנים.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שני: סוכנים. רק להכיר, בלי לפתוח חשבון.</a:t>
            </a:r>
          </a:p>
          <a:p/>
          <a:p>
            <a:r>
              <a:t>➡️ מעבר: שלושה שכדאי להכיר.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להבין את ההיגיון של סוכן: לולאה של תכנון, פעולה ובדיקה.</a:t>
            </a:r>
          </a:p>
          <a:p/>
          <a:p>
            <a:r>
              <a:t>🗣 מה לומר:</a:t>
            </a:r>
          </a:p>
          <a:p>
            <a:r>
              <a:t>לפני שנכיר סוכנים, ההיגיון. מה ההבדל בין צ'אט לסוכן?</a:t>
            </a:r>
          </a:p>
          <a:p>
            <a:r>
              <a:t>צ'אט עושה סיבוב אחד: שאלתם, ענה, נגמר.</a:t>
            </a:r>
          </a:p>
          <a:p>
            <a:r>
              <a:t>סוכן מסתובב בלולאה. מקבל מטרה, למשל "תזמין לי טכנאי ליום שלישי".</a:t>
            </a:r>
          </a:p>
          <a:p>
            <a:r>
              <a:t>חושב: מה הצעד הבא? צריך לחפש טכנאי.</a:t>
            </a:r>
          </a:p>
          <a:p>
            <a:r>
              <a:t>פועל: משתמש בכלי, חיפוש.</a:t>
            </a:r>
          </a:p>
          <a:p>
            <a:r>
              <a:t>בודק: מצאתי שלושה. הצלחתי? עוד לא.</a:t>
            </a:r>
          </a:p>
          <a:p>
            <a:r>
              <a:t>וחוזר: מתכנן שוב, מתקשר, בודק ביומן, קובע. עד שהמטרה הושגה.</a:t>
            </a:r>
          </a:p>
          <a:p>
            <a:r>
              <a:t>זה כל ההבדל. ולכן סוכן חזק מאוד, וגם צריך הרשאות זהירות.</a:t>
            </a:r>
          </a:p>
          <a:p>
            <a:r>
              <a:t>שאלה לצ'אט: איזו משימה הייתם נותנים לסוכן, אם הייתם בטוחים שהוא לא יטעה?</a:t>
            </a:r>
          </a:p>
          <a:p/>
          <a:p>
            <a:r>
              <a:t>➡️ מעבר: והנה שלושה סוכנים שכבר קיימים.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 דקות  |  🎯 להכיר ברמת עיקרון את Dots, Grok Bot ו-Instinct, ולהבין את הסיכונים.</a:t>
            </a:r>
          </a:p>
          <a:p/>
          <a:p>
            <a:r>
              <a:t>🗣 מה לומר:</a:t>
            </a:r>
          </a:p>
          <a:p>
            <a:r>
              <a:t>שלושה סוכנים, כולם חדשים, וכולם בתשלום או בהזמנה. אז רק להכיר, ואני משתפת מסך עם דוגמאות.</a:t>
            </a:r>
          </a:p>
          <a:p>
            <a:r>
              <a:t>Dots של OpenAI: עוזר עם מחשב משלו בענן. אומרים לו "עקוב אחרי הלידים ותזכיר לי", והוא עושה.</a:t>
            </a:r>
          </a:p>
          <a:p>
            <a:r>
              <a:t>Grok Bot של xAI: מראים לו פעם אחת משימה בהקלטת מסך, והוא חוזר עליה לבד.</a:t>
            </a:r>
          </a:p>
          <a:p>
            <a:r>
              <a:t>Instinct: שולחים לו הודעה, "תזמין טכנאי ליום שלישי", והוא מתקשר ומסדר.</a:t>
            </a:r>
          </a:p>
          <a:p>
            <a:r>
              <a:t>מה משותף? נותנים להם מטרה, לא הוראות.</a:t>
            </a:r>
          </a:p>
          <a:p>
            <a:r>
              <a:t>ושימו לב למשבצת הצהובה: סוכן עם גישה למייל ולכרטיס אשראי? מתחילים מהרשאות קטנות, ובודקים כל פעולה.</a:t>
            </a:r>
          </a:p>
          <a:p/>
          <a:p>
            <a:r>
              <a:t>➡️ מעבר: ויש סוכנים שכותבים קוד.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 דקות  |  🎯 להבין במילים פשוטות איך סוכני קוד עובדים.</a:t>
            </a:r>
          </a:p>
          <a:p/>
          <a:p>
            <a:r>
              <a:t>🧰 הכנה מראש: סרטון ההסבר בעברית מוכן להפעלה (קובץ בתיקייה). בשיתוף מסך מסמנים "שיתוף צליל".</a:t>
            </a:r>
          </a:p>
          <a:p/>
          <a:p>
            <a:r>
              <a:t>🗣 מה לומר:</a:t>
            </a:r>
          </a:p>
          <a:p>
            <a:r>
              <a:t>Codex של OpenAI ו-Claude Code של Anthropic הם מתכנתים שעובדים בשבילכם.</a:t>
            </a:r>
          </a:p>
          <a:p>
            <a:r>
              <a:t>הם עובדים בארבעה שלבים: מקבלים משימה במילים, קוראים את הקבצים ומתכננים, כותבים ומריצים קוד ומתקנים שגיאות, ומחזירים לכם לאישור.</a:t>
            </a:r>
          </a:p>
          <a:p>
            <a:r>
              <a:t>סרטון של דקה שמסביר את זה.</a:t>
            </a:r>
          </a:p>
          <a:p>
            <a:r>
              <a:t>(מפעילים את הסרטון)</a:t>
            </a:r>
          </a:p>
          <a:p>
            <a:r>
              <a:t>אתם לא צריכים להיות מתכנתים. אבל כדאי לדעת שזה קיים, כי כך נבנים היום הרבה אתרים ואפליקציות.</a:t>
            </a:r>
          </a:p>
          <a:p/>
          <a:p>
            <a:r>
              <a:t>➡️ מעבר: ואפשר לבנות אפליקציה גם בלי לראות קוד בכלל.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לחבר לשאלון החי מהמפגש הראשון, ולתת רעיון לבית.</a:t>
            </a:r>
          </a:p>
          <a:p/>
          <a:p>
            <a:r>
              <a:t>🗣 מה לומר:</a:t>
            </a:r>
          </a:p>
          <a:p>
            <a:r>
              <a:t>זוכרים את השאלון החי מהמפגש הראשון? אמרתי לכם שלא תכנתתי אותו. תיארתי ל-AI במילים, ב-Lovable.</a:t>
            </a:r>
          </a:p>
          <a:p>
            <a:r>
              <a:t>מתארים את האפליקציה, ה-AI בונה מסכים ומאגר מידע, משפרים בשיחה, ומפרסמים בלחיצה.</a:t>
            </a:r>
          </a:p>
          <a:p>
            <a:r>
              <a:t>Lovable ו-Base44 נותנים קרדיטים חינם להתחלה. הקישורים בארגז הכלים.</a:t>
            </a:r>
          </a:p>
          <a:p>
            <a:r>
              <a:t>והרעיון לנסות בבית: טופס הזמנה ללקוחות, רשימת הזמנות, ואישור במייל. ההנחיה על המסך ובחוברת.</a:t>
            </a:r>
          </a:p>
          <a:p/>
          <a:p>
            <a:r>
              <a:t>➡️ מעבר: הפסקה קצרה.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 דקות  |  🎯 מנוחה, והכנה ל-Make.</a:t>
            </a:r>
          </a:p>
          <a:p/>
          <a:p>
            <a:r>
              <a:t>🗣 מה לומר:</a:t>
            </a:r>
          </a:p>
          <a:p>
            <a:r>
              <a:t>חמש דקות הפסקה. בינתיים, ודאו שאתם מחוברים ל-Make ולגוגל פורמס. מי שעוד לא פתח חשבון, זה הזמן. הקישור בצ'אט.</a:t>
            </a:r>
          </a:p>
          <a:p/>
          <a:p>
            <a:r>
              <a:t>🖐 פעולה: מדביקים בצ'אט את הקישור ל-Make ולגוגל פורמס.</a:t>
            </a:r>
          </a:p>
          <a:p/>
          <a:p>
            <a:r>
              <a:t>➡️ מעבר: ברוכים השבים. בונים את האוטומציה הראשונה.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שלישי, והכי מעשי: אוטומציה אמיתית, בחינם, בלי קוד.</a:t>
            </a:r>
          </a:p>
          <a:p/>
          <a:p>
            <a:r>
              <a:t>➡️ מעבר: קודם, איך Make חושב.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להבין את מבנה טריגר ופעולה.</a:t>
            </a:r>
          </a:p>
          <a:p/>
          <a:p>
            <a:r>
              <a:t>🏆 אפליקציית הקורס: פותחים את האתגר "אוטומציה ראשונה".</a:t>
            </a:r>
          </a:p>
          <a:p/>
          <a:p>
            <a:r>
              <a:t>🗣 מה לומר:</a:t>
            </a:r>
          </a:p>
          <a:p>
            <a:r>
              <a:t>כל אוטומציה בנויה משני חלקים.</a:t>
            </a:r>
          </a:p>
          <a:p>
            <a:r>
              <a:t>טריגר: משהו קורה. למשל, לקוח ממלא טופס.</a:t>
            </a:r>
          </a:p>
          <a:p>
            <a:r>
              <a:t>ופעולה: משהו נעשה. Make לוקח את הפרטים, שולח ללקוח מייל תודה, ושומר שורה בגיליון.</a:t>
            </a:r>
          </a:p>
          <a:p>
            <a:r>
              <a:t>במשפט: "כש... אז...".</a:t>
            </a:r>
          </a:p>
          <a:p>
            <a:r>
              <a:t>באפליקציה פתחתי אתגר: כתבו במשפט אחד אוטומציה שהייתם רוצים. "כש[טריגר], אז [פעולה]". הכי שימושית מנצחת.</a:t>
            </a:r>
          </a:p>
          <a:p/>
          <a:p>
            <a:r>
              <a:t>➡️ מעבר: ועכשיו בונים יחד.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20 דקות  |  🎯 שכל משתתף יפעיל אוטומציה חינמית אחת.</a:t>
            </a:r>
          </a:p>
          <a:p/>
          <a:p>
            <a:r>
              <a:t>🧰 הכנה מראש: דוגמה מוכנה מראש ב-Make לגיבוי. טופס גוגל לדוגמה.</a:t>
            </a:r>
          </a:p>
          <a:p/>
          <a:p>
            <a:r>
              <a:t>🗣 מה לומר:</a:t>
            </a:r>
          </a:p>
          <a:p>
            <a:r>
              <a:t>בונים יחד, צעד אחרי צעד. אני משתפת מסך ואתם אחריי.</a:t>
            </a:r>
          </a:p>
          <a:p>
            <a:r>
              <a:t>אחת: בגוגל פורמס, טופס "צור קשר": שם, מייל, ובמה אפשר לעזור.</a:t>
            </a:r>
          </a:p>
          <a:p>
            <a:r>
              <a:t>שתיים: ב-Make, Create scenario. הטריגר: Google Forms, Watch Responses. מחברים את החשבון.</a:t>
            </a:r>
          </a:p>
          <a:p>
            <a:r>
              <a:t>(מדגימים כל שלב, ומחכים שרובם יגיעו)</a:t>
            </a:r>
          </a:p>
          <a:p>
            <a:r>
              <a:t>שלוש: מוסיפים Gmail, Send an email. למי? למייל מהטופס. מה? "תודה שפנית! נחזור אליך תוך יום".</a:t>
            </a:r>
          </a:p>
          <a:p>
            <a:r>
              <a:t>ארבע: מוסיפים Google Sheets, Add a row. כל ליד נשמר בגיליון.</a:t>
            </a:r>
          </a:p>
          <a:p>
            <a:r>
              <a:t>חמש: Run once. ממלאים את הטופס בעצמכם... ותראו את המייל מגיע!</a:t>
            </a:r>
          </a:p>
          <a:p>
            <a:r>
              <a:t>(רגע הוואו: בודקים את המייל בשידור חי)</a:t>
            </a:r>
          </a:p>
          <a:p>
            <a:r>
              <a:t>מדליקים ON, והאוטומציה רצה לבד.</a:t>
            </a:r>
          </a:p>
          <a:p>
            <a:r>
              <a:t>נתקעתם? כתבו "עזרה" בצ'אט. ובונוס למתקדמים: מודול AI שמנסח תשובה אישית לכל פנייה.</a:t>
            </a:r>
          </a:p>
          <a:p/>
          <a:p>
            <a:r>
              <a:t>➡️ מעבר: ולפני שמשאירים את זה לרוץ, ארבעה כללים.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שימוש אחראי באוטומציות ובסוכנים.</a:t>
            </a:r>
          </a:p>
          <a:p/>
          <a:p>
            <a:r>
              <a:t>🗣 מה לומר:</a:t>
            </a:r>
          </a:p>
          <a:p>
            <a:r>
              <a:t>ארבעה כללים.</a:t>
            </a:r>
          </a:p>
          <a:p>
            <a:r>
              <a:t>אדם מאשר: טיוטה ולא שליחה, הצעה ולא תשלום.</a:t>
            </a:r>
          </a:p>
          <a:p>
            <a:r>
              <a:t>הרשאות קטנות: מחברים רק את מה שצריך.</a:t>
            </a:r>
          </a:p>
          <a:p>
            <a:r>
              <a:t>יומן פעולות: פעם בשבוע בודקים מה רץ ומה נכשל.</a:t>
            </a:r>
          </a:p>
          <a:p>
            <a:r>
              <a:t>ובלי סודות: סיסמאות ומספרי אשראי לא נכנסים להנחיות.</a:t>
            </a:r>
          </a:p>
          <a:p>
            <a:r>
              <a:t>וזוכרים את תיקון 13? פרטי לקוחות נשארים מוגנים, גם באוטומציה.</a:t>
            </a:r>
          </a:p>
          <a:p/>
          <a:p>
            <a:r>
              <a:t>➡️ מעבר: ועכשיו, הרגע שחיכינו לו: יום הצגות.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20 דקות  |  🎯 משתתפים מציגים את העסק שבנו לאורך הקורס.</a:t>
            </a:r>
          </a:p>
          <a:p/>
          <a:p>
            <a:r>
              <a:t>🏆 אפליקציית הקורס: פותחים הרשמה בלשונית "הגרלה", מגרילים מציגים, ואחר כך פותחים הצבעה.</a:t>
            </a:r>
          </a:p>
          <a:p/>
          <a:p>
            <a:r>
              <a:t>🗣 מה לומר:</a:t>
            </a:r>
          </a:p>
          <a:p>
            <a:r>
              <a:t>ארבעה מפגשים, עסק אחד. עכשיו מראים אותו.</a:t>
            </a:r>
          </a:p>
          <a:p>
            <a:r>
              <a:t>נרשמים באפליקציה, בלשונית "הגרלה", ומדביקים קישור לאחד התוצרים.</a:t>
            </a:r>
          </a:p>
          <a:p>
            <a:r>
              <a:t>(מחכים שתי דקות ומגרילים)</a:t>
            </a:r>
          </a:p>
          <a:p>
            <a:r>
              <a:t>דקה לכל מציג: מה העסק, איך נראה המותג, ומה עובד אצלו לבד.</a:t>
            </a:r>
          </a:p>
          <a:p>
            <a:r>
              <a:t>(מגרילים מציגים לפי הזמן, בערך 6 עד 8)</a:t>
            </a:r>
          </a:p>
          <a:p>
            <a:r>
              <a:t>ועכשיו הצבעה: העסק הכי מרשים של הקורס.</a:t>
            </a:r>
          </a:p>
          <a:p>
            <a:r>
              <a:t>(חושפים תוצאות)</a:t>
            </a:r>
          </a:p>
          <a:p/>
          <a:p>
            <a:r>
              <a:t>➡️ מעבר: וכל הכלים, במקום אחד.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לתת את כל הקישורים להעתקה.</a:t>
            </a:r>
          </a:p>
          <a:p/>
          <a:p>
            <a:r>
              <a:t>🗣 מה לומר:</a:t>
            </a:r>
          </a:p>
          <a:p>
            <a:r>
              <a:t>כל הכלים של היום, עם קישורים להעתקה. חלקם נותנים לכם קרדיטים חינם כשנרשמים דרכם.</a:t>
            </a:r>
          </a:p>
          <a:p>
            <a:r>
              <a:t>הם גם בחוברת, ובארגז הכלים באפליקציה, שנשארת פתוחה גם אחרי הקורס.</a:t>
            </a:r>
          </a:p>
          <a:p>
            <a:r>
              <a:t>(מדביקים את הקישורים בצ'אט)</a:t>
            </a:r>
          </a:p>
          <a:p/>
          <a:p>
            <a:r>
              <a:t>➡️ מעבר: בואו נסתכל רגע אחורה.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לסכם את המסע: להכיר, לכתוב, לראות, להפעיל.</a:t>
            </a:r>
          </a:p>
          <a:p/>
          <a:p>
            <a:r>
              <a:t>🗣 מה לומר:</a:t>
            </a:r>
          </a:p>
          <a:p>
            <a:r>
              <a:t>ארבעה מפגשים, ארבע שכבות.</a:t>
            </a:r>
          </a:p>
          <a:p>
            <a:r>
              <a:t>להכיר: הכלים, המודלים, ואיך AI חושב.</a:t>
            </a:r>
          </a:p>
          <a:p>
            <a:r>
              <a:t>לכתוב: הנחיות, מיילים ואפיון העסק.</a:t>
            </a:r>
          </a:p>
          <a:p>
            <a:r>
              <a:t>לראות: מותג, אפליקציה, מצגת, קול ווידאו.</a:t>
            </a:r>
          </a:p>
          <a:p>
            <a:r>
              <a:t>ולהפעיל: עוזר, אוטומציה וסוכנים.</a:t>
            </a:r>
          </a:p>
          <a:p>
            <a:r>
              <a:t>וההמלצה שלי מכאן: כל שבוע, משימה אחת שעוברת ל-AI. בעוד חצי שנה, העסק שלכם ייראה אחרת.</a:t>
            </a:r>
          </a:p>
          <a:p/>
          <a:p>
            <a:r>
              <a:t>➡️ מעבר: ושלושה דברים אחרונים.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סגירה חגיגית והכרזת אלופי הקורס.</a:t>
            </a:r>
          </a:p>
          <a:p/>
          <a:p>
            <a:r>
              <a:t>🏆 אפליקציית הקורס: משתפים את טבלת הקורס הסופית.</a:t>
            </a:r>
          </a:p>
          <a:p/>
          <a:p>
            <a:r>
              <a:t>🗣 מה לומר:</a:t>
            </a:r>
          </a:p>
          <a:p>
            <a:r>
              <a:t>שלושה דברים.</a:t>
            </a:r>
          </a:p>
          <a:p>
            <a:r>
              <a:t>AI מכין, אתם מחליטים.</a:t>
            </a:r>
          </a:p>
          <a:p>
            <a:r>
              <a:t>משימה שחוזרת שלוש פעמים? הגיע הזמן לאוטומציה.</a:t>
            </a:r>
          </a:p>
          <a:p>
            <a:r>
              <a:t>ולהמשיך לשחק. הכלים משתנים כל שבוע, הסקרנות נשארת.</a:t>
            </a:r>
          </a:p>
          <a:p>
            <a:r>
              <a:t>ועכשיו... אלופי הקורס!</a:t>
            </a:r>
          </a:p>
          <a:p>
            <a:r>
              <a:t>(משתפים את הטבלה הסופית ומכריזים על שלושת הראשונים)</a:t>
            </a:r>
          </a:p>
          <a:p>
            <a:r>
              <a:t>תודה ענקית לכולם. הייתם קבוצה מדהימה. ואל תשכחו לשלוח לי מה בניתם!</a:t>
            </a:r>
          </a:p>
          <a:p/>
          <a:p>
            <a:r>
              <a:t>➡️ מעבר: סוף הקורס.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דקות  |  🎯 לחגוג את המפגש האחרון, ולהציג את ההבטחה: AI שעושה, לא רק עונה.</a:t>
            </a:r>
          </a:p>
          <a:p/>
          <a:p>
            <a:r>
              <a:t>🧰 הכנה מראש: פותחים מראש: אפליקציית הקורס במסך המרצה, ג'מיני, Make, Google Forms, ג'ימייל. סרטון ההסבר על Codex ו-Claude Code מוכן להפעלה.</a:t>
            </a:r>
          </a:p>
          <a:p/>
          <a:p>
            <a:r>
              <a:t>🗣 מה לומר:</a:t>
            </a:r>
          </a:p>
          <a:p>
            <a:r>
              <a:t>ערב טוב, וברוכים הבאים למפגש האחרון!</a:t>
            </a:r>
          </a:p>
          <a:p>
            <a:r>
              <a:t>עד עכשיו ה-AI ענה לנו. כתבנו, הוא כתב. ביקשנו תמונה, קיבלנו.</a:t>
            </a:r>
          </a:p>
          <a:p>
            <a:r>
              <a:t>היום הוא מתחיל לעשות דברים בעצמו: לקרוא מיילים, לזכור את העסק שלכם, ולהפעיל דברים לבד.</a:t>
            </a:r>
          </a:p>
          <a:p>
            <a:r>
              <a:t>והכי חשוב: הכול בכלים חינמיים, ובלי לכתוב שורת קוד אחת.</a:t>
            </a:r>
          </a:p>
          <a:p>
            <a:r>
              <a:t>כתבו בצ'אט: איזו משימה הכי משעממת אתם עושים כל שבוע?</a:t>
            </a:r>
          </a:p>
          <a:p>
            <a:r>
              <a:t>(מקריאים כמה תשובות. "את זה נהפוך היום לאוטומטי")</a:t>
            </a:r>
          </a:p>
          <a:p/>
          <a:p>
            <a:r>
              <a:t>➡️ מעבר: קודם, מה חדש השבוע.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1-1.jpeg"/><Relationship Id="rId2" Type="http://schemas.openxmlformats.org/officeDocument/2006/relationships/image" Target="../media/s3-image-1-2.png"/><Relationship Id="rId3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7-1.png"/><Relationship Id="rId2" Type="http://schemas.openxmlformats.org/officeDocument/2006/relationships/image" Target="../media/s3-image-7-2.png"/><Relationship Id="rId3" Type="http://schemas.openxmlformats.org/officeDocument/2006/relationships/image" Target="../media/s3-image-7-1.png"/><Relationship Id="rId4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8-1.jpeg"/><Relationship Id="rId2" Type="http://schemas.openxmlformats.org/officeDocument/2006/relationships/image" Target="../media/s3-image-8-2.png"/><Relationship Id="rId3" Type="http://schemas.openxmlformats.org/officeDocument/2006/relationships/image" Target="../media/s3-image-8-3.svg"/><Relationship Id="rId4" Type="http://schemas.openxmlformats.org/officeDocument/2006/relationships/image" Target="../media/s3-image-8-4.png"/><Relationship Id="rId5" Type="http://schemas.openxmlformats.org/officeDocument/2006/relationships/image" Target="../media/s3-image-8-5.svg"/><Relationship Id="rId6" Type="http://schemas.openxmlformats.org/officeDocument/2006/relationships/image" Target="../media/s3-image-8-6.png"/><Relationship Id="rId7" Type="http://schemas.openxmlformats.org/officeDocument/2006/relationships/image" Target="../media/s3-image-8-7.svg"/><Relationship Id="rId8" Type="http://schemas.openxmlformats.org/officeDocument/2006/relationships/image" Target="../media/s3-image-8-8.png"/><Relationship Id="rId9" Type="http://schemas.openxmlformats.org/officeDocument/2006/relationships/image" Target="../media/s3-image-8-9.svg"/><Relationship Id="rId10" Type="http://schemas.openxmlformats.org/officeDocument/2006/relationships/image" Target="../media/s3-image-8-10.png"/><Relationship Id="rId1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00.xml"/></Relationships>
</file>

<file path=ppt/slides/_rels/slide2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2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2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6.xml"/></Relationships>
</file>

<file path=ppt/slides/_rels/slide2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7.xml"/></Relationships>
</file>

<file path=ppt/slides/_rels/slide2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2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9.xml"/></Relationships>
</file>

<file path=ppt/slides/_rels/slide2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20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20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2.xml"/></Relationships>
</file>

<file path=ppt/slides/_rels/slide20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20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20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5.xml"/></Relationships>
</file>

<file path=ppt/slides/_rels/slide20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20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7.xml"/></Relationships>
</file>

<file path=ppt/slides/_rels/slide20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8.xml"/></Relationships>
</file>

<file path=ppt/slides/_rels/slide20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20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20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20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2.xml"/></Relationships>
</file>

<file path=ppt/slides/_rels/slide20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20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20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139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שאתה כותב = מה שאתה מקבל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1262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שכבה שמוסיפים — התשובה משתפרת</a:t>
            </a:r>
            <a:endParaRPr lang="he-IL" sz="1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71812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8834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מה כותבים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מה מקבלים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רמה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גרועה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חלש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 + פרטים + כללים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טובה יותר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בינוני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597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 + פרטים + כללים + מטרה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שימושית ומדויקת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מנצח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890" y="5408315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שמוסיפים שכבות — התשובה משתפרת. 30 שניות של כתיבה = פער עצום בתוצאה.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11504821" y="5195689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90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חיה: בנייה שכבה-שכבה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62770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פגישה, ארבע הרצות — רואים את הפער בזמן אמת</a:t>
            </a:r>
            <a:endParaRPr lang="he-IL" sz="1850" dirty="0"/>
          </a:p>
        </p:txBody>
      </p:sp>
      <p:sp>
        <p:nvSpPr>
          <p:cNvPr id="4" name="Text 2"/>
          <p:cNvSpPr/>
          <p:nvPr/>
        </p:nvSpPr>
        <p:spPr>
          <a:xfrm>
            <a:off x="11152206" y="19533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0401" y="2258616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4"/>
          <p:cNvSpPr/>
          <p:nvPr/>
        </p:nvSpPr>
        <p:spPr>
          <a:xfrm>
            <a:off x="6190401" y="2403872"/>
            <a:ext cx="533982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— סכם לי את הפגישה.</a:t>
            </a:r>
            <a:endParaRPr lang="he-IL" sz="1850" dirty="0"/>
          </a:p>
        </p:txBody>
      </p:sp>
      <p:sp>
        <p:nvSpPr>
          <p:cNvPr id="7" name="Text 5"/>
          <p:cNvSpPr/>
          <p:nvPr/>
        </p:nvSpPr>
        <p:spPr>
          <a:xfrm>
            <a:off x="6190401" y="2824361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סיכום כללי וחסר</a:t>
            </a:r>
            <a:endParaRPr lang="he-IL" sz="1450" dirty="0"/>
          </a:p>
        </p:txBody>
      </p:sp>
      <p:sp>
        <p:nvSpPr>
          <p:cNvPr id="8" name="Text 6"/>
          <p:cNvSpPr/>
          <p:nvPr/>
        </p:nvSpPr>
        <p:spPr>
          <a:xfrm>
            <a:off x="5623380" y="19533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2258616"/>
            <a:ext cx="5339919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403872"/>
            <a:ext cx="5339919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הקשר — סכם פגישת לקוח שדנה בחריגה מתקציב. ציין מטרות ונקודות מרכזיות.</a:t>
            </a:r>
            <a:endParaRPr lang="he-IL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3131443"/>
            <a:ext cx="533991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ממוקד יותר</a:t>
            </a:r>
            <a:endParaRPr lang="he-IL" sz="1450" dirty="0"/>
          </a:p>
        </p:txBody>
      </p:sp>
      <p:sp>
        <p:nvSpPr>
          <p:cNvPr id="12" name="Text 10"/>
          <p:cNvSpPr/>
          <p:nvPr/>
        </p:nvSpPr>
        <p:spPr>
          <a:xfrm>
            <a:off x="11152206" y="370780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401" y="3994150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01" y="4158357"/>
            <a:ext cx="53398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פורמט — ...בטבלה: נושא | החלטה | אחראי | תאריך יעד.</a:t>
            </a:r>
            <a:endParaRPr lang="he-IL" sz="1850" dirty="0"/>
          </a:p>
        </p:txBody>
      </p:sp>
      <p:sp>
        <p:nvSpPr>
          <p:cNvPr id="15" name="Text 13"/>
          <p:cNvSpPr/>
          <p:nvPr/>
        </p:nvSpPr>
        <p:spPr>
          <a:xfrm>
            <a:off x="6190401" y="4885928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מוכן לשימוש</a:t>
            </a:r>
            <a:endParaRPr lang="he-IL" sz="1450" dirty="0"/>
          </a:p>
        </p:txBody>
      </p:sp>
      <p:sp>
        <p:nvSpPr>
          <p:cNvPr id="16" name="Text 14"/>
          <p:cNvSpPr/>
          <p:nvPr/>
        </p:nvSpPr>
        <p:spPr>
          <a:xfrm>
            <a:off x="5623380" y="370780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013101"/>
            <a:ext cx="5339919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158357"/>
            <a:ext cx="533991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קהל — ...לשליחה למנהל הפרויקט שלא היה בפגישה.</a:t>
            </a:r>
            <a:endParaRPr lang="he-IL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4578846"/>
            <a:ext cx="533991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מוכן לשליחה</a:t>
            </a:r>
            <a:endParaRPr lang="he-IL" sz="1450" dirty="0"/>
          </a:p>
        </p:txBody>
      </p:sp>
      <p:sp>
        <p:nvSpPr>
          <p:cNvPr id="20" name="Shape 18"/>
          <p:cNvSpPr/>
          <p:nvPr/>
        </p:nvSpPr>
        <p:spPr>
          <a:xfrm>
            <a:off x="661475" y="5448102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183A13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690394"/>
            <a:ext cx="236234" cy="18901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6138" y="5722144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מוסיף שכבה — ורואים את התשובה משתפרת בזמן אמת.</a:t>
            </a:r>
            <a:endParaRPr lang="he-IL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258689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התרגיל המרכזי (20 דקות)</a:t>
            </a:r>
            <a:endParaRPr lang="he-IL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9328" y="2222500"/>
            <a:ext cx="189007" cy="18901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04458" y="2461716"/>
            <a:ext cx="3053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2"/>
          <p:cNvSpPr/>
          <p:nvPr/>
        </p:nvSpPr>
        <p:spPr>
          <a:xfrm>
            <a:off x="3904458" y="2606973"/>
            <a:ext cx="3053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כתיבה אישית</a:t>
            </a:r>
            <a:endParaRPr lang="he-IL" sz="1850" dirty="0"/>
          </a:p>
        </p:txBody>
      </p:sp>
      <p:sp>
        <p:nvSpPr>
          <p:cNvPr id="7" name="Text 3"/>
          <p:cNvSpPr/>
          <p:nvPr/>
        </p:nvSpPr>
        <p:spPr>
          <a:xfrm>
            <a:off x="3904458" y="3027462"/>
            <a:ext cx="3053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משתתף כותב 3 הנחיות אמיתיות מהעבודה שלו לפי הנוסחה, מריץ ומשפר פעם אחת.</a:t>
            </a:r>
            <a:endParaRPr lang="he-IL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6444" y="2222500"/>
            <a:ext cx="189007" cy="1890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61475" y="2480667"/>
            <a:ext cx="3053976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5"/>
          <p:cNvSpPr/>
          <p:nvPr/>
        </p:nvSpPr>
        <p:spPr>
          <a:xfrm>
            <a:off x="661475" y="2606973"/>
            <a:ext cx="305397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בזוגות</a:t>
            </a:r>
            <a:endParaRPr lang="he-IL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3027462"/>
            <a:ext cx="305397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מציג לשכן את הלפני-אחרי.</a:t>
            </a:r>
            <a:endParaRPr lang="he-IL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9328" y="4123432"/>
            <a:ext cx="189007" cy="18901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61475" y="4381599"/>
            <a:ext cx="629686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8"/>
          <p:cNvSpPr/>
          <p:nvPr/>
        </p:nvSpPr>
        <p:spPr>
          <a:xfrm>
            <a:off x="661475" y="4545707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בנק ההנחיות האישי</a:t>
            </a:r>
            <a:endParaRPr lang="he-IL" sz="1850" dirty="0"/>
          </a:p>
        </p:txBody>
      </p:sp>
      <p:sp>
        <p:nvSpPr>
          <p:cNvPr id="15" name="Text 9"/>
          <p:cNvSpPr/>
          <p:nvPr/>
        </p:nvSpPr>
        <p:spPr>
          <a:xfrm>
            <a:off x="661475" y="4966196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מסמך שמור – כל הנחיה שעבדה נכנסת פנימה. תוך חודש יש לכם ספריית עבודה משלכם.</a:t>
            </a:r>
            <a:endParaRPr lang="he-IL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967"/>
            <a:ext cx="10868745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500" b="1" spc="-71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בית</a:t>
            </a:r>
            <a:endParaRPr lang="he-IL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734" y="1491952"/>
            <a:ext cx="3508486" cy="2236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67980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7211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בנו 5 הנחיות לבנק שלכם</a:t>
            </a:r>
            <a:endParaRPr lang="he-IL" sz="1750" dirty="0"/>
          </a:p>
        </p:txBody>
      </p:sp>
      <p:sp>
        <p:nvSpPr>
          <p:cNvPr id="6" name="Text 3"/>
          <p:cNvSpPr/>
          <p:nvPr/>
        </p:nvSpPr>
        <p:spPr>
          <a:xfrm>
            <a:off x="8227211" y="2608262"/>
            <a:ext cx="3097532" cy="914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אספו הנחיות שעובדות. הגדירו מראש איפה נשמר הבנק (Notion / Google Docs / תיקייה) — בלי מיקום קבוע, זה יישאר סיסמה.</a:t>
            </a:r>
            <a:endParaRPr lang="he-IL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605" y="1491952"/>
            <a:ext cx="3508486" cy="22365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7851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47082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אחת לפחות עם תפקיד</a:t>
            </a:r>
            <a:endParaRPr lang="he-IL" sz="1750" dirty="0"/>
          </a:p>
        </p:txBody>
      </p:sp>
      <p:sp>
        <p:nvSpPr>
          <p:cNvPr id="10" name="Text 6"/>
          <p:cNvSpPr/>
          <p:nvPr/>
        </p:nvSpPr>
        <p:spPr>
          <a:xfrm>
            <a:off x="4547082" y="2608262"/>
            <a:ext cx="3097532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בניסוח "אתה..." כדי לתת לכלי תפקיד ברור.</a:t>
            </a:r>
            <a:endParaRPr lang="he-IL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491952"/>
            <a:ext cx="3508486" cy="22365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07721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66952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את הטובה ביותר</a:t>
            </a:r>
            <a:endParaRPr lang="he-IL" sz="1750" dirty="0"/>
          </a:p>
        </p:txBody>
      </p:sp>
      <p:sp>
        <p:nvSpPr>
          <p:cNvPr id="14" name="Text 9"/>
          <p:cNvSpPr/>
          <p:nvPr/>
        </p:nvSpPr>
        <p:spPr>
          <a:xfrm>
            <a:off x="866952" y="2608262"/>
            <a:ext cx="3097532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למפגש הבא – שלושה מציגים ייבחרו להציג את ההנחיה הטובה ביותר שלהם.</a:t>
            </a:r>
            <a:endParaRPr lang="he-IL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00190"/>
            <a:ext cx="10868745" cy="15504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7851" y="4029869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66952" y="4620716"/>
            <a:ext cx="1045779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גם כישלון אחד</a:t>
            </a:r>
            <a:endParaRPr lang="he-IL" sz="1750" dirty="0"/>
          </a:p>
        </p:txBody>
      </p:sp>
      <p:sp>
        <p:nvSpPr>
          <p:cNvPr id="18" name="Text 12"/>
          <p:cNvSpPr/>
          <p:nvPr/>
        </p:nvSpPr>
        <p:spPr>
          <a:xfrm>
            <a:off x="866952" y="5016500"/>
            <a:ext cx="10457792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שניסיתם ועדיין לא עבדה. זה חומר הגלם הכי טוב למפגש הבא.</a:t>
            </a:r>
            <a:endParaRPr lang="he-IL" sz="1400" dirty="0"/>
          </a:p>
        </p:txBody>
      </p:sp>
      <p:sp>
        <p:nvSpPr>
          <p:cNvPr id="19" name="Shape 13"/>
          <p:cNvSpPr/>
          <p:nvPr/>
        </p:nvSpPr>
        <p:spPr>
          <a:xfrm>
            <a:off x="661475" y="5643860"/>
            <a:ext cx="10868745" cy="651073"/>
          </a:xfrm>
          <a:prstGeom prst="roundRect">
            <a:avLst>
              <a:gd name="adj" fmla="val 11622"/>
            </a:avLst>
          </a:prstGeom>
          <a:solidFill>
            <a:srgbClr val="002A8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552" y="5861546"/>
            <a:ext cx="225122" cy="1800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7167" y="5860455"/>
            <a:ext cx="1071297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נתראה במפגש הבא עם הנחיות מנצחות! </a:t>
            </a:r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endParaRPr lang="he-IL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34045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3: מההנחיה אל השגרה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623913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מציגים — ההנחיה הכי טובה מהבנק</a:t>
            </a:r>
            <a:endParaRPr lang="he-IL" sz="1850" dirty="0"/>
          </a:p>
        </p:txBody>
      </p:sp>
      <p:sp>
        <p:nvSpPr>
          <p:cNvPr id="5" name="Text 2"/>
          <p:cNvSpPr/>
          <p:nvPr/>
        </p:nvSpPr>
        <p:spPr>
          <a:xfrm>
            <a:off x="4623776" y="2214463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גם: כישלון אחד מהבית. שואלים: חסר מי, מה, או איך?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672755"/>
            <a:ext cx="6296860" cy="944860"/>
          </a:xfrm>
          <a:prstGeom prst="roundRect">
            <a:avLst>
              <a:gd name="adj" fmla="val 8402"/>
            </a:avLst>
          </a:prstGeom>
          <a:solidFill>
            <a:srgbClr val="002A8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2915047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2908995"/>
            <a:ext cx="549360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2: למדנו את הנוסחה. היום — מדביקים אותה על העבודה האמיתית שלכם.</a:t>
            </a:r>
            <a:endParaRPr lang="he-IL" sz="1450" dirty="0"/>
          </a:p>
        </p:txBody>
      </p:sp>
      <p:sp>
        <p:nvSpPr>
          <p:cNvPr id="9" name="Text 5"/>
          <p:cNvSpPr/>
          <p:nvPr/>
        </p:nvSpPr>
        <p:spPr>
          <a:xfrm>
            <a:off x="4623776" y="3830241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מקצוע, לא תבנית אחת.</a:t>
            </a:r>
            <a:endParaRPr lang="he-IL" sz="1450" dirty="0"/>
          </a:p>
        </p:txBody>
      </p:sp>
      <p:sp>
        <p:nvSpPr>
          <p:cNvPr id="10" name="Shape 6"/>
          <p:cNvSpPr/>
          <p:nvPr/>
        </p:nvSpPr>
        <p:spPr>
          <a:xfrm>
            <a:off x="8476343" y="4288532"/>
            <a:ext cx="3053877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4400" y="4496594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הנחיות שמורות בבנק</a:t>
            </a:r>
            <a:endParaRPr lang="he-IL" sz="1850" dirty="0"/>
          </a:p>
        </p:txBody>
      </p:sp>
      <p:sp>
        <p:nvSpPr>
          <p:cNvPr id="12" name="Shape 8"/>
          <p:cNvSpPr/>
          <p:nvPr/>
        </p:nvSpPr>
        <p:spPr>
          <a:xfrm>
            <a:off x="5233360" y="4288532"/>
            <a:ext cx="3053976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41417" y="4496594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 אחד ביד</a:t>
            </a:r>
            <a:endParaRPr lang="he-IL" sz="1850" dirty="0"/>
          </a:p>
        </p:txBody>
      </p:sp>
      <p:sp>
        <p:nvSpPr>
          <p:cNvPr id="14" name="Shape 10"/>
          <p:cNvSpPr/>
          <p:nvPr/>
        </p:nvSpPr>
        <p:spPr>
          <a:xfrm>
            <a:off x="5233360" y="5200749"/>
            <a:ext cx="6296860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41417" y="5408811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ברור מתי מחליפים כלי</a:t>
            </a:r>
            <a:endParaRPr lang="he-IL" sz="1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מ־40 עמודים למוכנות ב־10 דקות</a:t>
            </a:r>
            <a:endParaRPr lang="he-IL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21345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29" y="992188"/>
            <a:ext cx="118067" cy="9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865" y="992188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מברק אחד. שלוש הודעות באותו צ'אט — שיחה, לא מברק</a:t>
            </a:r>
            <a:endParaRPr lang="he-IL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203523"/>
            <a:ext cx="10868745" cy="4890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2069" y="1459569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1850" dirty="0"/>
          </a:p>
        </p:txBody>
      </p:sp>
      <p:sp>
        <p:nvSpPr>
          <p:cNvPr id="8" name="Text 4"/>
          <p:cNvSpPr/>
          <p:nvPr/>
        </p:nvSpPr>
        <p:spPr>
          <a:xfrm>
            <a:off x="7552069" y="1848862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נקודות מרכזיות מתוך המסמך</a:t>
            </a:r>
            <a:endParaRPr lang="he-IL" sz="1450" dirty="0"/>
          </a:p>
        </p:txBody>
      </p:sp>
      <p:sp>
        <p:nvSpPr>
          <p:cNvPr id="9" name="Text 5"/>
          <p:cNvSpPr/>
          <p:nvPr/>
        </p:nvSpPr>
        <p:spPr>
          <a:xfrm>
            <a:off x="5137988" y="5127810"/>
            <a:ext cx="191245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</a:t>
            </a:r>
            <a:endParaRPr lang="he-IL" sz="1850" dirty="0"/>
          </a:p>
        </p:txBody>
      </p:sp>
      <p:sp>
        <p:nvSpPr>
          <p:cNvPr id="10" name="Text 6"/>
          <p:cNvSpPr/>
          <p:nvPr/>
        </p:nvSpPr>
        <p:spPr>
          <a:xfrm>
            <a:off x="5137988" y="5517104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שאלות חכמות לשאול בפגישה</a:t>
            </a:r>
            <a:endParaRPr lang="he-IL" sz="1450" dirty="0"/>
          </a:p>
        </p:txBody>
      </p:sp>
      <p:sp>
        <p:nvSpPr>
          <p:cNvPr id="11" name="Text 7"/>
          <p:cNvSpPr/>
          <p:nvPr/>
        </p:nvSpPr>
        <p:spPr>
          <a:xfrm>
            <a:off x="2817961" y="1422991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סיכונים</a:t>
            </a:r>
            <a:endParaRPr lang="he-IL" sz="1850" dirty="0"/>
          </a:p>
        </p:txBody>
      </p:sp>
      <p:sp>
        <p:nvSpPr>
          <p:cNvPr id="12" name="Text 8"/>
          <p:cNvSpPr/>
          <p:nvPr/>
        </p:nvSpPr>
        <p:spPr>
          <a:xfrm>
            <a:off x="2817961" y="1812284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נקודות במסמך שעלולות לפעול לרעתך</a:t>
            </a:r>
            <a:endParaRPr lang="he-IL" sz="1450" dirty="0"/>
          </a:p>
        </p:txBody>
      </p:sp>
      <p:sp>
        <p:nvSpPr>
          <p:cNvPr id="13" name="Text 9"/>
          <p:cNvSpPr/>
          <p:nvPr/>
        </p:nvSpPr>
        <p:spPr>
          <a:xfrm>
            <a:off x="51890" y="6200676"/>
            <a:ext cx="11336649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 אני [תפקיד], הפגישה בעוד שעה, אני לא מומחית למסמך הזה</a:t>
            </a:r>
            <a:endParaRPr lang="he-IL" sz="700" dirty="0"/>
          </a:p>
        </p:txBody>
      </p:sp>
      <p:sp>
        <p:nvSpPr>
          <p:cNvPr id="14" name="Shape 10"/>
          <p:cNvSpPr/>
          <p:nvPr/>
        </p:nvSpPr>
        <p:spPr>
          <a:xfrm>
            <a:off x="11517520" y="6147594"/>
            <a:ext cx="12700" cy="19833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61475" y="6399014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6469856"/>
            <a:ext cx="118067" cy="94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8865" y="6469856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כלי: הקובץ בתוך Claude. עובדה חיצונית → Perplexity, ואז חזרה</a:t>
            </a:r>
            <a:endParaRPr lang="he-IL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84808"/>
            <a:ext cx="6296860" cy="57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450" b="1" spc="-70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כלי כתיבה — מתי כל אחד</a:t>
            </a:r>
            <a:endParaRPr lang="he-IL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09812"/>
            <a:ext cx="443001" cy="4430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84021" y="1509812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ChatGPT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884021" y="1897360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ניסוח, כיוונים, סיבוב שני. אין קובץ כבד</a:t>
            </a:r>
            <a:endParaRPr lang="he-IL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452687"/>
            <a:ext cx="443001" cy="4430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84021" y="2452687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Claude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884021" y="2840236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מסמך ארוך, דיוק על מה שכתוב בקובץ</a:t>
            </a:r>
            <a:endParaRPr lang="he-IL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395563"/>
            <a:ext cx="443001" cy="4430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84021" y="3395563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Gemini (Google)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884021" y="3783112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ב־Gmail / Docs / Drive — לא מעתיקים החוצה</a:t>
            </a:r>
            <a:endParaRPr lang="he-IL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338439"/>
            <a:ext cx="443001" cy="4430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84021" y="4338439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Copilot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5884021" y="4725988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ב־Word / Outlook / Excel, ויש רישיון. אין רישיון — לא השקף הזה</a:t>
            </a:r>
            <a:endParaRPr lang="he-IL" sz="1350" dirty="0"/>
          </a:p>
        </p:txBody>
      </p:sp>
      <p:sp>
        <p:nvSpPr>
          <p:cNvPr id="16" name="Text 9"/>
          <p:cNvSpPr/>
          <p:nvPr/>
        </p:nvSpPr>
        <p:spPr>
          <a:xfrm>
            <a:off x="4623776" y="5135959"/>
            <a:ext cx="6906444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נשארים באותו צ'אט עד שהמשימה נגמרה. מחליפים כלי רק כשהמשימה התחלפה</a:t>
            </a:r>
            <a:endParaRPr lang="he-IL" sz="1350" dirty="0"/>
          </a:p>
        </p:txBody>
      </p:sp>
      <p:sp>
        <p:nvSpPr>
          <p:cNvPr id="17" name="Shape 10"/>
          <p:cNvSpPr/>
          <p:nvPr/>
        </p:nvSpPr>
        <p:spPr>
          <a:xfrm>
            <a:off x="5233360" y="5545931"/>
            <a:ext cx="6296860" cy="627162"/>
          </a:xfrm>
          <a:prstGeom prst="roundRect">
            <a:avLst>
              <a:gd name="adj" fmla="val 11867"/>
            </a:avLst>
          </a:prstGeom>
          <a:solidFill>
            <a:srgbClr val="002A80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0561" y="5759946"/>
            <a:ext cx="221451" cy="1772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99627" y="5756275"/>
            <a:ext cx="6153393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סודי: כלי ארגוני, או מוחקים שמות ומספרים לפני ההעלאה</a:t>
            </a:r>
            <a:endParaRPr lang="he-IL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תנו לו חומר לעבוד איתו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הנחיה טובה + חומר אמיתי = תוצאה מדויקת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3660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הדבקת טקסט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מדביקים מייל, תמלול או מסמך: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"סכם ב-3 נקודות וכתוב טיוטת תשובה."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8756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קובץ מצורף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PDF, וורד או אקסל: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"מה שלושת הסיכונים בחוזה המצורף?"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93852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תמונה או צילום מסך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קבלה, לוח, גרף או פתק: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"הפוך את הצילום הזה לטבלה מסודרת."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32120"/>
            <a:ext cx="10872216" cy="64008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32120"/>
            <a:ext cx="1041501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⚠️  לפני שמעלים: מוחקים שמות, מספרי זהות ופרטי לקוחות. זוכרים את תיקון 13?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טריק: תנו ל-AI לשפר את ההנחיה שלכם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הוא יודע בדיוק מה הוא צריך לשמוע. פשוט תשאלו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52804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כותבים הנחיה רגילה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"כתוב פוסט על הסדנה שלי"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246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77900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מבקשים לשפר אותה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"שפר את ההנחיה הזו כדי שאקבל תוצאה מדויקת. שאל אותי מה חסר."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46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02996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עונים ומריצים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מקבלים הנחיה מקצועית, ומריצים אותה בשיחה חדשה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49240"/>
            <a:ext cx="10872216" cy="8229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968" y="5349240"/>
            <a:ext cx="10415016" cy="8229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💡  שימו לב: ההנחיה המשופרת היא בדיוק החומר לבנק ההנחיות שלכם. שומרים, ומשתמשים שוב.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התבנית: הנחיה בשש שורות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מעתיקים, ממלאים את הסוגריים, ומריצים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10872216" cy="35204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646920" y="202996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46920" y="202996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תפקיד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אתה [יועץ / עורך / מורה] מנוסה.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57860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46920" y="257860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הקשר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אני [מי אני, ומה המצב].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312724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46920" y="312724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משימה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אני צריך [מה בדיוק, ולמי].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67588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46920" y="3675887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פורמט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7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התוצאה: [מייל / טבלה / 5 נקודות], באורך [...].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42245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46920" y="422452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גבולות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בלי [הקדמה / סימני קריאה / מונחים מקצועיים].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77316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46920" y="477316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דוגמה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7316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הנה דוגמה לסגנון שאני אוהב: [...]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📌  התבנית נשלחת עכשיו בצ'אט. שמרו אותה: זו ההנחיה הראשונה בבנק שלכם.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🔍 נחשו את ההנחיה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זה מה שה-AI כתב. איזו הנחיה הובילה לזה?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6958584" cy="342900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46320" y="208483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A9B4C6"/>
                </a:solidFill>
                <a:latin typeface="Arial"/>
                <a:cs typeface="Arial"/>
              </a:rPr>
              <a:t>💬  התשובה של ה-AI: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606040"/>
            <a:ext cx="6400800" cy="2651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שלושה רעיונות לארוחת ערב טבעונית לזוג, עד 20 דקות הכנה:</a:t>
            </a:r>
          </a:p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1. פסטה עם עגבניות שרי, שום ובזיליקום</a:t>
            </a:r>
          </a:p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2. טורטייה עם חומוס וירקות קלויים</a:t>
            </a:r>
          </a:p>
          <a:p>
            <a:pPr rtl="1" algn="r" marL="0" indent="0">
              <a:lnSpc>
                <a:spcPct val="108000"/>
              </a:lnSpc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3. מוקפץ טופו עם אורז מוכן ובוטנים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657600" cy="34290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EBEDF0"/>
                </a:solidFill>
                <a:latin typeface="Arial"/>
                <a:cs typeface="Arial"/>
              </a:rPr>
              <a:t>🕵️  רמזים לחפש: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מי הקהל?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כמה פריטים?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איזו מגבלה?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איזה פורמט?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✍️  כתבו במשחק או בצ'אט את ההנחיה שלדעתכם יצרה את זה. הכי קרובה מנצחת.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🎯 כרטיסי משימה למעבדה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בחרו משימה, או הביאו משימה אמיתית משלכם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99064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גבייה בנימוס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מייל ללקוח שמאחר 45 יום בתשלום של 3,200 ₪. אדיב, אבל ברור.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239512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סיכום פגישה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הפכו את תמליל הפגישה (בצ'אט) לטבלה: נושא, החלטה, אחראי, תאריך.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799064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פוסט לעסק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פוסט לאינסטגרם על מבצע סוף עונה. שלוש גרסאות בשלושה טונים.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239512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השוואת הצעות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טבלת השוואה בין שלוש הצעות מחיר (בצ'אט), עם המלצה מנומקת.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⏱️  15 דקות בחדרי עבודה. בסוף מדביקים במשחק את ההנחיה הכי טובה, לפני ואחרי.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0999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AI בסיסי למתחילים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99866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4: העסק שלכם עובד לבד</a:t>
            </a:r>
            <a:endParaRPr lang="he-IL" sz="1850" dirty="0"/>
          </a:p>
        </p:txBody>
      </p:sp>
      <p:sp>
        <p:nvSpPr>
          <p:cNvPr id="5" name="Text 2"/>
          <p:cNvSpPr/>
          <p:nvPr/>
        </p:nvSpPr>
        <p:spPr>
          <a:xfrm>
            <a:off x="4928568" y="3490416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אוטומציות, סוכנים, וקוד בלי לכתוב קוד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948708"/>
            <a:ext cx="6296860" cy="699195"/>
          </a:xfrm>
          <a:prstGeom prst="roundRect">
            <a:avLst>
              <a:gd name="adj" fmla="val 11354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19100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8024" y="4184948"/>
            <a:ext cx="610319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ה-AI מפסיק רק לענות, ומתחיל לעשות. ואנחנו מסיימים ביום הצגות.</a:t>
            </a:r>
            <a:endParaRPr lang="he-IL" sz="1450" dirty="0"/>
          </a:p>
        </p:txBody>
      </p:sp>
      <p:sp>
        <p:nvSpPr>
          <p:cNvPr id="9" name="TextBox 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📰 מה חדש השבוע ב-AI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מה קרה בעולם ה-AI מאז שנפגשנו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457200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AC496"/>
                </a:solidFill>
                <a:latin typeface="Arial"/>
                <a:cs typeface="Arial"/>
              </a:rPr>
              <a:t>OpenAI · 29.9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4688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10000"/>
              </a:lnSpc>
              <a:buNone/>
            </a:pPr>
            <a:r>
              <a:rPr sz="2400" b="1" i="0" lang="he-IL">
                <a:solidFill>
                  <a:srgbClr val="F2F5FA"/>
                </a:solidFill>
                <a:latin typeface="Arial"/>
                <a:cs typeface="Arial"/>
              </a:rPr>
              <a:t>Dots: עמית עבודה דיגיטלי שעובד תמיד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79476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0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סוכן עם מחשב משלו, זיכרון וגישה לאפליקציות. ממשיך במשימה גם כשאתם ישנים. היום נבין איך זה עובד.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874519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29800" y="1874519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Instinct · 28.9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74519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סוכן אישי שמזמין בשבילכם גייס מיליארד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96896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29800" y="2596896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xAI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596896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Grok Bot: סוכן שלומד משימה מהקלטת מסך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3319272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29800" y="3319272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Meta · 23.9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319272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Muse: סוכן חינמי שממלא טפסים ושולח מיילים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041648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29800" y="4041648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ארה"ב · 30.9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041648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ענקיות ה-AI חתמו על אמנת בטיחות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4764024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29800" y="4764024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קליפורניה · 30.9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764024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חוק ראשון: אדם מאשר, לא האלגוריתם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💬  כתבו בצ'אט: איזו מהחדשות הכי מסקרנת אתכם? על המנצחת נדבר דקה.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מה מחכה לנו היום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מצ'אט שעונה, לעוזר שעובד בשבילכם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1874519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9202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איך AI מדבר עם אפליקציות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9476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250" b="0" i="0" lang="he-IL">
                <a:solidFill>
                  <a:srgbClr val="6296FF"/>
                </a:solidFill>
                <a:latin typeface="Arial"/>
                <a:cs typeface="Arial"/>
              </a:rPr>
              <a:t>API ו-MCP בשפה פשוטה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45952" y="242316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4688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מיילים בלי לפתוח את ג'ימייל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963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250" b="0" i="0" lang="he-IL">
                <a:solidFill>
                  <a:srgbClr val="6296FF"/>
                </a:solidFill>
                <a:latin typeface="Arial"/>
                <a:cs typeface="Arial"/>
              </a:rPr>
              <a:t>ג'מיני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5952" y="297180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עוזר שזוכר אתכם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0449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250" b="0" i="0" lang="he-IL">
                <a:solidFill>
                  <a:srgbClr val="6296FF"/>
                </a:solidFill>
                <a:latin typeface="Arial"/>
                <a:cs typeface="Arial"/>
              </a:rPr>
              <a:t>Gem בג'מיני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5952" y="3520439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5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משימות שרצות לבד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9359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250" b="0" i="0" lang="he-IL">
                <a:solidFill>
                  <a:srgbClr val="6296FF"/>
                </a:solidFill>
                <a:latin typeface="Arial"/>
                <a:cs typeface="Arial"/>
              </a:rPr>
              <a:t>תזמון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45952" y="4069079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79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סוכנים ומתכנתים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142231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250" b="0" i="0" lang="he-IL">
                <a:solidFill>
                  <a:srgbClr val="6296FF"/>
                </a:solidFill>
                <a:latin typeface="Arial"/>
                <a:cs typeface="Arial"/>
              </a:rPr>
              <a:t>Dots, Grok Bot, Codex, Claude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45952" y="4617720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634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האוטומציה הראשונה שלכם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6908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250" b="0" i="0" lang="he-IL">
                <a:solidFill>
                  <a:srgbClr val="6296FF"/>
                </a:solidFill>
                <a:latin typeface="Arial"/>
                <a:cs typeface="Arial"/>
              </a:rPr>
              <a:t>Make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045952" y="5166359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יום הצגות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2395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250" b="0" i="0" lang="he-IL">
                <a:solidFill>
                  <a:srgbClr val="6296FF"/>
                </a:solidFill>
                <a:latin typeface="Arial"/>
                <a:cs typeface="Arial"/>
              </a:rPr>
              <a:t>העסק שלכם, מתחילתו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1874519"/>
            <a:ext cx="329184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20574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F2F5FA"/>
                </a:solidFill>
                <a:latin typeface="Arial"/>
                <a:cs typeface="Arial"/>
              </a:rPr>
              <a:t>🎯 יוצאים עם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560320"/>
            <a:ext cx="2880360" cy="2743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עוזר אישי בג'מיני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אוטומציה פעילה ב-Make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הבנה איך סוכנים עובדים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עסק שלם להציג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🏁  המפגש האחרון. הטבלה של הקורס נסגרת הערב.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ארבע מדרגות של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עד עכשיו עמדנו על הראשונה. היום עולים לרביעית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3977639"/>
            <a:ext cx="2514600" cy="13716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15400" y="41605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900" b="1" i="0" lang="he-IL">
                <a:solidFill>
                  <a:srgbClr val="EBEDF0"/>
                </a:solidFill>
                <a:latin typeface="Arial"/>
                <a:cs typeface="Arial"/>
              </a:rPr>
              <a:t>💬 צ'אט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4709159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שואלים, הוא עונה. אתם עושים את השאר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3428999"/>
            <a:ext cx="2514600" cy="19202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0" y="361187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900" b="1" i="0" lang="he-IL">
                <a:solidFill>
                  <a:srgbClr val="EBEDF0"/>
                </a:solidFill>
                <a:latin typeface="Arial"/>
                <a:cs typeface="Arial"/>
              </a:rPr>
              <a:t>🧠 עוזר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16052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זוכר הוראות וקבצים: סקילים ופרויקטים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880359"/>
            <a:ext cx="2514600" cy="246888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20439" y="3063239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900" b="1" i="0" lang="he-IL">
                <a:solidFill>
                  <a:srgbClr val="EBEDF0"/>
                </a:solidFill>
                <a:latin typeface="Arial"/>
                <a:cs typeface="Arial"/>
              </a:rPr>
              <a:t>⚙️ אוטומציה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3611879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"כשקורה X, תעשה Y". רץ לבד, כל פעם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99" y="2331720"/>
            <a:ext cx="2514600" cy="301752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51460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900" b="1" i="0" lang="he-IL">
                <a:solidFill>
                  <a:srgbClr val="EBEDF0"/>
                </a:solidFill>
                <a:latin typeface="Arial"/>
                <a:cs typeface="Arial"/>
              </a:rPr>
              <a:t>🤖 סוכן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063239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מקבל מטרה, מתכנן ופועל בעצמו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💡  ככל שעולים, נותנים יותר שליטה. לכן גם הכללים חשובים יותר.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🍽️ מה זה API?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המלצר שבין האפליקציות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0391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אתם (אפליקציה אחת)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4323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מזמינים מהתפריט: "תביא לי את המיילים מהיום"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2971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99923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המלצר (API)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39242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לוקח את ההזמנה למטבח, בשפה שהמטבח מבין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95935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המטבח (אפליקציה אחרת)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35254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מכין ומחזיר מנה: רשימת המיילים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5029200"/>
            <a:ext cx="6300216" cy="10058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58968" y="5029200"/>
            <a:ext cx="5843016" cy="10058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💡  לא צריך לדעת לבשל, וגם לא לדבר עם המטבח. רק לדעת מה להזמין. כל אוטומציה היום עובדת ככה.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🔌 מה זה MCP?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מטען אוניברסלי לכלי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0391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פעם: כבל לכל מכשיר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4323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כל חיבור בין AI לאפליקציה נבנה מאפס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2971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99923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היום: שקע אחד לכולם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39242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MCP הוא סטנדרט, כמו USB-C, לחיבור AI לכלים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95935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בפועל: "מחברים" בלחיצה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35254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בקלוד ובצ'אט ג'יפיטי: Connectors /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5029200"/>
            <a:ext cx="6300216" cy="10058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58968" y="5029200"/>
            <a:ext cx="5843016" cy="10058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🧠  API הוא המלצר. MCP הוא תפריט אחיד שכל מלצר מבין, כך שכל AI יכול להזמין מכל מטבח.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📬 סקירת מיילים ומענה, בלי לפתוח את ג'ימייל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בחינם: כותבים @Gmail בתוך ג'מיני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566928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ההנחיה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32887"/>
            <a:ext cx="521208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"@Gmail עבור על המיילים שלי מ-48 השעות האחרונות. סדר בטבלה: שולח, נושא, דחוף/לענות/לארכיון, ולמה. לשלושה שהכי דחופים, כתוב טיוטת תשובה קצרה בטון שלי."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476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מפעילים פעם אחת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4086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בהגדרות של ג'מיני: Apps &gt; Gmail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כותבים @Gmail ומבקשים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278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טבלה, עם סדר עדיפויות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216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מקבלים טיוטות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מעתיקים לג'ימייל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085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אתם שולחים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0176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קוראים, מתקנים ולוחצים שלח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🛑  ה-AI מכין, אתם מאשרים. זה הכלל של כל המפגש.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העוזר שזוכר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עוזר אישי ומשימות שרצות לבד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🧩 עוזר שזוכר: Gem בג'מיני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כותבים פעם אחת איך עושים משהו, והוא עושה את זה כך תמיד. בחינם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בוחרים משימה שחוזרת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הצעת מחיר, פוסט שבועי, תשובה ללקוח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בג'מיני: Gems &gt; New 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נותנים שם, למשל "העוזר של העסק"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מדביקים הוראות + האפיון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מי אתם, מה העסק, איך לכתוב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608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שומרים ומשתמשים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0017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מעכשיו לא מסבירים מהתחלה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874519"/>
            <a:ext cx="539496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ההוראות ל-Gem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532887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"אתה העוזר של [העסק]. הנה האפיון: [מדביקים]. תמיד כתוב בטון [טון המותג], בעברית, קצר וברור. כשאני כותב "הצעת מחיר", שאל אותי למי ועל מה, ואז כתוב לפי המבנה: פתיח, שירותים, מחיר, תוקף."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💡  אותו רעיון קיים גם בקלוד (Skills, Projects) ובצ'אט ג'יפיטי (GPTs). העיקרון זהה.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⏰ משימות שרצות לבד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קובעים פעם אחת, ומקבלים כל בוקר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1104" y="1874519"/>
            <a:ext cx="3459480" cy="26517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99064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☀️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3984" y="2112263"/>
            <a:ext cx="24993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תדריך בוקר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3984" y="2624327"/>
            <a:ext cx="3093720" cy="1783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"כל יום ב-8:00: 3 מיילים דחופים, הפגישות של היום ומה להכין."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4736" y="1874519"/>
            <a:ext cx="3459480" cy="26517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092696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7616" y="2112263"/>
            <a:ext cx="24993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סקירת שוק שבועית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616" y="2624327"/>
            <a:ext cx="3093720" cy="1783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"כל ראשון: 5 חדשות בתחום שלי, עם מקור, בשתי שורות כל אחת."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3459480" cy="26517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386328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12263"/>
            <a:ext cx="24993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פוסט שבועי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624327"/>
            <a:ext cx="3093720" cy="1783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"כל חמישי: טיוטת פוסט מהדברים שעשיתי השבוע, בטון של המותג."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4632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84632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⚙️  בג'מיני ובצ'אט ג'יפיטי: כותבים "כל [מתי]" בהנחיה. בחלק מהחשבונות זה בתשלום, אז נראה בהדגמה.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🆓  בחינם לגמרי: Make מריץ כל דבר לפי שעון. נראה את זה עוד מעט.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סוכנים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AI שמקבל מטרה, ופועל בעצמו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🔄 איך סוכן חושב מבפנים?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ההיגיון: לולאה אחת שחוזרת עד שהמשימה נגמרת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874519"/>
            <a:ext cx="4023360" cy="155448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44200" y="2103120"/>
            <a:ext cx="594360" cy="5943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F2F5FA"/>
                </a:solidFill>
                <a:latin typeface="Arial"/>
                <a:cs typeface="Arial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59" y="2103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מטרה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9" y="260603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"תזמין לי טכנאי ליום שלישי"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749039"/>
            <a:ext cx="4023360" cy="155448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744200" y="3977639"/>
            <a:ext cx="594360" cy="5943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F2F5FA"/>
                </a:solidFill>
                <a:latin typeface="Arial"/>
                <a:cs typeface="Arial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397763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חושב ומתכנן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448055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מה הצעד הבא? איזה כלי צריך?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749039"/>
            <a:ext cx="4023360" cy="155448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989320" y="3977639"/>
            <a:ext cx="594360" cy="5943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F2F5FA"/>
                </a:solidFill>
                <a:latin typeface="Arial"/>
                <a:cs typeface="Arial"/>
              </a:rPr>
              <a:t>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97763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פועל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5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משתמש בכלי: חיפוש, מייל, יומן, טלפון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1874519"/>
            <a:ext cx="4023360" cy="155448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989320" y="2103120"/>
            <a:ext cx="594360" cy="5943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F2F5FA"/>
                </a:solidFill>
                <a:latin typeface="Arial"/>
                <a:cs typeface="Arial"/>
              </a:rPr>
              <a:t>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103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בודק את התוצאה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606039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הצליח? אם לא, חוזר לתכנון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40156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206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0156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331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💡  צ'אט עושה סיבוב אחד. סוכן מסתובב בלולאה עד שהמטרה הושגה. זה כל ההבדל.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🤖 הסוכנים כבר כאן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רק להכיר: כולם בתשלום או בהזמנה. לא צריך לפתוח חשבון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63455" y="1874519"/>
            <a:ext cx="21396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27463" y="1874519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3095" y="1874519"/>
            <a:ext cx="28254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47103" y="1874519"/>
            <a:ext cx="26974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Dots (OpenAI)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5" y="1874519"/>
            <a:ext cx="28254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66743" y="1874519"/>
            <a:ext cx="26974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Grok Bot (xAI)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799" y="1874519"/>
            <a:ext cx="2862072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7" y="1874519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Instinct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5" y="2450591"/>
            <a:ext cx="21396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27463" y="2450591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מה זה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5" y="2450591"/>
            <a:ext cx="28254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47103" y="2450591"/>
            <a:ext cx="26974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עוזר עם מחשב משלו בענן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5" y="2450591"/>
            <a:ext cx="28254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66743" y="2450591"/>
            <a:ext cx="26974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סוכן שלומד משימה מהקלטת מסך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799" y="2450591"/>
            <a:ext cx="2862072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7" y="2450591"/>
            <a:ext cx="2734056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עוזר אישי שמתקשר ושולח הודעות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63455" y="3236976"/>
            <a:ext cx="21396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427463" y="3236976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דוגמה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5" y="3236976"/>
            <a:ext cx="28254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47103" y="3236976"/>
            <a:ext cx="26974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"עקוב אחרי הלידים ותזכיר לי"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2735" y="3236976"/>
            <a:ext cx="28254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66743" y="3236976"/>
            <a:ext cx="26974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"עדכן את ה-CRM כמו שהראיתי"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799" y="3236976"/>
            <a:ext cx="2862072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7" y="3236976"/>
            <a:ext cx="2734056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"תזמין טכנאי ליום שלישי"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63455" y="4023360"/>
            <a:ext cx="21396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427463" y="4023360"/>
            <a:ext cx="20116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איך מקבלים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3095" y="4023360"/>
            <a:ext cx="28254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47103" y="4023360"/>
            <a:ext cx="26974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ChatGPT Pro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2735" y="4023360"/>
            <a:ext cx="2825496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666743" y="4023360"/>
            <a:ext cx="2697479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SuperGrok Heavy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799" y="4023360"/>
            <a:ext cx="2862072" cy="73152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9807" y="4023360"/>
            <a:ext cx="2734056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רשימת המתנה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37760"/>
            <a:ext cx="10872216" cy="5486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4937760"/>
            <a:ext cx="10415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🆓  רוצים לנסות סוכן בחינם? Muse של מטא, ומצב סוכן בצ'אט ג'יפיטי.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🛑  סוכן עם גישה למייל ולכרטיס אשראי? מתחילים מהרשאות קטנות, ובודקים כל פעולה.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👩‍💻 Codex ו-Claude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מתכנתים שעובדים בשבילכם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0391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מקבלים משימה במילים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4323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"תוסיף לאתר טופס הרשמה"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86207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קוראים ומתכננים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25526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עוברים על הקבצים, ובונים תוכנית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3657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68503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כותבים ומריצים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07822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קוד, בדיקות, ותיקון שגיאות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27664" y="4480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507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מחזירים לאישור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490118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אתם רואים מה השתנה, ומאשרים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5486400"/>
            <a:ext cx="6300216" cy="64008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58968" y="5486400"/>
            <a:ext cx="584301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🎬  סרטון הסבר של דקה בעברית, ואז הדגמה חיה.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🏗️ אפליקציה ממילים: Lovable ו-Base44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זוכרים את השאלון החי מהמפגש הראשון? כך הוא נבנה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מתארים את האפליקציה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מי משתמש, מה הוא עושה, איך זה נראה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ה-AI בונה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מסכים, מסד נתונים, התחברות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משפרים בשיחה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"הוסף טבלת ניקוד"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608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מפרסמים בלחיצה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0017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וקיבלתם קישור לשתף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874519"/>
            <a:ext cx="539496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רעיון לנסות בבית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532887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"בנה אפליקציה לעסק שלי [אפיון]: טופס הזמנה ללקוחות, רשימת הזמנות למנהל, ושליחת אישור במייל. עברית, מימין לשמאל, בצבעים [HEX]."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🎁  נרשמים דרך הקישור בארגז הכלים ומקבלים קרדיטים חינם להתחלה.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19456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5400" b="1" i="0" lang="he-IL">
                <a:solidFill>
                  <a:srgbClr val="F2F5FA"/>
                </a:solidFill>
                <a:latin typeface="Arial"/>
                <a:cs typeface="Arial"/>
              </a:rPr>
              <a:t>☕ הפסקה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20040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2000" b="0" i="0" lang="he-IL">
                <a:solidFill>
                  <a:srgbClr val="FAC496"/>
                </a:solidFill>
                <a:latin typeface="Arial"/>
                <a:cs typeface="Arial"/>
              </a:rPr>
              <a:t>5 דקות. ודאו שאתם מחוברים ל-Make.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A9B4C6"/>
                </a:solidFill>
                <a:latin typeface="Arial"/>
                <a:cs typeface="Arial"/>
              </a:rPr>
              <a:t>בחזרה: האוטומציה הראשונה שלכם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האוטומציה הראשונה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Make: כשקורה X, תעשה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⚙️ איך Make חושב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כל אוטומציה היא טריגר ואחריו פעולות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01752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36608" y="210312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306324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900" b="1" i="0" lang="he-IL">
                <a:solidFill>
                  <a:srgbClr val="EBEDF0"/>
                </a:solidFill>
                <a:latin typeface="Arial"/>
                <a:cs typeface="Arial"/>
              </a:rPr>
              <a:t>טריגר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5204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משהו קורה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40233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2F5FA"/>
                </a:solidFill>
                <a:latin typeface="Arial"/>
                <a:cs typeface="Arial"/>
              </a:rPr>
              <a:t>לקוח ממלא טופס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1089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920240"/>
            <a:ext cx="3383280" cy="301752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687568" y="210312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06324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900" b="1" i="0" lang="he-IL">
                <a:solidFill>
                  <a:srgbClr val="EBEDF0"/>
                </a:solidFill>
                <a:latin typeface="Arial"/>
                <a:cs typeface="Arial"/>
              </a:rPr>
              <a:t>Make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5204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מעביר הלאה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0233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2F5FA"/>
                </a:solidFill>
                <a:latin typeface="Arial"/>
                <a:cs typeface="Arial"/>
              </a:rPr>
              <a:t>לוקח את הפרטים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1089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920240"/>
            <a:ext cx="3383280" cy="301752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938528" y="210312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06324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900" b="1" i="0" lang="he-IL">
                <a:solidFill>
                  <a:srgbClr val="EBEDF0"/>
                </a:solidFill>
                <a:latin typeface="Arial"/>
                <a:cs typeface="Arial"/>
              </a:rPr>
              <a:t>פעולה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204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משהו נעשה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0233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2F5FA"/>
                </a:solidFill>
                <a:latin typeface="Arial"/>
                <a:cs typeface="Arial"/>
              </a:rPr>
              <a:t>מייל תודה + שורה בגיליון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12080"/>
            <a:ext cx="10872216" cy="8229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86968" y="5212080"/>
            <a:ext cx="10415016" cy="8229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🏆  אתגר באפליקציה: "אוטומציה ראשונה". כתבו במשפט אחד: כש[טריגר], אז [פעולה]. הכי שימושית מנצחת.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🛠️ בונים יחד: טופס לידים שעונה לבד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20 דקות, חינם, בלי קוד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56231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Google Forms: טופס "צור קשר"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942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שם, מייל, במה אפשר לעזור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523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51175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Make: Create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9443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טריגר: Google Forms &gt; Watch Responses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2186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246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Gmail: Send an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63931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"תודה שפנית! נחזור אליך תוך יום"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39136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9410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Google Sheets: Add a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3425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כל ליד נשמר בגיליון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27664" y="46085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6360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Run once, ואז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029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ממלאים את הטופס ורואים את הקסם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874519"/>
            <a:ext cx="539496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F2F5FA"/>
                </a:solidFill>
                <a:latin typeface="Arial"/>
                <a:cs typeface="Arial"/>
              </a:rPr>
              <a:t>🧭  אם נתקעים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256032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כל מודול צריך חיבור לחשבון: Add connection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לא רואים תגובה? ממלאים את הטופס שוב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שגיאה אדומה? מצלמים מסך ושואלים את ג'מיני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בחינם: 2 תרחישים פעילים, 1,000 קרדיטים בחודש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🎁  בונוס למתקדמים: מוסיפים באמצע מודול AI שמנסח תשובה אישית לכל פנייה.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🛡️ ארבעה כללים לאוטומציה בטוחה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ככל שה-AI עושה יותר, אתם בודקים יותר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99064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אדם מאשר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טיוטה ולא שליחה, הצעה ולא תשלום.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239512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הרשאות קטנות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מחברים רק מה שצריך. לא את כל החשבון.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799064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יומן פעולות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בודקים פעם בשבוע מה רץ ומה נכשל.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239512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בלי סודות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סיסמאות ומספרי אשראי לא נכנסים להנחיות.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🧭  זוכרים את תיקון 13 מהמפגש הראשון? פרטי לקוחות נשארים מוגנים, גם באוטומציה.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🎤 יום הצגות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העסק שלכם, מהאפיון ועד האוטומציה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0368" y="1874519"/>
            <a:ext cx="6300216" cy="1234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13248" y="1965960"/>
            <a:ext cx="5934456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A9B4C6"/>
                </a:solidFill>
                <a:latin typeface="Arial"/>
                <a:cs typeface="Arial"/>
              </a:rPr>
              <a:t>נרשמים באפליקציית הקורס, בלשונית "הגרלה":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3248" y="2331720"/>
            <a:ext cx="5934456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ai-quiz-live.lovable.app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3337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3364991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דקה אחת לכל מציג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75818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האפיון, המותג, ומה עובד לבד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41148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הקהל מצביע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50799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על העסק הכי מרשים של הקורס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27664" y="4837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86460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מכריזים על אלופי הקורס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52578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טבלת הנקודות הסופית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5715000"/>
            <a:ext cx="6300216" cy="54864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58968" y="5715000"/>
            <a:ext cx="5843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👏  כל מי שמציג מקבל 30 נקודות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🧰 ארגז הכלים של היום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הקישורים להעתקה. חלקם נותנים לכם קרדיטים או ניסיון חינם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08776" y="1874519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10344" y="1874519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18504" y="1874519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claude.ai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2569463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10344" y="2569463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569463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chatgpt.com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264408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10344" y="326440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Make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264408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make.com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959352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10344" y="395935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Lovable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959352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lovable.dev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654296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10344" y="465429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Base44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4654296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base44.com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874519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059936" y="1874519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1874519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chatgpt.com/codex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569463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059936" y="2569463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Claude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2569463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claude.ai/code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264408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059936" y="326440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Grok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64408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grok.com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59352"/>
            <a:ext cx="5321808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059936" y="395935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Instinct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3959352"/>
            <a:ext cx="3264408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instinct.ai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📋  כל הקישורים נמצאים גם בארגז הכלים באפליקציית הקורס ובחוברת.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🗺️ מה עשינו בארבעה מפגשים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עסק אחד, ארבע שכבות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1920240"/>
            <a:ext cx="2514600" cy="32004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778240" y="210312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400" b="1" i="0" lang="he-IL">
                <a:solidFill>
                  <a:srgbClr val="6296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3063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100" b="1" i="0" lang="he-IL">
                <a:solidFill>
                  <a:srgbClr val="EBEDF0"/>
                </a:solidFill>
                <a:latin typeface="Arial"/>
                <a:cs typeface="Arial"/>
              </a:rPr>
              <a:t>להכיר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365760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הכלים, המודלים, ואיך AI חושב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920240"/>
            <a:ext cx="2514600" cy="32004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80759" y="210312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400" b="1" i="0" lang="he-IL">
                <a:solidFill>
                  <a:srgbClr val="6296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63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100" b="1" i="0" lang="he-IL">
                <a:solidFill>
                  <a:srgbClr val="EBEDF0"/>
                </a:solidFill>
                <a:latin typeface="Arial"/>
                <a:cs typeface="Arial"/>
              </a:rPr>
              <a:t>לכתוב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5760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הנחיות, מיילים ואפיון העסק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920240"/>
            <a:ext cx="2514600" cy="32004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83279" y="210312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400" b="1" i="0" lang="he-IL">
                <a:solidFill>
                  <a:srgbClr val="6296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3063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100" b="1" i="0" lang="he-IL">
                <a:solidFill>
                  <a:srgbClr val="EBEDF0"/>
                </a:solidFill>
                <a:latin typeface="Arial"/>
                <a:cs typeface="Arial"/>
              </a:rPr>
              <a:t>לראות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365760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מותג, אפליקציה, מצגת, קול ווידאו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799" y="1920240"/>
            <a:ext cx="2514600" cy="320040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799" y="2103120"/>
            <a:ext cx="251460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400" b="1" i="0" lang="he-IL">
                <a:solidFill>
                  <a:srgbClr val="6296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06324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100" b="1" i="0" lang="he-IL">
                <a:solidFill>
                  <a:srgbClr val="EBEDF0"/>
                </a:solidFill>
                <a:latin typeface="Arial"/>
                <a:cs typeface="Arial"/>
              </a:rPr>
              <a:t>להפעיל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57600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סקילים, תזמון, סוכנים ואוטומציה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440680"/>
            <a:ext cx="10872216" cy="73152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5440680"/>
            <a:ext cx="10415016" cy="7315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🚀  המשך מכאן: כל שבוע, משימה אחת שעוברת ל-AI. בעוד חצי שנה, העסק שלכם נראה אחרת.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שלושה דברים לקחת הביתה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ומזל טוב, סיימתם את הקורס!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5644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AI מכין, אתם מחליטים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טיוטה, לא שליחה. הצעה, לא תשלום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0740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משימה שחוזרת = אוטומציה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אם עשיתם את זה 3 פעמים, הגיע הזמן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להמשיך לשחק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הכלים משתנים כל שבוע. הסקרנות נשארת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32120"/>
            <a:ext cx="10872216" cy="64008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32120"/>
            <a:ext cx="1041501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🏆  ועכשיו: אלופי הקורס!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2026-09-29T21:49:57Z</dcterms:created>
  <dcterms:modified xsi:type="dcterms:W3CDTF">2026-09-29T21:49:57Z</dcterms:modified>
</cp:coreProperties>
</file>