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Geist Bol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8-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3404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3: מההנחיה אל השגרה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23913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מציגים — ההנחיה הכי טובה מהבנק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623776" y="2214463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גם: כישלון אחד מהבית. שואלים: חסר מי, מה, או איך?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72755"/>
            <a:ext cx="6296860" cy="944860"/>
          </a:xfrm>
          <a:prstGeom prst="roundRect">
            <a:avLst>
              <a:gd name="adj" fmla="val 8402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291504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2908995"/>
            <a:ext cx="54936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למדנו את הנוסחה. היום — מדביקים אותה על העבודה האמיתית שלכם.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4623776" y="3830241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מקצוע, לא תבנית אחת.</a:t>
            </a:r>
            <a:endParaRPr lang="he-IL" sz="1450" dirty="0"/>
          </a:p>
        </p:txBody>
      </p:sp>
      <p:sp>
        <p:nvSpPr>
          <p:cNvPr id="10" name="Shape 6"/>
          <p:cNvSpPr/>
          <p:nvPr/>
        </p:nvSpPr>
        <p:spPr>
          <a:xfrm>
            <a:off x="8476343" y="4288532"/>
            <a:ext cx="3053877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4400" y="4496594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הנחיות שמורות בבנק</a:t>
            </a:r>
            <a:endParaRPr lang="he-IL" sz="1850" dirty="0"/>
          </a:p>
        </p:txBody>
      </p:sp>
      <p:sp>
        <p:nvSpPr>
          <p:cNvPr id="12" name="Shape 8"/>
          <p:cNvSpPr/>
          <p:nvPr/>
        </p:nvSpPr>
        <p:spPr>
          <a:xfrm>
            <a:off x="5233360" y="4288532"/>
            <a:ext cx="3053976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1417" y="4496594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אחד ביד</a:t>
            </a:r>
            <a:endParaRPr lang="he-IL" sz="1850" dirty="0"/>
          </a:p>
        </p:txBody>
      </p:sp>
      <p:sp>
        <p:nvSpPr>
          <p:cNvPr id="14" name="Shape 10"/>
          <p:cNvSpPr/>
          <p:nvPr/>
        </p:nvSpPr>
        <p:spPr>
          <a:xfrm>
            <a:off x="5233360" y="5200749"/>
            <a:ext cx="6296860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41417" y="5408811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ברור מתי מחליפים כלי</a:t>
            </a:r>
            <a:endParaRPr lang="he-IL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57734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שבוע העבודה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4458" y="1655465"/>
            <a:ext cx="3053877" cy="23735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18042" y="1791593"/>
            <a:ext cx="22680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50" b="1" spc="-30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4118864" y="2411413"/>
            <a:ext cx="26250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פתיחה</a:t>
            </a:r>
            <a:endParaRPr lang="he-IL" sz="1850" dirty="0"/>
          </a:p>
        </p:txBody>
      </p:sp>
      <p:sp>
        <p:nvSpPr>
          <p:cNvPr id="7" name="Text 3"/>
          <p:cNvSpPr/>
          <p:nvPr/>
        </p:nvSpPr>
        <p:spPr>
          <a:xfrm>
            <a:off x="4118864" y="2831902"/>
            <a:ext cx="26250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רשמו 10 משימות מהשבוע שעבר (גם הודעות, שיעורים, שיחות, קבצים, מצגות)</a:t>
            </a:r>
            <a:endParaRPr lang="he-IL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655465"/>
            <a:ext cx="3053976" cy="23735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75059" y="1791593"/>
            <a:ext cx="22680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50" b="1" spc="-30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75881" y="2411413"/>
            <a:ext cx="26251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סמנו</a:t>
            </a:r>
            <a:endParaRPr lang="he-IL" sz="1850" dirty="0"/>
          </a:p>
        </p:txBody>
      </p:sp>
      <p:sp>
        <p:nvSpPr>
          <p:cNvPr id="11" name="Text 6"/>
          <p:cNvSpPr/>
          <p:nvPr/>
        </p:nvSpPr>
        <p:spPr>
          <a:xfrm>
            <a:off x="875881" y="2831902"/>
            <a:ext cx="2625163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משימה שיש בה אחד מאלה: ניסוח · סיכום · חיפוש · הכנה לפגישה · הסבר למישהו · תמלול/הקלטה · מסמך ארוך</a:t>
            </a:r>
            <a:endParaRPr lang="he-IL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217988"/>
            <a:ext cx="6296860" cy="1882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96550" y="4354116"/>
            <a:ext cx="22680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50" b="1" spc="-30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75881" y="4973935"/>
            <a:ext cx="58680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</a:t>
            </a:r>
            <a:endParaRPr lang="he-IL" sz="1850" dirty="0"/>
          </a:p>
        </p:txBody>
      </p:sp>
      <p:sp>
        <p:nvSpPr>
          <p:cNvPr id="15" name="Text 9"/>
          <p:cNvSpPr/>
          <p:nvPr/>
        </p:nvSpPr>
        <p:spPr>
          <a:xfrm>
            <a:off x="875881" y="5394424"/>
            <a:ext cx="586804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אצל רוב האנשים 6–8 מתוך 10. אלה המועמדות — לא "משימות משרד", משימות שלכם</a:t>
            </a:r>
            <a:endParaRPr lang="he-IL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1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קודם משימה — אחר כך כלי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190401" y="1936948"/>
            <a:ext cx="5339820" cy="189012"/>
          </a:xfrm>
          <a:prstGeom prst="roundRect">
            <a:avLst>
              <a:gd name="adj" fmla="val 420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79408" y="2314972"/>
            <a:ext cx="4961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קובץ ארוך / כמה קבצים?</a:t>
            </a:r>
            <a:endParaRPr lang="he-IL" sz="1850" dirty="0"/>
          </a:p>
        </p:txBody>
      </p:sp>
      <p:sp>
        <p:nvSpPr>
          <p:cNvPr id="5" name="Text 3"/>
          <p:cNvSpPr/>
          <p:nvPr/>
        </p:nvSpPr>
        <p:spPr>
          <a:xfrm>
            <a:off x="6379408" y="2735461"/>
            <a:ext cx="49618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Claude או NotebookLM</a:t>
            </a:r>
            <a:endParaRPr lang="he-IL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1653480"/>
            <a:ext cx="5339919" cy="189012"/>
          </a:xfrm>
          <a:prstGeom prst="roundRect">
            <a:avLst>
              <a:gd name="adj" fmla="val 420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482" y="2031504"/>
            <a:ext cx="49619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עובדה עם מקור?</a:t>
            </a:r>
            <a:endParaRPr lang="he-IL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451993"/>
            <a:ext cx="49619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Perplexity, ואז חזרה לכתיבה</a:t>
            </a:r>
            <a:endParaRPr lang="he-IL" sz="1450" dirty="0"/>
          </a:p>
        </p:txBody>
      </p:sp>
      <p:sp>
        <p:nvSpPr>
          <p:cNvPr id="9" name="Shape 7"/>
          <p:cNvSpPr/>
          <p:nvPr/>
        </p:nvSpPr>
        <p:spPr>
          <a:xfrm>
            <a:off x="6190401" y="3642618"/>
            <a:ext cx="5339820" cy="189012"/>
          </a:xfrm>
          <a:prstGeom prst="roundRect">
            <a:avLst>
              <a:gd name="adj" fmla="val 420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408" y="4020641"/>
            <a:ext cx="4961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פתוחה בגוגל / אופיס?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379408" y="4441130"/>
            <a:ext cx="49618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Gemini או Copilot במקום</a:t>
            </a:r>
            <a:endParaRPr lang="he-IL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359150"/>
            <a:ext cx="5339919" cy="189012"/>
          </a:xfrm>
          <a:prstGeom prst="roundRect">
            <a:avLst>
              <a:gd name="adj" fmla="val 420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482" y="3737173"/>
            <a:ext cx="49619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השאר</a:t>
            </a:r>
            <a:endParaRPr lang="he-IL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157662"/>
            <a:ext cx="49619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ChatGPT או Claude. בוחרים אחד לשבועיים</a:t>
            </a:r>
            <a:endParaRPr lang="he-IL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088434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4B3F0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330726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6138" y="5324673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חלשה נכשלת בכל הכלים. קודם מי־מה־איך</a:t>
            </a:r>
            <a:endParaRPr lang="he-IL" sz="1450" dirty="0"/>
          </a:p>
        </p:txBody>
      </p:sp>
      <p:sp>
        <p:nvSpPr>
          <p:cNvPr id="18" name="Text 15"/>
          <p:cNvSpPr/>
          <p:nvPr/>
        </p:nvSpPr>
        <p:spPr>
          <a:xfrm>
            <a:off x="51890" y="6000254"/>
            <a:ext cx="11478330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→ קודם סיכום, אחר כך Gamma · עובדה / חוזה / סודיות → הכלי נבחר לפי זה</a:t>
            </a:r>
            <a:endParaRPr lang="he-IL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תחנה 1 — לכתוב לאדם אמיתי</a:t>
            </a:r>
            <a:endParaRPr lang="he-IL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39193"/>
            <a:ext cx="520746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שלדים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3356784" y="2147491"/>
            <a:ext cx="2512156" cy="1014809"/>
          </a:xfrm>
          <a:prstGeom prst="roundRect">
            <a:avLst>
              <a:gd name="adj" fmla="val 77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1864" y="2352576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דחייה בנימוס (ספק / מועמד / שיתוף)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661475" y="2147491"/>
            <a:ext cx="2512156" cy="1014809"/>
          </a:xfrm>
          <a:prstGeom prst="roundRect">
            <a:avLst>
              <a:gd name="adj" fmla="val 77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6555" y="2352576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ברורה (עם תאריך יעד אחד)</a:t>
            </a:r>
            <a:endParaRPr lang="he-IL" sz="1800" dirty="0"/>
          </a:p>
        </p:txBody>
      </p:sp>
      <p:sp>
        <p:nvSpPr>
          <p:cNvPr id="8" name="Shape 6"/>
          <p:cNvSpPr/>
          <p:nvPr/>
        </p:nvSpPr>
        <p:spPr>
          <a:xfrm>
            <a:off x="661475" y="3345458"/>
            <a:ext cx="5207465" cy="712490"/>
          </a:xfrm>
          <a:prstGeom prst="roundRect">
            <a:avLst>
              <a:gd name="adj" fmla="val 109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6555" y="3550543"/>
            <a:ext cx="479730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תזכורת בלי מלחמה (מסמך, משימה, אישור)</a:t>
            </a:r>
            <a:endParaRPr lang="he-IL" sz="1800" dirty="0"/>
          </a:p>
        </p:txBody>
      </p:sp>
      <p:sp>
        <p:nvSpPr>
          <p:cNvPr id="10" name="Text 8"/>
          <p:cNvSpPr/>
          <p:nvPr/>
        </p:nvSpPr>
        <p:spPr>
          <a:xfrm>
            <a:off x="51890" y="4263926"/>
            <a:ext cx="58170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ממלאים את הסוגריים מהשבוע שלכם</a:t>
            </a:r>
            <a:endParaRPr lang="he-IL" sz="1450" dirty="0"/>
          </a:p>
        </p:txBody>
      </p:sp>
      <p:sp>
        <p:nvSpPr>
          <p:cNvPr id="11" name="Shape 9"/>
          <p:cNvSpPr/>
          <p:nvPr/>
        </p:nvSpPr>
        <p:spPr>
          <a:xfrm>
            <a:off x="6195163" y="1456035"/>
            <a:ext cx="5475349" cy="4825206"/>
          </a:xfrm>
          <a:prstGeom prst="roundRect">
            <a:avLst>
              <a:gd name="adj" fmla="val 277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81193" y="1639193"/>
            <a:ext cx="5103288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 — דחייה</a:t>
            </a:r>
            <a:endParaRPr lang="he-IL" sz="1800" dirty="0"/>
          </a:p>
        </p:txBody>
      </p:sp>
      <p:sp>
        <p:nvSpPr>
          <p:cNvPr id="13" name="Text 11"/>
          <p:cNvSpPr/>
          <p:nvPr/>
        </p:nvSpPr>
        <p:spPr>
          <a:xfrm>
            <a:off x="6381193" y="2124670"/>
            <a:ext cx="5103288" cy="274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עוזר שלי. אני [תפקיד] ב[מקום]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דחייה. בחרנו באפשרות אחרת. דלת פתוחה לעתיד. המטרה: לסגור בלי לפתוח משא ומתן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חם ומקצועי · עד 6 שורות · בלי התנצלות · בלי 'אשמח לעזור' · בלי סימני קריאה</a:t>
            </a:r>
            <a:endParaRPr lang="he-IL" sz="1450" dirty="0"/>
          </a:p>
        </p:txBody>
      </p:sp>
      <p:sp>
        <p:nvSpPr>
          <p:cNvPr id="14" name="Text 12"/>
          <p:cNvSpPr/>
          <p:nvPr/>
        </p:nvSpPr>
        <p:spPr>
          <a:xfrm>
            <a:off x="5771609" y="5032772"/>
            <a:ext cx="5712873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התוצאה על המסך:</a:t>
            </a:r>
            <a:endParaRPr lang="he-IL" sz="1150" dirty="0"/>
          </a:p>
        </p:txBody>
      </p:sp>
      <p:sp>
        <p:nvSpPr>
          <p:cNvPr id="15" name="Shape 13"/>
          <p:cNvSpPr/>
          <p:nvPr/>
        </p:nvSpPr>
        <p:spPr>
          <a:xfrm>
            <a:off x="11391516" y="5505053"/>
            <a:ext cx="92966" cy="92968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9047333" y="5430639"/>
            <a:ext cx="21610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קצר לשלוש שורות</a:t>
            </a:r>
            <a:endParaRPr lang="he-IL" sz="1450" dirty="0"/>
          </a:p>
        </p:txBody>
      </p:sp>
      <p:sp>
        <p:nvSpPr>
          <p:cNvPr id="17" name="Shape 15"/>
          <p:cNvSpPr/>
          <p:nvPr/>
        </p:nvSpPr>
        <p:spPr>
          <a:xfrm>
            <a:off x="8725475" y="5505053"/>
            <a:ext cx="92966" cy="92968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1193" y="5430639"/>
            <a:ext cx="21611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ישאלו אחרי שיקראו?</a:t>
            </a:r>
            <a:endParaRPr lang="he-IL" sz="1450" dirty="0"/>
          </a:p>
        </p:txBody>
      </p:sp>
      <p:sp>
        <p:nvSpPr>
          <p:cNvPr id="19" name="Text 17"/>
          <p:cNvSpPr/>
          <p:nvPr/>
        </p:nvSpPr>
        <p:spPr>
          <a:xfrm>
            <a:off x="5771609" y="5876528"/>
            <a:ext cx="571287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ChatGPT או Claude. לא מחליפים כלי באמצע הסיבוב</a:t>
            </a:r>
            <a:endParaRPr lang="he-IL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25574"/>
            <a:ext cx="6296860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150" b="1" spc="-6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תחנה 2 — מרשימה מבולגנת לכלי עבודה</a:t>
            </a:r>
            <a:endParaRPr lang="he-IL" sz="3150" dirty="0"/>
          </a:p>
        </p:txBody>
      </p:sp>
      <p:sp>
        <p:nvSpPr>
          <p:cNvPr id="4" name="Text 1"/>
          <p:cNvSpPr/>
          <p:nvPr/>
        </p:nvSpPr>
        <p:spPr>
          <a:xfrm>
            <a:off x="4623776" y="1890613"/>
            <a:ext cx="6906444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0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ישיבת צוות · פגישת לקוח · שיעור · שיחת ספק · ראיון</a:t>
            </a:r>
            <a:endParaRPr lang="he-IL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2204641"/>
            <a:ext cx="6296860" cy="542528"/>
          </a:xfrm>
          <a:prstGeom prst="roundRect">
            <a:avLst>
              <a:gd name="adj" fmla="val 12575"/>
            </a:avLst>
          </a:prstGeom>
          <a:solidFill>
            <a:srgbClr val="002A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78" y="2384723"/>
            <a:ext cx="202996" cy="1624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1606" y="2384723"/>
            <a:ext cx="621619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ההנחיה הכי טובה שתכניסו לבנק היום</a:t>
            </a:r>
            <a:endParaRPr lang="he-IL" sz="1250" dirty="0"/>
          </a:p>
        </p:txBody>
      </p:sp>
      <p:sp>
        <p:nvSpPr>
          <p:cNvPr id="8" name="Text 4"/>
          <p:cNvSpPr/>
          <p:nvPr/>
        </p:nvSpPr>
        <p:spPr>
          <a:xfrm>
            <a:off x="5233360" y="3061097"/>
            <a:ext cx="6053284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"מי: הסיכום הולך למי שלא היה בחדר — [מנהל / צוות / לקוח / שותף]</a:t>
            </a:r>
            <a:endParaRPr lang="he-IL" sz="1250" dirty="0"/>
          </a:p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נקודות גולמיות: [מדביקים]. הפוך למסמך שאפשר לעבוד ממנו מחר בבוקר</a:t>
            </a:r>
            <a:endParaRPr lang="he-IL" sz="1250" dirty="0"/>
          </a:p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איך: 1) החלטות 2) משימות: משימה | אחראי | תאריך 3) מה פתוח. בלי הקדמה, בלי סיכום בסוף"</a:t>
            </a:r>
            <a:endParaRPr lang="he-IL" sz="1250" dirty="0"/>
          </a:p>
        </p:txBody>
      </p:sp>
      <p:sp>
        <p:nvSpPr>
          <p:cNvPr id="9" name="Shape 5"/>
          <p:cNvSpPr/>
          <p:nvPr/>
        </p:nvSpPr>
        <p:spPr>
          <a:xfrm>
            <a:off x="11511171" y="2904133"/>
            <a:ext cx="19050" cy="902692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0" name="Shape 6"/>
          <p:cNvSpPr/>
          <p:nvPr/>
        </p:nvSpPr>
        <p:spPr>
          <a:xfrm>
            <a:off x="5233360" y="3963789"/>
            <a:ext cx="6296860" cy="1215827"/>
          </a:xfrm>
          <a:prstGeom prst="roundRect">
            <a:avLst>
              <a:gd name="adj" fmla="val 561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381790" y="3982839"/>
            <a:ext cx="3129380" cy="588863"/>
          </a:xfrm>
          <a:custGeom>
            <a:avLst/>
            <a:gdLst/>
            <a:ahLst/>
            <a:cxnLst/>
            <a:rect l="l" t="t" r="r" b="b"/>
            <a:pathLst>
              <a:path w="3129380" h="588863">
                <a:moveTo>
                  <a:pt x="56853" y="0"/>
                </a:moveTo>
                <a:lnTo>
                  <a:pt x="3129380" y="0"/>
                </a:lnTo>
                <a:lnTo>
                  <a:pt x="3129380" y="588863"/>
                </a:lnTo>
                <a:lnTo>
                  <a:pt x="0" y="588863"/>
                </a:lnTo>
                <a:lnTo>
                  <a:pt x="0" y="56855"/>
                </a:lnTo>
                <a:arcTo hR="56855" wR="56853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2" name="Text 8"/>
          <p:cNvSpPr/>
          <p:nvPr/>
        </p:nvSpPr>
        <p:spPr>
          <a:xfrm>
            <a:off x="8544207" y="4145260"/>
            <a:ext cx="280454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שהתקבלו</a:t>
            </a:r>
            <a:endParaRPr lang="he-IL" sz="1550" dirty="0"/>
          </a:p>
        </p:txBody>
      </p:sp>
      <p:sp>
        <p:nvSpPr>
          <p:cNvPr id="13" name="Shape 9"/>
          <p:cNvSpPr/>
          <p:nvPr/>
        </p:nvSpPr>
        <p:spPr>
          <a:xfrm>
            <a:off x="5252410" y="3982839"/>
            <a:ext cx="3129380" cy="588863"/>
          </a:xfrm>
          <a:custGeom>
            <a:avLst/>
            <a:gdLst/>
            <a:ahLst/>
            <a:cxnLst/>
            <a:rect l="l" t="t" r="r" b="b"/>
            <a:pathLst>
              <a:path w="3129380" h="588863">
                <a:moveTo>
                  <a:pt x="0" y="0"/>
                </a:moveTo>
                <a:lnTo>
                  <a:pt x="3072527" y="0"/>
                </a:lnTo>
                <a:arcTo hR="56855" wR="56853" stAng="16200000" swAng="5400000"/>
                <a:lnTo>
                  <a:pt x="3129380" y="588863"/>
                </a:lnTo>
                <a:lnTo>
                  <a:pt x="0" y="588863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4" name="Shape 10"/>
          <p:cNvSpPr/>
          <p:nvPr/>
        </p:nvSpPr>
        <p:spPr>
          <a:xfrm>
            <a:off x="5252410" y="3982839"/>
            <a:ext cx="19050" cy="58886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5" name="Text 11"/>
          <p:cNvSpPr/>
          <p:nvPr/>
        </p:nvSpPr>
        <p:spPr>
          <a:xfrm>
            <a:off x="5414827" y="4145260"/>
            <a:ext cx="280454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עם אחראי ותאריך</a:t>
            </a:r>
            <a:endParaRPr lang="he-IL" sz="1550" dirty="0"/>
          </a:p>
        </p:txBody>
      </p:sp>
      <p:sp>
        <p:nvSpPr>
          <p:cNvPr id="16" name="Shape 12"/>
          <p:cNvSpPr/>
          <p:nvPr/>
        </p:nvSpPr>
        <p:spPr>
          <a:xfrm>
            <a:off x="5252410" y="4571702"/>
            <a:ext cx="6258761" cy="588863"/>
          </a:xfrm>
          <a:custGeom>
            <a:avLst/>
            <a:gdLst/>
            <a:ahLst/>
            <a:cxnLst/>
            <a:rect l="l" t="t" r="r" b="b"/>
            <a:pathLst>
              <a:path w="6258761" h="588863">
                <a:moveTo>
                  <a:pt x="0" y="0"/>
                </a:moveTo>
                <a:lnTo>
                  <a:pt x="6258761" y="0"/>
                </a:lnTo>
                <a:lnTo>
                  <a:pt x="6258761" y="532009"/>
                </a:lnTo>
                <a:arcTo hR="56855" wR="56853" stAng="0" swAng="5400000"/>
                <a:lnTo>
                  <a:pt x="56853" y="588863"/>
                </a:lnTo>
                <a:arcTo hR="56855" wR="56853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7" name="Shape 13"/>
          <p:cNvSpPr/>
          <p:nvPr/>
        </p:nvSpPr>
        <p:spPr>
          <a:xfrm>
            <a:off x="5252410" y="4571702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8" name="Text 14"/>
          <p:cNvSpPr/>
          <p:nvPr/>
        </p:nvSpPr>
        <p:spPr>
          <a:xfrm>
            <a:off x="5414827" y="4734123"/>
            <a:ext cx="593392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נושאים פתוחים</a:t>
            </a:r>
            <a:endParaRPr lang="he-IL" sz="1550" dirty="0"/>
          </a:p>
        </p:txBody>
      </p:sp>
      <p:sp>
        <p:nvSpPr>
          <p:cNvPr id="19" name="Text 15"/>
          <p:cNvSpPr/>
          <p:nvPr/>
        </p:nvSpPr>
        <p:spPr>
          <a:xfrm>
            <a:off x="4623776" y="5336580"/>
            <a:ext cx="6906444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4: "עכשיו רק טבלת המשימות כהודעת וואטסאפ" — שיחה, לא מברק</a:t>
            </a:r>
            <a:endParaRPr lang="he-IL" sz="1250" dirty="0"/>
          </a:p>
        </p:txBody>
      </p:sp>
      <p:sp>
        <p:nvSpPr>
          <p:cNvPr id="20" name="Shape 16"/>
          <p:cNvSpPr/>
          <p:nvPr/>
        </p:nvSpPr>
        <p:spPr>
          <a:xfrm>
            <a:off x="5233360" y="5689798"/>
            <a:ext cx="6296860" cy="542528"/>
          </a:xfrm>
          <a:prstGeom prst="roundRect">
            <a:avLst>
              <a:gd name="adj" fmla="val 12575"/>
            </a:avLst>
          </a:prstGeom>
          <a:solidFill>
            <a:srgbClr val="002A8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778" y="5869880"/>
            <a:ext cx="202996" cy="1624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1606" y="5869880"/>
            <a:ext cx="621619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גשר: יש סיכום? הדבקה ב־Gamma → 6 שקפים. לא מתחילים עיצוב לפני שיש תוכן</a:t>
            </a:r>
            <a:endParaRPr lang="he-IL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084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תחנה 3 — מסמך ארוך, שעה לפגישה</a:t>
            </a:r>
            <a:endParaRPr lang="he-IL" sz="3650" dirty="0"/>
          </a:p>
        </p:txBody>
      </p:sp>
      <p:sp>
        <p:nvSpPr>
          <p:cNvPr id="3" name="Text 1"/>
          <p:cNvSpPr/>
          <p:nvPr/>
        </p:nvSpPr>
        <p:spPr>
          <a:xfrm>
            <a:off x="51890" y="1519039"/>
            <a:ext cx="114783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= הצעה, נוהל, הסכם, דוח, תוכנית, חומר לימוד. מה שיש לכם בתיקיה</a:t>
            </a:r>
            <a:endParaRPr lang="he-IL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148086"/>
            <a:ext cx="6339721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שכבות על הקובץ (Claude)</a:t>
            </a:r>
            <a:endParaRPr lang="he-IL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2912" y="2656384"/>
            <a:ext cx="3078284" cy="16321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34342" y="2867819"/>
            <a:ext cx="255382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בסיס: סכם את המסמך</a:t>
            </a:r>
            <a:endParaRPr lang="he-IL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56384"/>
            <a:ext cx="3078284" cy="16321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2905" y="2867819"/>
            <a:ext cx="2553827" cy="1209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הקשר: אני [תפקיד], לקראת [פגישה/החלטה]. מה חשוב לי לפני שאני מגיבה</a:t>
            </a:r>
            <a:endParaRPr lang="he-IL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2912" y="4471690"/>
            <a:ext cx="3078284" cy="16321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34342" y="4683125"/>
            <a:ext cx="2553827" cy="1209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פורמט: טבלה נושא | מה כתוב | למה זה חשוב / איפה הזהירות — עד 8 שורות</a:t>
            </a:r>
            <a:endParaRPr lang="he-IL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71690"/>
            <a:ext cx="3078284" cy="1632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2905" y="4683125"/>
            <a:ext cx="2553827" cy="906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ביקורת: 3 שאלות לחדר + 3 נקודות שעלולות לעבוד לרעתי</a:t>
            </a:r>
            <a:endParaRPr lang="he-IL" sz="1800" dirty="0"/>
          </a:p>
        </p:txBody>
      </p:sp>
      <p:sp>
        <p:nvSpPr>
          <p:cNvPr id="13" name="Text 7"/>
          <p:cNvSpPr/>
          <p:nvPr/>
        </p:nvSpPr>
        <p:spPr>
          <a:xfrm>
            <a:off x="7461361" y="3240286"/>
            <a:ext cx="4075209" cy="644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כך:</a:t>
            </a:r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"סכם ב־5 נקודות"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כך:</a:t>
            </a:r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שכבה אחר שכבה, באותו צ'אט</a:t>
            </a:r>
            <a:endParaRPr lang="he-IL" sz="1450" dirty="0"/>
          </a:p>
        </p:txBody>
      </p:sp>
      <p:sp>
        <p:nvSpPr>
          <p:cNvPr id="14" name="Shape 8"/>
          <p:cNvSpPr/>
          <p:nvPr/>
        </p:nvSpPr>
        <p:spPr>
          <a:xfrm>
            <a:off x="7461361" y="4090888"/>
            <a:ext cx="4075209" cy="902295"/>
          </a:xfrm>
          <a:prstGeom prst="roundRect">
            <a:avLst>
              <a:gd name="adj" fmla="val 8661"/>
            </a:avLst>
          </a:prstGeom>
          <a:solidFill>
            <a:srgbClr val="002A80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391" y="4335463"/>
            <a:ext cx="232563" cy="1860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65985" y="4302125"/>
            <a:ext cx="328455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קובץ אחד → Claude. תיק של כמה קבצים → NotebookLM</a:t>
            </a:r>
            <a:endParaRPr lang="he-IL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מ־40 עמודים למוכנות ב־10 דקות</a:t>
            </a:r>
            <a:endParaRPr lang="he-IL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21345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992188"/>
            <a:ext cx="118067" cy="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865" y="992188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מברק אחד. שלוש הודעות באותו צ'אט — שיחה, לא מברק</a:t>
            </a:r>
            <a:endParaRPr lang="he-IL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203523"/>
            <a:ext cx="10868745" cy="4890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2069" y="1459569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850" dirty="0"/>
          </a:p>
        </p:txBody>
      </p:sp>
      <p:sp>
        <p:nvSpPr>
          <p:cNvPr id="8" name="Text 4"/>
          <p:cNvSpPr/>
          <p:nvPr/>
        </p:nvSpPr>
        <p:spPr>
          <a:xfrm>
            <a:off x="7552069" y="1848862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נקודות מרכזיות מתוך המסמך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5137988" y="5127810"/>
            <a:ext cx="191245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</a:t>
            </a:r>
            <a:endParaRPr lang="he-IL" sz="1850" dirty="0"/>
          </a:p>
        </p:txBody>
      </p:sp>
      <p:sp>
        <p:nvSpPr>
          <p:cNvPr id="10" name="Text 6"/>
          <p:cNvSpPr/>
          <p:nvPr/>
        </p:nvSpPr>
        <p:spPr>
          <a:xfrm>
            <a:off x="5137988" y="551710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שאלות חכמות לשאול בפגישה</a:t>
            </a:r>
            <a:endParaRPr lang="he-IL" sz="1450" dirty="0"/>
          </a:p>
        </p:txBody>
      </p:sp>
      <p:sp>
        <p:nvSpPr>
          <p:cNvPr id="11" name="Text 7"/>
          <p:cNvSpPr/>
          <p:nvPr/>
        </p:nvSpPr>
        <p:spPr>
          <a:xfrm>
            <a:off x="2817961" y="1422991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</a:t>
            </a:r>
            <a:endParaRPr lang="he-IL" sz="1850" dirty="0"/>
          </a:p>
        </p:txBody>
      </p:sp>
      <p:sp>
        <p:nvSpPr>
          <p:cNvPr id="12" name="Text 8"/>
          <p:cNvSpPr/>
          <p:nvPr/>
        </p:nvSpPr>
        <p:spPr>
          <a:xfrm>
            <a:off x="2817961" y="181228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במסמך שעלולות לפעול לרעתך</a:t>
            </a:r>
            <a:endParaRPr lang="he-IL" sz="1450" dirty="0"/>
          </a:p>
        </p:txBody>
      </p:sp>
      <p:sp>
        <p:nvSpPr>
          <p:cNvPr id="13" name="Text 9"/>
          <p:cNvSpPr/>
          <p:nvPr/>
        </p:nvSpPr>
        <p:spPr>
          <a:xfrm>
            <a:off x="51890" y="6200676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אני [תפקיד], הפגישה בעוד שעה, אני לא מומחית למסמך הזה</a:t>
            </a:r>
            <a:endParaRPr lang="he-IL" sz="700" dirty="0"/>
          </a:p>
        </p:txBody>
      </p:sp>
      <p:sp>
        <p:nvSpPr>
          <p:cNvPr id="14" name="Shape 10"/>
          <p:cNvSpPr/>
          <p:nvPr/>
        </p:nvSpPr>
        <p:spPr>
          <a:xfrm>
            <a:off x="11517520" y="6147594"/>
            <a:ext cx="12700" cy="19833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61475" y="6399014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469856"/>
            <a:ext cx="118067" cy="94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865" y="6469856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הקובץ בתוך Claude. עובדה חיצונית → Perplexity, ואז חזרה</a:t>
            </a:r>
            <a:endParaRPr lang="he-IL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8480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כלי כתיבה — מתי כל אחד</a:t>
            </a:r>
            <a:endParaRPr lang="he-IL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09812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509812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ChatGPT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1897360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ניסוח, כיוונים, סיבוב שני. אין קובץ כבד</a:t>
            </a:r>
            <a:endParaRPr lang="he-IL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52687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2452687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Claude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2840236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מסמך ארוך, דיוק על מה שכתוב בקובץ</a:t>
            </a:r>
            <a:endParaRPr lang="he-IL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395563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3395563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(Google)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3783112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ב־Gmail / Docs / Drive — לא מעתיקים החוצה</a:t>
            </a:r>
            <a:endParaRPr lang="he-IL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338439"/>
            <a:ext cx="443001" cy="4430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84021" y="4338439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Copilot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84021" y="4725988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ב־Word / Outlook / Excel, ויש רישיון. אין רישיון — לא השקף הזה</a:t>
            </a:r>
            <a:endParaRPr lang="he-IL" sz="1350" dirty="0"/>
          </a:p>
        </p:txBody>
      </p:sp>
      <p:sp>
        <p:nvSpPr>
          <p:cNvPr id="16" name="Text 9"/>
          <p:cNvSpPr/>
          <p:nvPr/>
        </p:nvSpPr>
        <p:spPr>
          <a:xfrm>
            <a:off x="4623776" y="5135959"/>
            <a:ext cx="6906444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נשארים באותו צ'אט עד שהמשימה נגמרה. מחליפים כלי רק כשהמשימה התחלפה</a:t>
            </a:r>
            <a:endParaRPr lang="he-IL" sz="1350" dirty="0"/>
          </a:p>
        </p:txBody>
      </p:sp>
      <p:sp>
        <p:nvSpPr>
          <p:cNvPr id="17" name="Shape 10"/>
          <p:cNvSpPr/>
          <p:nvPr/>
        </p:nvSpPr>
        <p:spPr>
          <a:xfrm>
            <a:off x="5233360" y="5545931"/>
            <a:ext cx="6296860" cy="627162"/>
          </a:xfrm>
          <a:prstGeom prst="roundRect">
            <a:avLst>
              <a:gd name="adj" fmla="val 11867"/>
            </a:avLst>
          </a:prstGeom>
          <a:solidFill>
            <a:srgbClr val="002A8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561" y="5759946"/>
            <a:ext cx="221451" cy="1772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9627" y="5756275"/>
            <a:ext cx="615339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סודי: כלי ארגוני, או מוחקים שמות ומספרים לפני ההעלאה</a:t>
            </a:r>
            <a:endParaRPr lang="he-IL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4200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3400" b="1" spc="-69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— כשחייבים מקור</a:t>
            </a:r>
            <a:endParaRPr lang="he-IL" sz="3400" dirty="0"/>
          </a:p>
        </p:txBody>
      </p:sp>
      <p:sp>
        <p:nvSpPr>
          <p:cNvPr id="4" name="Text 1"/>
          <p:cNvSpPr/>
          <p:nvPr/>
        </p:nvSpPr>
        <p:spPr>
          <a:xfrm>
            <a:off x="51890" y="1391444"/>
            <a:ext cx="6906444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גוגל. תשובות עם הסבר, מקורות וציטוטים – בזמן אמת.</a:t>
            </a:r>
            <a:endParaRPr lang="he-IL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1950343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endParaRPr lang="he-IL" sz="1700" dirty="0"/>
          </a:p>
        </p:txBody>
      </p:sp>
      <p:sp>
        <p:nvSpPr>
          <p:cNvPr id="6" name="Shape 3"/>
          <p:cNvSpPr/>
          <p:nvPr/>
        </p:nvSpPr>
        <p:spPr>
          <a:xfrm>
            <a:off x="3510272" y="2483743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414091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השתנה עכשיו</a:t>
            </a:r>
            <a:endParaRPr lang="he-IL" sz="1350" dirty="0"/>
          </a:p>
        </p:txBody>
      </p:sp>
      <p:sp>
        <p:nvSpPr>
          <p:cNvPr id="8" name="Shape 5"/>
          <p:cNvSpPr/>
          <p:nvPr/>
        </p:nvSpPr>
        <p:spPr>
          <a:xfrm>
            <a:off x="3510272" y="3022600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952948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תקנה, מחיר, כלי, מתחרה</a:t>
            </a:r>
            <a:endParaRPr lang="he-IL" sz="1350" dirty="0"/>
          </a:p>
        </p:txBody>
      </p:sp>
      <p:sp>
        <p:nvSpPr>
          <p:cNvPr id="10" name="Shape 7"/>
          <p:cNvSpPr/>
          <p:nvPr/>
        </p:nvSpPr>
        <p:spPr>
          <a:xfrm>
            <a:off x="3510272" y="3561457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3491805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מאמר עם תאריך</a:t>
            </a:r>
            <a:endParaRPr lang="he-IL" sz="1350" dirty="0"/>
          </a:p>
        </p:txBody>
      </p:sp>
      <p:sp>
        <p:nvSpPr>
          <p:cNvPr id="12" name="Text 9"/>
          <p:cNvSpPr/>
          <p:nvPr/>
        </p:nvSpPr>
        <p:spPr>
          <a:xfrm>
            <a:off x="4028776" y="1950343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</a:t>
            </a:r>
            <a:endParaRPr lang="he-IL" sz="1700" dirty="0"/>
          </a:p>
        </p:txBody>
      </p:sp>
      <p:sp>
        <p:nvSpPr>
          <p:cNvPr id="13" name="Shape 10"/>
          <p:cNvSpPr/>
          <p:nvPr/>
        </p:nvSpPr>
        <p:spPr>
          <a:xfrm>
            <a:off x="6877572" y="2483743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4" name="Text 11"/>
          <p:cNvSpPr/>
          <p:nvPr/>
        </p:nvSpPr>
        <p:spPr>
          <a:xfrm>
            <a:off x="4028776" y="2414091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לנסח מייל</a:t>
            </a:r>
            <a:endParaRPr lang="he-IL" sz="1350" dirty="0"/>
          </a:p>
        </p:txBody>
      </p:sp>
      <p:sp>
        <p:nvSpPr>
          <p:cNvPr id="15" name="Shape 12"/>
          <p:cNvSpPr/>
          <p:nvPr/>
        </p:nvSpPr>
        <p:spPr>
          <a:xfrm>
            <a:off x="6877572" y="3022600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6" name="Text 13"/>
          <p:cNvSpPr/>
          <p:nvPr/>
        </p:nvSpPr>
        <p:spPr>
          <a:xfrm>
            <a:off x="4028776" y="2952948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לסכם ישיבה</a:t>
            </a:r>
            <a:endParaRPr lang="he-IL" sz="1350" dirty="0"/>
          </a:p>
        </p:txBody>
      </p:sp>
      <p:sp>
        <p:nvSpPr>
          <p:cNvPr id="17" name="Shape 14"/>
          <p:cNvSpPr/>
          <p:nvPr/>
        </p:nvSpPr>
        <p:spPr>
          <a:xfrm>
            <a:off x="6877572" y="3561457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8" name="Text 15"/>
          <p:cNvSpPr/>
          <p:nvPr/>
        </p:nvSpPr>
        <p:spPr>
          <a:xfrm>
            <a:off x="4028776" y="3491805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לשכתב טון</a:t>
            </a:r>
            <a:endParaRPr lang="he-IL" sz="1350" dirty="0"/>
          </a:p>
        </p:txBody>
      </p:sp>
      <p:sp>
        <p:nvSpPr>
          <p:cNvPr id="19" name="Text 16"/>
          <p:cNvSpPr/>
          <p:nvPr/>
        </p:nvSpPr>
        <p:spPr>
          <a:xfrm>
            <a:off x="661475" y="4251424"/>
            <a:ext cx="60355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"[שאלה אחת ספציפית]. תשובה קצרה + מקור + תאריך לכל נתון. אם יש מחלוקת — כתוב"</a:t>
            </a:r>
            <a:endParaRPr lang="he-IL" sz="1350" dirty="0"/>
          </a:p>
        </p:txBody>
      </p:sp>
      <p:sp>
        <p:nvSpPr>
          <p:cNvPr id="20" name="Shape 17"/>
          <p:cNvSpPr/>
          <p:nvPr/>
        </p:nvSpPr>
        <p:spPr>
          <a:xfrm>
            <a:off x="6939285" y="4070747"/>
            <a:ext cx="19050" cy="79652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21" name="Text 18"/>
          <p:cNvSpPr/>
          <p:nvPr/>
        </p:nvSpPr>
        <p:spPr>
          <a:xfrm>
            <a:off x="661475" y="5047952"/>
            <a:ext cx="6296860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שרשרת: מצאתם עובדה → מעתיקים ל־ChatGPT/Claude → "עדכן את הטיוטה לפי זה, בלי להוסיף עובדות חדשות"</a:t>
            </a:r>
            <a:endParaRPr lang="he-IL" sz="1350" dirty="0"/>
          </a:p>
        </p:txBody>
      </p:sp>
      <p:sp>
        <p:nvSpPr>
          <p:cNvPr id="22" name="Shape 19"/>
          <p:cNvSpPr/>
          <p:nvPr/>
        </p:nvSpPr>
        <p:spPr>
          <a:xfrm>
            <a:off x="661475" y="5663803"/>
            <a:ext cx="6296860" cy="609898"/>
          </a:xfrm>
          <a:prstGeom prst="roundRect">
            <a:avLst>
              <a:gd name="adj" fmla="val 12000"/>
            </a:avLst>
          </a:prstGeom>
          <a:solidFill>
            <a:srgbClr val="002A8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9" y="5874246"/>
            <a:ext cx="217780" cy="17422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27702" y="5867995"/>
            <a:ext cx="6165993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נשאר הערת שוליים למנויים, לא קובייה ראשית</a:t>
            </a:r>
            <a:endParaRPr lang="he-IL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092"/>
            <a:ext cx="10868745" cy="5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00" b="1" spc="-72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כלים שרוב האנשים מפספסים</a:t>
            </a:r>
            <a:endParaRPr lang="he-IL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85516"/>
            <a:ext cx="521103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890" y="2060377"/>
            <a:ext cx="582062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 של 5–15 קבצים. עונה רק מתוך מה שהעליתם.</a:t>
            </a:r>
            <a:endParaRPr lang="he-IL" sz="1400" dirty="0"/>
          </a:p>
        </p:txBody>
      </p:sp>
      <p:sp>
        <p:nvSpPr>
          <p:cNvPr id="5" name="Shape 3"/>
          <p:cNvSpPr/>
          <p:nvPr/>
        </p:nvSpPr>
        <p:spPr>
          <a:xfrm>
            <a:off x="5781034" y="2567484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494260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הכנה לפגישה עם הפניה למקור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5781034" y="3156545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083322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על כמה מסמכים בו-זמנית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5781034" y="3745607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672384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ממציא — רק מה שבקבצים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325533" y="1585516"/>
            <a:ext cx="521103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6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תמלול → סיכום</a:t>
            </a:r>
            <a:endParaRPr lang="he-IL" sz="1800" dirty="0"/>
          </a:p>
        </p:txBody>
      </p:sp>
      <p:sp>
        <p:nvSpPr>
          <p:cNvPr id="12" name="Text 10"/>
          <p:cNvSpPr/>
          <p:nvPr/>
        </p:nvSpPr>
        <p:spPr>
          <a:xfrm>
            <a:off x="5715948" y="2060377"/>
            <a:ext cx="582062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הקלטת זום / שיעור / שיחת לקוח → טקסט גולמי → הנחיית תחנה 2</a:t>
            </a:r>
            <a:endParaRPr lang="he-IL" sz="1400" dirty="0"/>
          </a:p>
        </p:txBody>
      </p:sp>
      <p:sp>
        <p:nvSpPr>
          <p:cNvPr id="13" name="Text 11"/>
          <p:cNvSpPr/>
          <p:nvPr/>
        </p:nvSpPr>
        <p:spPr>
          <a:xfrm>
            <a:off x="5715948" y="2653903"/>
            <a:ext cx="5545991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"אל תמציא החלטה שלא נאמרה"</a:t>
            </a:r>
            <a:endParaRPr lang="he-IL" sz="1400" dirty="0"/>
          </a:p>
        </p:txBody>
      </p:sp>
      <p:sp>
        <p:nvSpPr>
          <p:cNvPr id="14" name="Shape 12"/>
          <p:cNvSpPr/>
          <p:nvPr/>
        </p:nvSpPr>
        <p:spPr>
          <a:xfrm>
            <a:off x="11511171" y="2494260"/>
            <a:ext cx="25399" cy="553641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45093" y="3320653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25533" y="3247430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מורים</a:t>
            </a:r>
            <a:endParaRPr lang="he-IL" sz="1400" dirty="0"/>
          </a:p>
        </p:txBody>
      </p:sp>
      <p:sp>
        <p:nvSpPr>
          <p:cNvPr id="17" name="Shape 15"/>
          <p:cNvSpPr/>
          <p:nvPr/>
        </p:nvSpPr>
        <p:spPr>
          <a:xfrm>
            <a:off x="11445093" y="3909715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25533" y="3836491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מכירות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11445093" y="4498777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25533" y="4425553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</a:t>
            </a:r>
            <a:endParaRPr lang="he-IL" sz="1400" dirty="0"/>
          </a:p>
        </p:txBody>
      </p:sp>
      <p:sp>
        <p:nvSpPr>
          <p:cNvPr id="21" name="Shape 19"/>
          <p:cNvSpPr/>
          <p:nvPr/>
        </p:nvSpPr>
        <p:spPr>
          <a:xfrm>
            <a:off x="11445093" y="5087838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25533" y="5014615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</a:t>
            </a: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661475" y="5648027"/>
            <a:ext cx="10868745" cy="662781"/>
          </a:xfrm>
          <a:prstGeom prst="roundRect">
            <a:avLst>
              <a:gd name="adj" fmla="val 11604"/>
            </a:avLst>
          </a:prstGeom>
          <a:solidFill>
            <a:srgbClr val="002A8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5875933"/>
            <a:ext cx="228793" cy="18305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6791" y="5871071"/>
            <a:ext cx="10700375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רק מי שכותב במשרד</a:t>
            </a:r>
            <a:endParaRPr lang="he-IL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271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קודם תוכן — אחר כך שקפים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330450"/>
            <a:ext cx="7175519" cy="3094732"/>
          </a:xfrm>
          <a:prstGeom prst="roundRect">
            <a:avLst>
              <a:gd name="adj" fmla="val 4398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519462"/>
            <a:ext cx="67975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Gamma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04772" y="3015555"/>
            <a:ext cx="740709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מדביקים את הסיכום מתחנה 2. 6 שקפים. קהל מוגדר בהנחיה.</a:t>
            </a:r>
            <a:endParaRPr lang="he-IL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3643908"/>
            <a:ext cx="651404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"בנה מצגת מ־6 שקפים מהסיכום. קהל: [מי מול המסך]. שקף 1 מטרה, 2–4 החלטות/משימות/פתוח, 5 הצעד הבא, 6 משפט סגירה. עברית, בלי קישוט"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7486463" y="3473847"/>
            <a:ext cx="25399" cy="831453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  <p:sp>
        <p:nvSpPr>
          <p:cNvPr id="8" name="Shape 6"/>
          <p:cNvSpPr/>
          <p:nvPr/>
        </p:nvSpPr>
        <p:spPr>
          <a:xfrm>
            <a:off x="714357" y="4517926"/>
            <a:ext cx="6797505" cy="680244"/>
          </a:xfrm>
          <a:prstGeom prst="roundRect">
            <a:avLst>
              <a:gd name="adj" fmla="val 11670"/>
            </a:avLst>
          </a:prstGeom>
          <a:solidFill>
            <a:srgbClr val="002A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364" y="4772918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9020" y="4735215"/>
            <a:ext cx="660383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וידוי: חלק ממצגות הקורס נבנו כך — נשאר, הוא טוב</a:t>
            </a:r>
            <a:endParaRPr lang="he-IL" sz="1450" dirty="0"/>
          </a:p>
        </p:txBody>
      </p:sp>
      <p:sp>
        <p:nvSpPr>
          <p:cNvPr id="11" name="Text 8"/>
          <p:cNvSpPr/>
          <p:nvPr/>
        </p:nvSpPr>
        <p:spPr>
          <a:xfrm>
            <a:off x="8032251" y="2519462"/>
            <a:ext cx="35042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ישנה?</a:t>
            </a:r>
            <a:endParaRPr lang="he-IL" sz="1850" dirty="0"/>
          </a:p>
        </p:txBody>
      </p:sp>
      <p:sp>
        <p:nvSpPr>
          <p:cNvPr id="12" name="Text 9"/>
          <p:cNvSpPr/>
          <p:nvPr/>
        </p:nvSpPr>
        <p:spPr>
          <a:xfrm>
            <a:off x="8032251" y="3015555"/>
            <a:ext cx="350421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Beautiful.ai / Canva מעצבים מחדש. לא נוגעים בתוכן כאן.</a:t>
            </a:r>
            <a:endParaRPr lang="he-IL" sz="1450" dirty="0"/>
          </a:p>
        </p:txBody>
      </p:sp>
      <p:sp>
        <p:nvSpPr>
          <p:cNvPr id="13" name="Shape 10"/>
          <p:cNvSpPr/>
          <p:nvPr/>
        </p:nvSpPr>
        <p:spPr>
          <a:xfrm>
            <a:off x="11442017" y="3795117"/>
            <a:ext cx="94454" cy="94456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4" name="Text 11"/>
          <p:cNvSpPr/>
          <p:nvPr/>
        </p:nvSpPr>
        <p:spPr>
          <a:xfrm>
            <a:off x="8032251" y="3719513"/>
            <a:ext cx="32207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שדרוג מצגות ישנות</a:t>
            </a:r>
            <a:endParaRPr lang="he-IL" sz="1450" dirty="0"/>
          </a:p>
        </p:txBody>
      </p:sp>
      <p:sp>
        <p:nvSpPr>
          <p:cNvPr id="15" name="Shape 12"/>
          <p:cNvSpPr/>
          <p:nvPr/>
        </p:nvSpPr>
        <p:spPr>
          <a:xfrm>
            <a:off x="11442017" y="4418806"/>
            <a:ext cx="94454" cy="94456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6" name="Text 13"/>
          <p:cNvSpPr/>
          <p:nvPr/>
        </p:nvSpPr>
        <p:spPr>
          <a:xfrm>
            <a:off x="8032251" y="4343202"/>
            <a:ext cx="32207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אחיד לכל השקופיות</a:t>
            </a:r>
            <a:endParaRPr lang="he-IL" sz="1450" dirty="0"/>
          </a:p>
        </p:txBody>
      </p:sp>
      <p:sp>
        <p:nvSpPr>
          <p:cNvPr id="17" name="Shape 14"/>
          <p:cNvSpPr/>
          <p:nvPr/>
        </p:nvSpPr>
        <p:spPr>
          <a:xfrm>
            <a:off x="11442017" y="5042495"/>
            <a:ext cx="94454" cy="94456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8" name="Text 15"/>
          <p:cNvSpPr/>
          <p:nvPr/>
        </p:nvSpPr>
        <p:spPr>
          <a:xfrm>
            <a:off x="8032251" y="4966891"/>
            <a:ext cx="32207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תבניות מקצועיות מוכנות</a:t>
            </a:r>
            <a:endParaRPr lang="he-IL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59296"/>
            <a:ext cx="6296860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2550" b="1" spc="-51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סדנה — 25 דקות, תוצר אמיתי</a:t>
            </a:r>
            <a:endParaRPr lang="he-IL" sz="2550" dirty="0"/>
          </a:p>
        </p:txBody>
      </p:sp>
      <p:sp>
        <p:nvSpPr>
          <p:cNvPr id="4" name="Shape 1"/>
          <p:cNvSpPr/>
          <p:nvPr/>
        </p:nvSpPr>
        <p:spPr>
          <a:xfrm>
            <a:off x="6440723" y="1115516"/>
            <a:ext cx="517611" cy="197346"/>
          </a:xfrm>
          <a:prstGeom prst="roundRect">
            <a:avLst>
              <a:gd name="adj" fmla="val 22125"/>
            </a:avLst>
          </a:prstGeom>
          <a:solidFill>
            <a:srgbClr val="00194D"/>
          </a:solidFill>
          <a:ln/>
        </p:spPr>
      </p:sp>
      <p:sp>
        <p:nvSpPr>
          <p:cNvPr id="5" name="Text 2"/>
          <p:cNvSpPr/>
          <p:nvPr/>
        </p:nvSpPr>
        <p:spPr>
          <a:xfrm>
            <a:off x="5909023" y="1154410"/>
            <a:ext cx="971426" cy="11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8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דקות</a:t>
            </a:r>
            <a:endParaRPr lang="he-IL" sz="800" dirty="0"/>
          </a:p>
        </p:txBody>
      </p:sp>
      <p:sp>
        <p:nvSpPr>
          <p:cNvPr id="6" name="Text 3"/>
          <p:cNvSpPr/>
          <p:nvPr/>
        </p:nvSpPr>
        <p:spPr>
          <a:xfrm>
            <a:off x="6698487" y="1413371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1621532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1724521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בחרו משימה מדף העשר</a:t>
            </a:r>
            <a:endParaRPr lang="he-IL" sz="1250" dirty="0"/>
          </a:p>
        </p:txBody>
      </p:sp>
      <p:sp>
        <p:nvSpPr>
          <p:cNvPr id="9" name="Text 6"/>
          <p:cNvSpPr/>
          <p:nvPr/>
        </p:nvSpPr>
        <p:spPr>
          <a:xfrm>
            <a:off x="6698487" y="2122388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2317552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2433538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כתבו הנחיה מי־מה־איך</a:t>
            </a:r>
            <a:endParaRPr lang="he-IL" sz="1250" dirty="0"/>
          </a:p>
        </p:txBody>
      </p:sp>
      <p:sp>
        <p:nvSpPr>
          <p:cNvPr id="12" name="Text 9"/>
          <p:cNvSpPr/>
          <p:nvPr/>
        </p:nvSpPr>
        <p:spPr>
          <a:xfrm>
            <a:off x="6698487" y="2831405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1475" y="3013670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3142555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בחרו כלי לפי עץ ההחלטה — אמרו בקול למה</a:t>
            </a:r>
            <a:endParaRPr lang="he-IL" sz="1250" dirty="0"/>
          </a:p>
        </p:txBody>
      </p:sp>
      <p:sp>
        <p:nvSpPr>
          <p:cNvPr id="15" name="Text 12"/>
          <p:cNvSpPr/>
          <p:nvPr/>
        </p:nvSpPr>
        <p:spPr>
          <a:xfrm>
            <a:off x="6698487" y="3540423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1475" y="3709690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3851573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פעם אחת</a:t>
            </a:r>
            <a:endParaRPr lang="he-IL" sz="1250" dirty="0"/>
          </a:p>
        </p:txBody>
      </p:sp>
      <p:sp>
        <p:nvSpPr>
          <p:cNvPr id="18" name="Text 15"/>
          <p:cNvSpPr/>
          <p:nvPr/>
        </p:nvSpPr>
        <p:spPr>
          <a:xfrm>
            <a:off x="6698487" y="4249440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1475" y="4405809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4560590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שפרו פעם אחת: קצר יותר / פורמט אחר / "מה חסר?"</a:t>
            </a:r>
            <a:endParaRPr lang="he-IL" sz="1250" dirty="0"/>
          </a:p>
        </p:txBody>
      </p:sp>
      <p:sp>
        <p:nvSpPr>
          <p:cNvPr id="21" name="Text 18"/>
          <p:cNvSpPr/>
          <p:nvPr/>
        </p:nvSpPr>
        <p:spPr>
          <a:xfrm>
            <a:off x="6698487" y="4958457"/>
            <a:ext cx="25984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spc="-2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1475" y="5101828"/>
            <a:ext cx="6296860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3" name="Text 20"/>
          <p:cNvSpPr/>
          <p:nvPr/>
        </p:nvSpPr>
        <p:spPr>
          <a:xfrm>
            <a:off x="661475" y="5269607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250" b="1" spc="-26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ההנחיה שעבדה + שם הכלי → לבנק</a:t>
            </a:r>
            <a:endParaRPr lang="he-IL" sz="1250" dirty="0"/>
          </a:p>
        </p:txBody>
      </p:sp>
      <p:sp>
        <p:nvSpPr>
          <p:cNvPr id="24" name="Text 21"/>
          <p:cNvSpPr/>
          <p:nvPr/>
        </p:nvSpPr>
        <p:spPr>
          <a:xfrm>
            <a:off x="51890" y="5678686"/>
            <a:ext cx="6906444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1000"/>
              </a:lnSpc>
              <a:buNone/>
            </a:pPr>
            <a:r>
              <a:rPr lang="he-IL" altLang="en-US" sz="10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עוברים כלי באמצע הסיבוב</a:t>
            </a:r>
            <a:endParaRPr lang="he-IL" sz="1000" dirty="0"/>
          </a:p>
        </p:txBody>
      </p:sp>
      <p:sp>
        <p:nvSpPr>
          <p:cNvPr id="25" name="Shape 22"/>
          <p:cNvSpPr/>
          <p:nvPr/>
        </p:nvSpPr>
        <p:spPr>
          <a:xfrm>
            <a:off x="661475" y="5843984"/>
            <a:ext cx="6296860" cy="377031"/>
          </a:xfrm>
          <a:prstGeom prst="roundRect">
            <a:avLst>
              <a:gd name="adj" fmla="val 14476"/>
            </a:avLst>
          </a:prstGeom>
          <a:solidFill>
            <a:srgbClr val="002A80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49" y="5965726"/>
            <a:ext cx="162417" cy="12987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74055" y="6043414"/>
            <a:ext cx="6354405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1000"/>
              </a:lnSpc>
              <a:buNone/>
            </a:pPr>
            <a:r>
              <a:rPr lang="he-IL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5 הדקות:</a:t>
            </a:r>
            <a:pPr rtl="1" algn="r" indent="0" marL="0">
              <a:lnSpc>
                <a:spcPct val="91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מעל 5 דקות ויש בה טקסט, הסבר או מסמך — בודקים עם AI</a:t>
            </a:r>
            <a:endParaRPr lang="he-IL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36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שבועי — 3 הנחיות שמורות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04107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שבועי אישי</a:t>
            </a:r>
            <a:endParaRPr lang="he-IL" sz="1850" dirty="0"/>
          </a:p>
        </p:txBody>
      </p:sp>
      <p:sp>
        <p:nvSpPr>
          <p:cNvPr id="4" name="Shape 2"/>
          <p:cNvSpPr/>
          <p:nvPr/>
        </p:nvSpPr>
        <p:spPr>
          <a:xfrm>
            <a:off x="5440028" y="242381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10918" y="2452191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1475" y="2482850"/>
            <a:ext cx="458954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משהו שחוזר כל שבוע</a:t>
            </a:r>
            <a:endParaRPr lang="he-IL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2978944"/>
            <a:ext cx="458954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קבועה בבנק</a:t>
            </a:r>
            <a:endParaRPr lang="he-IL" sz="1450" dirty="0"/>
          </a:p>
        </p:txBody>
      </p:sp>
      <p:sp>
        <p:nvSpPr>
          <p:cNvPr id="8" name="Shape 6"/>
          <p:cNvSpPr/>
          <p:nvPr/>
        </p:nvSpPr>
        <p:spPr>
          <a:xfrm>
            <a:off x="5440028" y="360263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0918" y="3631009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1475" y="3661668"/>
            <a:ext cx="458954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משהו שצריך לנסח לאדם אמיתי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157762"/>
            <a:ext cx="458954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"אתה…"</a:t>
            </a:r>
            <a:endParaRPr lang="he-IL" sz="1450" dirty="0"/>
          </a:p>
        </p:txBody>
      </p:sp>
      <p:sp>
        <p:nvSpPr>
          <p:cNvPr id="12" name="Shape 10"/>
          <p:cNvSpPr/>
          <p:nvPr/>
        </p:nvSpPr>
        <p:spPr>
          <a:xfrm>
            <a:off x="5440028" y="478145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0918" y="4809827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1475" y="4840486"/>
            <a:ext cx="458954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משהו עם חומר גלם</a:t>
            </a:r>
            <a:endParaRPr lang="he-IL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5336580"/>
            <a:ext cx="458954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/ נקודות / תמלול — ב־Claude או NotebookLM, שלוש הודעות</a:t>
            </a:r>
            <a:endParaRPr lang="he-IL" sz="1450" dirty="0"/>
          </a:p>
        </p:txBody>
      </p:sp>
      <p:sp>
        <p:nvSpPr>
          <p:cNvPr id="16" name="Shape 14"/>
          <p:cNvSpPr/>
          <p:nvPr/>
        </p:nvSpPr>
        <p:spPr>
          <a:xfrm>
            <a:off x="6196651" y="1715095"/>
            <a:ext cx="5476043" cy="4325441"/>
          </a:xfrm>
          <a:prstGeom prst="roundRect">
            <a:avLst>
              <a:gd name="adj" fmla="val 314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85658" y="1904107"/>
            <a:ext cx="509802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בית</a:t>
            </a:r>
            <a:endParaRPr lang="he-IL" sz="1850" dirty="0"/>
          </a:p>
        </p:txBody>
      </p:sp>
      <p:sp>
        <p:nvSpPr>
          <p:cNvPr id="18" name="Text 16"/>
          <p:cNvSpPr/>
          <p:nvPr/>
        </p:nvSpPr>
        <p:spPr>
          <a:xfrm>
            <a:off x="5776073" y="2400201"/>
            <a:ext cx="57076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בצעו את השלוש. והביאו למפגש האחרון:</a:t>
            </a:r>
            <a:endParaRPr lang="he-IL" sz="1450" dirty="0"/>
          </a:p>
        </p:txBody>
      </p:sp>
      <p:sp>
        <p:nvSpPr>
          <p:cNvPr id="19" name="Text 17"/>
          <p:cNvSpPr/>
          <p:nvPr/>
        </p:nvSpPr>
        <p:spPr>
          <a:xfrm>
            <a:off x="6385658" y="2815927"/>
            <a:ext cx="5098029" cy="1180902"/>
          </a:xfrm>
          <a:prstGeom prst="rect">
            <a:avLst/>
          </a:prstGeom>
          <a:noFill/>
          <a:ln/>
        </p:spPr>
        <p:txBody>
          <a:bodyPr wrap="square" lIns="0" tIns="0" rIns="75608" bIns="0" rtlCol="0" anchor="t">
            <a:normAutofit/>
          </a:bodyPr>
          <a:lstStyle/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התוצר שהכי גאים בו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ההנחיות עצמן, לא רק התוצרים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כישלון אחד שעדיין לא נסגר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אחד לא סודי למפגש 4</a:t>
            </a:r>
            <a:endParaRPr lang="he-IL" sz="1450" dirty="0"/>
          </a:p>
        </p:txBody>
      </p:sp>
      <p:sp>
        <p:nvSpPr>
          <p:cNvPr id="20" name="Shape 18"/>
          <p:cNvSpPr/>
          <p:nvPr/>
        </p:nvSpPr>
        <p:spPr>
          <a:xfrm>
            <a:off x="6385658" y="4209455"/>
            <a:ext cx="5098029" cy="680244"/>
          </a:xfrm>
          <a:prstGeom prst="roundRect">
            <a:avLst>
              <a:gd name="adj" fmla="val 11670"/>
            </a:avLst>
          </a:prstGeom>
          <a:solidFill>
            <a:srgbClr val="002A8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665" y="4464447"/>
            <a:ext cx="236234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90321" y="4426744"/>
            <a:ext cx="490435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רמז למפגש 4: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המסמך שלכם ידבר.</a:t>
            </a:r>
            <a:endParaRPr lang="he-IL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2026-09-29T22:25:53Z</dcterms:created>
  <dcterms:modified xsi:type="dcterms:W3CDTF">2026-09-29T22:25:53Z</dcterms:modified>
</cp:coreProperties>
</file>