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3.svg" ContentType="image/svg+xml"/>
  <Override PartName="/ppt/media/image-10-6.svg" ContentType="image/svg+xml"/>
  <Override PartName="/ppt/media/image-10-8.svg" ContentType="image/svg+xml"/>
  <Override PartName="/ppt/media/image-11-3.svg" ContentType="image/svg+xml"/>
  <Override PartName="/ppt/media/image-11-5.svg" ContentType="image/svg+xml"/>
  <Override PartName="/ppt/media/image-13-3.svg" ContentType="image/svg+xml"/>
  <Override PartName="/ppt/media/image-13-5.svg" ContentType="image/svg+xml"/>
  <Override PartName="/ppt/media/image-13-7.svg" ContentType="image/svg+xml"/>
  <Override PartName="/ppt/media/image-14-2.svg" ContentType="image/svg+xml"/>
  <Override PartName="/ppt/media/image-14-8.svg" ContentType="image/svg+xml"/>
  <Override PartName="/ppt/media/image-6-4.svg" ContentType="image/svg+xml"/>
  <Override PartName="/ppt/media/image-7-10.svg" ContentType="image/svg+xml"/>
  <Override PartName="/ppt/media/image-7-2.svg" ContentType="image/svg+xml"/>
  <Override PartName="/ppt/media/image-7-4.svg" ContentType="image/svg+xml"/>
  <Override PartName="/ppt/media/image-7-6.svg" ContentType="image/svg+xml"/>
  <Override PartName="/ppt/media/image-7-8.svg" ContentType="image/svg+xml"/>
  <Override PartName="/ppt/media/image-9-3.svg" ContentType="image/svg+xml"/>
  <Override PartName="/ppt/media/image-9-5.svg" ContentType="image/svg+xml"/>
  <Override PartName="/ppt/media/s3-image-8-3.svg" ContentType="image/svg+xml"/>
  <Override PartName="/ppt/media/s3-image-8-5.svg" ContentType="image/svg+xml"/>
  <Override PartName="/ppt/media/s3-image-8-7.svg" ContentType="image/svg+xml"/>
  <Override PartName="/ppt/media/s3-image-8-9.svg" ContentType="image/svg+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00.xml" ContentType="application/vnd.openxmlformats-officedocument.presentationml.notesSlide+xml"/>
  <Override PartName="/ppt/notesSlides/notesSlide902.xml" ContentType="application/vnd.openxmlformats-officedocument.presentationml.notesSlide+xml"/>
  <Override PartName="/ppt/notesSlides/notesSlide903.xml" ContentType="application/vnd.openxmlformats-officedocument.presentationml.notesSlide+xml"/>
  <Override PartName="/ppt/notesSlides/notesSlide904.xml" ContentType="application/vnd.openxmlformats-officedocument.presentationml.notesSlide+xml"/>
  <Override PartName="/ppt/notesSlides/notesSlide905.xml" ContentType="application/vnd.openxmlformats-officedocument.presentationml.notesSlide+xml"/>
  <Override PartName="/ppt/notesSlides/notesSlide906.xml" ContentType="application/vnd.openxmlformats-officedocument.presentationml.notesSlide+xml"/>
  <Override PartName="/ppt/notesSlides/notesSlide907.xml" ContentType="application/vnd.openxmlformats-officedocument.presentationml.notesSlide+xml"/>
  <Override PartName="/ppt/notesSlides/notesSlide908.xml" ContentType="application/vnd.openxmlformats-officedocument.presentationml.notesSlide+xml"/>
  <Override PartName="/ppt/notesSlides/notesSlide909.xml" ContentType="application/vnd.openxmlformats-officedocument.presentationml.notesSlide+xml"/>
  <Override PartName="/ppt/notesSlides/notesSlide910.xml" ContentType="application/vnd.openxmlformats-officedocument.presentationml.notesSlide+xml"/>
  <Override PartName="/ppt/notesSlides/notesSlide911.xml" ContentType="application/vnd.openxmlformats-officedocument.presentationml.notesSlide+xml"/>
  <Override PartName="/ppt/notesSlides/notesSlide912.xml" ContentType="application/vnd.openxmlformats-officedocument.presentationml.notesSlide+xml"/>
  <Override PartName="/ppt/notesSlides/notesSlide913.xml" ContentType="application/vnd.openxmlformats-officedocument.presentationml.notesSlide+xml"/>
  <Override PartName="/ppt/notesSlides/notesSlide914.xml" ContentType="application/vnd.openxmlformats-officedocument.presentationml.notesSlide+xml"/>
  <Override PartName="/ppt/notesSlides/notesSlide917.xml" ContentType="application/vnd.openxmlformats-officedocument.presentationml.notesSlide+xml"/>
  <Override PartName="/ppt/notesSlides/notesSlide918.xml" ContentType="application/vnd.openxmlformats-officedocument.presentationml.notesSlide+xml"/>
  <Override PartName="/ppt/notesSlides/notesSlide920.xml" ContentType="application/vnd.openxmlformats-officedocument.presentationml.notesSlide+xml"/>
  <Override PartName="/ppt/notesSlides/notesSlide921.xml" ContentType="application/vnd.openxmlformats-officedocument.presentationml.notesSlide+xml"/>
  <Override PartName="/ppt/notesSlides/notesSlide924.xml" ContentType="application/vnd.openxmlformats-officedocument.presentationml.notesSlide+xml"/>
  <Override PartName="/ppt/notesSlides/notesSlide925.xml" ContentType="application/vnd.openxmlformats-officedocument.presentationml.notesSlide+xml"/>
  <Override PartName="/ppt/notesSlides/notesSlide92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001.xml" ContentType="application/vnd.openxmlformats-officedocument.presentationml.slide+xml"/>
  <Override PartName="/ppt/slides/slide2002.xml" ContentType="application/vnd.openxmlformats-officedocument.presentationml.slide+xml"/>
  <Override PartName="/ppt/slides/slide2003.xml" ContentType="application/vnd.openxmlformats-officedocument.presentationml.slide+xml"/>
  <Override PartName="/ppt/slides/slide2004.xml" ContentType="application/vnd.openxmlformats-officedocument.presentationml.slide+xml"/>
  <Override PartName="/ppt/slides/slide2005.xml" ContentType="application/vnd.openxmlformats-officedocument.presentationml.slide+xml"/>
  <Override PartName="/ppt/slides/slide2006.xml" ContentType="application/vnd.openxmlformats-officedocument.presentationml.slide+xml"/>
  <Override PartName="/ppt/slides/slide2007.xml" ContentType="application/vnd.openxmlformats-officedocument.presentationml.slide+xml"/>
  <Override PartName="/ppt/slides/slide2008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8.xml" ContentType="application/vnd.openxmlformats-officedocument.presentationml.slide+xml"/>
  <Override PartName="/ppt/slides/slide900.xml" ContentType="application/vnd.openxmlformats-officedocument.presentationml.slide+xml"/>
  <Override PartName="/ppt/slides/slide902.xml" ContentType="application/vnd.openxmlformats-officedocument.presentationml.slide+xml"/>
  <Override PartName="/ppt/slides/slide903.xml" ContentType="application/vnd.openxmlformats-officedocument.presentationml.slide+xml"/>
  <Override PartName="/ppt/slides/slide904.xml" ContentType="application/vnd.openxmlformats-officedocument.presentationml.slide+xml"/>
  <Override PartName="/ppt/slides/slide905.xml" ContentType="application/vnd.openxmlformats-officedocument.presentationml.slide+xml"/>
  <Override PartName="/ppt/slides/slide906.xml" ContentType="application/vnd.openxmlformats-officedocument.presentationml.slide+xml"/>
  <Override PartName="/ppt/slides/slide907.xml" ContentType="application/vnd.openxmlformats-officedocument.presentationml.slide+xml"/>
  <Override PartName="/ppt/slides/slide908.xml" ContentType="application/vnd.openxmlformats-officedocument.presentationml.slide+xml"/>
  <Override PartName="/ppt/slides/slide909.xml" ContentType="application/vnd.openxmlformats-officedocument.presentationml.slide+xml"/>
  <Override PartName="/ppt/slides/slide910.xml" ContentType="application/vnd.openxmlformats-officedocument.presentationml.slide+xml"/>
  <Override PartName="/ppt/slides/slide911.xml" ContentType="application/vnd.openxmlformats-officedocument.presentationml.slide+xml"/>
  <Override PartName="/ppt/slides/slide912.xml" ContentType="application/vnd.openxmlformats-officedocument.presentationml.slide+xml"/>
  <Override PartName="/ppt/slides/slide913.xml" ContentType="application/vnd.openxmlformats-officedocument.presentationml.slide+xml"/>
  <Override PartName="/ppt/slides/slide914.xml" ContentType="application/vnd.openxmlformats-officedocument.presentationml.slide+xml"/>
  <Override PartName="/ppt/slides/slide917.xml" ContentType="application/vnd.openxmlformats-officedocument.presentationml.slide+xml"/>
  <Override PartName="/ppt/slides/slide918.xml" ContentType="application/vnd.openxmlformats-officedocument.presentationml.slide+xml"/>
  <Override PartName="/ppt/slides/slide920.xml" ContentType="application/vnd.openxmlformats-officedocument.presentationml.slide+xml"/>
  <Override PartName="/ppt/slides/slide921.xml" ContentType="application/vnd.openxmlformats-officedocument.presentationml.slide+xml"/>
  <Override PartName="/ppt/slides/slide924.xml" ContentType="application/vnd.openxmlformats-officedocument.presentationml.slide+xml"/>
  <Override PartName="/ppt/slides/slide925.xml" ContentType="application/vnd.openxmlformats-officedocument.presentationml.slide+xml"/>
  <Override PartName="/ppt/slides/slide9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96" r:id="rId49"/>
    <p:sldId id="297" r:id="rId50"/>
    <p:sldId id="284" r:id="rId37"/>
    <p:sldId id="257" r:id="rId3"/>
    <p:sldId id="259" r:id="rId5"/>
    <p:sldId id="260" r:id="rId6"/>
    <p:sldId id="261" r:id="rId7"/>
    <p:sldId id="262" r:id="rId8"/>
    <p:sldId id="285" r:id="rId38"/>
    <p:sldId id="264" r:id="rId10"/>
    <p:sldId id="265" r:id="rId11"/>
    <p:sldId id="266" r:id="rId12"/>
    <p:sldId id="298" r:id="rId51"/>
    <p:sldId id="286" r:id="rId39"/>
    <p:sldId id="267" r:id="rId13"/>
    <p:sldId id="290" r:id="rId43"/>
    <p:sldId id="273" r:id="rIdS34"/>
    <p:sldId id="299" r:id="rId52"/>
    <p:sldId id="274" r:id="rIdS35"/>
    <p:sldId id="278" r:id="rIdS39"/>
    <p:sldId id="279" r:id="rIdS310"/>
    <p:sldId id="300" r:id="rId53"/>
    <p:sldId id="301" r:id="rId54"/>
    <p:sldId id="293" r:id="rId46"/>
    <p:sldId id="294" r:id="rId47"/>
    <p:sldId id="302" r:id="rId55"/>
    <p:sldId id="303" r:id="rId56"/>
    <p:sldId id="295" r:id="rId48"/>
  </p:sldIdLst>
  <p:notesMasterIdLst>
    <p:notesMasterId r:id="rId16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S31" Type="http://schemas.openxmlformats.org/officeDocument/2006/relationships/slide" Target="slides/slide15.xml"/><Relationship Id="rIdS310" Type="http://schemas.openxmlformats.org/officeDocument/2006/relationships/slide" Target="slides/slide921.xml"/><Relationship Id="rIdS34" Type="http://schemas.openxmlformats.org/officeDocument/2006/relationships/slide" Target="slides/slide917.xml"/><Relationship Id="rIdS35" Type="http://schemas.openxmlformats.org/officeDocument/2006/relationships/slide" Target="slides/slide918.xml"/><Relationship Id="rIdS37" Type="http://schemas.openxmlformats.org/officeDocument/2006/relationships/slide" Target="slides/slide21.xml"/><Relationship Id="rIdS38" Type="http://schemas.openxmlformats.org/officeDocument/2006/relationships/slide" Target="slides/slide22.xml"/><Relationship Id="rIdS39" Type="http://schemas.openxmlformats.org/officeDocument/2006/relationships/slide" Target="slides/slide920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900.xml"/><Relationship Id="rId3" Type="http://schemas.openxmlformats.org/officeDocument/2006/relationships/slide" Target="slides/slide903.xml"/><Relationship Id="rId4" Type="http://schemas.openxmlformats.org/officeDocument/2006/relationships/slide" Target="slides/slide3.xml"/><Relationship Id="rId5" Type="http://schemas.openxmlformats.org/officeDocument/2006/relationships/slide" Target="slides/slide904.xml"/><Relationship Id="rId6" Type="http://schemas.openxmlformats.org/officeDocument/2006/relationships/slide" Target="slides/slide905.xml"/><Relationship Id="rId7" Type="http://schemas.openxmlformats.org/officeDocument/2006/relationships/slide" Target="slides/slide906.xml"/><Relationship Id="rId8" Type="http://schemas.openxmlformats.org/officeDocument/2006/relationships/slide" Target="slides/slide907.xml"/><Relationship Id="rId9" Type="http://schemas.openxmlformats.org/officeDocument/2006/relationships/slide" Target="slides/slide8.xml"/><Relationship Id="rId10" Type="http://schemas.openxmlformats.org/officeDocument/2006/relationships/slide" Target="slides/slide909.xml"/><Relationship Id="rId11" Type="http://schemas.openxmlformats.org/officeDocument/2006/relationships/slide" Target="slides/slide910.xml"/><Relationship Id="rId12" Type="http://schemas.openxmlformats.org/officeDocument/2006/relationships/slide" Target="slides/slide911.xml"/><Relationship Id="rId13" Type="http://schemas.openxmlformats.org/officeDocument/2006/relationships/slide" Target="slides/slide913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37" Type="http://schemas.openxmlformats.org/officeDocument/2006/relationships/slide" Target="slides/slide902.xml"/><Relationship Id="rId38" Type="http://schemas.openxmlformats.org/officeDocument/2006/relationships/slide" Target="slides/slide908.xml"/><Relationship Id="rId39" Type="http://schemas.openxmlformats.org/officeDocument/2006/relationships/slide" Target="slides/slide912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914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924.xml"/><Relationship Id="rId47" Type="http://schemas.openxmlformats.org/officeDocument/2006/relationships/slide" Target="slides/slide925.xml"/><Relationship Id="rId48" Type="http://schemas.openxmlformats.org/officeDocument/2006/relationships/slide" Target="slides/slide927.xml"/><Relationship Id="rId49" Type="http://schemas.openxmlformats.org/officeDocument/2006/relationships/slide" Target="slides/slide2001.xml"/><Relationship Id="rId50" Type="http://schemas.openxmlformats.org/officeDocument/2006/relationships/slide" Target="slides/slide2002.xml"/><Relationship Id="rId51" Type="http://schemas.openxmlformats.org/officeDocument/2006/relationships/slide" Target="slides/slide2003.xml"/><Relationship Id="rId52" Type="http://schemas.openxmlformats.org/officeDocument/2006/relationships/slide" Target="slides/slide2004.xml"/><Relationship Id="rId53" Type="http://schemas.openxmlformats.org/officeDocument/2006/relationships/slide" Target="slides/slide2005.xml"/><Relationship Id="rId54" Type="http://schemas.openxmlformats.org/officeDocument/2006/relationships/slide" Target="slides/slide2006.xml"/><Relationship Id="rId55" Type="http://schemas.openxmlformats.org/officeDocument/2006/relationships/slide" Target="slides/slide2007.xml"/><Relationship Id="rId56" Type="http://schemas.openxmlformats.org/officeDocument/2006/relationships/slide" Target="slides/slide2008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8.xml"/></Relationships>
</file>

<file path=ppt/notesSlides/_rels/notesSlide9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0.xml"/></Relationships>
</file>

<file path=ppt/notesSlides/_rels/notesSlide9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2.xml"/></Relationships>
</file>

<file path=ppt/notesSlides/_rels/notesSlide9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3.xml"/></Relationships>
</file>

<file path=ppt/notesSlides/_rels/notesSlide9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4.xml"/></Relationships>
</file>

<file path=ppt/notesSlides/_rels/notesSlide9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5.xml"/></Relationships>
</file>

<file path=ppt/notesSlides/_rels/notesSlide9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6.xml"/></Relationships>
</file>

<file path=ppt/notesSlides/_rels/notesSlide9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7.xml"/></Relationships>
</file>

<file path=ppt/notesSlides/_rels/notesSlide9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8.xml"/></Relationships>
</file>

<file path=ppt/notesSlides/_rels/notesSlide9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9.xml"/></Relationships>
</file>

<file path=ppt/notesSlides/_rels/notesSlide9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0.xml"/></Relationships>
</file>

<file path=ppt/notesSlides/_rels/notesSlide9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1.xml"/></Relationships>
</file>

<file path=ppt/notesSlides/_rels/notesSlide9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2.xml"/></Relationships>
</file>

<file path=ppt/notesSlides/_rels/notesSlide9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3.xml"/></Relationships>
</file>

<file path=ppt/notesSlides/_rels/notesSlide9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4.xml"/></Relationships>
</file>

<file path=ppt/notesSlides/_rels/notesSlide9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7.xml"/></Relationships>
</file>

<file path=ppt/notesSlides/_rels/notesSlide9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8.xml"/></Relationships>
</file>

<file path=ppt/notesSlides/_rels/notesSlide9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0.xml"/></Relationships>
</file>

<file path=ppt/notesSlides/_rels/notesSlide9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1.xml"/></Relationships>
</file>

<file path=ppt/notesSlides/_rels/notesSlide9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4.xml"/></Relationships>
</file>

<file path=ppt/notesSlides/_rels/notesSlide9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5.xml"/></Relationships>
</file>

<file path=ppt/notesSlides/_rels/notesSlide9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7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 דקות  |  🎯 להראות שהתחום זז מהר, ולחבר חדשה אחת לנושא של היום.</a:t>
            </a:r>
          </a:p>
          <a:p/>
          <a:p>
            <a:r>
              <a:t>🧰 הכנה מראש: לפני המפגש: לעדכן את החדשות לשבוע הנוכחי (בקשו מפרפלקסיטי: "5 חדשות AI מהשבוע האחרון למתחילים, עם מקור").</a:t>
            </a:r>
          </a:p>
          <a:p/>
          <a:p>
            <a:r>
              <a:t>🗣 מה לומר:</a:t>
            </a:r>
          </a:p>
          <a:p>
            <a:r>
              <a:t>כמו בכל מפגש, כמה דקות של מה חדש.</a:t>
            </a:r>
          </a:p>
          <a:p>
            <a:r>
              <a:t>הכותרת הגדולה, והיא בדיוק בשבילנו: Claude Sonnet 5.5, מודל חדש וחכם יותר, פתוח עכשיו לכל חשבון חינמי. מגרש אימונים מעולה למה שנלמד היום.</a:t>
            </a:r>
          </a:p>
          <a:p>
            <a:r>
              <a:t>וגוגל: Gemini Live מדבר עכשיו ב-97 שפות, כולל עברית. אפשר פשוט לדבר איתו.</a:t>
            </a:r>
          </a:p>
          <a:p>
            <a:r>
              <a:t>כתבו בצ'אט: איזו מהחדשות הכי מסקרנת אתכם?</a:t>
            </a:r>
          </a:p>
          <a:p>
            <a:r>
              <a:t>(מקריאים את המנצחת ומקדישים לה דקה)</a:t>
            </a:r>
          </a:p>
          <a:p/>
          <a:p>
            <a:r>
              <a:t>➡️ מעבר: אז הנה מה שמחכה לנו היום.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 דקות  |  🎯 מפת דרך, והדגשה שהמפגש מעשי ונגמר באפיון העסק.</a:t>
            </a:r>
          </a:p>
          <a:p/>
          <a:p>
            <a:r>
              <a:t>🗣 מה לומר:</a:t>
            </a:r>
          </a:p>
          <a:p>
            <a:r>
              <a:t>ההבדל בין המפגש הקודם להיום: בפעם שעברה הכרנו את הכלים. היום אתם כותבים.</a:t>
            </a:r>
          </a:p>
          <a:p>
            <a:r>
              <a:t>נלמד את נוסחת הזהב וחמישה כללים, נבין מתי כותבים בלייב ומתי בונים משימה, ונתרגל במשחקים.</a:t>
            </a:r>
          </a:p>
          <a:p>
            <a:r>
              <a:t>אחר כך: מיילים, סיכומים ומחקר, ואיך מדברים במקום להקליד.</a:t>
            </a:r>
          </a:p>
          <a:p>
            <a:r>
              <a:t>ובסוף, הסדנה: כל אחד בונה אפיון לעסק או למותג שלו. האפיון הזה ילווה אותנו עד סוף הקורס.</a:t>
            </a:r>
          </a:p>
          <a:p/>
          <a:p>
            <a:r>
              <a:t>➡️ מעבר: ובשביל להתחיל באנרגיה, נכנסים למעבדה.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 דקות  |  🎯 להבין מתי משוחחים צעד אחרי צעד ומתי כותבים הנחיה מלאה מראש.</a:t>
            </a:r>
          </a:p>
          <a:p/>
          <a:p>
            <a:r>
              <a:t>🗣 מה לומר:</a:t>
            </a:r>
          </a:p>
          <a:p>
            <a:r>
              <a:t>שתי דרכים לעבוד עם AI.</a:t>
            </a:r>
          </a:p>
          <a:p>
            <a:r>
              <a:t>כתיבה בלייב: שיחה. כותבים שורה, רואים מה יצא, ומשפרים. "קצר יותר", "עכשיו כטבלה". מושלם למייל קצר, לרעיון, לתשובה מהירה.</a:t>
            </a:r>
          </a:p>
          <a:p>
            <a:r>
              <a:t>בניית משימה: הנחיה אחת מלאה, מראש. תפקיד, הקשר, משימה, פורמט, גבולות, ומצרפים חומר ודוגמה. מתאים לאפיון, להצעת מחיר, למסמך ארוך.</a:t>
            </a:r>
          </a:p>
          <a:p>
            <a:r>
              <a:t>והכלל: משימה של דקה? בלייב. משימה של שעה? בונים משימה. ומשימה שחוזרת? שומרים בבנק.</a:t>
            </a:r>
          </a:p>
          <a:p>
            <a:r>
              <a:t>כתבו בצ'אט: משימה אחת שלכם, ולידה "לייב" או "משימה".</a:t>
            </a:r>
          </a:p>
          <a:p/>
          <a:p>
            <a:r>
              <a:t>➡️ מעבר: ומה עושים כשלא יודעים מה לכתוב בכלל?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6 דקות  |  🎯 לתרגל סקירה של כמה מיילים, סדר עדיפויות וטיוטות תשובה.</a:t>
            </a:r>
          </a:p>
          <a:p/>
          <a:p>
            <a:r>
              <a:t>🧰 הכנה מראש: 5 מיילים לדוגמה בקובץ ההדבקות.</a:t>
            </a:r>
          </a:p>
          <a:p/>
          <a:p>
            <a:r>
              <a:t>🏆 אפליקציית הקורס: פותחים את האתגר "מענה למייל עצבני".</a:t>
            </a:r>
          </a:p>
          <a:p/>
          <a:p>
            <a:r>
              <a:t>🗣 מה לומר:</a:t>
            </a:r>
          </a:p>
          <a:p>
            <a:r>
              <a:t>תיבה מלאה, ואין זמן. מדביקים ומקבלים סדר.</a:t>
            </a:r>
          </a:p>
          <a:p>
            <a:r>
              <a:t>ההנחיה בצ'אט: מדביקים 5 מיילים, ומבקשים טבלה: שולח, נושא, ומה לעשות, דחוף, לענות או לארכיון. ולשניים הדחופים, טיוטת תשובה.</a:t>
            </a:r>
          </a:p>
          <a:p>
            <a:r>
              <a:t>(מדביקים בצ'אט את ההנחיה ואת 5 המיילים לדוגמה, ומריצים בשידור חי)</a:t>
            </a:r>
          </a:p>
          <a:p>
            <a:r>
              <a:t>ראיתם? שלושים שניות, ויש סדר.</a:t>
            </a:r>
          </a:p>
          <a:p>
            <a:r>
              <a:t>זהירות: מעתיקים בלי פרטים רגישים של לקוחות. ואם אתם לא רוצים להעתיק, אפשר גם לצלם מסך.</a:t>
            </a:r>
          </a:p>
          <a:p>
            <a:r>
              <a:t>ועכשיו אתגר באפליקציה: אחד המיילים לדוגמה הוא של לקוח עצבני. כתבו את ההנחיה שתוציא ממנו תשובה מושלמת. שלוש דקות.</a:t>
            </a:r>
          </a:p>
          <a:p/>
          <a:p>
            <a:r>
              <a:t>➡️ מעבר: תחנה שנייה: ההנחיה שהכי הרבה אנשים אומרים לי שחסכה להם זמן.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 דקות  |  🎯 להכיר הכתבה קולית חכמה, שעוזרת לכתוב הנחיות ארוכות.</a:t>
            </a:r>
          </a:p>
          <a:p/>
          <a:p>
            <a:r>
              <a:t>🗣 מה לומר:</a:t>
            </a:r>
          </a:p>
          <a:p>
            <a:r>
              <a:t>כמה מכם כותבים הנחיות קצרות, רק כי מתעצלים להקליד? כולנו.</a:t>
            </a:r>
          </a:p>
          <a:p>
            <a:r>
              <a:t>Wispr Flow הוא אפליקציה חינמית למחשב. מחזיקים מקש, מדברים, ומשחררים. והוא כותב, מנקה את ה"אממ" ומוסיף פיסוק.</a:t>
            </a:r>
          </a:p>
          <a:p>
            <a:r>
              <a:t>והוא עובד בכל מקום: בצ'אט ג'יפיטי, בקלוד, בוואטסאפ ובמייל.</a:t>
            </a:r>
          </a:p>
          <a:p>
            <a:r>
              <a:t>בעברית: בהגדרות בוחרים עברית כשפה.</a:t>
            </a:r>
          </a:p>
          <a:p>
            <a:r>
              <a:t>(מדגימים: מכתיבים הנחיה ארוכה בקול)</a:t>
            </a:r>
          </a:p>
          <a:p>
            <a:r>
              <a:t>ושימו לב לטריק: כשמדברים, כותבים הנחיות ארוכות ומפורטות יותר. וזה בדיוק מה שצריך.</a:t>
            </a:r>
          </a:p>
          <a:p/>
          <a:p>
            <a:r>
              <a:t>➡️ מעבר: ועכשיו, החלק הכי חשוב של היום: הסדנה.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20 דקות  |  🎯 שכל משתתף ייצא עם אפיון של עמוד לעסק או למותג שלו.</a:t>
            </a:r>
          </a:p>
          <a:p/>
          <a:p>
            <a:r>
              <a:t>🧰 הכנה מראש: חדרי עבודה ל-12 דקות (אופציונלי), עם הודעת דקה לסיום.</a:t>
            </a:r>
          </a:p>
          <a:p/>
          <a:p>
            <a:r>
              <a:t>🏆 אפליקציית הקורס: פותחים את האתגר "אפיון העסק שלי במשפט אחד".</a:t>
            </a:r>
          </a:p>
          <a:p/>
          <a:p>
            <a:r>
              <a:t>🗣 מה לומר:</a:t>
            </a:r>
          </a:p>
          <a:p>
            <a:r>
              <a:t>עכשיו כל אחד בונה את הבסיס לכל הקורס: אפיון של העסק או המותג שלכם.</a:t>
            </a:r>
          </a:p>
          <a:p>
            <a:r>
              <a:t>אין לכם עסק? בחרו רעיון שתמיד רציתם, או מותג אישי.</a:t>
            </a:r>
          </a:p>
          <a:p>
            <a:r>
              <a:t>ונשתמש בטכניקת הראיון: ה-AI ישאל, ואתם תענו. ההנחיה בצ'אט.</a:t>
            </a:r>
          </a:p>
          <a:p>
            <a:r>
              <a:t>(מדביקים את ההנחיה בצ'אט)</a:t>
            </a:r>
          </a:p>
          <a:p>
            <a:r>
              <a:t>אחת: מדביקים בקלוד או בצ'אט ג'יפיטי, ועונים בכנות. אפשר גם בקול, עם Wispr.</a:t>
            </a:r>
          </a:p>
          <a:p>
            <a:r>
              <a:t>שתיים: אחרי 8 שאלות מקבלים אפיון של עמוד: לקוח, בעיה, פתרון, ייחוד, מחירים וטון.</a:t>
            </a:r>
          </a:p>
          <a:p>
            <a:r>
              <a:t>שלוש: משפרים פעם אחת: "מה חסר? מה לא ברור ללקוח?"</a:t>
            </a:r>
          </a:p>
          <a:p>
            <a:r>
              <a:t>ארבע: שומרים בבנק. במפגש הבא האפיון הזה יקבל צבעים, אפליקציה, מצגת וסרטון.</a:t>
            </a:r>
          </a:p>
          <a:p>
            <a:r>
              <a:t>יש לכם 15 דקות.</a:t>
            </a:r>
          </a:p>
          <a:p>
            <a:r>
              <a:t>(טיימר. עוזרים בצ'אט, או נכנסים לחדרי העבודה)</a:t>
            </a:r>
          </a:p>
          <a:p>
            <a:r>
              <a:t>ובסוף: כתבו באתגר את העסק שלכם במשפט אחד. הכי ברור וחד מנצח.</a:t>
            </a:r>
          </a:p>
          <a:p/>
          <a:p>
            <a:r>
              <a:t>➡️ מעבר: וכשכולם סיימו, הגיע הזמן לגלריה.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 דקות  |  🎯 לסיים את האפיון ולבנות הרגל.</a:t>
            </a:r>
          </a:p>
          <a:p/>
          <a:p>
            <a:r>
              <a:t>🗣 מה לומר:</a:t>
            </a:r>
          </a:p>
          <a:p>
            <a:r>
              <a:t>שלושה דברים לשבוע הקרוב.</a:t>
            </a:r>
          </a:p>
          <a:p>
            <a:r>
              <a:t>אחת: מסיימים את האפיון. עמוד אחד, ברור, שמור בבנק.</a:t>
            </a:r>
          </a:p>
          <a:p>
            <a:r>
              <a:t>שתיים: 5 הנחיות לבנק, ואחת מהן עם תפקיד: "אתה...".</a:t>
            </a:r>
          </a:p>
          <a:p>
            <a:r>
              <a:t>שלוש: עונים על 3 מיילים אמיתיים בעזרת AI, ומתקנים לפני ששולחים.</a:t>
            </a:r>
          </a:p>
          <a:p>
            <a:r>
              <a:t>ורמז למפגש הבא: האפיון שלכם הופך למותג, לאפליקציה, למצגת, לתמונת פרופיל, ואפילו לסרטון שבו אתם מדברים. תביאו סלפי טוב.</a:t>
            </a:r>
          </a:p>
          <a:p>
            <a:r>
              <a:t>(מדביקים את משימת הבית בצ'אט ושולחים במייל)</a:t>
            </a:r>
          </a:p>
          <a:p/>
          <a:p>
            <a:r>
              <a:t>➡️ מעבר: וכל הכלים של היום, במקום אחד.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 דקות  |  🎯 לתת את כל הקישורים להעתקה.</a:t>
            </a:r>
          </a:p>
          <a:p/>
          <a:p>
            <a:r>
              <a:t>🗣 מה לומר:</a:t>
            </a:r>
          </a:p>
          <a:p>
            <a:r>
              <a:t>כל הכלים של היום, עם קישורים להעתקה. חלקם נותנים לכם קרדיטים או ניסיון חינם כשנרשמים דרכם.</a:t>
            </a:r>
          </a:p>
          <a:p>
            <a:r>
              <a:t>הם בצ'אט, בחוברת, ובארגז הכלים באפליקציה.</a:t>
            </a:r>
          </a:p>
          <a:p>
            <a:r>
              <a:t>(מדביקים את הקישורים בצ'אט)</a:t>
            </a:r>
          </a:p>
          <a:p/>
          <a:p>
            <a:r>
              <a:t>➡️ מעבר: ולפני שנפרדים, שלושה דברים לקחת הביתה.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דקות  |  🎯 לחבר את המפגש לחוויה של המשתתפים מהשבוע, ולהציג את ההבטחה: היום מתקנים את האכזבות.</a:t>
            </a:r>
          </a:p>
          <a:p/>
          <a:p>
            <a:r>
              <a:t>🧰 הכנה מראש: פותחים מראש: המשחק Prompt Lab במסך המרצה, צ'אט ג'יפיטי בלשונית נפרדת, וקובץ ההדבקות לצ'אט.</a:t>
            </a:r>
          </a:p>
          <a:p/>
          <a:p>
            <a:r>
              <a:t>🗣 מה לומר:</a:t>
            </a:r>
          </a:p>
          <a:p>
            <a:r>
              <a:t>ערב טוב לכולם, איזה כיף לראות אתכם שוב.</a:t>
            </a:r>
          </a:p>
          <a:p>
            <a:r>
              <a:t>בשבוע שעבר קיבלתם משימה: להשתמש בכלי AI פעם ביום. אז לפני הכול, אני רוצה לשמוע מכם.</a:t>
            </a:r>
          </a:p>
          <a:p>
            <a:r>
              <a:t>כתבו בצ'אט במשפט אחד: מה עבד לכם השבוע? ומה אכזב?</a:t>
            </a:r>
          </a:p>
          <a:p>
            <a:r>
              <a:t>(מחכים לצ'אט ומקריאים 3 עד 4 תשובות. מבקשים ממשתתף אחד לפתוח מיקרופון ולספר)</a:t>
            </a:r>
          </a:p>
          <a:p>
            <a:r>
              <a:t>שמעתם? רוב האכזבות נשמעות אותו דבר: "הוא נתן לי משהו כללי", "זה לא מה שרציתי", "יצא ארוך מדי".</a:t>
            </a:r>
          </a:p>
          <a:p>
            <a:r>
              <a:t>והנה הסוד, וזה כתוב כאן על המסך: רוב האכזבות הן לא בעיה של הכלי. הן בעיה של ההנחיה.</a:t>
            </a:r>
          </a:p>
          <a:p>
            <a:r>
              <a:t>והחדשות הטובות? את זה מתקנים. היום. לתמיד.</a:t>
            </a:r>
          </a:p>
          <a:p/>
          <a:p>
            <a:r>
              <a:t>🖐 פעולה: רושמים לעצמכם 2 אכזבות שעלו בצ'אט. נחזור אליהן בתרגיל המהיר.</a:t>
            </a:r>
          </a:p>
          <a:p/>
          <a:p>
            <a:r>
              <a:t>➡️ מעבר: אבל לפני שמתחילים, מה חדש השבוע.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 דקות  |  🎯 שכל המשתתפים יתחברו למשחק ויעשו סבב חימום ראשון.</a:t>
            </a:r>
          </a:p>
          <a:p/>
          <a:p>
            <a:r>
              <a:t>🧰 הכנה מראש: מסך המרצה של המשחק פתוח ומאופס. הקישור מוכן להדבקה בצ'אט.</a:t>
            </a:r>
          </a:p>
          <a:p/>
          <a:p>
            <a:r>
              <a:t>🏆 אפליקציית הקורס: פותחים את המשחק ומפעילים את סבב החימום הראשון.</a:t>
            </a:r>
          </a:p>
          <a:p/>
          <a:p>
            <a:r>
              <a:t>🗣 מה לומר:</a:t>
            </a:r>
          </a:p>
          <a:p>
            <a:r>
              <a:t>עכשיו משהו שילווה אותנו כל הערב. אני מדביקה לכם בצ'אט קישור.</a:t>
            </a:r>
          </a:p>
          <a:p>
            <a:r>
              <a:t>(מדביקים בצ'אט: https://prompt-lab-live.talwa3.chatgpt.site)</a:t>
            </a:r>
          </a:p>
          <a:p>
            <a:r>
              <a:t>פתחו אותו בלשונית חדשה, ליד הזום, והצטרפו עם כינוי.</a:t>
            </a:r>
          </a:p>
          <a:p>
            <a:r>
              <a:t>(משתפים את מסך המשחק ומחכים שרוב המשתתפים יופיעו)</a:t>
            </a:r>
          </a:p>
          <a:p>
            <a:r>
              <a:t>יופי, אני רואה אתכם מתחברים. בואו נעשה סבב ראשון.</a:t>
            </a:r>
          </a:p>
          <a:p>
            <a:r>
              <a:t>(מפעילים את סבב החימום ומשתפים את התוצאות)</a:t>
            </a:r>
          </a:p>
          <a:p>
            <a:r>
              <a:t>תשאירו את המשחק פתוח. נחזור אליו כמה פעמים היום, ומי שיצבור הכי הרבה, ננצח ביחד בסוף.</a:t>
            </a:r>
          </a:p>
          <a:p/>
          <a:p>
            <a:r>
              <a:t>➡️ מעבר: ועכשיו, ניסוי.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דקות  |  🎯 להמחיש בפועל את הפער בין הנחיה כללית להנחיה ממוקדת.</a:t>
            </a:r>
          </a:p>
          <a:p/>
          <a:p>
            <a:r>
              <a:t>🧰 הכנה מראש: צ'אט ג'יפיטי פתוח, עם שתי ההנחיות מוכנות להדבקה.</a:t>
            </a:r>
          </a:p>
          <a:p/>
          <a:p>
            <a:r>
              <a:t>🗣 מה לומר:</a:t>
            </a:r>
          </a:p>
          <a:p>
            <a:r>
              <a:t>שתי הנחיות על אותו נושא.</a:t>
            </a:r>
          </a:p>
          <a:p>
            <a:r>
              <a:t>הנחיה א': "כתוב לי מייל ללקוח".</a:t>
            </a:r>
          </a:p>
          <a:p>
            <a:r>
              <a:t>הנחיה ב': "כתוב מייל ללקוח שמאחר בתשלום 30 יום, טון אדיב אך תקיף, עד 5 שורות, סיום עם הצעת פריסה".</a:t>
            </a:r>
          </a:p>
          <a:p>
            <a:r>
              <a:t>לפני שאני מריצה, כתבו בצ'אט: מה יצא מכל אחת?</a:t>
            </a:r>
          </a:p>
          <a:p>
            <a:r>
              <a:t>(משתפים מסך ומריצים את שתיהן, אחת אחרי השנייה)</a:t>
            </a:r>
          </a:p>
          <a:p>
            <a:r>
              <a:t>תראו את ההבדל. הראשונה כללית, יכולה להתאים לכל לקוח בעולם. השנייה כמעט מוכנה לשליחה.</a:t>
            </a:r>
          </a:p>
          <a:p>
            <a:r>
              <a:t>אותו כלי, אותו נושא. ההבדל היחיד: מה כתבנו.</a:t>
            </a:r>
          </a:p>
          <a:p/>
          <a:p>
            <a:r>
              <a:t>➡️ מעבר: והנה מה שיצא, שחור על גבי לבן.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 דקות  |  🎯 לסגור את הניסוי עם מסקנה אחת ברורה.</a:t>
            </a:r>
          </a:p>
          <a:p/>
          <a:p>
            <a:r>
              <a:t>🗣 מה לומר:</a:t>
            </a:r>
          </a:p>
          <a:p>
            <a:r>
              <a:t>מימין, מה שיצא מהנחיה א': "שלום, אנא שלם את חשבונך. תודה." מייל גנרי, חסר ערך.</a:t>
            </a:r>
          </a:p>
          <a:p>
            <a:r>
              <a:t>משמאל, מהנחיה ב': מייל עם מספר חשבון, תאריך, הצעת פריסה. מוכן לשליחה.</a:t>
            </a:r>
          </a:p>
          <a:p>
            <a:r>
              <a:t>אותו כלי. כמעט אותו מאמץ. פער עצום.</a:t>
            </a:r>
          </a:p>
          <a:p>
            <a:r>
              <a:t>והמסקנה הכי חשובה של הערב: ההנחיה היא 80% מהתוצאה.</a:t>
            </a:r>
          </a:p>
          <a:p/>
          <a:p>
            <a:r>
              <a:t>➡️ מעבר: אז איך כותבים הנחיה טובה? יש נוסחה.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דקות  |  🎯 ללמד את נוסחת מי, מה, איך כבסיס לכל הנחיה.</a:t>
            </a:r>
          </a:p>
          <a:p/>
          <a:p>
            <a:r>
              <a:t>🗣 מה לומר:</a:t>
            </a:r>
          </a:p>
          <a:p>
            <a:r>
              <a:t>שלושה מרכיבים לכל הנחיה טובה.</a:t>
            </a:r>
          </a:p>
          <a:p>
            <a:r>
              <a:t>מי אני ומה ההקשר: תנו לכלי את הרקע שהוא צריך. הוא לא מכיר אתכם.</a:t>
            </a:r>
          </a:p>
          <a:p>
            <a:r>
              <a:t>מה בדיוק אני צריך: היו ספציפיים. נושא, מטרה, קהל.</a:t>
            </a:r>
          </a:p>
          <a:p>
            <a:r>
              <a:t>ובאיזה פורמט וסגנון: טבלה? מייל? שלושה משפטים? איזה טון?</a:t>
            </a:r>
          </a:p>
          <a:p>
            <a:r>
              <a:t>מעכשיו, לפני כל הנחיה ששולחים, בודקים: עניתי על שלוש השאלות?</a:t>
            </a:r>
          </a:p>
          <a:p>
            <a:r>
              <a:t>בואו ננסה ביחד. "כתוב פוסט". כתבו בצ'אט: מה חסר? מי? מה? איך?</a:t>
            </a:r>
          </a:p>
          <a:p>
            <a:r>
              <a:t>(אוספים תשובות מהצ'אט ומחברים כל אחת לאחד המרכיבים)</a:t>
            </a:r>
          </a:p>
          <a:p/>
          <a:p>
            <a:r>
              <a:t>➡️ מעבר: ועכשיו לכללים, אחד אחד.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דקות  |  🎯 להעמיק בשני הכללים הראשונים: ספציפיות, והקשר עם תפקיד.</a:t>
            </a:r>
          </a:p>
          <a:p/>
          <a:p>
            <a:r>
              <a:t>🗣 מה לומר:</a:t>
            </a:r>
          </a:p>
          <a:p>
            <a:r>
              <a:t>כלל 1: תהיו ספציפיים.</a:t>
            </a:r>
          </a:p>
          <a:p>
            <a:r>
              <a:t>במקום "תן דוגמאות", כתבו "תן 3 דוגמאות מתחום הקמעונאות".</a:t>
            </a:r>
          </a:p>
          <a:p>
            <a:r>
              <a:t>במקום "שפר את הטקסט", כתבו "קצר את הטקסט לחצי בלי לאבד את המסר המרכזי".</a:t>
            </a:r>
          </a:p>
          <a:p>
            <a:r>
              <a:t>כלל 2: תנו הקשר ותפקיד.</a:t>
            </a:r>
          </a:p>
          <a:p>
            <a:r>
              <a:t>משפט אחד כמו "אני מנהלת כספים בחברת בנייה בינונית" משנה את כל התשובה. הכלי יודע עם מי הוא מדבר.</a:t>
            </a:r>
          </a:p>
          <a:p>
            <a:r>
              <a:t>ואפשר גם לתת לכלי תפקיד: "אתה יועץ מס ותיק. הסבר לי...". פתאום התשובה נשמעת כמו של מומחה.</a:t>
            </a:r>
          </a:p>
          <a:p>
            <a:r>
              <a:t>שאלה לצ'אט: איזה תפקיד הייתם נותנים לכלי בעבודה שלכם?</a:t>
            </a:r>
          </a:p>
          <a:p/>
          <a:p>
            <a:r>
              <a:t>➡️ מעבר: והכלל השלישי הוא זה שהכי הרבה אנשים שוכחים.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דקות  |  🎯 להראות שפורמט מוגדר חוסך את רוב התיקונים.</a:t>
            </a:r>
          </a:p>
          <a:p/>
          <a:p>
            <a:r>
              <a:t>🗣 מה לומר:</a:t>
            </a:r>
          </a:p>
          <a:p>
            <a:r>
              <a:t>כלל 3: הגדירו פורמט.</a:t>
            </a:r>
          </a:p>
          <a:p>
            <a:r>
              <a:t>טבלה. רשימה ממוספרת. שלושה משפטים. מייל. נקודות לדיבור.</a:t>
            </a:r>
          </a:p>
          <a:p>
            <a:r>
              <a:t>ותסתכלו על המשבצת הצהובה: מה שלא תגדירו, הכלי יחליט בשבילכם. ובדרך כלל הוא יחליט ארוך מדי.</a:t>
            </a:r>
          </a:p>
          <a:p>
            <a:r>
              <a:t>דוגמה שכדאי לזכור בעל פה: "ענה ב-3 נקודות בלבד, ללא הקדמה, ללא סיכום".</a:t>
            </a:r>
          </a:p>
          <a:p/>
          <a:p>
            <a:r>
              <a:t>➡️ מעבר: מספיק הקשבה. עכשיו אתם כותבים.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6 דקות  |  🎯 תרגול ראשון של הנוסחה על משימה אמיתית.</a:t>
            </a:r>
          </a:p>
          <a:p/>
          <a:p>
            <a:r>
              <a:t>🗣 מה לומר:</a:t>
            </a:r>
          </a:p>
          <a:p>
            <a:r>
              <a:t>יש לכם חמש דקות.</a:t>
            </a:r>
          </a:p>
          <a:p>
            <a:r>
              <a:t>קחו את ההנחיה החלשה, "כתוב לי מייל ללקוח", והפכו אותה למנצחת.</a:t>
            </a:r>
          </a:p>
          <a:p>
            <a:r>
              <a:t>אחת: בחרו לקוח ומצב אמיתי מהעבודה שלכם. תשלום שמתעכב, הצעת מחיר, תודה, התנצלות.</a:t>
            </a:r>
          </a:p>
          <a:p>
            <a:r>
              <a:t>שתיים: כתבו לפי מי, מה, איך. שתיים או שלוש שורות מספיקות.</a:t>
            </a:r>
          </a:p>
          <a:p>
            <a:r>
              <a:t>שלוש: הריצו בכלי שלכם.</a:t>
            </a:r>
          </a:p>
          <a:p>
            <a:r>
              <a:t>ארבע: הדביקו בצ'אט את ההנחיה שכתבתם.</a:t>
            </a:r>
          </a:p>
          <a:p>
            <a:r>
              <a:t>(מפעילים טיימר של 5 דקות. אחרי 4 דקות מזכירים להדביק בצ'אט)</a:t>
            </a:r>
          </a:p>
          <a:p>
            <a:r>
              <a:t>(בוחרים 3 הנחיות מהצ'אט, מריצים אותן בשידור חי, ומראים מה כל אחת עשתה טוב)</a:t>
            </a:r>
          </a:p>
          <a:p>
            <a:r>
              <a:t>לא צריך מושלם. צריך יותר טוב מ"כתוב לי מייל ללקוח". ותראו כמה יותר טוב יצא.</a:t>
            </a:r>
          </a:p>
          <a:p/>
          <a:p>
            <a:r>
              <a:t>➡️ מעבר: ועכשיו, שני כלים שמשדרגים כל הנחיה.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דקות  |  🎯 ללמד איסורים ודוגמה לסגנון.</a:t>
            </a:r>
          </a:p>
          <a:p/>
          <a:p>
            <a:r>
              <a:t>🗣 מה לומר:</a:t>
            </a:r>
          </a:p>
          <a:p>
            <a:r>
              <a:t>הכלי הראשון: מה לא לעשות.</a:t>
            </a:r>
          </a:p>
          <a:p>
            <a:r>
              <a:t>ה-AI מנסה לרצות. אם לא תגבילו אותו, הוא יוסיף הקדמות, סימני קריאה, "בוודאי! אשמח לעזור" וסיכום שלא ביקשתם.</a:t>
            </a:r>
          </a:p>
          <a:p>
            <a:r>
              <a:t>אז כותבים לו במפורש: בלי הקדמה, בלי סימני קריאה, בלי סיכום בסוף.</a:t>
            </a:r>
          </a:p>
          <a:p>
            <a:r>
              <a:t>הכלי השני: דוגמה לסגנון. במקצוע זה נקרא Few-Shot.</a:t>
            </a:r>
          </a:p>
          <a:p>
            <a:r>
              <a:t>הדרך הכי מהירה ללמד את הכלי את הסגנון שלכם: "הנה מייל שכתבתי בעבר: [מדביקים]. כתוב מייל דומה ל...".</a:t>
            </a:r>
          </a:p>
          <a:p>
            <a:r>
              <a:t>הוא ילמד את הטון, האורך והמבנה, בלי שתצטרכו להסביר במילים.</a:t>
            </a:r>
          </a:p>
          <a:p/>
          <a:p>
            <a:r>
              <a:t>➡️ מעבר: ומה עושים כשהתשובה הראשונה לא מושלמת?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דקות  |  🎯 להפוך את התשובה הראשונה לנקודת פתיחה ולא לסוף.</a:t>
            </a:r>
          </a:p>
          <a:p/>
          <a:p>
            <a:r>
              <a:t>🗣 מה לומר:</a:t>
            </a:r>
          </a:p>
          <a:p>
            <a:r>
              <a:t>כלל 4: שיחה, לא מברק.</a:t>
            </a:r>
          </a:p>
          <a:p>
            <a:r>
              <a:t>לא חייבים לקלוע בפעם הראשונה. הכלי זוכר את כל השיחה.</a:t>
            </a:r>
          </a:p>
          <a:p>
            <a:r>
              <a:t>אז ממשיכים: "קצר יותר". "פחות רשמי". "תן גרסה נוספת". "עכשיו כטבלה".</a:t>
            </a:r>
          </a:p>
          <a:p>
            <a:r>
              <a:t>(לוקחים את המייל מהניסוי ומבקשים בשידור חי: "פחות רשמי", ואז "עכשיו בשלוש שורות")</a:t>
            </a:r>
          </a:p>
          <a:p>
            <a:r>
              <a:t>ראיתם? שתי מילים, ותוצאה אחרת לגמרי.</a:t>
            </a:r>
          </a:p>
          <a:p/>
          <a:p>
            <a:r>
              <a:t>➡️ מעבר: והכלל החמישי הופך את ה-AI מכותב לעורך.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דקות  |  🎯 ללמד להשתמש בכלי כעורך ומבקר.</a:t>
            </a:r>
          </a:p>
          <a:p/>
          <a:p>
            <a:r>
              <a:t>🗣 מה לומר:</a:t>
            </a:r>
          </a:p>
          <a:p>
            <a:r>
              <a:t>כלל 5: בקשו ביקורת.</a:t>
            </a:r>
          </a:p>
          <a:p>
            <a:r>
              <a:t>הכלי הוא לא רק כותב. הוא עורך מצוין.</a:t>
            </a:r>
          </a:p>
          <a:p>
            <a:r>
              <a:t>שלוש שאלות שכדאי לשמור:</a:t>
            </a:r>
          </a:p>
          <a:p>
            <a:r>
              <a:t>"מה חסר בטקסט הזה?"</a:t>
            </a:r>
          </a:p>
          <a:p>
            <a:r>
              <a:t>"אילו שאלות ישאל אותי הלקוח אחרי שיקרא?"</a:t>
            </a:r>
          </a:p>
          <a:p>
            <a:r>
              <a:t>"מצא 3 חולשות בטיעון שלי."</a:t>
            </a:r>
          </a:p>
          <a:p>
            <a:r>
              <a:t>והטיפ: אל תבקשו ממנו "תגיד מה דעתך". הוא נוטה להחמיא. בקשו ממנו לחפש חולשות. זוכרים חנפנות מהמפגש הקודם?</a:t>
            </a:r>
          </a:p>
          <a:p/>
          <a:p>
            <a:r>
              <a:t>➡️ מעבר: ויש שתי דרכים לעבוד עם כל מה שלמדנו.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 דקות  |  🎯 ללמד את טכניקת הראיון, שפותרת את בעיית הדף הלבן.</a:t>
            </a:r>
          </a:p>
          <a:p/>
          <a:p>
            <a:r>
              <a:t>🗣 מה לומר:</a:t>
            </a:r>
          </a:p>
          <a:p>
            <a:r>
              <a:t>מכירים את זה שיודעים מה רוצים, אבל לא יודעים איך להסביר?</a:t>
            </a:r>
          </a:p>
          <a:p>
            <a:r>
              <a:t>אז הופכים את התפקידים. ה-AI שואל, ואתם עונים.</a:t>
            </a:r>
          </a:p>
          <a:p>
            <a:r>
              <a:t>ההנחיה פשוטה, והיא כבר בצ'אט: "אני רוצה לכתוב [מה]. לפני שאתה כותב, שאל אותי 5 שאלות שיעזרו לך לדייק. שאל שאלה אחת בכל פעם, וחכה לתשובה שלי."</a:t>
            </a:r>
          </a:p>
          <a:p>
            <a:r>
              <a:t>(מדביקים את ההנחיה בצ'אט)</a:t>
            </a:r>
          </a:p>
          <a:p>
            <a:r>
              <a:t>למה זה עובד? כי ה-AI יודע אילו פרטים חסרים לו. הוא ישאל על הקהל, המטרה, הטון, האורך. דברים שלא חשבתם לכתוב.</a:t>
            </a:r>
          </a:p>
          <a:p>
            <a:r>
              <a:t>בואו ננסה עכשיו, דקה וחצי: "אני רוצה לכתוב ברכה ליום הולדת 50 של חבר. לפני שאתה כותב, שאל אותי 5 שאלות."</a:t>
            </a:r>
          </a:p>
          <a:p>
            <a:r>
              <a:t>(נותנים דקה וחצי, ושואלים: מה הייתה השאלה הכי מפתיעה שה-AI שאל אתכם?)</a:t>
            </a:r>
          </a:p>
          <a:p/>
          <a:p>
            <a:r>
              <a:t>➡️ מעבר: ועכשיו משחק. בואו נראה אם אתם מזהים הנחיות חלשות.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6 דקות  |  🎯 לתרגל זיהוי ותיקון של הנחיות חלשות, בצורת משחק.</a:t>
            </a:r>
          </a:p>
          <a:p/>
          <a:p>
            <a:r>
              <a:t>🏆 אפליקציית הקורס: סבב "תקנו את ההנחיה": כל הנחיה חלשה מוצגת, והמשתתפים כותבים תיקון.</a:t>
            </a:r>
          </a:p>
          <a:p/>
          <a:p>
            <a:r>
              <a:t>🗣 מה לומר:</a:t>
            </a:r>
          </a:p>
          <a:p>
            <a:r>
              <a:t>ארבע הנחיות חלשות. כל אחת עם בעיה אחרת. אתם המאבחנים.</a:t>
            </a:r>
          </a:p>
          <a:p>
            <a:r>
              <a:t>(לפני שחושפים את הפתרון, מציגים כל הנחיה ושואלים: מה הבעיה? כתבו בצ'אט או במשחק)</a:t>
            </a:r>
          </a:p>
          <a:p>
            <a:r>
              <a:t>אחת: "כתוב פוסט". מה חסר? הכול. נושא, קהל, אורך, פלטפורמה.</a:t>
            </a:r>
          </a:p>
          <a:p>
            <a:r>
              <a:t>שתיים: "תסביר לי על מס". כללית מדי. איזה מס? למי? לאיזה צורך?</a:t>
            </a:r>
          </a:p>
          <a:p>
            <a:r>
              <a:t>שלוש: "כתוב מייל קצר ומפורט עם כל הפרטים". בקשות סותרות. קצר ומפורט לא הולכים יחד.</a:t>
            </a:r>
          </a:p>
          <a:p>
            <a:r>
              <a:t>ארבע: "סכם את המסמך", בלי לצרף מסמך. חסר ההקשר עצמו.</a:t>
            </a:r>
          </a:p>
          <a:p>
            <a:r>
              <a:t>ולכל אחת, תראו את ה"אחרי" בכתום. כל אחת נוסחה מחדש לפי מי, מה, איך.</a:t>
            </a:r>
          </a:p>
          <a:p/>
          <a:p>
            <a:r>
              <a:t>➡️ מעבר: ואם יש לנו זמן, קרב הנחיות. אם לא, מדלגים ישר לעבודה האמיתית.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7 דקות  |  🎯 תחרות חיה שממחישה מה עושה הנחיה למנצחת.</a:t>
            </a:r>
          </a:p>
          <a:p/>
          <a:p>
            <a:r>
              <a:t>🧰 הכנה מראש: מבקשים מראש שני מתנדבים, או בוחרים מהצ'אט. מכינים שתי לשוניות של אותו כלי.</a:t>
            </a:r>
          </a:p>
          <a:p/>
          <a:p>
            <a:r>
              <a:t>🏆 אפליקציית הקורס: הצבעה: איזו תוצאה ניצחה, 1 או 2.</a:t>
            </a:r>
          </a:p>
          <a:p/>
          <a:p>
            <a:r>
              <a:t>🗣 מה לומר:</a:t>
            </a:r>
          </a:p>
          <a:p>
            <a:r>
              <a:t>(שקופית אופציונלית. אם עברתם את הדקה ה-60, מדלגים לשקופית הבאה)</a:t>
            </a:r>
          </a:p>
          <a:p>
            <a:r>
              <a:t>אני צריכה שני מתנדבים אמיצים. הרימו יד בזום.</a:t>
            </a:r>
          </a:p>
          <a:p>
            <a:r>
              <a:t>(בוחרים שניים)</a:t>
            </a:r>
          </a:p>
          <a:p>
            <a:r>
              <a:t>המשימה: הזמנה לאירוע צוות של סוף שנה. עד 100 מילה, כולל תאריך, שעה ומקום. טון כיפי, אבל לא ילדותי.</a:t>
            </a:r>
          </a:p>
          <a:p>
            <a:r>
              <a:t>יש לכם שלוש דקות לכתוב הנחיה, ולשלוח לי אותה בצ'אט הפרטי.</a:t>
            </a:r>
          </a:p>
          <a:p>
            <a:r>
              <a:t>(בזמן שהם כותבים, שואלים את הקהל: מה הייתם מכניסים להנחיה?)</a:t>
            </a:r>
          </a:p>
          <a:p>
            <a:r>
              <a:t>(מריצים את שתי ההנחיות באותו כלי, ומציגים זו לצד זו)</a:t>
            </a:r>
          </a:p>
          <a:p>
            <a:r>
              <a:t>עכשיו אתם השופטים. הקריטריון: איזו תוצאה הייתם שולחים לצוות בלי לשנות אף מילה? הצביעו.</a:t>
            </a:r>
          </a:p>
          <a:p>
            <a:r>
              <a:t>(מכריזים על המנצח, ושואלים את המנצח: מה הכנסת להנחיה שעשה את ההבדל?)</a:t>
            </a:r>
          </a:p>
          <a:p/>
          <a:p>
            <a:r>
              <a:t>➡️ מעבר: עד עכשיו תרגלנו על דוגמאות. מכאן והלאה, הכול על העבודה האמיתית שלכם.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 דקות  |  🎯 להדגים הנחיה מלאה למייל רגיש, ולתת שלושה שלדים לשימוש חוזר.</a:t>
            </a:r>
          </a:p>
          <a:p/>
          <a:p>
            <a:r>
              <a:t>🧰 הכנה מראש: צ'אט ג'יפיטי או קלוד פתוח. ההנחיה של מייל הדחייה מוכנה בקובץ ההדבקות.</a:t>
            </a:r>
          </a:p>
          <a:p/>
          <a:p>
            <a:r>
              <a:t>🗣 מה לומר:</a:t>
            </a:r>
          </a:p>
          <a:p>
            <a:r>
              <a:t>תחנה ראשונה: כתיבה לאדם אמיתי. המיילים שהכי קשה לנסח.</a:t>
            </a:r>
          </a:p>
          <a:p>
            <a:r>
              <a:t>שלושה שלדים: דחייה בנימוס, בקשה ברורה עם תאריך יעד אחד, ותזכורת בלי מלחמה.</a:t>
            </a:r>
          </a:p>
          <a:p>
            <a:r>
              <a:t>אני מדגימה את הדחייה. תסתכלו איך ההנחיה בנויה לפי מי, מה, איך.</a:t>
            </a:r>
          </a:p>
          <a:p>
            <a:r>
              <a:t>מי: "אתה עוזר שלי. אני [תפקיד] ב[מקום]".</a:t>
            </a:r>
          </a:p>
          <a:p>
            <a:r>
              <a:t>מה: "מייל דחייה. בחרנו באפשרות אחרת. דלת פתוחה לעתיד. המטרה: לסגור בלי לפתוח משא ומתן".</a:t>
            </a:r>
          </a:p>
          <a:p>
            <a:r>
              <a:t>איך: "טון חם ומקצועי, עד 6 שורות, בלי התנצלות, בלי 'אשמח לעזור', בלי סימני קריאה".</a:t>
            </a:r>
          </a:p>
          <a:p>
            <a:r>
              <a:t>(מריצים בשידור חי)</a:t>
            </a:r>
          </a:p>
          <a:p>
            <a:r>
              <a:t>ועכשיו שני סבבים, כמו שלמדנו: "קצר לשלוש שורות". ואז: "מה ישאלו אחרי שיקראו?"</a:t>
            </a:r>
          </a:p>
          <a:p>
            <a:r>
              <a:t>(מריצים את שניהם)</a:t>
            </a:r>
          </a:p>
          <a:p>
            <a:r>
              <a:t>שימו לב: לא החלפתי כלי באמצע. נשארים באותו צ'אט עד שהמשימה נגמרת.</a:t>
            </a:r>
          </a:p>
          <a:p>
            <a:r>
              <a:t>(מדביקים את שלושת השלדים בצ'אט)</a:t>
            </a:r>
          </a:p>
          <a:p/>
          <a:p>
            <a:r>
              <a:t>➡️ מעבר: ומה עושים עם תיבה מלאה?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 דקות  |  🎯 ללמד להפוך נקודות גולמיות מפגישה למסמך עבודה.</a:t>
            </a:r>
          </a:p>
          <a:p/>
          <a:p>
            <a:r>
              <a:t>🧰 הכנה מראש: נקודות גולמיות של פגישה (בקובץ ההדבקות) מוכנות להדבקה.</a:t>
            </a:r>
          </a:p>
          <a:p/>
          <a:p>
            <a:r>
              <a:t>🗣 מה לומר:</a:t>
            </a:r>
          </a:p>
          <a:p>
            <a:r>
              <a:t>תחנה שנייה: סיכום. מתאים לישיבת צוות, פגישת לקוח, שיעור, שיחה עם ספק, ראיון.</a:t>
            </a:r>
          </a:p>
          <a:p>
            <a:r>
              <a:t>זו ההנחיה הכי טובה שתכניסו לבנק היום. היא כבר בצ'אט.</a:t>
            </a:r>
          </a:p>
          <a:p>
            <a:r>
              <a:t>(מדביקים את ההנחיה בצ'אט)</a:t>
            </a:r>
          </a:p>
          <a:p>
            <a:r>
              <a:t>מי: הסיכום הולך למי שלא היה בחדר.</a:t>
            </a:r>
          </a:p>
          <a:p>
            <a:r>
              <a:t>מה: הנה הנקודות הגולמיות, הפוך אותן למסמך שאפשר לעבוד ממנו מחר בבוקר.</a:t>
            </a:r>
          </a:p>
          <a:p>
            <a:r>
              <a:t>איך: שלושה חלקים. החלטות. משימות, עם אחראי ותאריך. ומה נשאר פתוח. בלי הקדמה ובלי סיכום בסוף.</a:t>
            </a:r>
          </a:p>
          <a:p>
            <a:r>
              <a:t>(מדביקים את הנקודות הגולמיות ומריצים בשידור חי)</a:t>
            </a:r>
          </a:p>
          <a:p>
            <a:r>
              <a:t>וזוכרים את כלל 4? שיחה, לא מברק: "עכשיו רק את טבלת המשימות, כהודעת וואטסאפ".</a:t>
            </a:r>
          </a:p>
          <a:p>
            <a:r>
              <a:t>(מריצים)</a:t>
            </a:r>
          </a:p>
          <a:p>
            <a:r>
              <a:t>ובמפגש הבא נראה איך סיכום כזה הופך למצגת בלחיצה.</a:t>
            </a:r>
          </a:p>
          <a:p/>
          <a:p>
            <a:r>
              <a:t>➡️ מעבר: ומה עושים כשצריך עובדה עדכנית, עם מקור?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 דקות  |  🎯 להבין מתי פרפלקסיטי במקום, ואיך משרשרים אותו לכלי הכתיבה.</a:t>
            </a:r>
          </a:p>
          <a:p/>
          <a:p>
            <a:r>
              <a:t>🗣 מה לומר:</a:t>
            </a:r>
          </a:p>
          <a:p>
            <a:r>
              <a:t>פרפלקסיטי. זה לא עוד צ'אט, וזה גם לא גוגל. זה מנוע תשובות עם מקורות, בזמן אמת.</a:t>
            </a:r>
          </a:p>
          <a:p>
            <a:r>
              <a:t>מתי כן? כשצריך לדעת מה השתנה עכשיו: תקנה, מחיר, כלי, מתחרה. כשצריך מאמר עם תאריך.</a:t>
            </a:r>
          </a:p>
          <a:p>
            <a:r>
              <a:t>מתי לא? לנסח מייל, לסכם ישיבה, לשכתב טון. לזה יש את הכלים שכבר הכרנו.</a:t>
            </a:r>
          </a:p>
          <a:p>
            <a:r>
              <a:t>ההנחיה: "[שאלה אחת ספציפית]. תשובה קצרה, מקור ותאריך לכל נתון. אם יש מחלוקת, כתוב".</a:t>
            </a:r>
          </a:p>
          <a:p>
            <a:r>
              <a:t>והשרשרת: מצאתם עובדה? מעתיקים לצ'אט ג'יפיטי או לקלוד, וכותבים: "עדכן את הטיוטה לפי זה, בלי להוסיף עובדות חדשות".</a:t>
            </a:r>
          </a:p>
          <a:p>
            <a:r>
              <a:t>(אם יש זמן: מריצים שאלה אחת בשידור חי ומראים את המקורות)</a:t>
            </a:r>
          </a:p>
          <a:p/>
          <a:p>
            <a:r>
              <a:t>➡️ מעבר: ושני כלים שרוב האנשים מפספסים.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 דקות  |  🎯 להכיר את נוטבוק אל אם ואת המעבר מתמלול לסיכום.</a:t>
            </a:r>
          </a:p>
          <a:p/>
          <a:p>
            <a:r>
              <a:t>🗣 מה לומר:</a:t>
            </a:r>
          </a:p>
          <a:p>
            <a:r>
              <a:t>נוטבוק אל אם של גוגל. מעלים תיק של 5 עד 15 קבצים, והוא עונה רק מתוך מה שהעליתם.</a:t>
            </a:r>
          </a:p>
          <a:p>
            <a:r>
              <a:t>זה היתרון הגדול: הוא לא ממציא. כל תשובה מגיעה עם הפניה למקום בקובץ.</a:t>
            </a:r>
          </a:p>
          <a:p>
            <a:r>
              <a:t>מושלם לדף הכנה לפגישה, או לשאלה על כמה מסמכים בבת אחת.</a:t>
            </a:r>
          </a:p>
          <a:p>
            <a:r>
              <a:t>והכלי השני הוא בעצם שרשרת: תמלול. הקלטה של זום, שיעור או שיחת לקוח, הופכת לטקסט גולמי. ואת הטקסט מכניסים להנחיה של תחנה 2.</a:t>
            </a:r>
          </a:p>
          <a:p>
            <a:r>
              <a:t>רק משפט אחד חשוב להוסיף: "אל תמציא החלטה שלא נאמרה".</a:t>
            </a:r>
          </a:p>
          <a:p>
            <a:r>
              <a:t>וזה לא רק למי שיושב במשרד: מורים, אנשי מכירות, עובדי שטח, מראיינים.</a:t>
            </a:r>
          </a:p>
          <a:p>
            <a:r>
              <a:t>שאלה לצ'אט: איזו הקלטה או איזה תיק מסמכים הייתם מכניסים לשם השבוע?</a:t>
            </a:r>
          </a:p>
          <a:p/>
          <a:p>
            <a:r>
              <a:t>➡️ מעבר: ועוד כלי קטן שחוסך המון הקלדה.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 דקות  |  🎯 ללמוד מההנחיות הטובות של המשתתפים עצמם.</a:t>
            </a:r>
          </a:p>
          <a:p/>
          <a:p>
            <a:r>
              <a:t>🏆 אפליקציית הקורס: הצבעה: הנחיית הערב.</a:t>
            </a:r>
          </a:p>
          <a:p/>
          <a:p>
            <a:r>
              <a:t>🗣 מה לומר:</a:t>
            </a:r>
          </a:p>
          <a:p>
            <a:r>
              <a:t>בחרתי שלושה אפיונים מהסדנה. בואו נסתכל עליהן ביחד.</a:t>
            </a:r>
          </a:p>
          <a:p>
            <a:r>
              <a:t>(מציגים את הראשונה, לפני ואחרי)</a:t>
            </a:r>
          </a:p>
          <a:p>
            <a:r>
              <a:t>שאלה לצ'אט: איזה רכיב עשה פה את ההבדל? תפקיד? הקשר? פורמט? גבולות?</a:t>
            </a:r>
          </a:p>
          <a:p>
            <a:r>
              <a:t>(חוזרים על זה עם השתיים האחרות)</a:t>
            </a:r>
          </a:p>
          <a:p>
            <a:r>
              <a:t>ועכשיו הצבעה: מהי הנחיית הערב? המנצחת נכנסת לבנק של כולם, ואשלח אותה במייל.</a:t>
            </a:r>
          </a:p>
          <a:p>
            <a:r>
              <a:t>(מכריזים על המנצחת, ומבקשים מהכותב לספר במשפט איך הגיע אליה)</a:t>
            </a:r>
          </a:p>
          <a:p/>
          <a:p>
            <a:r>
              <a:t>➡️ מעבר: וכדי שתזכרו את כל הכלים, הנה כרטיס הכיס.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 דקות  |  🎯 לסכם את כל הכלים בשקופית אחת לשמירה.</a:t>
            </a:r>
          </a:p>
          <a:p/>
          <a:p>
            <a:r>
              <a:t>🗣 מה לומר:</a:t>
            </a:r>
          </a:p>
          <a:p>
            <a:r>
              <a:t>כל מה שלמדנו היום, בשקופית אחת. צלמו מסך. הכרטיס יישלח גם במייל.</a:t>
            </a:r>
          </a:p>
          <a:p>
            <a:r>
              <a:t>מי, מה, איך. ספציפיות. תפקיד. פורמט. גבולות. דוגמה. שיחה. וביקורת וראיון.</a:t>
            </a:r>
          </a:p>
          <a:p>
            <a:r>
              <a:t>והמשפט למטה חשוב: לא צריך את כולם בכל הנחיה. שלושה כלים נכונים כבר משנים את התוצאה.</a:t>
            </a:r>
          </a:p>
          <a:p/>
          <a:p>
            <a:r>
              <a:t>➡️ מעבר: ועכשיו, מה עושים עד הפעם הבאה.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 דקות  |  🎯 לסגור את המפגש עם שלושה מסרים ברורים וחגיגת מנצחים.</a:t>
            </a:r>
          </a:p>
          <a:p/>
          <a:p>
            <a:r>
              <a:t>🏆 אפליקציית הקורס: מציגים את התוצאות הסופיות והמנצחים במשחק.</a:t>
            </a:r>
          </a:p>
          <a:p/>
          <a:p>
            <a:r>
              <a:t>🗣 מה לומר:</a:t>
            </a:r>
          </a:p>
          <a:p>
            <a:r>
              <a:t>אם תזכרו רק שלושה דברים מהערב:</a:t>
            </a:r>
          </a:p>
          <a:p>
            <a:r>
              <a:t>אחת: ההנחיה היא 80% מהתוצאה. 30 שניות של כתיבה חוסכות 30 דקות של תיקונים.</a:t>
            </a:r>
          </a:p>
          <a:p>
            <a:r>
              <a:t>שתיים: שיחה, לא מברק. הטיוטה הראשונה היא רק נקודת פתיחה.</a:t>
            </a:r>
          </a:p>
          <a:p>
            <a:r>
              <a:t>שלוש: בנק הנחיות הוא נכס. כל הנחיה שעבדה, נשמרת ומשמשת שוב.</a:t>
            </a:r>
          </a:p>
          <a:p>
            <a:r>
              <a:t>ועכשיו, הרגע שחיכינו לו: התוצאות הסופיות מהמשחק.</a:t>
            </a:r>
          </a:p>
          <a:p>
            <a:r>
              <a:t>(משתפים את לוח התוצאות ומכריזים על המנצחים)</a:t>
            </a:r>
          </a:p>
          <a:p>
            <a:r>
              <a:t>תודה רבה לכולם. הייתם מעולים. נתראה בשבוע הבא, עם האפיון ביד ועם סלפי טוב.</a:t>
            </a:r>
          </a:p>
          <a:p/>
          <a:p>
            <a:r>
              <a:t>➡️ מעבר: סוף המפגש. נשארים לשאלות אישיות.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4.png"/><Relationship Id="rId5" Type="http://schemas.openxmlformats.org/officeDocument/2006/relationships/image" Target="../media/image-13-5.svg"/><Relationship Id="rId6" Type="http://schemas.openxmlformats.org/officeDocument/2006/relationships/image" Target="../media/image-13-6.png"/><Relationship Id="rId7" Type="http://schemas.openxmlformats.org/officeDocument/2006/relationships/image" Target="../media/image-1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1.png"/><Relationship Id="rId4" Type="http://schemas.openxmlformats.org/officeDocument/2006/relationships/image" Target="../media/image-14-2.svg"/><Relationship Id="rId5" Type="http://schemas.openxmlformats.org/officeDocument/2006/relationships/image" Target="../media/image-14-1.png"/><Relationship Id="rId6" Type="http://schemas.openxmlformats.org/officeDocument/2006/relationships/image" Target="../media/image-14-2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3-image-1-1.jpeg"/><Relationship Id="rId2" Type="http://schemas.openxmlformats.org/officeDocument/2006/relationships/image" Target="../media/s3-image-1-2.png"/><Relationship Id="rId3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3-image-7-1.png"/><Relationship Id="rId2" Type="http://schemas.openxmlformats.org/officeDocument/2006/relationships/image" Target="../media/s3-image-7-2.png"/><Relationship Id="rId3" Type="http://schemas.openxmlformats.org/officeDocument/2006/relationships/image" Target="../media/s3-image-7-1.png"/><Relationship Id="rId4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3-image-8-1.jpeg"/><Relationship Id="rId2" Type="http://schemas.openxmlformats.org/officeDocument/2006/relationships/image" Target="../media/s3-image-8-2.png"/><Relationship Id="rId3" Type="http://schemas.openxmlformats.org/officeDocument/2006/relationships/image" Target="../media/s3-image-8-3.svg"/><Relationship Id="rId4" Type="http://schemas.openxmlformats.org/officeDocument/2006/relationships/image" Target="../media/s3-image-8-4.png"/><Relationship Id="rId5" Type="http://schemas.openxmlformats.org/officeDocument/2006/relationships/image" Target="../media/s3-image-8-5.svg"/><Relationship Id="rId6" Type="http://schemas.openxmlformats.org/officeDocument/2006/relationships/image" Target="../media/s3-image-8-6.png"/><Relationship Id="rId7" Type="http://schemas.openxmlformats.org/officeDocument/2006/relationships/image" Target="../media/s3-image-8-7.svg"/><Relationship Id="rId8" Type="http://schemas.openxmlformats.org/officeDocument/2006/relationships/image" Target="../media/s3-image-8-8.png"/><Relationship Id="rId9" Type="http://schemas.openxmlformats.org/officeDocument/2006/relationships/image" Target="../media/s3-image-8-9.svg"/><Relationship Id="rId10" Type="http://schemas.openxmlformats.org/officeDocument/2006/relationships/image" Target="../media/s3-image-8-10.png"/><Relationship Id="rId1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00.xml"/></Relationships>
</file>

<file path=ppt/slides/_rels/slide9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02.xml"/></Relationships>
</file>

<file path=ppt/slides/_rels/slide90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03.xml"/></Relationships>
</file>

<file path=ppt/slides/_rels/slide9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4.xml"/></Relationships>
</file>

<file path=ppt/slides/_rels/slide90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05.xml"/></Relationships>
</file>

<file path=ppt/slides/_rels/slide90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3.png"/><Relationship Id="rId6" Type="http://schemas.openxmlformats.org/officeDocument/2006/relationships/image" Target="../media/image-6-4.sv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06.xml"/></Relationships>
</file>

<file path=ppt/slides/_rels/slide90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907.xml"/></Relationships>
</file>

<file path=ppt/slides/_rels/slide9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8.xml"/></Relationships>
</file>

<file path=ppt/slides/_rels/slide90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4.png"/><Relationship Id="rId7" Type="http://schemas.openxmlformats.org/officeDocument/2006/relationships/image" Target="../media/image-9-5.svg"/><Relationship Id="rId8" Type="http://schemas.openxmlformats.org/officeDocument/2006/relationships/image" Target="../media/image-9-4.png"/><Relationship Id="rId9" Type="http://schemas.openxmlformats.org/officeDocument/2006/relationships/image" Target="../media/image-9-5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09.xml"/></Relationships>
</file>

<file path=ppt/slides/_rels/slide9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10.xml"/></Relationships>
</file>

<file path=ppt/slides/_rels/slide9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2.png"/><Relationship Id="rId7" Type="http://schemas.openxmlformats.org/officeDocument/2006/relationships/image" Target="../media/image-11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11.xml"/></Relationships>
</file>

<file path=ppt/slides/_rels/slide9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2.xml"/></Relationships>
</file>

<file path=ppt/slides/_rels/slide9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13.xml"/></Relationships>
</file>

<file path=ppt/slides/_rels/slide9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4.xml"/></Relationships>
</file>

<file path=ppt/slides/_rels/slide9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7.xml"/></Relationships>
</file>

<file path=ppt/slides/_rels/slide918.xml.rels><?xml version='1.0' encoding='UTF-8' standalone='yes'?>
<Relationships xmlns="http://schemas.openxmlformats.org/package/2006/relationships"><Relationship Id="rId1" Type="http://schemas.openxmlformats.org/officeDocument/2006/relationships/image" Target="../media/s3-image-5-1.jpeg"/><Relationship Id="rId2" Type="http://schemas.openxmlformats.org/officeDocument/2006/relationships/image" Target="../media/s3-image-5-2.png"/><Relationship Id="rId3" Type="http://schemas.openxmlformats.org/officeDocument/2006/relationships/image" Target="../media/s3-image-5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18.xml"/></Relationships>
</file>

<file path=ppt/slides/_rels/slide920.xml.rels><?xml version='1.0' encoding='UTF-8' standalone='yes'?>
<Relationships xmlns="http://schemas.openxmlformats.org/package/2006/relationships"><Relationship Id="rId1" Type="http://schemas.openxmlformats.org/officeDocument/2006/relationships/image" Target="../media/s3-image-9-1.jpeg"/><Relationship Id="rId2" Type="http://schemas.openxmlformats.org/officeDocument/2006/relationships/image" Target="../media/s3-image-8-10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20.xml"/></Relationships>
</file>

<file path=ppt/slides/_rels/slide921.xml.rels><?xml version='1.0' encoding='UTF-8' standalone='yes'?>
<Relationships xmlns="http://schemas.openxmlformats.org/package/2006/relationships"><Relationship Id="rId1" Type="http://schemas.openxmlformats.org/officeDocument/2006/relationships/image" Target="../media/s3-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21.xml"/></Relationships>
</file>

<file path=ppt/slides/_rels/slide9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4.xml"/></Relationships>
</file>

<file path=ppt/slides/_rels/slide9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5.xml"/></Relationships>
</file>

<file path=ppt/slides/_rels/slide9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7.xml"/></Relationships>
</file>

<file path=ppt/slides/_rels/slide2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2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2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2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6.xml"/></Relationships>
</file>

<file path=ppt/slides/_rels/slide2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7.xml"/></Relationships>
</file>

<file path=ppt/slides/_rels/slide2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2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20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1394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שאתה כותב = מה שאתה מקבל</a:t>
            </a:r>
            <a:endParaRPr lang="he-IL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81262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שכבה שמוסיפים — התשובה משתפרת</a:t>
            </a:r>
            <a:endParaRPr lang="he-IL" sz="1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71812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48834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מה כותבים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מה מקבלים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רמה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7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שאל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תשובה גרועה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 חלש</a:t>
                      </a:r>
                      <a:endParaRPr lang="en-US" sz="11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7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שאל + פרטים + כללים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תשובה טובה יותר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 בינוני</a:t>
                      </a:r>
                      <a:endParaRPr lang="en-US" sz="11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4597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שאל + פרטים + כללים + מטרה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תשובה שימושית ומדויקת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 מנצח</a:t>
                      </a:r>
                      <a:endParaRPr lang="en-US" sz="11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1890" y="5408315"/>
            <a:ext cx="111948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ככל שמוסיפים שכבות — התשובה משתפרת. 30 שניות של כתיבה = פער עצום בתוצאה.</a:t>
            </a:r>
            <a:endParaRPr lang="he-IL" sz="1450" dirty="0"/>
          </a:p>
        </p:txBody>
      </p:sp>
      <p:sp>
        <p:nvSpPr>
          <p:cNvPr id="6" name="Shape 3"/>
          <p:cNvSpPr/>
          <p:nvPr/>
        </p:nvSpPr>
        <p:spPr>
          <a:xfrm>
            <a:off x="11504821" y="5195689"/>
            <a:ext cx="25399" cy="670917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2902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הדגמה חיה: בנייה שכבה-שכבה</a:t>
            </a:r>
            <a:endParaRPr lang="he-IL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62770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פגישה, ארבע הרצות — רואים את הפער בזמן אמת</a:t>
            </a:r>
            <a:endParaRPr lang="he-IL" sz="1850" dirty="0"/>
          </a:p>
        </p:txBody>
      </p:sp>
      <p:sp>
        <p:nvSpPr>
          <p:cNvPr id="4" name="Text 2"/>
          <p:cNvSpPr/>
          <p:nvPr/>
        </p:nvSpPr>
        <p:spPr>
          <a:xfrm>
            <a:off x="11152206" y="1953320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0401" y="2258616"/>
            <a:ext cx="5339820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6" name="Text 4"/>
          <p:cNvSpPr/>
          <p:nvPr/>
        </p:nvSpPr>
        <p:spPr>
          <a:xfrm>
            <a:off x="6190401" y="2403872"/>
            <a:ext cx="533982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בסיס — סכם לי את הפגישה.</a:t>
            </a:r>
            <a:endParaRPr lang="he-IL" sz="1850" dirty="0"/>
          </a:p>
        </p:txBody>
      </p:sp>
      <p:sp>
        <p:nvSpPr>
          <p:cNvPr id="7" name="Text 5"/>
          <p:cNvSpPr/>
          <p:nvPr/>
        </p:nvSpPr>
        <p:spPr>
          <a:xfrm>
            <a:off x="6190401" y="2824361"/>
            <a:ext cx="533982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תוצאה: סיכום כללי וחסר</a:t>
            </a:r>
            <a:endParaRPr lang="he-IL" sz="1450" dirty="0"/>
          </a:p>
        </p:txBody>
      </p:sp>
      <p:sp>
        <p:nvSpPr>
          <p:cNvPr id="8" name="Text 6"/>
          <p:cNvSpPr/>
          <p:nvPr/>
        </p:nvSpPr>
        <p:spPr>
          <a:xfrm>
            <a:off x="5623380" y="1953320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2258616"/>
            <a:ext cx="5339919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2403872"/>
            <a:ext cx="5339919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הקשר — סכם פגישת לקוח שדנה בחריגה מתקציב. ציין מטרות ונקודות מרכזיות.</a:t>
            </a:r>
            <a:endParaRPr lang="he-IL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3131443"/>
            <a:ext cx="533991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תוצאה: ממוקד יותר</a:t>
            </a:r>
            <a:endParaRPr lang="he-IL" sz="1450" dirty="0"/>
          </a:p>
        </p:txBody>
      </p:sp>
      <p:sp>
        <p:nvSpPr>
          <p:cNvPr id="12" name="Text 10"/>
          <p:cNvSpPr/>
          <p:nvPr/>
        </p:nvSpPr>
        <p:spPr>
          <a:xfrm>
            <a:off x="11152206" y="3707805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0401" y="3994150"/>
            <a:ext cx="5339820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4" name="Text 12"/>
          <p:cNvSpPr/>
          <p:nvPr/>
        </p:nvSpPr>
        <p:spPr>
          <a:xfrm>
            <a:off x="6190401" y="4158357"/>
            <a:ext cx="533982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פורמט — ...בטבלה: נושא | החלטה | אחראי | תאריך יעד.</a:t>
            </a:r>
            <a:endParaRPr lang="he-IL" sz="1850" dirty="0"/>
          </a:p>
        </p:txBody>
      </p:sp>
      <p:sp>
        <p:nvSpPr>
          <p:cNvPr id="15" name="Text 13"/>
          <p:cNvSpPr/>
          <p:nvPr/>
        </p:nvSpPr>
        <p:spPr>
          <a:xfrm>
            <a:off x="6190401" y="4885928"/>
            <a:ext cx="533982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תוצאה: מוכן לשימוש</a:t>
            </a:r>
            <a:endParaRPr lang="he-IL" sz="1450" dirty="0"/>
          </a:p>
        </p:txBody>
      </p:sp>
      <p:sp>
        <p:nvSpPr>
          <p:cNvPr id="16" name="Text 14"/>
          <p:cNvSpPr/>
          <p:nvPr/>
        </p:nvSpPr>
        <p:spPr>
          <a:xfrm>
            <a:off x="5623380" y="3707805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4013101"/>
            <a:ext cx="5339919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158357"/>
            <a:ext cx="533991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קהל — ...לשליחה למנהל הפרויקט שלא היה בפגישה.</a:t>
            </a:r>
            <a:endParaRPr lang="he-IL" sz="1850" dirty="0"/>
          </a:p>
        </p:txBody>
      </p:sp>
      <p:sp>
        <p:nvSpPr>
          <p:cNvPr id="19" name="Text 17"/>
          <p:cNvSpPr/>
          <p:nvPr/>
        </p:nvSpPr>
        <p:spPr>
          <a:xfrm>
            <a:off x="661475" y="4578846"/>
            <a:ext cx="533991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תוצאה: מוכן לשליחה</a:t>
            </a:r>
            <a:endParaRPr lang="he-IL" sz="1450" dirty="0"/>
          </a:p>
        </p:txBody>
      </p:sp>
      <p:sp>
        <p:nvSpPr>
          <p:cNvPr id="20" name="Shape 18"/>
          <p:cNvSpPr/>
          <p:nvPr/>
        </p:nvSpPr>
        <p:spPr>
          <a:xfrm>
            <a:off x="661475" y="5448102"/>
            <a:ext cx="10868745" cy="699195"/>
          </a:xfrm>
          <a:prstGeom prst="roundRect">
            <a:avLst>
              <a:gd name="adj" fmla="val 11354"/>
            </a:avLst>
          </a:prstGeom>
          <a:solidFill>
            <a:srgbClr val="183A13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690394"/>
            <a:ext cx="236234" cy="18901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66138" y="5722144"/>
            <a:ext cx="1067507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שלב מוסיף שכבה — ורואים את התשובה משתפרת בזמן אמת.</a:t>
            </a:r>
            <a:endParaRPr lang="he-IL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258689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התרגיל המרכזי (20 דקות)</a:t>
            </a:r>
            <a:endParaRPr lang="he-IL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9328" y="2222500"/>
            <a:ext cx="189007" cy="18901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04458" y="2461716"/>
            <a:ext cx="3053877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6" name="Text 2"/>
          <p:cNvSpPr/>
          <p:nvPr/>
        </p:nvSpPr>
        <p:spPr>
          <a:xfrm>
            <a:off x="3904458" y="2606973"/>
            <a:ext cx="305387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כתיבה אישית</a:t>
            </a:r>
            <a:endParaRPr lang="he-IL" sz="1850" dirty="0"/>
          </a:p>
        </p:txBody>
      </p:sp>
      <p:sp>
        <p:nvSpPr>
          <p:cNvPr id="7" name="Text 3"/>
          <p:cNvSpPr/>
          <p:nvPr/>
        </p:nvSpPr>
        <p:spPr>
          <a:xfrm>
            <a:off x="3904458" y="3027462"/>
            <a:ext cx="305387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משתתף כותב 3 הנחיות אמיתיות מהעבודה שלו לפי הנוסחה, מריץ ומשפר פעם אחת.</a:t>
            </a:r>
            <a:endParaRPr lang="he-IL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6444" y="2222500"/>
            <a:ext cx="189007" cy="18901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61475" y="2480667"/>
            <a:ext cx="3053976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0" name="Text 5"/>
          <p:cNvSpPr/>
          <p:nvPr/>
        </p:nvSpPr>
        <p:spPr>
          <a:xfrm>
            <a:off x="661475" y="2606973"/>
            <a:ext cx="305397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בזוגות</a:t>
            </a:r>
            <a:endParaRPr lang="he-IL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3027462"/>
            <a:ext cx="305397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אחד מציג לשכן את הלפני-אחרי.</a:t>
            </a:r>
            <a:endParaRPr lang="he-IL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69328" y="4123432"/>
            <a:ext cx="189007" cy="18901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61475" y="4381599"/>
            <a:ext cx="6296860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4" name="Text 8"/>
          <p:cNvSpPr/>
          <p:nvPr/>
        </p:nvSpPr>
        <p:spPr>
          <a:xfrm>
            <a:off x="661475" y="4545707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בנק ההנחיות האישי</a:t>
            </a:r>
            <a:endParaRPr lang="he-IL" sz="1850" dirty="0"/>
          </a:p>
        </p:txBody>
      </p:sp>
      <p:sp>
        <p:nvSpPr>
          <p:cNvPr id="15" name="Text 9"/>
          <p:cNvSpPr/>
          <p:nvPr/>
        </p:nvSpPr>
        <p:spPr>
          <a:xfrm>
            <a:off x="661475" y="4966196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פותחים מסמך שמור – כל הנחיה שעבדה נכנסת פנימה. תוך חודש יש לכם ספריית עבודה משלכם.</a:t>
            </a:r>
            <a:endParaRPr lang="he-IL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967"/>
            <a:ext cx="10868745" cy="585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500" b="1" spc="-71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תרגול בית</a:t>
            </a:r>
            <a:endParaRPr lang="he-IL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1734" y="1491952"/>
            <a:ext cx="3508486" cy="22365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67980" y="1621631"/>
            <a:ext cx="21609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7211" y="2212479"/>
            <a:ext cx="3097532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50" b="1" spc="-35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בנו 5 הנחיות לבנק שלכם</a:t>
            </a:r>
            <a:endParaRPr lang="he-IL" sz="1750" dirty="0"/>
          </a:p>
        </p:txBody>
      </p:sp>
      <p:sp>
        <p:nvSpPr>
          <p:cNvPr id="6" name="Text 3"/>
          <p:cNvSpPr/>
          <p:nvPr/>
        </p:nvSpPr>
        <p:spPr>
          <a:xfrm>
            <a:off x="8227211" y="2608262"/>
            <a:ext cx="3097532" cy="914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אספו הנחיות שעובדות. הגדירו מראש איפה נשמר הבנק (Notion / Google Docs / תיקייה) — בלי מיקום קבוע, זה יישאר סיסמה.</a:t>
            </a:r>
            <a:endParaRPr lang="he-IL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1605" y="1491952"/>
            <a:ext cx="3508486" cy="22365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7851" y="1621631"/>
            <a:ext cx="21609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47082" y="2212479"/>
            <a:ext cx="3097532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50" b="1" spc="-35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אחת לפחות עם תפקיד</a:t>
            </a:r>
            <a:endParaRPr lang="he-IL" sz="1750" dirty="0"/>
          </a:p>
        </p:txBody>
      </p:sp>
      <p:sp>
        <p:nvSpPr>
          <p:cNvPr id="10" name="Text 6"/>
          <p:cNvSpPr/>
          <p:nvPr/>
        </p:nvSpPr>
        <p:spPr>
          <a:xfrm>
            <a:off x="4547082" y="2608262"/>
            <a:ext cx="3097532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בניסוח "אתה..." כדי לתת לכלי תפקיד ברור.</a:t>
            </a:r>
            <a:endParaRPr lang="he-IL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1491952"/>
            <a:ext cx="3508486" cy="22365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07721" y="1621631"/>
            <a:ext cx="21609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66952" y="2212479"/>
            <a:ext cx="3097532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50" b="1" spc="-35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הביאו את הטובה ביותר</a:t>
            </a:r>
            <a:endParaRPr lang="he-IL" sz="1750" dirty="0"/>
          </a:p>
        </p:txBody>
      </p:sp>
      <p:sp>
        <p:nvSpPr>
          <p:cNvPr id="14" name="Text 9"/>
          <p:cNvSpPr/>
          <p:nvPr/>
        </p:nvSpPr>
        <p:spPr>
          <a:xfrm>
            <a:off x="866952" y="2608262"/>
            <a:ext cx="3097532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למפגש הבא – שלושה מציגים ייבחרו להציג את ההנחיה הטובה ביותר שלהם.</a:t>
            </a:r>
            <a:endParaRPr lang="he-IL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900190"/>
            <a:ext cx="10868745" cy="155049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87851" y="4029869"/>
            <a:ext cx="21609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866952" y="4620716"/>
            <a:ext cx="10457792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50" b="1" spc="-35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הביאו גם כישלון אחד</a:t>
            </a:r>
            <a:endParaRPr lang="he-IL" sz="1750" dirty="0"/>
          </a:p>
        </p:txBody>
      </p:sp>
      <p:sp>
        <p:nvSpPr>
          <p:cNvPr id="18" name="Text 12"/>
          <p:cNvSpPr/>
          <p:nvPr/>
        </p:nvSpPr>
        <p:spPr>
          <a:xfrm>
            <a:off x="866952" y="5016500"/>
            <a:ext cx="10457792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שניסיתם ועדיין לא עבדה. זה חומר הגלם הכי טוב למפגש הבא.</a:t>
            </a:r>
            <a:endParaRPr lang="he-IL" sz="1400" dirty="0"/>
          </a:p>
        </p:txBody>
      </p:sp>
      <p:sp>
        <p:nvSpPr>
          <p:cNvPr id="19" name="Shape 13"/>
          <p:cNvSpPr/>
          <p:nvPr/>
        </p:nvSpPr>
        <p:spPr>
          <a:xfrm>
            <a:off x="661475" y="5643860"/>
            <a:ext cx="10868745" cy="651073"/>
          </a:xfrm>
          <a:prstGeom prst="roundRect">
            <a:avLst>
              <a:gd name="adj" fmla="val 11622"/>
            </a:avLst>
          </a:prstGeom>
          <a:solidFill>
            <a:srgbClr val="002A80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552" y="5861546"/>
            <a:ext cx="225122" cy="18008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7167" y="5860455"/>
            <a:ext cx="10712976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נתראה במפגש הבא עם הנחיות מנצחות! </a:t>
            </a:r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🚀</a:t>
            </a:r>
            <a:endParaRPr lang="he-IL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934045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3: מההנחיה אל השגרה</a:t>
            </a:r>
            <a:endParaRPr lang="he-IL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623913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מציגים — ההנחיה הכי טובה מהבנק</a:t>
            </a:r>
            <a:endParaRPr lang="he-IL" sz="1850" dirty="0"/>
          </a:p>
        </p:txBody>
      </p:sp>
      <p:sp>
        <p:nvSpPr>
          <p:cNvPr id="5" name="Text 2"/>
          <p:cNvSpPr/>
          <p:nvPr/>
        </p:nvSpPr>
        <p:spPr>
          <a:xfrm>
            <a:off x="4623776" y="2214463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גם: כישלון אחד מהבית. שואלים: חסר מי, מה, או איך?</a:t>
            </a:r>
            <a:endParaRPr lang="he-IL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2672755"/>
            <a:ext cx="6296860" cy="944860"/>
          </a:xfrm>
          <a:prstGeom prst="roundRect">
            <a:avLst>
              <a:gd name="adj" fmla="val 8402"/>
            </a:avLst>
          </a:prstGeom>
          <a:solidFill>
            <a:srgbClr val="002A8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2915047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47608" y="2908995"/>
            <a:ext cx="549360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2: למדנו את הנוסחה. היום — מדביקים אותה על העבודה האמיתית שלכם.</a:t>
            </a:r>
            <a:endParaRPr lang="he-IL" sz="1450" dirty="0"/>
          </a:p>
        </p:txBody>
      </p:sp>
      <p:sp>
        <p:nvSpPr>
          <p:cNvPr id="9" name="Text 5"/>
          <p:cNvSpPr/>
          <p:nvPr/>
        </p:nvSpPr>
        <p:spPr>
          <a:xfrm>
            <a:off x="4623776" y="3830241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מקצוע, לא תבנית אחת.</a:t>
            </a:r>
            <a:endParaRPr lang="he-IL" sz="1450" dirty="0"/>
          </a:p>
        </p:txBody>
      </p:sp>
      <p:sp>
        <p:nvSpPr>
          <p:cNvPr id="10" name="Shape 6"/>
          <p:cNvSpPr/>
          <p:nvPr/>
        </p:nvSpPr>
        <p:spPr>
          <a:xfrm>
            <a:off x="8476343" y="4288532"/>
            <a:ext cx="3053877" cy="723205"/>
          </a:xfrm>
          <a:prstGeom prst="roundRect">
            <a:avLst>
              <a:gd name="adj" fmla="val 109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4400" y="4496594"/>
            <a:ext cx="2637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הנחיות שמורות בבנק</a:t>
            </a:r>
            <a:endParaRPr lang="he-IL" sz="1850" dirty="0"/>
          </a:p>
        </p:txBody>
      </p:sp>
      <p:sp>
        <p:nvSpPr>
          <p:cNvPr id="12" name="Shape 8"/>
          <p:cNvSpPr/>
          <p:nvPr/>
        </p:nvSpPr>
        <p:spPr>
          <a:xfrm>
            <a:off x="5233360" y="4288532"/>
            <a:ext cx="3053976" cy="723205"/>
          </a:xfrm>
          <a:prstGeom prst="roundRect">
            <a:avLst>
              <a:gd name="adj" fmla="val 109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41417" y="4496594"/>
            <a:ext cx="2637863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 אחד ביד</a:t>
            </a:r>
            <a:endParaRPr lang="he-IL" sz="1850" dirty="0"/>
          </a:p>
        </p:txBody>
      </p:sp>
      <p:sp>
        <p:nvSpPr>
          <p:cNvPr id="14" name="Shape 10"/>
          <p:cNvSpPr/>
          <p:nvPr/>
        </p:nvSpPr>
        <p:spPr>
          <a:xfrm>
            <a:off x="5233360" y="5200749"/>
            <a:ext cx="6296860" cy="723205"/>
          </a:xfrm>
          <a:prstGeom prst="roundRect">
            <a:avLst>
              <a:gd name="adj" fmla="val 109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41417" y="5408811"/>
            <a:ext cx="588074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ברור מתי מחליפים כלי</a:t>
            </a:r>
            <a:endParaRPr lang="he-IL" sz="1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מ־40 עמודים למוכנות ב־10 דקות</a:t>
            </a:r>
            <a:endParaRPr lang="he-IL" sz="1850" dirty="0"/>
          </a:p>
        </p:txBody>
      </p:sp>
      <p:sp>
        <p:nvSpPr>
          <p:cNvPr id="3" name="Shape 1"/>
          <p:cNvSpPr/>
          <p:nvPr/>
        </p:nvSpPr>
        <p:spPr>
          <a:xfrm>
            <a:off x="661475" y="921345"/>
            <a:ext cx="10868745" cy="229096"/>
          </a:xfrm>
          <a:prstGeom prst="roundRect">
            <a:avLst>
              <a:gd name="adj" fmla="val 17326"/>
            </a:avLst>
          </a:prstGeom>
          <a:solidFill>
            <a:srgbClr val="002A8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929" y="992188"/>
            <a:ext cx="118067" cy="94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8865" y="992188"/>
            <a:ext cx="11076901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1000"/>
              </a:lnSpc>
              <a:buNone/>
            </a:pPr>
            <a:r>
              <a:rPr lang="he-IL" alt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מברק אחד. שלוש הודעות באותו צ'אט — שיחה, לא מברק</a:t>
            </a:r>
            <a:endParaRPr lang="he-IL" sz="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203523"/>
            <a:ext cx="10868745" cy="48909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52069" y="1459569"/>
            <a:ext cx="1902004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he-IL" sz="1850" dirty="0"/>
          </a:p>
        </p:txBody>
      </p:sp>
      <p:sp>
        <p:nvSpPr>
          <p:cNvPr id="8" name="Text 4"/>
          <p:cNvSpPr/>
          <p:nvPr/>
        </p:nvSpPr>
        <p:spPr>
          <a:xfrm>
            <a:off x="7552069" y="1848862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7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נקודות מרכזיות מתוך המסמך</a:t>
            </a:r>
            <a:endParaRPr lang="he-IL" sz="1450" dirty="0"/>
          </a:p>
        </p:txBody>
      </p:sp>
      <p:sp>
        <p:nvSpPr>
          <p:cNvPr id="9" name="Text 5"/>
          <p:cNvSpPr/>
          <p:nvPr/>
        </p:nvSpPr>
        <p:spPr>
          <a:xfrm>
            <a:off x="5137988" y="5127810"/>
            <a:ext cx="1912454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</a:t>
            </a:r>
            <a:endParaRPr lang="he-IL" sz="1850" dirty="0"/>
          </a:p>
        </p:txBody>
      </p:sp>
      <p:sp>
        <p:nvSpPr>
          <p:cNvPr id="10" name="Text 6"/>
          <p:cNvSpPr/>
          <p:nvPr/>
        </p:nvSpPr>
        <p:spPr>
          <a:xfrm>
            <a:off x="5137988" y="5517104"/>
            <a:ext cx="191245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7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שאלות חכמות לשאול בפגישה</a:t>
            </a:r>
            <a:endParaRPr lang="he-IL" sz="1450" dirty="0"/>
          </a:p>
        </p:txBody>
      </p:sp>
      <p:sp>
        <p:nvSpPr>
          <p:cNvPr id="11" name="Text 7"/>
          <p:cNvSpPr/>
          <p:nvPr/>
        </p:nvSpPr>
        <p:spPr>
          <a:xfrm>
            <a:off x="2817961" y="1422991"/>
            <a:ext cx="1902004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סיכונים</a:t>
            </a:r>
            <a:endParaRPr lang="he-IL" sz="1850" dirty="0"/>
          </a:p>
        </p:txBody>
      </p:sp>
      <p:sp>
        <p:nvSpPr>
          <p:cNvPr id="12" name="Text 8"/>
          <p:cNvSpPr/>
          <p:nvPr/>
        </p:nvSpPr>
        <p:spPr>
          <a:xfrm>
            <a:off x="2817961" y="1812284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7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נקודות במסמך שעלולות לפעול לרעתך</a:t>
            </a:r>
            <a:endParaRPr lang="he-IL" sz="1450" dirty="0"/>
          </a:p>
        </p:txBody>
      </p:sp>
      <p:sp>
        <p:nvSpPr>
          <p:cNvPr id="13" name="Text 9"/>
          <p:cNvSpPr/>
          <p:nvPr/>
        </p:nvSpPr>
        <p:spPr>
          <a:xfrm>
            <a:off x="51890" y="6200676"/>
            <a:ext cx="11336649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1000"/>
              </a:lnSpc>
              <a:buNone/>
            </a:pPr>
            <a:r>
              <a:rPr lang="he-IL" altLang="en-US" sz="7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מי: אני [תפקיד], הפגישה בעוד שעה, אני לא מומחית למסמך הזה</a:t>
            </a:r>
            <a:endParaRPr lang="he-IL" sz="700" dirty="0"/>
          </a:p>
        </p:txBody>
      </p:sp>
      <p:sp>
        <p:nvSpPr>
          <p:cNvPr id="14" name="Shape 10"/>
          <p:cNvSpPr/>
          <p:nvPr/>
        </p:nvSpPr>
        <p:spPr>
          <a:xfrm>
            <a:off x="11517520" y="6147594"/>
            <a:ext cx="12700" cy="198338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sp>
        <p:nvSpPr>
          <p:cNvPr id="15" name="Shape 11"/>
          <p:cNvSpPr/>
          <p:nvPr/>
        </p:nvSpPr>
        <p:spPr>
          <a:xfrm>
            <a:off x="661475" y="6399014"/>
            <a:ext cx="10868745" cy="229096"/>
          </a:xfrm>
          <a:prstGeom prst="roundRect">
            <a:avLst>
              <a:gd name="adj" fmla="val 17326"/>
            </a:avLst>
          </a:prstGeom>
          <a:solidFill>
            <a:srgbClr val="002A8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29" y="6469856"/>
            <a:ext cx="118067" cy="94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8865" y="6469856"/>
            <a:ext cx="11076901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1000"/>
              </a:lnSpc>
              <a:buNone/>
            </a:pPr>
            <a:r>
              <a:rPr lang="he-IL" alt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כלי: הקובץ בתוך Claude. עובדה חיצונית → Perplexity, ואז חזרה</a:t>
            </a:r>
            <a:endParaRPr lang="he-IL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84808"/>
            <a:ext cx="6296860" cy="57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450" b="1" spc="-70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כלי כתיבה — מתי כל אחד</a:t>
            </a:r>
            <a:endParaRPr lang="he-IL" sz="3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509812"/>
            <a:ext cx="443001" cy="4430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84021" y="1509812"/>
            <a:ext cx="5646199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ChatGPT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884021" y="1897360"/>
            <a:ext cx="5646199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ניסוח, כיוונים, סיבוב שני. אין קובץ כבד</a:t>
            </a:r>
            <a:endParaRPr lang="he-IL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452687"/>
            <a:ext cx="443001" cy="4430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84021" y="2452687"/>
            <a:ext cx="5646199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Claude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5884021" y="2840236"/>
            <a:ext cx="5646199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מסמך ארוך, דיוק על מה שכתוב בקובץ</a:t>
            </a:r>
            <a:endParaRPr lang="he-IL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395563"/>
            <a:ext cx="443001" cy="4430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84021" y="3395563"/>
            <a:ext cx="5646199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Gemini (Google)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5884021" y="3783112"/>
            <a:ext cx="5646199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המשימה כבר ב־Gmail / Docs / Drive — לא מעתיקים החוצה</a:t>
            </a:r>
            <a:endParaRPr lang="he-IL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4338439"/>
            <a:ext cx="443001" cy="4430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884021" y="4338439"/>
            <a:ext cx="5646199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Copilot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5884021" y="4725988"/>
            <a:ext cx="5646199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המשימה כבר ב־Word / Outlook / Excel, ויש רישיון. אין רישיון — לא השקף הזה</a:t>
            </a:r>
            <a:endParaRPr lang="he-IL" sz="1350" dirty="0"/>
          </a:p>
        </p:txBody>
      </p:sp>
      <p:sp>
        <p:nvSpPr>
          <p:cNvPr id="16" name="Text 9"/>
          <p:cNvSpPr/>
          <p:nvPr/>
        </p:nvSpPr>
        <p:spPr>
          <a:xfrm>
            <a:off x="4623776" y="5135959"/>
            <a:ext cx="6906444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נשארים באותו צ'אט עד שהמשימה נגמרה. מחליפים כלי רק כשהמשימה התחלפה</a:t>
            </a:r>
            <a:endParaRPr lang="he-IL" sz="1350" dirty="0"/>
          </a:p>
        </p:txBody>
      </p:sp>
      <p:sp>
        <p:nvSpPr>
          <p:cNvPr id="17" name="Shape 10"/>
          <p:cNvSpPr/>
          <p:nvPr/>
        </p:nvSpPr>
        <p:spPr>
          <a:xfrm>
            <a:off x="5233360" y="5545931"/>
            <a:ext cx="6296860" cy="627162"/>
          </a:xfrm>
          <a:prstGeom prst="roundRect">
            <a:avLst>
              <a:gd name="adj" fmla="val 11867"/>
            </a:avLst>
          </a:prstGeom>
          <a:solidFill>
            <a:srgbClr val="002A80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0561" y="5759946"/>
            <a:ext cx="221451" cy="17720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99627" y="5756275"/>
            <a:ext cx="6153393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סודי: כלי ארגוני, או מוחקים שמות ומספרים לפני ההעלאה</a:t>
            </a:r>
            <a:endParaRPr lang="he-IL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תנו לו חומר לעבוד איתו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הנחיה טובה + חומר אמיתי = תוצאה מדויקת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5644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436608" y="2148840"/>
            <a:ext cx="822960" cy="82296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F2F5FA"/>
                </a:solidFill>
                <a:latin typeface="Arial"/>
                <a:cs typeface="Arial"/>
              </a:rP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7616" y="31546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הדבקת טקסט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0768" y="36576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מדביקים מייל, תמלול או מסמך:</a:t>
            </a:r>
          </a:p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"סכם ב-3 נקודות וכתוב טיוטת תשובה."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687568" y="2148840"/>
            <a:ext cx="822960" cy="82296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F2F5FA"/>
                </a:solidFill>
                <a:latin typeface="Arial"/>
                <a:cs typeface="Arial"/>
              </a:rPr>
              <a:t>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31546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קובץ מצורף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6576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PDF, וורד או אקסל:</a:t>
            </a:r>
          </a:p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"מה שלושת הסיכונים בחוזה המצורף?"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938528" y="2148840"/>
            <a:ext cx="822960" cy="82296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F2F5FA"/>
                </a:solidFill>
                <a:latin typeface="Arial"/>
                <a:cs typeface="Arial"/>
              </a:rPr>
              <a:t>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1546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תמונה או צילום מסך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6576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קבלה, לוח, גרף או פתק:</a:t>
            </a:r>
          </a:p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"הפוך את הצילום הזה לטבלה מסודרת."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32120"/>
            <a:ext cx="10872216" cy="640080"/>
          </a:xfrm>
          <a:prstGeom prst="roundRect">
            <a:avLst>
              <a:gd name="adj" fmla="val 3000"/>
            </a:avLst>
          </a:prstGeom>
          <a:solidFill>
            <a:srgbClr val="4B3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532120"/>
            <a:ext cx="10415016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⚠️  לפני שמעלים: מוחקים שמות, מספרי זהות ופרטי לקוחות. זוכרים את תיקון 13?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טריק: תנו ל-AI לשפר את ההנחיה שלכם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הוא יודע בדיוק מה הוא צריך לשמוע. פשוט תשאלו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56448" y="1920240"/>
            <a:ext cx="3383280" cy="310896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528048" y="2103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0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7616" y="29260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כותבים הנחיה רגילה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0768" y="34290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20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"כתוב פוסט על הסדנה שלי"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2461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6296FF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920240"/>
            <a:ext cx="3383280" cy="310896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779008" y="2103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0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9260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מבקשים לשפר אותה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4290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20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"שפר את ההנחיה הזו כדי שאקבל תוצאה מדויקת. שאל אותי מה חסר."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2461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6296FF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20240"/>
            <a:ext cx="3383280" cy="310896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029968" y="2103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0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9260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עונים ומריצים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4290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20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מקבלים הנחיה מקצועית, ומריצים אותה בשיחה חדשה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349240"/>
            <a:ext cx="10872216" cy="82296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86968" y="5349240"/>
            <a:ext cx="10415016" cy="8229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💡  שימו לב: ההנחיה המשופרת היא בדיוק החומר לבנק ההנחיות שלכם. שומרים, ומשתמשים שוב.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התבנית: הנחיה בשש שורות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מעתיקים, ממלאים את הסוגריים, ומריצים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10872216" cy="35204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646920" y="202996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46920" y="202996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תפקיד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אתה [יועץ / עורך / מורה] מנוסה.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257860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46920" y="257860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הקשר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אני [מי אני, ומה המצב].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312724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46920" y="312724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משימה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אני צריך [מה בדיוק, ולמי].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3675887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46920" y="3675887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פורמט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75887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התוצאה: [מייל / טבלה / 5 נקודות], באורך [...].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422452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46920" y="422452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גבולות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24528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בלי [הקדמה / סימני קריאה / מונחים מקצועיים].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477316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46920" y="477316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דוגמה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73168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הנה דוגמה לסגנון שאני אוהב: [...]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📌  התבנית נשלחת עכשיו בצ'אט. שמרו אותה: זו ההנחיה הראשונה בבנק שלכם.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🔍 נחשו את ההנחיה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זה מה שה-AI כתב. איזו הנחיה הובילה לזה?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920240"/>
            <a:ext cx="6958584" cy="342900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846320" y="2084831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A9B4C6"/>
                </a:solidFill>
                <a:latin typeface="Arial"/>
                <a:cs typeface="Arial"/>
              </a:rPr>
              <a:t>💬  התשובה של ה-AI: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606040"/>
            <a:ext cx="6400800" cy="2651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sz="1600" b="0" i="0" lang="he-IL">
                <a:solidFill>
                  <a:srgbClr val="F2F5FA"/>
                </a:solidFill>
                <a:latin typeface="Arial"/>
                <a:cs typeface="Arial"/>
              </a:rPr>
              <a:t>שלושה רעיונות לארוחת ערב טבעונית לזוג, עד 20 דקות הכנה:</a:t>
            </a:r>
          </a:p>
          <a:p>
            <a:pPr rtl="1" algn="r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sz="1600" b="0" i="0" lang="he-IL">
                <a:solidFill>
                  <a:srgbClr val="F2F5FA"/>
                </a:solidFill>
                <a:latin typeface="Arial"/>
                <a:cs typeface="Arial"/>
              </a:rPr>
              <a:t>1. פסטה עם עגבניות שרי, שום ובזיליקום</a:t>
            </a:r>
          </a:p>
          <a:p>
            <a:pPr rtl="1" algn="r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sz="1600" b="0" i="0" lang="he-IL">
                <a:solidFill>
                  <a:srgbClr val="F2F5FA"/>
                </a:solidFill>
                <a:latin typeface="Arial"/>
                <a:cs typeface="Arial"/>
              </a:rPr>
              <a:t>2. טורטייה עם חומוס וירקות קלויים</a:t>
            </a:r>
          </a:p>
          <a:p>
            <a:pPr rtl="1" algn="r" marL="0" indent="0">
              <a:lnSpc>
                <a:spcPct val="108000"/>
              </a:lnSpc>
              <a:buNone/>
            </a:pPr>
            <a:r>
              <a:rPr sz="1600" b="0" i="0" lang="he-IL">
                <a:solidFill>
                  <a:srgbClr val="F2F5FA"/>
                </a:solidFill>
                <a:latin typeface="Arial"/>
                <a:cs typeface="Arial"/>
              </a:rPr>
              <a:t>3. מוקפץ טופו עם אורז מוכן ובוטנים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3657600" cy="34290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084831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EBEDF0"/>
                </a:solidFill>
                <a:latin typeface="Arial"/>
                <a:cs typeface="Arial"/>
              </a:rPr>
              <a:t>🕵️  רמזים לחפש: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3246120" cy="2651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מי הקהל?</a:t>
            </a:r>
          </a:p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כמה פריטים?</a:t>
            </a:r>
          </a:p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איזו מגבלה?</a:t>
            </a:r>
          </a:p>
          <a:p>
            <a:pPr rtl="1" algn="r" marL="285750" indent="-285750">
              <a:lnSpc>
                <a:spcPct val="108000"/>
              </a:lnSpc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איזה פורמט?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✍️  כתבו במשחק או בצ'אט את ההנחיה שלדעתכם יצרה את זה. הכי קרובה מנצחת.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🎯 כרטיסי משימה למעבדה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בחרו משימה, או הביאו משימה אמיתית משלכם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874519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799064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12263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גבייה בנימוס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24327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מייל ללקוח שמאחר 45 יום בתשלום של 3,200 ₪. אדיב, אבל ברור.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239512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12263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סיכום פגישה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24327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הפכו את תמליל הפגישה (בצ'אט) לטבלה: נושא, החלטה, אחראי, תאריך.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75887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799064" y="3858768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13631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פוסט לעסק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25696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פוסט לאינסטגרם על מבצע סוף עונה. שלוש גרסאות בשלושה טונים.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75887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239512" y="3858768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913631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השוואת הצעות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425696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טבלת השוואה בין שלוש הצעות מחיר (בצ'אט), עם המלצה מנומקת.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⏱️  15 דקות בחדרי עבודה. בסוף מדביקים במשחק את ההנחיה הכי טובה, לפני ואחרי.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209998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 AI בסיסי למתחילים</a:t>
            </a:r>
            <a:endParaRPr lang="he-IL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899866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2: כתיבת הנחיות (פרומפטים)</a:t>
            </a:r>
            <a:endParaRPr lang="he-IL" sz="1850" dirty="0"/>
          </a:p>
        </p:txBody>
      </p:sp>
      <p:sp>
        <p:nvSpPr>
          <p:cNvPr id="5" name="Text 2"/>
          <p:cNvSpPr/>
          <p:nvPr/>
        </p:nvSpPr>
        <p:spPr>
          <a:xfrm>
            <a:off x="4928568" y="3490416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פתיחה: סבב מתרגול הבית – מה עבד? מה אכזב?</a:t>
            </a:r>
            <a:endParaRPr lang="he-IL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948708"/>
            <a:ext cx="6296860" cy="699195"/>
          </a:xfrm>
          <a:prstGeom prst="roundRect">
            <a:avLst>
              <a:gd name="adj" fmla="val 11354"/>
            </a:avLst>
          </a:prstGeom>
          <a:solidFill>
            <a:srgbClr val="002A80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4191000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8024" y="4184948"/>
            <a:ext cx="610319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הסוד: רוב האכזבות = הנחיה חלשה. היום מתקנים את זה לתמיד.</a:t>
            </a:r>
            <a:endParaRPr lang="he-IL" sz="1450" dirty="0"/>
          </a:p>
        </p:txBody>
      </p:sp>
      <p:sp>
        <p:nvSpPr>
          <p:cNvPr id="9" name="TextBox 8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-11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5230368" y="502920"/>
            <a:ext cx="6300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🧪 נכנסים למעבדה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1280160"/>
            <a:ext cx="6300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משחק Prompt Lab ילווה אותנו לאורך כל המפגש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30368" y="1874519"/>
            <a:ext cx="6300216" cy="1234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13248" y="1965960"/>
            <a:ext cx="5934456" cy="320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50" b="1" i="0" lang="he-IL">
                <a:solidFill>
                  <a:srgbClr val="A9B4C6"/>
                </a:solidFill>
                <a:latin typeface="Arial"/>
                <a:cs typeface="Arial"/>
              </a:rPr>
              <a:t>הקישור (נשלח עכשיו בצ'אט):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3248" y="2331720"/>
            <a:ext cx="5934456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000" b="1" i="0" lang="he-IL">
                <a:solidFill>
                  <a:srgbClr val="F2F5FA"/>
                </a:solidFill>
                <a:latin typeface="Arial"/>
                <a:cs typeface="Arial"/>
              </a:rPr>
              <a:t>prompt-lab-live.talwa3.chatgpt.site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27664" y="3337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3364991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פתחו את הקישור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375818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בלשונית חדשה, ליד הזום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27664" y="4087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41148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הצטרפו עם כינוי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4507992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שם אמיתי או שם מצחיק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027664" y="4837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486460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סבב חימום ראשון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525780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מתחילים לצבור נקודות כבר עכשיו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0368" y="5715000"/>
            <a:ext cx="6300216" cy="5486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58968" y="5715000"/>
            <a:ext cx="5843016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💡  השאירו את המשחק פתוח. נחזור אליו כמה פעמים היום.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423888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הניסוי: שתי הנחיות, אותו נושא</a:t>
            </a:r>
            <a:endParaRPr lang="he-IL" sz="3700" dirty="0"/>
          </a:p>
        </p:txBody>
      </p:sp>
      <p:sp>
        <p:nvSpPr>
          <p:cNvPr id="4" name="Shape 1"/>
          <p:cNvSpPr/>
          <p:nvPr/>
        </p:nvSpPr>
        <p:spPr>
          <a:xfrm>
            <a:off x="525350" y="2321620"/>
            <a:ext cx="3190101" cy="2654102"/>
          </a:xfrm>
          <a:prstGeom prst="roundRect">
            <a:avLst>
              <a:gd name="adj" fmla="val 5128"/>
            </a:avLst>
          </a:prstGeom>
          <a:solidFill>
            <a:srgbClr val="1F2A5D">
              <a:alpha val="95000"/>
            </a:srgbClr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2759403" y="2534245"/>
            <a:ext cx="767041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2263222" y="2590899"/>
            <a:ext cx="114981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he-IL" altLang="en-US" sz="11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א׳</a:t>
            </a:r>
            <a:endParaRPr lang="he-IL" sz="1150" dirty="0"/>
          </a:p>
        </p:txBody>
      </p:sp>
      <p:sp>
        <p:nvSpPr>
          <p:cNvPr id="7" name="Text 4"/>
          <p:cNvSpPr/>
          <p:nvPr/>
        </p:nvSpPr>
        <p:spPr>
          <a:xfrm>
            <a:off x="714357" y="2896989"/>
            <a:ext cx="281208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"כתוב לי מייל ללקוח"</a:t>
            </a:r>
            <a:endParaRPr lang="he-IL" sz="1850" dirty="0"/>
          </a:p>
        </p:txBody>
      </p:sp>
      <p:sp>
        <p:nvSpPr>
          <p:cNvPr id="8" name="Text 5"/>
          <p:cNvSpPr/>
          <p:nvPr/>
        </p:nvSpPr>
        <p:spPr>
          <a:xfrm>
            <a:off x="714357" y="3393083"/>
            <a:ext cx="281208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כללית, חסרת פרטים, תניב תוצאה גנרית.</a:t>
            </a:r>
            <a:endParaRPr lang="he-IL" sz="1450" dirty="0"/>
          </a:p>
        </p:txBody>
      </p:sp>
      <p:sp>
        <p:nvSpPr>
          <p:cNvPr id="9" name="Shape 6"/>
          <p:cNvSpPr/>
          <p:nvPr/>
        </p:nvSpPr>
        <p:spPr>
          <a:xfrm>
            <a:off x="6207466" y="2534245"/>
            <a:ext cx="757219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711285" y="2590899"/>
            <a:ext cx="113999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he-IL" altLang="en-US" sz="11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ב׳</a:t>
            </a:r>
            <a:endParaRPr lang="he-IL" sz="1150" dirty="0"/>
          </a:p>
        </p:txBody>
      </p:sp>
      <p:sp>
        <p:nvSpPr>
          <p:cNvPr id="11" name="Text 8"/>
          <p:cNvSpPr/>
          <p:nvPr/>
        </p:nvSpPr>
        <p:spPr>
          <a:xfrm>
            <a:off x="4046833" y="2896989"/>
            <a:ext cx="2917851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"כתוב מייל ללקוח שמאחר בתשלום 30 יום, טון אדיב אך תקיף, עד 5 שורות, סיום עם הצעת פריסה"</a:t>
            </a:r>
            <a:endParaRPr lang="he-IL" sz="1850" dirty="0"/>
          </a:p>
        </p:txBody>
      </p:sp>
      <p:sp>
        <p:nvSpPr>
          <p:cNvPr id="12" name="Text 9"/>
          <p:cNvSpPr/>
          <p:nvPr/>
        </p:nvSpPr>
        <p:spPr>
          <a:xfrm>
            <a:off x="4046833" y="4314329"/>
            <a:ext cx="2917851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ממוקדת, עם הקשר, פורמט וסגנון ברורים.</a:t>
            </a:r>
            <a:endParaRPr lang="he-IL" sz="1450" dirty="0"/>
          </a:p>
        </p:txBody>
      </p:sp>
      <p:sp>
        <p:nvSpPr>
          <p:cNvPr id="13" name="Text 10"/>
          <p:cNvSpPr/>
          <p:nvPr/>
        </p:nvSpPr>
        <p:spPr>
          <a:xfrm>
            <a:off x="356682" y="5188347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יצא מכל אחת?</a:t>
            </a:r>
            <a:endParaRPr lang="he-IL" sz="1450" dirty="0"/>
          </a:p>
        </p:txBody>
      </p:sp>
      <p:sp>
        <p:nvSpPr>
          <p:cNvPr id="14" name="TextBox 13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18431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ההבדל על המסך</a:t>
            </a:r>
            <a:endParaRPr lang="he-IL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10718"/>
            <a:ext cx="10868745" cy="1687016"/>
          </a:xfrm>
          <a:prstGeom prst="roundRect">
            <a:avLst>
              <a:gd name="adj" fmla="val 4706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095848" y="2429768"/>
            <a:ext cx="5415323" cy="1648916"/>
          </a:xfrm>
          <a:custGeom>
            <a:avLst/>
            <a:gdLst/>
            <a:ahLst/>
            <a:cxnLst/>
            <a:rect l="l" t="t" r="r" b="b"/>
            <a:pathLst>
              <a:path w="5415323" h="1648916">
                <a:moveTo>
                  <a:pt x="66156" y="0"/>
                </a:moveTo>
                <a:lnTo>
                  <a:pt x="5415323" y="0"/>
                </a:lnTo>
                <a:lnTo>
                  <a:pt x="5415323" y="1648916"/>
                </a:lnTo>
                <a:lnTo>
                  <a:pt x="66156" y="1648916"/>
                </a:lnTo>
                <a:arcTo hR="66158" wR="66156" stAng="5400000" swAng="5400000"/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10162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84854" y="2618780"/>
            <a:ext cx="50373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א׳</a:t>
            </a:r>
            <a:endParaRPr lang="he-IL" sz="1850" dirty="0"/>
          </a:p>
        </p:txBody>
      </p:sp>
      <p:sp>
        <p:nvSpPr>
          <p:cNvPr id="6" name="Text 4"/>
          <p:cNvSpPr/>
          <p:nvPr/>
        </p:nvSpPr>
        <p:spPr>
          <a:xfrm>
            <a:off x="6284854" y="3039269"/>
            <a:ext cx="5037309" cy="604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spcAft>
                <a:spcPts val="85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מייל גנרי חסר ערך</a:t>
            </a:r>
            <a:endParaRPr lang="he-IL" sz="1450" dirty="0"/>
          </a:p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"שלום, אנא שלם את חשבונך. תודה."</a:t>
            </a:r>
            <a:endParaRPr lang="he-IL" sz="1450" dirty="0"/>
          </a:p>
        </p:txBody>
      </p:sp>
      <p:sp>
        <p:nvSpPr>
          <p:cNvPr id="7" name="Shape 5"/>
          <p:cNvSpPr/>
          <p:nvPr/>
        </p:nvSpPr>
        <p:spPr>
          <a:xfrm>
            <a:off x="680524" y="2429768"/>
            <a:ext cx="5415323" cy="1648916"/>
          </a:xfrm>
          <a:custGeom>
            <a:avLst/>
            <a:gdLst/>
            <a:ahLst/>
            <a:cxnLst/>
            <a:rect l="l" t="t" r="r" b="b"/>
            <a:pathLst>
              <a:path w="5415323" h="1648916">
                <a:moveTo>
                  <a:pt x="0" y="0"/>
                </a:moveTo>
                <a:lnTo>
                  <a:pt x="5349167" y="0"/>
                </a:lnTo>
                <a:arcTo hR="66158" wR="66156" stAng="16200000" swAng="5400000"/>
                <a:lnTo>
                  <a:pt x="5415323" y="1582758"/>
                </a:lnTo>
                <a:arcTo hR="66158" wR="66156" stAng="0" swAng="5400000"/>
                <a:lnTo>
                  <a:pt x="0" y="1648916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0524" y="2429768"/>
            <a:ext cx="25399" cy="1648916"/>
          </a:xfrm>
          <a:prstGeom prst="roundRect">
            <a:avLst>
              <a:gd name="adj" fmla="val 50001"/>
            </a:avLst>
          </a:prstGeom>
          <a:solidFill>
            <a:srgbClr val="002A8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9531" y="2618780"/>
            <a:ext cx="50373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ב׳</a:t>
            </a:r>
            <a:endParaRPr lang="he-IL" sz="1850" dirty="0"/>
          </a:p>
        </p:txBody>
      </p:sp>
      <p:sp>
        <p:nvSpPr>
          <p:cNvPr id="10" name="Text 8"/>
          <p:cNvSpPr/>
          <p:nvPr/>
        </p:nvSpPr>
        <p:spPr>
          <a:xfrm>
            <a:off x="869531" y="3039269"/>
            <a:ext cx="5037309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spcAft>
                <a:spcPts val="85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מייל מוכן לשליחה</a:t>
            </a:r>
            <a:endParaRPr lang="he-IL" sz="1450" dirty="0"/>
          </a:p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"שלום [שם], שמנו לב שחשבון מס׳ 1042 טרם שולם (30 יום). נשמח לסייע בפריסה נוחה — צרו קשר עד יום ה׳. בברכה, [שם]"</a:t>
            </a:r>
            <a:endParaRPr lang="he-IL" sz="1450" dirty="0"/>
          </a:p>
        </p:txBody>
      </p:sp>
      <p:sp>
        <p:nvSpPr>
          <p:cNvPr id="11" name="Text 9"/>
          <p:cNvSpPr/>
          <p:nvPr/>
        </p:nvSpPr>
        <p:spPr>
          <a:xfrm>
            <a:off x="51890" y="4310360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כלי, כמעט אותו מאמץ – פער עצום.</a:t>
            </a:r>
            <a:endParaRPr lang="he-IL" sz="1450" dirty="0"/>
          </a:p>
        </p:txBody>
      </p:sp>
      <p:sp>
        <p:nvSpPr>
          <p:cNvPr id="12" name="Text 10"/>
          <p:cNvSpPr/>
          <p:nvPr/>
        </p:nvSpPr>
        <p:spPr>
          <a:xfrm>
            <a:off x="51890" y="4981277"/>
            <a:ext cx="111948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המסקנה: ההנחיה היא 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450" b="1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מהתוצאה.</a:t>
            </a:r>
            <a:endParaRPr lang="he-IL" sz="1450" dirty="0"/>
          </a:p>
        </p:txBody>
      </p:sp>
      <p:sp>
        <p:nvSpPr>
          <p:cNvPr id="13" name="Shape 11"/>
          <p:cNvSpPr/>
          <p:nvPr/>
        </p:nvSpPr>
        <p:spPr>
          <a:xfrm>
            <a:off x="11504821" y="4768652"/>
            <a:ext cx="25399" cy="670917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  <p:txBody>
          <a:bodyPr/>
          <a:p/>
        </p:txBody>
      </p:sp>
      <p:sp>
        <p:nvSpPr>
          <p:cNvPr id="14" name="TextBox 13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6907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נוסחת הזהב</a:t>
            </a:r>
            <a:endParaRPr lang="he-IL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36775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מרכיבים לכל הנחיה טובה</a:t>
            </a:r>
            <a:endParaRPr lang="he-IL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7338" y="2727325"/>
            <a:ext cx="3622882" cy="756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96345" y="3672384"/>
            <a:ext cx="32448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אני ומה ההקשר</a:t>
            </a:r>
            <a:endParaRPr lang="he-IL" sz="1850" dirty="0"/>
          </a:p>
        </p:txBody>
      </p:sp>
      <p:sp>
        <p:nvSpPr>
          <p:cNvPr id="6" name="Text 3"/>
          <p:cNvSpPr/>
          <p:nvPr/>
        </p:nvSpPr>
        <p:spPr>
          <a:xfrm>
            <a:off x="8096345" y="4092873"/>
            <a:ext cx="324486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תן לכלי את הרקע שהוא צריך</a:t>
            </a:r>
            <a:endParaRPr lang="he-IL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456" y="2727325"/>
            <a:ext cx="3622882" cy="756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73463" y="3672384"/>
            <a:ext cx="32448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בדיוק אני צריך</a:t>
            </a:r>
            <a:endParaRPr lang="he-IL" sz="1850" dirty="0"/>
          </a:p>
        </p:txBody>
      </p:sp>
      <p:sp>
        <p:nvSpPr>
          <p:cNvPr id="9" name="Text 5"/>
          <p:cNvSpPr/>
          <p:nvPr/>
        </p:nvSpPr>
        <p:spPr>
          <a:xfrm>
            <a:off x="4473463" y="4092873"/>
            <a:ext cx="324486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היה ספציפי: נושא, מטרה, קהל</a:t>
            </a:r>
            <a:endParaRPr lang="he-IL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2727325"/>
            <a:ext cx="3622882" cy="756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0581" y="3672384"/>
            <a:ext cx="324486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באיזה פורמט וסגנון</a:t>
            </a:r>
            <a:endParaRPr lang="he-IL" sz="1850" dirty="0"/>
          </a:p>
        </p:txBody>
      </p:sp>
      <p:sp>
        <p:nvSpPr>
          <p:cNvPr id="12" name="Text 7"/>
          <p:cNvSpPr/>
          <p:nvPr/>
        </p:nvSpPr>
        <p:spPr>
          <a:xfrm>
            <a:off x="850581" y="4092873"/>
            <a:ext cx="324486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טבלה? מייל? 3 משפטים? טון?</a:t>
            </a:r>
            <a:endParaRPr lang="he-IL" sz="1450" dirty="0"/>
          </a:p>
        </p:txBody>
      </p:sp>
      <p:sp>
        <p:nvSpPr>
          <p:cNvPr id="13" name="Text 8"/>
          <p:cNvSpPr/>
          <p:nvPr/>
        </p:nvSpPr>
        <p:spPr>
          <a:xfrm>
            <a:off x="51890" y="4952802"/>
            <a:ext cx="111948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הנחיה שתכתבו מהיום — בדקו: האם ענינו על שלושת השאלות?</a:t>
            </a:r>
            <a:endParaRPr lang="he-IL" sz="1450" dirty="0"/>
          </a:p>
        </p:txBody>
      </p:sp>
      <p:sp>
        <p:nvSpPr>
          <p:cNvPr id="14" name="Shape 9"/>
          <p:cNvSpPr/>
          <p:nvPr/>
        </p:nvSpPr>
        <p:spPr>
          <a:xfrm>
            <a:off x="11504821" y="4740176"/>
            <a:ext cx="25399" cy="670917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  <p:txBody>
          <a:bodyPr/>
          <a:p/>
        </p:txBody>
      </p:sp>
      <p:sp>
        <p:nvSpPr>
          <p:cNvPr id="15" name="TextBox 14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073051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כללים 1 ו-2: ספציפיות והקשר</a:t>
            </a:r>
            <a:endParaRPr lang="he-IL" sz="3700" dirty="0"/>
          </a:p>
        </p:txBody>
      </p:sp>
      <p:sp>
        <p:nvSpPr>
          <p:cNvPr id="4" name="Shape 1"/>
          <p:cNvSpPr/>
          <p:nvPr/>
        </p:nvSpPr>
        <p:spPr>
          <a:xfrm>
            <a:off x="6438838" y="2183408"/>
            <a:ext cx="1712374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  <p:txBody>
          <a:bodyPr/>
          <a:p/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602" y="2251373"/>
            <a:ext cx="151206" cy="1512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2658" y="2240062"/>
            <a:ext cx="186834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he-IL" altLang="en-US" sz="11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1: תהיו ספציפיים</a:t>
            </a:r>
            <a:endParaRPr lang="he-IL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683173"/>
            <a:ext cx="2917851" cy="13500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47767" y="2897584"/>
            <a:ext cx="2387441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trike="sngStrike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תן דוגמאות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← 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48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תן 3 דוגמאות מתחום הקמעונאות</a:t>
            </a:r>
            <a:endParaRPr lang="he-IL" sz="1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4222254"/>
            <a:ext cx="2917851" cy="135007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447767" y="4436666"/>
            <a:ext cx="2387441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trike="sngStrike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שפר את הטקסט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← 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48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קצר את הטקסט לחצי בלי לאבד את המסר המרכזי</a:t>
            </a:r>
            <a:endParaRPr lang="he-IL" sz="1850" dirty="0"/>
          </a:p>
        </p:txBody>
      </p:sp>
      <p:sp>
        <p:nvSpPr>
          <p:cNvPr id="11" name="Shape 5"/>
          <p:cNvSpPr/>
          <p:nvPr/>
        </p:nvSpPr>
        <p:spPr>
          <a:xfrm>
            <a:off x="9580918" y="2183408"/>
            <a:ext cx="1955652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  <p:txBody>
          <a:bodyPr/>
          <a:p/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1960" y="2251373"/>
            <a:ext cx="151206" cy="151209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084738" y="2240062"/>
            <a:ext cx="211162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he-IL" altLang="en-US" sz="11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2: תנו הקשר ותפקיד</a:t>
            </a:r>
            <a:endParaRPr lang="he-IL" sz="1150" dirty="0"/>
          </a:p>
        </p:txBody>
      </p:sp>
      <p:sp>
        <p:nvSpPr>
          <p:cNvPr id="14" name="Text 7"/>
          <p:cNvSpPr/>
          <p:nvPr/>
        </p:nvSpPr>
        <p:spPr>
          <a:xfrm>
            <a:off x="8618719" y="2683173"/>
            <a:ext cx="2917851" cy="907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spcAft>
                <a:spcPts val="130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"אני מנהלת כספים בחברת בנייה בינונית" משנה את כל התשובה.</a:t>
            </a:r>
            <a:endParaRPr lang="he-IL" sz="1450" dirty="0"/>
          </a:p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ואפשר לתת תפקיד לכלי:</a:t>
            </a:r>
            <a:endParaRPr lang="he-IL" sz="1450" dirty="0"/>
          </a:p>
        </p:txBody>
      </p:sp>
      <p:sp>
        <p:nvSpPr>
          <p:cNvPr id="15" name="Text 8"/>
          <p:cNvSpPr/>
          <p:nvPr/>
        </p:nvSpPr>
        <p:spPr>
          <a:xfrm>
            <a:off x="8009134" y="3972917"/>
            <a:ext cx="324397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"אתה יועץ מס ותיק. הסבר לי..."</a:t>
            </a:r>
            <a:endParaRPr lang="he-IL" sz="1450" dirty="0"/>
          </a:p>
        </p:txBody>
      </p:sp>
      <p:sp>
        <p:nvSpPr>
          <p:cNvPr id="16" name="Shape 9"/>
          <p:cNvSpPr/>
          <p:nvPr/>
        </p:nvSpPr>
        <p:spPr>
          <a:xfrm>
            <a:off x="11511171" y="3802856"/>
            <a:ext cx="25399" cy="585787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  <p:txBody>
          <a:bodyPr/>
          <a:p/>
        </p:txBody>
      </p:sp>
      <p:sp>
        <p:nvSpPr>
          <p:cNvPr id="17" name="TextBox 16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760"/>
            <a:ext cx="10868745" cy="604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650" b="1" spc="-73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3: הגדירו פורמט</a:t>
            </a:r>
            <a:endParaRPr lang="he-IL" sz="3650" dirty="0"/>
          </a:p>
        </p:txBody>
      </p:sp>
      <p:sp>
        <p:nvSpPr>
          <p:cNvPr id="3" name="Shape 1"/>
          <p:cNvSpPr/>
          <p:nvPr/>
        </p:nvSpPr>
        <p:spPr>
          <a:xfrm>
            <a:off x="8029473" y="1496715"/>
            <a:ext cx="3500747" cy="1453852"/>
          </a:xfrm>
          <a:prstGeom prst="roundRect">
            <a:avLst>
              <a:gd name="adj" fmla="val 537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766949" y="1701800"/>
            <a:ext cx="558191" cy="558205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0536" y="1855291"/>
            <a:ext cx="251116" cy="2511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34553" y="2443163"/>
            <a:ext cx="3090587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בטבלה</a:t>
            </a:r>
            <a:endParaRPr lang="he-IL" sz="1800" dirty="0"/>
          </a:p>
        </p:txBody>
      </p:sp>
      <p:sp>
        <p:nvSpPr>
          <p:cNvPr id="7" name="Shape 4"/>
          <p:cNvSpPr/>
          <p:nvPr/>
        </p:nvSpPr>
        <p:spPr>
          <a:xfrm>
            <a:off x="4345474" y="1496715"/>
            <a:ext cx="3500846" cy="1453852"/>
          </a:xfrm>
          <a:prstGeom prst="roundRect">
            <a:avLst>
              <a:gd name="adj" fmla="val 537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083049" y="1701800"/>
            <a:ext cx="558191" cy="558205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6636" y="1855291"/>
            <a:ext cx="251116" cy="2511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50554" y="2443163"/>
            <a:ext cx="3090686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ברשימה ממוספרת</a:t>
            </a:r>
            <a:endParaRPr lang="he-IL" sz="1800" dirty="0"/>
          </a:p>
        </p:txBody>
      </p:sp>
      <p:sp>
        <p:nvSpPr>
          <p:cNvPr id="11" name="Shape 7"/>
          <p:cNvSpPr/>
          <p:nvPr/>
        </p:nvSpPr>
        <p:spPr>
          <a:xfrm>
            <a:off x="661574" y="1496715"/>
            <a:ext cx="3500747" cy="1453852"/>
          </a:xfrm>
          <a:prstGeom prst="roundRect">
            <a:avLst>
              <a:gd name="adj" fmla="val 537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3399050" y="1701800"/>
            <a:ext cx="558191" cy="558205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2637" y="1855291"/>
            <a:ext cx="251116" cy="25112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6654" y="2443163"/>
            <a:ext cx="3090587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ב-3 משפטים</a:t>
            </a:r>
            <a:endParaRPr lang="he-IL" sz="1800" dirty="0"/>
          </a:p>
        </p:txBody>
      </p:sp>
      <p:sp>
        <p:nvSpPr>
          <p:cNvPr id="15" name="Shape 10"/>
          <p:cNvSpPr/>
          <p:nvPr/>
        </p:nvSpPr>
        <p:spPr>
          <a:xfrm>
            <a:off x="6187523" y="3133725"/>
            <a:ext cx="5342697" cy="1453852"/>
          </a:xfrm>
          <a:prstGeom prst="roundRect">
            <a:avLst>
              <a:gd name="adj" fmla="val 537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0766949" y="3338810"/>
            <a:ext cx="558191" cy="558205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20536" y="3492302"/>
            <a:ext cx="251116" cy="25112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92603" y="4080173"/>
            <a:ext cx="4932537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כמייל</a:t>
            </a:r>
            <a:endParaRPr lang="he-IL" sz="1800" dirty="0"/>
          </a:p>
        </p:txBody>
      </p:sp>
      <p:sp>
        <p:nvSpPr>
          <p:cNvPr id="19" name="Shape 13"/>
          <p:cNvSpPr/>
          <p:nvPr/>
        </p:nvSpPr>
        <p:spPr>
          <a:xfrm>
            <a:off x="661574" y="3133725"/>
            <a:ext cx="5342796" cy="1453852"/>
          </a:xfrm>
          <a:prstGeom prst="roundRect">
            <a:avLst>
              <a:gd name="adj" fmla="val 537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5241099" y="3338810"/>
            <a:ext cx="558191" cy="558205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94686" y="3492302"/>
            <a:ext cx="251116" cy="25112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6654" y="4080173"/>
            <a:ext cx="4932636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כנקודות לדיבור</a:t>
            </a:r>
            <a:endParaRPr lang="he-IL" sz="1800" dirty="0"/>
          </a:p>
        </p:txBody>
      </p:sp>
      <p:sp>
        <p:nvSpPr>
          <p:cNvPr id="23" name="Shape 16"/>
          <p:cNvSpPr/>
          <p:nvPr/>
        </p:nvSpPr>
        <p:spPr>
          <a:xfrm>
            <a:off x="661475" y="4793555"/>
            <a:ext cx="10868745" cy="680740"/>
          </a:xfrm>
          <a:prstGeom prst="roundRect">
            <a:avLst>
              <a:gd name="adj" fmla="val 11480"/>
            </a:avLst>
          </a:prstGeom>
          <a:solidFill>
            <a:srgbClr val="4B3F02"/>
          </a:solidFill>
          <a:ln/>
        </p:spPr>
        <p:txBody>
          <a:bodyPr/>
          <a:p/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505" y="5025430"/>
            <a:ext cx="232563" cy="18603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56514" y="5023148"/>
            <a:ext cx="1068767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שלא תגדירו – הכלי יחליט בשבילכם.</a:t>
            </a:r>
            <a:endParaRPr lang="he-IL" sz="1450" dirty="0"/>
          </a:p>
        </p:txBody>
      </p:sp>
      <p:sp>
        <p:nvSpPr>
          <p:cNvPr id="26" name="Text 18"/>
          <p:cNvSpPr/>
          <p:nvPr/>
        </p:nvSpPr>
        <p:spPr>
          <a:xfrm>
            <a:off x="51890" y="5886252"/>
            <a:ext cx="1119923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לדוגמה: "ענה ב-3 נקודות בלבד, ללא הקדמה, ללא סיכום"</a:t>
            </a:r>
            <a:endParaRPr lang="he-IL" sz="1450" dirty="0"/>
          </a:p>
        </p:txBody>
      </p:sp>
      <p:sp>
        <p:nvSpPr>
          <p:cNvPr id="27" name="Shape 19"/>
          <p:cNvSpPr/>
          <p:nvPr/>
        </p:nvSpPr>
        <p:spPr>
          <a:xfrm>
            <a:off x="11504821" y="5680273"/>
            <a:ext cx="25399" cy="651867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תרגיל מהיר: 5 דקות, מייל אחד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קחו את ההנחיה החלשה והפכו אותה למנצחת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5120640" cy="1371600"/>
          </a:xfrm>
          <a:prstGeom prst="roundRect">
            <a:avLst>
              <a:gd name="adj" fmla="val 3000"/>
            </a:avLst>
          </a:prstGeom>
          <a:solidFill>
            <a:srgbClr val="4A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20574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00" b="1" i="0" lang="he-IL">
                <a:solidFill>
                  <a:srgbClr val="EBEDF0"/>
                </a:solidFill>
                <a:latin typeface="Arial"/>
                <a:cs typeface="Arial"/>
              </a:rPr>
              <a:t>❌  ההנחיה החלשה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56032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2000" b="1" i="0" lang="he-IL">
                <a:solidFill>
                  <a:srgbClr val="F2F5FA"/>
                </a:solidFill>
                <a:latin typeface="Arial"/>
                <a:cs typeface="Arial"/>
              </a:rPr>
              <a:t>"כתוב לי מייל ללקוח"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520440"/>
            <a:ext cx="5120640" cy="178308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36576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00" b="1" i="0" lang="he-IL">
                <a:solidFill>
                  <a:srgbClr val="EBEDF0"/>
                </a:solidFill>
                <a:latin typeface="Arial"/>
                <a:cs typeface="Arial"/>
              </a:rPr>
              <a:t>✅  בדקו את עצמכם: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11480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285750" indent="-28575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מי אני ומה ההקשר?</a:t>
            </a:r>
          </a:p>
          <a:p>
            <a:pPr rtl="1" algn="r" marL="285750" indent="-28575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מה בדיוק אני צריך?</a:t>
            </a:r>
          </a:p>
          <a:p>
            <a:pPr rtl="1" algn="r" marL="285750" indent="-285750">
              <a:lnSpc>
                <a:spcPct val="108000"/>
              </a:lnSpc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באיזה פורמט וטון?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27664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476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בחרו לקוח ומצב אמיתי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40864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תשלום שמתעכב, הצעת מחיר, תודה, התנצלות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27664" y="2807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כתבו לפי מי, מה, איך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2783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שתיים או שלוש שורות מספיקות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27664" y="3694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21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הריצו בכלי שלכם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114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צ'אט ג'יפיטי, קלוד או ג'מיני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027664" y="4581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60857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הדביקו בצ'אט את ההנחיה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00176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נבחר שלוש ונריץ בשידור חי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⏱️  חמש דקות. לא צריך מושלם, צריך יותר טוב מ"כתוב לי מייל ללקוח".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46894"/>
            <a:ext cx="6296860" cy="55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350" b="1" spc="-6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כלים שמשדרגים כל הנחיה</a:t>
            </a:r>
            <a:endParaRPr lang="he-IL" sz="3350" dirty="0"/>
          </a:p>
        </p:txBody>
      </p:sp>
      <p:sp>
        <p:nvSpPr>
          <p:cNvPr id="4" name="Shape 1"/>
          <p:cNvSpPr/>
          <p:nvPr/>
        </p:nvSpPr>
        <p:spPr>
          <a:xfrm>
            <a:off x="2116878" y="1510903"/>
            <a:ext cx="1484077" cy="260152"/>
          </a:xfrm>
          <a:prstGeom prst="roundRect">
            <a:avLst>
              <a:gd name="adj" fmla="val 22124"/>
            </a:avLst>
          </a:prstGeom>
          <a:solidFill>
            <a:srgbClr val="00194D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09982" y="1562199"/>
            <a:ext cx="1888284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he-IL" altLang="en-US" sz="10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לא לעשות (איסורים)</a:t>
            </a:r>
            <a:endParaRPr lang="he-IL" sz="1050" dirty="0"/>
          </a:p>
        </p:txBody>
      </p:sp>
      <p:sp>
        <p:nvSpPr>
          <p:cNvPr id="6" name="Text 3"/>
          <p:cNvSpPr/>
          <p:nvPr/>
        </p:nvSpPr>
        <p:spPr>
          <a:xfrm>
            <a:off x="661475" y="1945680"/>
            <a:ext cx="2939480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3000"/>
              </a:lnSpc>
              <a:buNone/>
            </a:pPr>
            <a:r>
              <a:rPr lang="he-IL" altLang="en-US" sz="13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 מנסה לרצות — אם לא תגבילו, הוא יוסיף הקדמות, בולטים, סימני קריאה וסיכומים שלא ביקשתם.</a:t>
            </a:r>
            <a:endParaRPr lang="he-IL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56991"/>
            <a:ext cx="2939480" cy="9372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1772" y="2947293"/>
            <a:ext cx="2482689" cy="556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650" b="1" spc="-34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הקדמה — קפוץ ישר לתוכן</a:t>
            </a:r>
            <a:endParaRPr lang="he-IL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849390"/>
            <a:ext cx="2939480" cy="6589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1772" y="4039691"/>
            <a:ext cx="2482689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650" b="1" spc="-34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סימני קריאה</a:t>
            </a:r>
            <a:endParaRPr lang="he-IL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663480"/>
            <a:ext cx="2939480" cy="6589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1772" y="4853781"/>
            <a:ext cx="2482689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650" b="1" spc="-34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'בוודאי! אשמח לעזור'</a:t>
            </a:r>
            <a:endParaRPr lang="he-IL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477570"/>
            <a:ext cx="2939480" cy="6589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51772" y="5667871"/>
            <a:ext cx="2482689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650" b="1" spc="-34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סיכום בסוף</a:t>
            </a:r>
            <a:endParaRPr lang="he-IL" sz="1650" dirty="0"/>
          </a:p>
        </p:txBody>
      </p:sp>
      <p:sp>
        <p:nvSpPr>
          <p:cNvPr id="15" name="Shape 8"/>
          <p:cNvSpPr/>
          <p:nvPr/>
        </p:nvSpPr>
        <p:spPr>
          <a:xfrm>
            <a:off x="5247152" y="1510903"/>
            <a:ext cx="1717533" cy="260152"/>
          </a:xfrm>
          <a:prstGeom prst="roundRect">
            <a:avLst>
              <a:gd name="adj" fmla="val 22124"/>
            </a:avLst>
          </a:prstGeom>
          <a:solidFill>
            <a:srgbClr val="00194D"/>
          </a:solidFill>
          <a:ln/>
        </p:spPr>
        <p:txBody>
          <a:bodyPr/>
          <a:p/>
        </p:txBody>
      </p:sp>
      <p:sp>
        <p:nvSpPr>
          <p:cNvPr id="16" name="Text 9"/>
          <p:cNvSpPr/>
          <p:nvPr/>
        </p:nvSpPr>
        <p:spPr>
          <a:xfrm>
            <a:off x="4740256" y="1562199"/>
            <a:ext cx="2121740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he-IL" altLang="en-US" sz="10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לסגנון (FEW-SHOT)</a:t>
            </a:r>
            <a:endParaRPr lang="he-IL" sz="1050" dirty="0"/>
          </a:p>
        </p:txBody>
      </p:sp>
      <p:sp>
        <p:nvSpPr>
          <p:cNvPr id="17" name="Text 10"/>
          <p:cNvSpPr/>
          <p:nvPr/>
        </p:nvSpPr>
        <p:spPr>
          <a:xfrm>
            <a:off x="4025204" y="1945680"/>
            <a:ext cx="2939480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3000"/>
              </a:lnSpc>
              <a:buNone/>
            </a:pPr>
            <a:r>
              <a:rPr lang="he-IL" altLang="en-US" sz="13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הדרך הכי מהירה ללמד את הכלי את הסגנון שלכם — תנו לו דוגמה.</a:t>
            </a:r>
            <a:endParaRPr lang="he-IL" sz="1300" dirty="0"/>
          </a:p>
        </p:txBody>
      </p:sp>
      <p:sp>
        <p:nvSpPr>
          <p:cNvPr id="18" name="Text 11"/>
          <p:cNvSpPr/>
          <p:nvPr/>
        </p:nvSpPr>
        <p:spPr>
          <a:xfrm>
            <a:off x="4025204" y="2684463"/>
            <a:ext cx="2682609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3000"/>
              </a:lnSpc>
              <a:buNone/>
            </a:pPr>
            <a:r>
              <a:rPr lang="he-IL" altLang="en-US" sz="13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הנה מייל שכתבתי בעבר: [מדביקים דוגמה]. כתוב מייל דומה ל...</a:t>
            </a:r>
            <a:endParaRPr lang="he-IL" sz="1300" dirty="0"/>
          </a:p>
        </p:txBody>
      </p:sp>
      <p:sp>
        <p:nvSpPr>
          <p:cNvPr id="19" name="Shape 12"/>
          <p:cNvSpPr/>
          <p:nvPr/>
        </p:nvSpPr>
        <p:spPr>
          <a:xfrm>
            <a:off x="6945635" y="2544763"/>
            <a:ext cx="19050" cy="703858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  <p:txBody>
          <a:bodyPr/>
          <a:p/>
        </p:txBody>
      </p:sp>
      <p:sp>
        <p:nvSpPr>
          <p:cNvPr id="20" name="Text 13"/>
          <p:cNvSpPr/>
          <p:nvPr/>
        </p:nvSpPr>
        <p:spPr>
          <a:xfrm>
            <a:off x="4025204" y="3423245"/>
            <a:ext cx="2939480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3000"/>
              </a:lnSpc>
              <a:buNone/>
            </a:pPr>
            <a:r>
              <a:rPr lang="he-IL" altLang="en-US" sz="13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 ילמד את הטון, האורך, והמבנה — בלי שתסבירו אותם במילים.</a:t>
            </a:r>
            <a:endParaRPr lang="he-IL" sz="1300" dirty="0"/>
          </a:p>
        </p:txBody>
      </p:sp>
      <p:sp>
        <p:nvSpPr>
          <p:cNvPr id="21" name="TextBox 20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27149"/>
            <a:ext cx="6296860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050" b="1" spc="-62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4: שיחה, לא מברק</a:t>
            </a:r>
            <a:endParaRPr lang="he-IL" sz="3050" dirty="0"/>
          </a:p>
        </p:txBody>
      </p:sp>
      <p:sp>
        <p:nvSpPr>
          <p:cNvPr id="4" name="Text 1"/>
          <p:cNvSpPr/>
          <p:nvPr/>
        </p:nvSpPr>
        <p:spPr>
          <a:xfrm>
            <a:off x="51890" y="1230213"/>
            <a:ext cx="690644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9000"/>
              </a:lnSpc>
              <a:buNone/>
            </a:pPr>
            <a:r>
              <a:rPr lang="he-IL" altLang="en-US" sz="12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חייבים לקלוע בפעם הראשונה.</a:t>
            </a:r>
            <a:endParaRPr lang="he-IL" sz="1200" dirty="0"/>
          </a:p>
        </p:txBody>
      </p:sp>
      <p:sp>
        <p:nvSpPr>
          <p:cNvPr id="5" name="Shape 2"/>
          <p:cNvSpPr/>
          <p:nvPr/>
        </p:nvSpPr>
        <p:spPr>
          <a:xfrm>
            <a:off x="6332280" y="1562001"/>
            <a:ext cx="626055" cy="939205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7934" y="1914227"/>
            <a:ext cx="234746" cy="234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1718469"/>
            <a:ext cx="554122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500" b="1" spc="-31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"קצר יותר"</a:t>
            </a:r>
            <a:endParaRPr lang="he-IL" sz="1500" dirty="0"/>
          </a:p>
        </p:txBody>
      </p:sp>
      <p:sp>
        <p:nvSpPr>
          <p:cNvPr id="8" name="Shape 4"/>
          <p:cNvSpPr/>
          <p:nvPr/>
        </p:nvSpPr>
        <p:spPr>
          <a:xfrm>
            <a:off x="6332280" y="2630785"/>
            <a:ext cx="626055" cy="939205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934" y="2983012"/>
            <a:ext cx="234746" cy="2347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2787253"/>
            <a:ext cx="554122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500" b="1" spc="-31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"פחות רשמי"</a:t>
            </a:r>
            <a:endParaRPr lang="he-IL" sz="1500" dirty="0"/>
          </a:p>
        </p:txBody>
      </p:sp>
      <p:sp>
        <p:nvSpPr>
          <p:cNvPr id="11" name="Shape 6"/>
          <p:cNvSpPr/>
          <p:nvPr/>
        </p:nvSpPr>
        <p:spPr>
          <a:xfrm>
            <a:off x="6332280" y="3699570"/>
            <a:ext cx="626055" cy="939205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7934" y="4051796"/>
            <a:ext cx="234746" cy="2347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3856038"/>
            <a:ext cx="554122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500" b="1" spc="-31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"תן גרסה נוספת"</a:t>
            </a:r>
            <a:endParaRPr lang="he-IL" sz="1500" dirty="0"/>
          </a:p>
        </p:txBody>
      </p:sp>
      <p:sp>
        <p:nvSpPr>
          <p:cNvPr id="14" name="Shape 8"/>
          <p:cNvSpPr/>
          <p:nvPr/>
        </p:nvSpPr>
        <p:spPr>
          <a:xfrm>
            <a:off x="6332280" y="4768354"/>
            <a:ext cx="626055" cy="939205"/>
          </a:xfrm>
          <a:prstGeom prst="roundRect">
            <a:avLst>
              <a:gd name="adj" fmla="val 5000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7934" y="5120580"/>
            <a:ext cx="234746" cy="23475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4924822"/>
            <a:ext cx="554122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500" b="1" spc="-31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"עכשיו כטבלה"</a:t>
            </a:r>
            <a:endParaRPr lang="he-IL" sz="1500" dirty="0"/>
          </a:p>
        </p:txBody>
      </p:sp>
      <p:sp>
        <p:nvSpPr>
          <p:cNvPr id="17" name="Text 10"/>
          <p:cNvSpPr/>
          <p:nvPr/>
        </p:nvSpPr>
        <p:spPr>
          <a:xfrm>
            <a:off x="51890" y="5999063"/>
            <a:ext cx="667169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9000"/>
              </a:lnSpc>
              <a:buNone/>
            </a:pPr>
            <a:r>
              <a:rPr lang="he-IL" altLang="en-US" sz="12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 זוכר את כל השיחה – נצלו את זה.</a:t>
            </a:r>
            <a:endParaRPr lang="he-IL" sz="1200" dirty="0"/>
          </a:p>
        </p:txBody>
      </p:sp>
      <p:sp>
        <p:nvSpPr>
          <p:cNvPr id="18" name="Shape 11"/>
          <p:cNvSpPr/>
          <p:nvPr/>
        </p:nvSpPr>
        <p:spPr>
          <a:xfrm>
            <a:off x="6939285" y="5853311"/>
            <a:ext cx="19050" cy="477540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  <p:txBody>
          <a:bodyPr/>
          <a:p/>
        </p:txBody>
      </p:sp>
      <p:sp>
        <p:nvSpPr>
          <p:cNvPr id="19" name="TextBox 18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510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5: בקשו ביקורת</a:t>
            </a:r>
            <a:endParaRPr lang="he-IL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21867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22667" y="2180927"/>
            <a:ext cx="411380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 הוא לא רק כותב – הוא עורך מצוין.</a:t>
            </a:r>
            <a:endParaRPr lang="he-IL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2251" y="2639219"/>
            <a:ext cx="3504219" cy="7359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46658" y="2853630"/>
            <a:ext cx="29738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"מה חסר בטקסט הזה?"</a:t>
            </a:r>
            <a:endParaRPr lang="he-IL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2251" y="3564136"/>
            <a:ext cx="3504219" cy="10429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46658" y="3778548"/>
            <a:ext cx="2973809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"אילו שאלות ישאל אותי הלקוח אחרי שיקרא?"</a:t>
            </a:r>
            <a:endParaRPr lang="he-IL" sz="1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2251" y="4796135"/>
            <a:ext cx="3504219" cy="73590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246658" y="5010547"/>
            <a:ext cx="29738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"מצא 3 חולשות בטיעון שלי"</a:t>
            </a:r>
            <a:endParaRPr lang="he-IL" sz="1850" dirty="0"/>
          </a:p>
        </p:txBody>
      </p:sp>
      <p:sp>
        <p:nvSpPr>
          <p:cNvPr id="11" name="TextBox 10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טכניקה: תנו לו לראיין אתכם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לא יודעים מה לכתוב? בקשו מה-AI לשאול אתכם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5394960" cy="338328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2103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📋  ההנחיה להעתקה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578608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5000"/>
              </a:lnSpc>
              <a:buNone/>
            </a:pPr>
            <a:r>
              <a:rPr sz="1600" b="0" i="0" lang="he-IL">
                <a:solidFill>
                  <a:srgbClr val="EBEDF0"/>
                </a:solidFill>
                <a:latin typeface="Arial"/>
                <a:cs typeface="Arial"/>
              </a:rPr>
              <a:t>"אני רוצה לכתוב [מה]. לפני שאתה כותב, שאל אותי 5 שאלות שיעזרו לך לדייק. שאל שאלה אחת בכל פעם, וחכה לתשובה שלי."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221224" cy="1005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799064" y="214884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7568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לא צריך לדעת מראש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ה-AI יודע אילו פרטים חסרים לו, ושואל עליהם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081528"/>
            <a:ext cx="5221224" cy="1005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0799064" y="3310128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3697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חושף מה ששכחתם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3016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קהל, מטרה, טון, אורך: הכול עולה בשאלות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242816"/>
            <a:ext cx="5221224" cy="1005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0799064" y="4471416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39826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מתאים במיוחד ל...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79145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נאומים, הצעות מחיר, תוכניות עבודה, מכתבים רגישים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🎯  נסו עכשיו: "אני רוצה לכתוב ברכה ליום הולדת 50 של חבר. לפני שאתה כותב, שאל אותי 5 שאלות."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5124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 אבחון: 4 הנחיות חלשות</a:t>
            </a:r>
            <a:endParaRPr lang="he-IL" sz="3700" dirty="0"/>
          </a:p>
        </p:txBody>
      </p:sp>
      <p:sp>
        <p:nvSpPr>
          <p:cNvPr id="3" name="Shape 1"/>
          <p:cNvSpPr/>
          <p:nvPr/>
        </p:nvSpPr>
        <p:spPr>
          <a:xfrm>
            <a:off x="11104979" y="182741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1175869" y="1855788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2200" b="1" spc="-4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4014" y="1886446"/>
            <a:ext cx="47019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"כתוב פוסט"</a:t>
            </a:r>
            <a:endParaRPr lang="he-IL" sz="1850" dirty="0"/>
          </a:p>
        </p:txBody>
      </p:sp>
      <p:sp>
        <p:nvSpPr>
          <p:cNvPr id="6" name="Text 4"/>
          <p:cNvSpPr/>
          <p:nvPr/>
        </p:nvSpPr>
        <p:spPr>
          <a:xfrm>
            <a:off x="6214014" y="2306935"/>
            <a:ext cx="4701958" cy="1096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spcAft>
                <a:spcPts val="85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הבעיה? חסר הכל: נושא, קהל, אורך, פלטפורמה.</a:t>
            </a:r>
            <a:endParaRPr lang="he-IL" sz="1450" dirty="0"/>
          </a:p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אחרי: "כתוב פוסט לינקדאין של 150 מילה לבעלי עסקים קטנים על טעות נפוצה בניהול תזרים מזומנים. טון מקצועי, סיום עם שאלה לקהל."</a:t>
            </a:r>
            <a:endParaRPr lang="he-IL" sz="1450" dirty="0"/>
          </a:p>
        </p:txBody>
      </p:sp>
      <p:sp>
        <p:nvSpPr>
          <p:cNvPr id="7" name="Shape 5"/>
          <p:cNvSpPr/>
          <p:nvPr/>
        </p:nvSpPr>
        <p:spPr>
          <a:xfrm>
            <a:off x="5552539" y="182741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23429" y="1855788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2200" b="1" spc="-4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1475" y="1886446"/>
            <a:ext cx="470205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"תסביר לי על מס"</a:t>
            </a:r>
            <a:endParaRPr lang="he-IL" sz="1850" dirty="0"/>
          </a:p>
        </p:txBody>
      </p:sp>
      <p:sp>
        <p:nvSpPr>
          <p:cNvPr id="10" name="Text 8"/>
          <p:cNvSpPr/>
          <p:nvPr/>
        </p:nvSpPr>
        <p:spPr>
          <a:xfrm>
            <a:off x="661475" y="2306935"/>
            <a:ext cx="4702057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spcAft>
                <a:spcPts val="85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כללית מדי – איזה מס, למי, לאיזה צורך?</a:t>
            </a:r>
            <a:endParaRPr lang="he-IL" sz="1450" dirty="0"/>
          </a:p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אחרי: "אני עצמאי בתחום הייעוץ. הסבר לי בשפה פשוטה מה זה מס ערך מוסף ומתי אני חייב להירשם — ב-5 נקודות."</a:t>
            </a:r>
            <a:endParaRPr lang="he-IL" sz="1450" dirty="0"/>
          </a:p>
        </p:txBody>
      </p:sp>
      <p:sp>
        <p:nvSpPr>
          <p:cNvPr id="11" name="Shape 9"/>
          <p:cNvSpPr/>
          <p:nvPr/>
        </p:nvSpPr>
        <p:spPr>
          <a:xfrm>
            <a:off x="11104979" y="378102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75869" y="3809405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2200" b="1" spc="-4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4014" y="3840063"/>
            <a:ext cx="47019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"כתוב מייל קצר ומפורט עם כל הפרטים"</a:t>
            </a:r>
            <a:endParaRPr lang="he-IL" sz="1850" dirty="0"/>
          </a:p>
        </p:txBody>
      </p:sp>
      <p:sp>
        <p:nvSpPr>
          <p:cNvPr id="14" name="Text 12"/>
          <p:cNvSpPr/>
          <p:nvPr/>
        </p:nvSpPr>
        <p:spPr>
          <a:xfrm>
            <a:off x="6214014" y="4260552"/>
            <a:ext cx="4701958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spcAft>
                <a:spcPts val="85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בקשות סותרות – קצר ומפורט לא הולכים יחד.</a:t>
            </a:r>
            <a:endParaRPr lang="he-IL" sz="1450" dirty="0"/>
          </a:p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אחרי: "כתוב מייל של עד 5 שורות ללקוח שמאחר בתשלום. כלול: סכום, תאריך פירעון, הצעת פריסה. טון אדיב."</a:t>
            </a:r>
            <a:endParaRPr lang="he-IL" sz="1450" dirty="0"/>
          </a:p>
        </p:txBody>
      </p:sp>
      <p:sp>
        <p:nvSpPr>
          <p:cNvPr id="15" name="Shape 13"/>
          <p:cNvSpPr/>
          <p:nvPr/>
        </p:nvSpPr>
        <p:spPr>
          <a:xfrm>
            <a:off x="5552539" y="378102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623429" y="3809405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2200" b="1" spc="-4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1475" y="3840063"/>
            <a:ext cx="470205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"סכם את המסמך" בלי לצרף מסמך</a:t>
            </a:r>
            <a:endParaRPr lang="he-IL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4260552"/>
            <a:ext cx="4702057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8000"/>
              </a:lnSpc>
              <a:spcAft>
                <a:spcPts val="85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ההקשר עצמו.</a:t>
            </a:r>
            <a:endParaRPr lang="he-IL" sz="1450" dirty="0"/>
          </a:p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אחרי: [מדביקים את המסמך] "סכם ב-3 נקודות: מה הבעיה, מה הפתרון המוצע, מה הצעד הבא."</a:t>
            </a:r>
            <a:endParaRPr lang="he-IL" sz="1450" dirty="0"/>
          </a:p>
        </p:txBody>
      </p:sp>
      <p:sp>
        <p:nvSpPr>
          <p:cNvPr id="19" name="Shape 17"/>
          <p:cNvSpPr/>
          <p:nvPr/>
        </p:nvSpPr>
        <p:spPr>
          <a:xfrm>
            <a:off x="661475" y="5323582"/>
            <a:ext cx="10868745" cy="699195"/>
          </a:xfrm>
          <a:prstGeom prst="roundRect">
            <a:avLst>
              <a:gd name="adj" fmla="val 11354"/>
            </a:avLst>
          </a:prstGeom>
          <a:solidFill>
            <a:srgbClr val="183A13"/>
          </a:solidFill>
          <a:ln/>
        </p:spPr>
        <p:txBody>
          <a:bodyPr/>
          <a:p/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565874"/>
            <a:ext cx="236234" cy="1890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66138" y="5559822"/>
            <a:ext cx="1067507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הפתרון: כל אחת מנוסחת מחדש לפי נוסחת 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מי-מה-איך</a:t>
            </a:r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he-IL" sz="1450" dirty="0"/>
          </a:p>
        </p:txBody>
      </p:sp>
      <p:sp>
        <p:nvSpPr>
          <p:cNvPr id="22" name="TextBox 21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⚔️ קרב הנחיות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שני מתנדבים, משימה אחת, הקהל מכריע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5120640" cy="338328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21031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🎯  המשימה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578608"/>
            <a:ext cx="4663440" cy="2560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5000"/>
              </a:lnSpc>
              <a:buNone/>
            </a:pPr>
            <a:r>
              <a:rPr sz="1700" b="0" i="0" lang="he-IL">
                <a:solidFill>
                  <a:srgbClr val="EBEDF0"/>
                </a:solidFill>
                <a:latin typeface="Arial"/>
                <a:cs typeface="Arial"/>
              </a:rPr>
              <a:t>הזמנה לאירוע צוות של סוף שנה. עד 100 מילה, כולל תאריך, שעה ומקום. טון כיפי, אבל לא ילדותי.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27664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476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שני מתנדבים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340864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כל אחד כותב הנחיה, שלוש דקות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27664" y="2807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מריצים בשידור חי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22783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אותו כלי, שתי הנחיות, זו לצד זו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27664" y="3694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721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הקהל מצביע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114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במשחק או בצ'אט: 1 או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27664" y="4581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60857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מפרקים את המנצחת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00176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מה בדיוק עשה את ההבדל?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🏆  הקריטריון: איזו תוצאה הייתם שולחים לצוות בלי לשנות אף מילה?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659"/>
            <a:ext cx="10868745" cy="604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650" b="1" spc="-73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תחנה 1 — לכתוב לאדם אמיתי</a:t>
            </a:r>
            <a:endParaRPr lang="he-IL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639193"/>
            <a:ext cx="5207465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שלדים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3356784" y="2147491"/>
            <a:ext cx="2512156" cy="1014809"/>
          </a:xfrm>
          <a:prstGeom prst="roundRect">
            <a:avLst>
              <a:gd name="adj" fmla="val 770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561864" y="2352576"/>
            <a:ext cx="2101996" cy="604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דחייה בנימוס (ספק / מועמד / שיתוף)</a:t>
            </a:r>
            <a:endParaRPr lang="he-IL" sz="1800" dirty="0"/>
          </a:p>
        </p:txBody>
      </p:sp>
      <p:sp>
        <p:nvSpPr>
          <p:cNvPr id="6" name="Shape 4"/>
          <p:cNvSpPr/>
          <p:nvPr/>
        </p:nvSpPr>
        <p:spPr>
          <a:xfrm>
            <a:off x="661475" y="2147491"/>
            <a:ext cx="2512156" cy="1014809"/>
          </a:xfrm>
          <a:prstGeom prst="roundRect">
            <a:avLst>
              <a:gd name="adj" fmla="val 770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6555" y="2352576"/>
            <a:ext cx="2101996" cy="604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בקשה ברורה (עם תאריך יעד אחד)</a:t>
            </a:r>
            <a:endParaRPr lang="he-IL" sz="1800" dirty="0"/>
          </a:p>
        </p:txBody>
      </p:sp>
      <p:sp>
        <p:nvSpPr>
          <p:cNvPr id="8" name="Shape 6"/>
          <p:cNvSpPr/>
          <p:nvPr/>
        </p:nvSpPr>
        <p:spPr>
          <a:xfrm>
            <a:off x="661475" y="3345458"/>
            <a:ext cx="5207465" cy="712490"/>
          </a:xfrm>
          <a:prstGeom prst="roundRect">
            <a:avLst>
              <a:gd name="adj" fmla="val 1096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6555" y="3550543"/>
            <a:ext cx="4797305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תזכורת בלי מלחמה (מסמך, משימה, אישור)</a:t>
            </a:r>
            <a:endParaRPr lang="he-IL" sz="1800" dirty="0"/>
          </a:p>
        </p:txBody>
      </p:sp>
      <p:sp>
        <p:nvSpPr>
          <p:cNvPr id="10" name="Text 8"/>
          <p:cNvSpPr/>
          <p:nvPr/>
        </p:nvSpPr>
        <p:spPr>
          <a:xfrm>
            <a:off x="51890" y="4263926"/>
            <a:ext cx="581705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ממלאים את הסוגריים מהשבוע שלכם</a:t>
            </a:r>
            <a:endParaRPr lang="he-IL" sz="1450" dirty="0"/>
          </a:p>
        </p:txBody>
      </p:sp>
      <p:sp>
        <p:nvSpPr>
          <p:cNvPr id="11" name="Shape 9"/>
          <p:cNvSpPr/>
          <p:nvPr/>
        </p:nvSpPr>
        <p:spPr>
          <a:xfrm>
            <a:off x="6195163" y="1456035"/>
            <a:ext cx="5475349" cy="4825206"/>
          </a:xfrm>
          <a:prstGeom prst="roundRect">
            <a:avLst>
              <a:gd name="adj" fmla="val 2776"/>
            </a:avLst>
          </a:prstGeom>
          <a:solidFill>
            <a:srgbClr val="1F2A5D">
              <a:alpha val="95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1193" y="1639193"/>
            <a:ext cx="5103288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הדגמה חיה — דחייה</a:t>
            </a:r>
            <a:endParaRPr lang="he-IL" sz="1800" dirty="0"/>
          </a:p>
        </p:txBody>
      </p:sp>
      <p:sp>
        <p:nvSpPr>
          <p:cNvPr id="13" name="Text 11"/>
          <p:cNvSpPr/>
          <p:nvPr/>
        </p:nvSpPr>
        <p:spPr>
          <a:xfrm>
            <a:off x="6381193" y="2124670"/>
            <a:ext cx="5103288" cy="2743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7000"/>
              </a:lnSpc>
              <a:spcAft>
                <a:spcPts val="1250"/>
              </a:spcAft>
              <a:buNone/>
            </a:pPr>
            <a:r>
              <a:rPr lang="he-IL" altLang="en-US" sz="1450" b="1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מי:</a:t>
            </a:r>
            <a:endParaRPr lang="he-IL" sz="1450" dirty="0"/>
          </a:p>
          <a:p>
            <a:pPr rtl="1" algn="r" indent="0" marL="0">
              <a:lnSpc>
                <a:spcPct val="107000"/>
              </a:lnSpc>
              <a:spcAft>
                <a:spcPts val="125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אתה עוזר שלי. אני [תפקיד] ב[מקום]</a:t>
            </a:r>
            <a:endParaRPr lang="he-IL" sz="1450" dirty="0"/>
          </a:p>
          <a:p>
            <a:pPr rtl="1" algn="r" indent="0" marL="0">
              <a:lnSpc>
                <a:spcPct val="107000"/>
              </a:lnSpc>
              <a:spcAft>
                <a:spcPts val="1250"/>
              </a:spcAft>
              <a:buNone/>
            </a:pPr>
            <a:r>
              <a:rPr lang="he-IL" altLang="en-US" sz="1450" b="1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מה:</a:t>
            </a:r>
            <a:endParaRPr lang="he-IL" sz="1450" dirty="0"/>
          </a:p>
          <a:p>
            <a:pPr rtl="1" algn="r" indent="0" marL="0">
              <a:lnSpc>
                <a:spcPct val="107000"/>
              </a:lnSpc>
              <a:spcAft>
                <a:spcPts val="1250"/>
              </a:spcAft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מייל דחייה. בחרנו באפשרות אחרת. דלת פתוחה לעתיד. המטרה: לסגור בלי לפתוח משא ומתן</a:t>
            </a:r>
            <a:endParaRPr lang="he-IL" sz="1450" dirty="0"/>
          </a:p>
          <a:p>
            <a:pPr rtl="1" algn="r" indent="0" marL="0">
              <a:lnSpc>
                <a:spcPct val="107000"/>
              </a:lnSpc>
              <a:spcAft>
                <a:spcPts val="1250"/>
              </a:spcAft>
              <a:buNone/>
            </a:pPr>
            <a:r>
              <a:rPr lang="he-IL" altLang="en-US" sz="1450" b="1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איך:</a:t>
            </a:r>
            <a:endParaRPr lang="he-IL" sz="1450" dirty="0"/>
          </a:p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טון חם ומקצועי · עד 6 שורות · בלי התנצלות · בלי 'אשמח לעזור' · בלי סימני קריאה</a:t>
            </a:r>
            <a:endParaRPr lang="he-IL" sz="1450" dirty="0"/>
          </a:p>
        </p:txBody>
      </p:sp>
      <p:sp>
        <p:nvSpPr>
          <p:cNvPr id="14" name="Text 12"/>
          <p:cNvSpPr/>
          <p:nvPr/>
        </p:nvSpPr>
        <p:spPr>
          <a:xfrm>
            <a:off x="5771609" y="5032772"/>
            <a:ext cx="5712873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1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 התוצאה על המסך:</a:t>
            </a:r>
            <a:endParaRPr lang="he-IL" sz="1150" dirty="0"/>
          </a:p>
        </p:txBody>
      </p:sp>
      <p:sp>
        <p:nvSpPr>
          <p:cNvPr id="15" name="Shape 13"/>
          <p:cNvSpPr/>
          <p:nvPr/>
        </p:nvSpPr>
        <p:spPr>
          <a:xfrm>
            <a:off x="11391516" y="5505053"/>
            <a:ext cx="92966" cy="92968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047333" y="5430639"/>
            <a:ext cx="216103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קצר לשלוש שורות</a:t>
            </a:r>
            <a:endParaRPr lang="he-IL" sz="1450" dirty="0"/>
          </a:p>
        </p:txBody>
      </p:sp>
      <p:sp>
        <p:nvSpPr>
          <p:cNvPr id="17" name="Shape 15"/>
          <p:cNvSpPr/>
          <p:nvPr/>
        </p:nvSpPr>
        <p:spPr>
          <a:xfrm>
            <a:off x="8725475" y="5505053"/>
            <a:ext cx="92966" cy="92968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1193" y="5430639"/>
            <a:ext cx="21611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ישאלו אחרי שיקראו?</a:t>
            </a:r>
            <a:endParaRPr lang="he-IL" sz="1450" dirty="0"/>
          </a:p>
        </p:txBody>
      </p:sp>
      <p:sp>
        <p:nvSpPr>
          <p:cNvPr id="19" name="Text 17"/>
          <p:cNvSpPr/>
          <p:nvPr/>
        </p:nvSpPr>
        <p:spPr>
          <a:xfrm>
            <a:off x="5771609" y="5876528"/>
            <a:ext cx="571287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כלי: ChatGPT או Claude. לא מחליפים כלי באמצע הסיבוב</a:t>
            </a:r>
            <a:endParaRPr lang="he-IL" sz="1450" dirty="0"/>
          </a:p>
        </p:txBody>
      </p:sp>
      <p:sp>
        <p:nvSpPr>
          <p:cNvPr id="20" name="TextBox 19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25574"/>
            <a:ext cx="6296860" cy="105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150" b="1" spc="-6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תחנה 2 — מרשימה מבולגנת לכלי עבודה</a:t>
            </a:r>
            <a:endParaRPr lang="he-IL" sz="3150" dirty="0"/>
          </a:p>
        </p:txBody>
      </p:sp>
      <p:sp>
        <p:nvSpPr>
          <p:cNvPr id="4" name="Text 1"/>
          <p:cNvSpPr/>
          <p:nvPr/>
        </p:nvSpPr>
        <p:spPr>
          <a:xfrm>
            <a:off x="4623776" y="1890613"/>
            <a:ext cx="6906444" cy="15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1000"/>
              </a:lnSpc>
              <a:buNone/>
            </a:pPr>
            <a:r>
              <a:rPr lang="he-IL" altLang="en-US" sz="10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מתאים ל: ישיבת צוות · פגישת לקוח · שיעור · שיחת ספק · ראיון</a:t>
            </a:r>
            <a:endParaRPr lang="he-IL" sz="1000" dirty="0"/>
          </a:p>
        </p:txBody>
      </p:sp>
      <p:sp>
        <p:nvSpPr>
          <p:cNvPr id="5" name="Shape 2"/>
          <p:cNvSpPr/>
          <p:nvPr/>
        </p:nvSpPr>
        <p:spPr>
          <a:xfrm>
            <a:off x="5233360" y="2204641"/>
            <a:ext cx="6296860" cy="542528"/>
          </a:xfrm>
          <a:prstGeom prst="roundRect">
            <a:avLst>
              <a:gd name="adj" fmla="val 12575"/>
            </a:avLst>
          </a:prstGeom>
          <a:solidFill>
            <a:srgbClr val="002A80"/>
          </a:solidFill>
          <a:ln/>
        </p:spPr>
        <p:txBody>
          <a:bodyPr/>
          <a:p/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778" y="2384723"/>
            <a:ext cx="202996" cy="1624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51606" y="2384723"/>
            <a:ext cx="6216197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1000"/>
              </a:lnSpc>
              <a:buNone/>
            </a:pPr>
            <a:r>
              <a:rPr lang="he-IL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ההנחיה הכי טובה שתכניסו לבנק היום</a:t>
            </a:r>
            <a:endParaRPr lang="he-IL" sz="1250" dirty="0"/>
          </a:p>
        </p:txBody>
      </p:sp>
      <p:sp>
        <p:nvSpPr>
          <p:cNvPr id="8" name="Text 4"/>
          <p:cNvSpPr/>
          <p:nvPr/>
        </p:nvSpPr>
        <p:spPr>
          <a:xfrm>
            <a:off x="5233360" y="3061097"/>
            <a:ext cx="6053284" cy="58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1000"/>
              </a:lnSpc>
              <a:buNone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"מי: הסיכום הולך למי שלא היה בחדר — [מנהל / צוות / לקוח / שותף]</a:t>
            </a:r>
            <a:endParaRPr lang="he-IL" sz="1250" dirty="0"/>
          </a:p>
          <a:p>
            <a:pPr rtl="1" algn="r" indent="0" marL="0">
              <a:lnSpc>
                <a:spcPct val="101000"/>
              </a:lnSpc>
              <a:buNone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מה: נקודות גולמיות: [מדביקים]. הפוך למסמך שאפשר לעבוד ממנו מחר בבוקר</a:t>
            </a:r>
            <a:endParaRPr lang="he-IL" sz="1250" dirty="0"/>
          </a:p>
          <a:p>
            <a:pPr rtl="1" algn="r" indent="0" marL="0">
              <a:lnSpc>
                <a:spcPct val="101000"/>
              </a:lnSpc>
              <a:buNone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איך: 1) החלטות 2) משימות: משימה | אחראי | תאריך 3) מה פתוח. בלי הקדמה, בלי סיכום בסוף"</a:t>
            </a:r>
            <a:endParaRPr lang="he-IL" sz="1250" dirty="0"/>
          </a:p>
        </p:txBody>
      </p:sp>
      <p:sp>
        <p:nvSpPr>
          <p:cNvPr id="9" name="Shape 5"/>
          <p:cNvSpPr/>
          <p:nvPr/>
        </p:nvSpPr>
        <p:spPr>
          <a:xfrm>
            <a:off x="11511171" y="2904133"/>
            <a:ext cx="19050" cy="902692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5233360" y="3963789"/>
            <a:ext cx="6296860" cy="1215827"/>
          </a:xfrm>
          <a:prstGeom prst="roundRect">
            <a:avLst>
              <a:gd name="adj" fmla="val 561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8381790" y="3982839"/>
            <a:ext cx="3129380" cy="588863"/>
          </a:xfrm>
          <a:custGeom>
            <a:avLst/>
            <a:gdLst/>
            <a:ahLst/>
            <a:cxnLst/>
            <a:rect l="l" t="t" r="r" b="b"/>
            <a:pathLst>
              <a:path w="3129380" h="588863">
                <a:moveTo>
                  <a:pt x="56853" y="0"/>
                </a:moveTo>
                <a:lnTo>
                  <a:pt x="3129380" y="0"/>
                </a:lnTo>
                <a:lnTo>
                  <a:pt x="3129380" y="588863"/>
                </a:lnTo>
                <a:lnTo>
                  <a:pt x="0" y="588863"/>
                </a:lnTo>
                <a:lnTo>
                  <a:pt x="0" y="56855"/>
                </a:lnTo>
                <a:arcTo hR="56855" wR="56853" stAng="10800000" swAng="5400000"/>
                <a:close/>
              </a:path>
            </a:pathLst>
          </a:custGeom>
          <a:solidFill>
            <a:srgbClr val="101620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544207" y="4145260"/>
            <a:ext cx="2804546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550" b="1" spc="-32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שהתקבלו</a:t>
            </a:r>
            <a:endParaRPr lang="he-IL" sz="1550" dirty="0"/>
          </a:p>
        </p:txBody>
      </p:sp>
      <p:sp>
        <p:nvSpPr>
          <p:cNvPr id="13" name="Shape 9"/>
          <p:cNvSpPr/>
          <p:nvPr/>
        </p:nvSpPr>
        <p:spPr>
          <a:xfrm>
            <a:off x="5252410" y="3982839"/>
            <a:ext cx="3129380" cy="588863"/>
          </a:xfrm>
          <a:custGeom>
            <a:avLst/>
            <a:gdLst/>
            <a:ahLst/>
            <a:cxnLst/>
            <a:rect l="l" t="t" r="r" b="b"/>
            <a:pathLst>
              <a:path w="3129380" h="588863">
                <a:moveTo>
                  <a:pt x="0" y="0"/>
                </a:moveTo>
                <a:lnTo>
                  <a:pt x="3072527" y="0"/>
                </a:lnTo>
                <a:arcTo hR="56855" wR="56853" stAng="16200000" swAng="5400000"/>
                <a:lnTo>
                  <a:pt x="3129380" y="588863"/>
                </a:lnTo>
                <a:lnTo>
                  <a:pt x="0" y="588863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252410" y="3982839"/>
            <a:ext cx="19050" cy="588863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5414827" y="4145260"/>
            <a:ext cx="2804546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550" b="1" spc="-32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משימות עם אחראי ותאריך</a:t>
            </a:r>
            <a:endParaRPr lang="he-IL" sz="1550" dirty="0"/>
          </a:p>
        </p:txBody>
      </p:sp>
      <p:sp>
        <p:nvSpPr>
          <p:cNvPr id="16" name="Shape 12"/>
          <p:cNvSpPr/>
          <p:nvPr/>
        </p:nvSpPr>
        <p:spPr>
          <a:xfrm>
            <a:off x="5252410" y="4571702"/>
            <a:ext cx="6258761" cy="588863"/>
          </a:xfrm>
          <a:custGeom>
            <a:avLst/>
            <a:gdLst/>
            <a:ahLst/>
            <a:cxnLst/>
            <a:rect l="l" t="t" r="r" b="b"/>
            <a:pathLst>
              <a:path w="6258761" h="588863">
                <a:moveTo>
                  <a:pt x="0" y="0"/>
                </a:moveTo>
                <a:lnTo>
                  <a:pt x="6258761" y="0"/>
                </a:lnTo>
                <a:lnTo>
                  <a:pt x="6258761" y="532009"/>
                </a:lnTo>
                <a:arcTo hR="56855" wR="56853" stAng="0" swAng="5400000"/>
                <a:lnTo>
                  <a:pt x="56853" y="588863"/>
                </a:lnTo>
                <a:arcTo hR="56855" wR="56853" stAng="5400000" swAng="5400000"/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5252410" y="4571702"/>
            <a:ext cx="625876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5414827" y="4734123"/>
            <a:ext cx="593392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550" b="1" spc="-32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נושאים פתוחים</a:t>
            </a:r>
            <a:endParaRPr lang="he-IL" sz="1550" dirty="0"/>
          </a:p>
        </p:txBody>
      </p:sp>
      <p:sp>
        <p:nvSpPr>
          <p:cNvPr id="19" name="Text 15"/>
          <p:cNvSpPr/>
          <p:nvPr/>
        </p:nvSpPr>
        <p:spPr>
          <a:xfrm>
            <a:off x="4623776" y="5336580"/>
            <a:ext cx="6906444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1000"/>
              </a:lnSpc>
              <a:buNone/>
            </a:pPr>
            <a:r>
              <a:rPr lang="he-IL" altLang="en-US" sz="12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4: "עכשיו רק טבלת המשימות כהודעת וואטסאפ" — שיחה, לא מברק</a:t>
            </a:r>
            <a:endParaRPr lang="he-IL" sz="1250" dirty="0"/>
          </a:p>
        </p:txBody>
      </p:sp>
      <p:sp>
        <p:nvSpPr>
          <p:cNvPr id="20" name="Shape 16"/>
          <p:cNvSpPr/>
          <p:nvPr/>
        </p:nvSpPr>
        <p:spPr>
          <a:xfrm>
            <a:off x="5233360" y="5689798"/>
            <a:ext cx="6296860" cy="542528"/>
          </a:xfrm>
          <a:prstGeom prst="roundRect">
            <a:avLst>
              <a:gd name="adj" fmla="val 12575"/>
            </a:avLst>
          </a:prstGeom>
          <a:solidFill>
            <a:srgbClr val="002A80"/>
          </a:solidFill>
          <a:ln/>
        </p:spPr>
        <p:txBody>
          <a:bodyPr/>
          <a:p/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778" y="5869880"/>
            <a:ext cx="202996" cy="16242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51606" y="5869880"/>
            <a:ext cx="6216197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1000"/>
              </a:lnSpc>
              <a:buNone/>
            </a:pPr>
            <a:r>
              <a:rPr lang="he-IL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גשר: יש סיכום? הדבקה ב־Gamma → 6 שקפים. לא מתחילים עיצוב לפני שיש תוכן</a:t>
            </a:r>
            <a:endParaRPr lang="he-IL" sz="1250" dirty="0"/>
          </a:p>
        </p:txBody>
      </p:sp>
      <p:sp>
        <p:nvSpPr>
          <p:cNvPr id="23" name="TextBox 22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84200"/>
            <a:ext cx="6296860" cy="566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he-IL" altLang="en-US" sz="3400" b="1" spc="-69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 — כשחייבים מקור</a:t>
            </a:r>
            <a:endParaRPr lang="he-IL" sz="3400" dirty="0"/>
          </a:p>
        </p:txBody>
      </p:sp>
      <p:sp>
        <p:nvSpPr>
          <p:cNvPr id="4" name="Text 1"/>
          <p:cNvSpPr/>
          <p:nvPr/>
        </p:nvSpPr>
        <p:spPr>
          <a:xfrm>
            <a:off x="51890" y="1391444"/>
            <a:ext cx="6906444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גוגל. תשובות עם הסבר, מקורות וציטוטים – בזמן אמת.</a:t>
            </a:r>
            <a:endParaRPr lang="he-IL" sz="1350" dirty="0"/>
          </a:p>
        </p:txBody>
      </p:sp>
      <p:sp>
        <p:nvSpPr>
          <p:cNvPr id="5" name="Text 2"/>
          <p:cNvSpPr/>
          <p:nvPr/>
        </p:nvSpPr>
        <p:spPr>
          <a:xfrm>
            <a:off x="661475" y="1950343"/>
            <a:ext cx="2935909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00" b="1" spc="-3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כן</a:t>
            </a:r>
            <a:endParaRPr lang="he-IL" sz="1700" dirty="0"/>
          </a:p>
        </p:txBody>
      </p:sp>
      <p:sp>
        <p:nvSpPr>
          <p:cNvPr id="6" name="Shape 3"/>
          <p:cNvSpPr/>
          <p:nvPr/>
        </p:nvSpPr>
        <p:spPr>
          <a:xfrm>
            <a:off x="3510272" y="2483743"/>
            <a:ext cx="87112" cy="87114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61475" y="2414091"/>
            <a:ext cx="2688166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השתנה עכשיו</a:t>
            </a:r>
            <a:endParaRPr lang="he-IL" sz="1350" dirty="0"/>
          </a:p>
        </p:txBody>
      </p:sp>
      <p:sp>
        <p:nvSpPr>
          <p:cNvPr id="8" name="Shape 5"/>
          <p:cNvSpPr/>
          <p:nvPr/>
        </p:nvSpPr>
        <p:spPr>
          <a:xfrm>
            <a:off x="3510272" y="3022600"/>
            <a:ext cx="87112" cy="87114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61475" y="2952948"/>
            <a:ext cx="2688166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תקנה, מחיר, כלי, מתחרה</a:t>
            </a:r>
            <a:endParaRPr lang="he-IL" sz="1350" dirty="0"/>
          </a:p>
        </p:txBody>
      </p:sp>
      <p:sp>
        <p:nvSpPr>
          <p:cNvPr id="10" name="Shape 7"/>
          <p:cNvSpPr/>
          <p:nvPr/>
        </p:nvSpPr>
        <p:spPr>
          <a:xfrm>
            <a:off x="3510272" y="3561457"/>
            <a:ext cx="87112" cy="87114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61475" y="3491805"/>
            <a:ext cx="2688166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מאמר עם תאריך</a:t>
            </a:r>
            <a:endParaRPr lang="he-IL" sz="1350" dirty="0"/>
          </a:p>
        </p:txBody>
      </p:sp>
      <p:sp>
        <p:nvSpPr>
          <p:cNvPr id="12" name="Text 9"/>
          <p:cNvSpPr/>
          <p:nvPr/>
        </p:nvSpPr>
        <p:spPr>
          <a:xfrm>
            <a:off x="4028776" y="1950343"/>
            <a:ext cx="2935909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00" b="1" spc="-3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</a:t>
            </a:r>
            <a:endParaRPr lang="he-IL" sz="1700" dirty="0"/>
          </a:p>
        </p:txBody>
      </p:sp>
      <p:sp>
        <p:nvSpPr>
          <p:cNvPr id="13" name="Shape 10"/>
          <p:cNvSpPr/>
          <p:nvPr/>
        </p:nvSpPr>
        <p:spPr>
          <a:xfrm>
            <a:off x="6877572" y="2483743"/>
            <a:ext cx="87112" cy="87114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028776" y="2414091"/>
            <a:ext cx="2688166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לנסח מייל</a:t>
            </a:r>
            <a:endParaRPr lang="he-IL" sz="1350" dirty="0"/>
          </a:p>
        </p:txBody>
      </p:sp>
      <p:sp>
        <p:nvSpPr>
          <p:cNvPr id="15" name="Shape 12"/>
          <p:cNvSpPr/>
          <p:nvPr/>
        </p:nvSpPr>
        <p:spPr>
          <a:xfrm>
            <a:off x="6877572" y="3022600"/>
            <a:ext cx="87112" cy="87114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028776" y="2952948"/>
            <a:ext cx="2688166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לסכם ישיבה</a:t>
            </a:r>
            <a:endParaRPr lang="he-IL" sz="1350" dirty="0"/>
          </a:p>
        </p:txBody>
      </p:sp>
      <p:sp>
        <p:nvSpPr>
          <p:cNvPr id="17" name="Shape 14"/>
          <p:cNvSpPr/>
          <p:nvPr/>
        </p:nvSpPr>
        <p:spPr>
          <a:xfrm>
            <a:off x="6877572" y="3561457"/>
            <a:ext cx="87112" cy="87114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028776" y="3491805"/>
            <a:ext cx="2688166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לשכתב טון</a:t>
            </a:r>
            <a:endParaRPr lang="he-IL" sz="1350" dirty="0"/>
          </a:p>
        </p:txBody>
      </p:sp>
      <p:sp>
        <p:nvSpPr>
          <p:cNvPr id="19" name="Text 16"/>
          <p:cNvSpPr/>
          <p:nvPr/>
        </p:nvSpPr>
        <p:spPr>
          <a:xfrm>
            <a:off x="661475" y="4251424"/>
            <a:ext cx="6035524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"[שאלה אחת ספציפית]. תשובה קצרה + מקור + תאריך לכל נתון. אם יש מחלוקת — כתוב"</a:t>
            </a:r>
            <a:endParaRPr lang="he-IL" sz="1350" dirty="0"/>
          </a:p>
        </p:txBody>
      </p:sp>
      <p:sp>
        <p:nvSpPr>
          <p:cNvPr id="20" name="Shape 17"/>
          <p:cNvSpPr/>
          <p:nvPr/>
        </p:nvSpPr>
        <p:spPr>
          <a:xfrm>
            <a:off x="6939285" y="4070747"/>
            <a:ext cx="19050" cy="796528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61475" y="5047952"/>
            <a:ext cx="6296860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שרשרת: מצאתם עובדה → מעתיקים ל־ChatGPT/Claude → "עדכן את הטיוטה לפי זה, בלי להוסיף עובדות חדשות"</a:t>
            </a:r>
            <a:endParaRPr lang="he-IL" sz="1350" dirty="0"/>
          </a:p>
        </p:txBody>
      </p:sp>
      <p:sp>
        <p:nvSpPr>
          <p:cNvPr id="22" name="TextBox 21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7092"/>
            <a:ext cx="10868745" cy="5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600" b="1" spc="-72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כלים שרוב האנשים מפספסים</a:t>
            </a:r>
            <a:endParaRPr lang="he-IL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585516"/>
            <a:ext cx="5211037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3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NotebookLM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1890" y="2060377"/>
            <a:ext cx="5820622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 של 5–15 קבצים. עונה רק מתוך מה שהעליתם.</a:t>
            </a:r>
            <a:endParaRPr lang="he-IL" sz="1400" dirty="0"/>
          </a:p>
        </p:txBody>
      </p:sp>
      <p:sp>
        <p:nvSpPr>
          <p:cNvPr id="5" name="Shape 3"/>
          <p:cNvSpPr/>
          <p:nvPr/>
        </p:nvSpPr>
        <p:spPr>
          <a:xfrm>
            <a:off x="5781034" y="2567484"/>
            <a:ext cx="91477" cy="91480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61475" y="2494260"/>
            <a:ext cx="4942260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הכנה לפגישה עם הפניה למקור</a:t>
            </a:r>
            <a:endParaRPr lang="he-IL" sz="1400" dirty="0"/>
          </a:p>
        </p:txBody>
      </p:sp>
      <p:sp>
        <p:nvSpPr>
          <p:cNvPr id="7" name="Shape 5"/>
          <p:cNvSpPr/>
          <p:nvPr/>
        </p:nvSpPr>
        <p:spPr>
          <a:xfrm>
            <a:off x="5781034" y="3156545"/>
            <a:ext cx="91477" cy="91480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1475" y="3083322"/>
            <a:ext cx="4942260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על כמה מסמכים בו-זמנית</a:t>
            </a:r>
            <a:endParaRPr lang="he-IL" sz="1400" dirty="0"/>
          </a:p>
        </p:txBody>
      </p:sp>
      <p:sp>
        <p:nvSpPr>
          <p:cNvPr id="9" name="Shape 7"/>
          <p:cNvSpPr/>
          <p:nvPr/>
        </p:nvSpPr>
        <p:spPr>
          <a:xfrm>
            <a:off x="5781034" y="3745607"/>
            <a:ext cx="91477" cy="91480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1475" y="3672384"/>
            <a:ext cx="4942260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ממציא — רק מה שבקבצים</a:t>
            </a:r>
            <a:endParaRPr lang="he-IL" sz="1400" dirty="0"/>
          </a:p>
        </p:txBody>
      </p:sp>
      <p:sp>
        <p:nvSpPr>
          <p:cNvPr id="11" name="Text 9"/>
          <p:cNvSpPr/>
          <p:nvPr/>
        </p:nvSpPr>
        <p:spPr>
          <a:xfrm>
            <a:off x="6325533" y="1585516"/>
            <a:ext cx="5211037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00" b="1" spc="-36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תמלול → סיכום</a:t>
            </a:r>
            <a:endParaRPr lang="he-IL" sz="1800" dirty="0"/>
          </a:p>
        </p:txBody>
      </p:sp>
      <p:sp>
        <p:nvSpPr>
          <p:cNvPr id="12" name="Text 10"/>
          <p:cNvSpPr/>
          <p:nvPr/>
        </p:nvSpPr>
        <p:spPr>
          <a:xfrm>
            <a:off x="5715948" y="2060377"/>
            <a:ext cx="5820622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הקלטת זום / שיעור / שיחת לקוח → טקסט גולמי → הנחיית תחנה 2</a:t>
            </a:r>
            <a:endParaRPr lang="he-IL" sz="1400" dirty="0"/>
          </a:p>
        </p:txBody>
      </p:sp>
      <p:sp>
        <p:nvSpPr>
          <p:cNvPr id="13" name="Text 11"/>
          <p:cNvSpPr/>
          <p:nvPr/>
        </p:nvSpPr>
        <p:spPr>
          <a:xfrm>
            <a:off x="5715948" y="2653903"/>
            <a:ext cx="5545991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"אל תמציא החלטה שלא נאמרה"</a:t>
            </a:r>
            <a:endParaRPr lang="he-IL" sz="1400" dirty="0"/>
          </a:p>
        </p:txBody>
      </p:sp>
      <p:sp>
        <p:nvSpPr>
          <p:cNvPr id="14" name="Shape 12"/>
          <p:cNvSpPr/>
          <p:nvPr/>
        </p:nvSpPr>
        <p:spPr>
          <a:xfrm>
            <a:off x="11511171" y="2494260"/>
            <a:ext cx="25399" cy="553641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445093" y="3320653"/>
            <a:ext cx="91477" cy="91480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25533" y="3247430"/>
            <a:ext cx="4942260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מורים</a:t>
            </a:r>
            <a:endParaRPr lang="he-IL" sz="1400" dirty="0"/>
          </a:p>
        </p:txBody>
      </p:sp>
      <p:sp>
        <p:nvSpPr>
          <p:cNvPr id="17" name="Shape 15"/>
          <p:cNvSpPr/>
          <p:nvPr/>
        </p:nvSpPr>
        <p:spPr>
          <a:xfrm>
            <a:off x="11445093" y="3909715"/>
            <a:ext cx="91477" cy="91480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25533" y="3836491"/>
            <a:ext cx="4942260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מכירות</a:t>
            </a:r>
            <a:endParaRPr lang="he-IL" sz="1400" dirty="0"/>
          </a:p>
        </p:txBody>
      </p:sp>
      <p:sp>
        <p:nvSpPr>
          <p:cNvPr id="19" name="Shape 17"/>
          <p:cNvSpPr/>
          <p:nvPr/>
        </p:nvSpPr>
        <p:spPr>
          <a:xfrm>
            <a:off x="11445093" y="4498777"/>
            <a:ext cx="91477" cy="91480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25533" y="4425553"/>
            <a:ext cx="4942260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שטח</a:t>
            </a:r>
            <a:endParaRPr lang="he-IL" sz="1400" dirty="0"/>
          </a:p>
        </p:txBody>
      </p:sp>
      <p:sp>
        <p:nvSpPr>
          <p:cNvPr id="21" name="Shape 19"/>
          <p:cNvSpPr/>
          <p:nvPr/>
        </p:nvSpPr>
        <p:spPr>
          <a:xfrm>
            <a:off x="11445093" y="5087838"/>
            <a:ext cx="91477" cy="91480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25533" y="5014615"/>
            <a:ext cx="4942260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ראיונות</a:t>
            </a:r>
            <a:endParaRPr lang="he-IL" sz="1400" dirty="0"/>
          </a:p>
        </p:txBody>
      </p:sp>
      <p:sp>
        <p:nvSpPr>
          <p:cNvPr id="23" name="Shape 21"/>
          <p:cNvSpPr/>
          <p:nvPr/>
        </p:nvSpPr>
        <p:spPr>
          <a:xfrm>
            <a:off x="661475" y="5648027"/>
            <a:ext cx="10868745" cy="662781"/>
          </a:xfrm>
          <a:prstGeom prst="roundRect">
            <a:avLst>
              <a:gd name="adj" fmla="val 11604"/>
            </a:avLst>
          </a:prstGeom>
          <a:solidFill>
            <a:srgbClr val="002A80"/>
          </a:solidFill>
          <a:ln/>
        </p:spPr>
        <p:txBody>
          <a:bodyPr/>
          <a:p/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29" y="5875933"/>
            <a:ext cx="228793" cy="183059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46791" y="5871071"/>
            <a:ext cx="10700375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7000"/>
              </a:lnSpc>
              <a:buNone/>
            </a:pPr>
            <a:r>
              <a:rPr lang="he-IL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רק מי שכותב במשרד</a:t>
            </a:r>
            <a:endParaRPr lang="he-IL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🖼️ גלריית ההנחיות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הכי טובות מהסדנה, על המסך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27664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9476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שלוש הנחיות על המסך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340864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מהמשחק או מהצ'אט, לפני ואחרי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27664" y="2807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מפרקים כל אחת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22783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איזה רכיב עשה את ההבדל?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27664" y="3694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721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בוחרים את הנחיית הערב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הצבעה במשחק, והמנצחת נכנסת לבנק של כולם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920240"/>
            <a:ext cx="5120640" cy="338328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21031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00" b="1" i="0" lang="he-IL">
                <a:solidFill>
                  <a:srgbClr val="EBEDF0"/>
                </a:solidFill>
                <a:latin typeface="Arial"/>
                <a:cs typeface="Arial"/>
              </a:rPr>
              <a:t>✅  מה מחפשים בהנחיה טובה: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651760"/>
            <a:ext cx="4663440" cy="2560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285750" indent="-28575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תפקיד וקהל ברורים</a:t>
            </a:r>
          </a:p>
          <a:p>
            <a:pPr rtl="1" algn="r" marL="285750" indent="-28575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הקשר: מי אני ומה המצב</a:t>
            </a:r>
          </a:p>
          <a:p>
            <a:pPr rtl="1" algn="r" marL="285750" indent="-28575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משימה ספציפית ומדידה</a:t>
            </a:r>
          </a:p>
          <a:p>
            <a:pPr rtl="1" algn="r" marL="285750" indent="-28575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פורמט ואורך</a:t>
            </a:r>
          </a:p>
          <a:p>
            <a:pPr rtl="1" algn="r" marL="285750" indent="-285750">
              <a:lnSpc>
                <a:spcPct val="108000"/>
              </a:lnSpc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גבולות: מה לא לעשות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👏  כל הנחיה שעבדה היום היא נכס. שמרו אותה לפני שסוגרים את החלון.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📌 כרטיס הכיס: 8 כלים להנחיה מנצחת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צלמו מסך. הכרטיס נשלח גם במייל אחרי המפגש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97696" y="1874519"/>
            <a:ext cx="2532888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799064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0576" y="2112263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50" b="1" i="0" lang="he-IL">
                <a:solidFill>
                  <a:srgbClr val="EBEDF0"/>
                </a:solidFill>
                <a:latin typeface="Arial"/>
                <a:cs typeface="Arial"/>
              </a:rPr>
              <a:t>מי, מה, איך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0576" y="2624327"/>
            <a:ext cx="2167128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הקשר, משימה ופורמט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74519"/>
            <a:ext cx="2532888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019288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12263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50" b="1" i="0" lang="he-IL">
                <a:solidFill>
                  <a:srgbClr val="EBEDF0"/>
                </a:solidFill>
                <a:latin typeface="Arial"/>
                <a:cs typeface="Arial"/>
              </a:rPr>
              <a:t>ספציפיות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24327"/>
            <a:ext cx="2167128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מספרים, קהל, מטרה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874519"/>
            <a:ext cx="2532888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239512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112263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50" b="1" i="0" lang="he-IL">
                <a:solidFill>
                  <a:srgbClr val="EBEDF0"/>
                </a:solidFill>
                <a:latin typeface="Arial"/>
                <a:cs typeface="Arial"/>
              </a:rPr>
              <a:t>תפקיד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624327"/>
            <a:ext cx="2167128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"אתה יועץ מנוסה..."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1874519"/>
            <a:ext cx="2532888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2459736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2112263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50" b="1" i="0" lang="he-IL">
                <a:solidFill>
                  <a:srgbClr val="EBEDF0"/>
                </a:solidFill>
                <a:latin typeface="Arial"/>
                <a:cs typeface="Arial"/>
              </a:rPr>
              <a:t>פורמט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624327"/>
            <a:ext cx="2167128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טבלה, רשימה, 3 משפטים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3675887"/>
            <a:ext cx="2532888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799064" y="3858768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3913631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50" b="1" i="0" lang="he-IL">
                <a:solidFill>
                  <a:srgbClr val="EBEDF0"/>
                </a:solidFill>
                <a:latin typeface="Arial"/>
                <a:cs typeface="Arial"/>
              </a:rPr>
              <a:t>גבולות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4425696"/>
            <a:ext cx="2167128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"בלי הקדמה, בלי סיכום"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75887"/>
            <a:ext cx="2532888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019288" y="3858768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1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50" b="1" i="0" lang="he-IL">
                <a:solidFill>
                  <a:srgbClr val="EBEDF0"/>
                </a:solidFill>
                <a:latin typeface="Arial"/>
                <a:cs typeface="Arial"/>
              </a:rPr>
              <a:t>דוגמה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25696"/>
            <a:ext cx="2167128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מדביקים סגנון שאוהבים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38144" y="3675887"/>
            <a:ext cx="2532888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5239512" y="3858768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21024" y="3913631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50" b="1" i="0" lang="he-IL">
                <a:solidFill>
                  <a:srgbClr val="EBEDF0"/>
                </a:solidFill>
                <a:latin typeface="Arial"/>
                <a:cs typeface="Arial"/>
              </a:rPr>
              <a:t>שיחה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1024" y="4425696"/>
            <a:ext cx="2167128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"קצר יותר", "עכשיו כטבלה"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675887"/>
            <a:ext cx="2532888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2459736" y="3858768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3913631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50" b="1" i="0" lang="he-IL">
                <a:solidFill>
                  <a:srgbClr val="EBEDF0"/>
                </a:solidFill>
                <a:latin typeface="Arial"/>
                <a:cs typeface="Arial"/>
              </a:rPr>
              <a:t>ביקורת וראיון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4425696"/>
            <a:ext cx="2167128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"מה חסר?" "שאל אותי"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🧠  לא צריך את כולם בכל הנחיה. שלושה כלים נכונים כבר משנים את התוצאה.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9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שלושה דברים לקחת הביתה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אם תזכרו רק את זה, המפגש הצליח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5644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156448" y="214884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6296FF"/>
                </a:solidFill>
                <a:latin typeface="Arial"/>
                <a:cs typeface="Arial"/>
              </a:rPr>
              <a:t>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7616" y="3154680"/>
            <a:ext cx="298094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ההנחיה היא 80% מהתוצאה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0768" y="3977639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A9B4C6"/>
                </a:solidFill>
                <a:latin typeface="Arial"/>
                <a:cs typeface="Arial"/>
              </a:rPr>
              <a:t>30 שניות של כתיבה חוסכות 30 דקות של תיקונים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07408" y="214884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6296FF"/>
                </a:solidFill>
                <a:latin typeface="Arial"/>
                <a:cs typeface="Arial"/>
              </a:rP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3154680"/>
            <a:ext cx="298094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שיחה, לא מברק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977639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A9B4C6"/>
                </a:solidFill>
                <a:latin typeface="Arial"/>
                <a:cs typeface="Arial"/>
              </a:rPr>
              <a:t>הטיוטה הראשונה היא נקודת פתיחה. משפרים בסבבים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14884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6296FF"/>
                </a:solidFill>
                <a:latin typeface="Arial"/>
                <a:cs typeface="Arial"/>
              </a:rPr>
              <a:t>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154680"/>
            <a:ext cx="298094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בנק הנחיות = נכס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977639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A9B4C6"/>
                </a:solidFill>
                <a:latin typeface="Arial"/>
                <a:cs typeface="Arial"/>
              </a:rPr>
              <a:t>כל הנחיה שעבדה נשמרת, ומשמשת שוב ושוב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32120"/>
            <a:ext cx="10872216" cy="64008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532120"/>
            <a:ext cx="10415016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🧪  ועכשיו: התוצאות הסופיות מהמשחק, והמנצחים של הערב!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📰 מה חדש השבוע ב-AI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מה קרה בעולם ה-AI מאז שנפגשנו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4572000" cy="3520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20574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1" i="0" lang="he-IL">
                <a:solidFill>
                  <a:srgbClr val="FAC496"/>
                </a:solidFill>
                <a:latin typeface="Arial"/>
                <a:cs typeface="Arial"/>
              </a:rPr>
              <a:t>Anthropic · 28.9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46888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10000"/>
              </a:lnSpc>
              <a:buNone/>
            </a:pPr>
            <a:r>
              <a:rPr sz="2400" b="1" i="0" lang="he-IL">
                <a:solidFill>
                  <a:srgbClr val="F2F5FA"/>
                </a:solidFill>
                <a:latin typeface="Arial"/>
                <a:cs typeface="Arial"/>
              </a:rPr>
              <a:t>Claude Sonnet 5.5 בחינם: מגרש אימונים להנחיות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794760"/>
            <a:ext cx="411480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0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מודל חדש, מהיר וחכם יותר, פתוח לכל חשבון חינמי. בדיוק מה שצריך כדי לתרגל את מה שנלמד היום.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1874519"/>
            <a:ext cx="6089904" cy="621792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829800" y="1874519"/>
            <a:ext cx="160020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150" b="1" i="0" lang="he-IL">
                <a:solidFill>
                  <a:srgbClr val="FAC496"/>
                </a:solidFill>
                <a:latin typeface="Arial"/>
                <a:cs typeface="Arial"/>
              </a:rPr>
              <a:t>Google · 15.9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874519"/>
            <a:ext cx="420624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EBEDF0"/>
                </a:solidFill>
                <a:latin typeface="Arial"/>
                <a:cs typeface="Arial"/>
              </a:rPr>
              <a:t>Gemini Live: שיחה קולית ב-97 שפות, גם בעברית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96896"/>
            <a:ext cx="6089904" cy="621792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829800" y="2596896"/>
            <a:ext cx="160020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150" b="1" i="0" lang="he-IL">
                <a:solidFill>
                  <a:srgbClr val="FAC496"/>
                </a:solidFill>
                <a:latin typeface="Arial"/>
                <a:cs typeface="Arial"/>
              </a:rPr>
              <a:t>OpenAI · 29.9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596896"/>
            <a:ext cx="420624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EBEDF0"/>
                </a:solidFill>
                <a:latin typeface="Arial"/>
                <a:cs typeface="Arial"/>
              </a:rPr>
              <a:t>GPT-6.1 Sol: כוח של מודל-על במחיר נמוך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3319272"/>
            <a:ext cx="6089904" cy="621792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829800" y="3319272"/>
            <a:ext cx="160020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150" b="1" i="0" lang="he-IL">
                <a:solidFill>
                  <a:srgbClr val="FAC496"/>
                </a:solidFill>
                <a:latin typeface="Arial"/>
                <a:cs typeface="Arial"/>
              </a:rPr>
              <a:t>Mozilla · 16.9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319272"/>
            <a:ext cx="420624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EBEDF0"/>
                </a:solidFill>
                <a:latin typeface="Arial"/>
                <a:cs typeface="Arial"/>
              </a:rPr>
              <a:t>Firefox מקבל עוזר AI ששומר על פרטיות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041648"/>
            <a:ext cx="6089904" cy="621792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829800" y="4041648"/>
            <a:ext cx="160020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150" b="1" i="0" lang="he-IL">
                <a:solidFill>
                  <a:srgbClr val="FAC496"/>
                </a:solidFill>
                <a:latin typeface="Arial"/>
                <a:cs typeface="Arial"/>
              </a:rPr>
              <a:t>Anthropic · 18.9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041648"/>
            <a:ext cx="420624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EBEDF0"/>
                </a:solidFill>
                <a:latin typeface="Arial"/>
                <a:cs typeface="Arial"/>
              </a:rPr>
              <a:t>Claude עוזר לבנות את הגרסה הבאה של עצמו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4764024"/>
            <a:ext cx="6089904" cy="621792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829800" y="4764024"/>
            <a:ext cx="160020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150" b="1" i="0" lang="he-IL">
                <a:solidFill>
                  <a:srgbClr val="FAC496"/>
                </a:solidFill>
                <a:latin typeface="Arial"/>
                <a:cs typeface="Arial"/>
              </a:rPr>
              <a:t>חוק · 30.9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764024"/>
            <a:ext cx="420624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EBEDF0"/>
                </a:solidFill>
                <a:latin typeface="Arial"/>
                <a:cs typeface="Arial"/>
              </a:rPr>
              <a:t>קליפורניה: AI לא יפטר עובדים לבד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💬  כתבו בצ'אט: איזו מהחדשות הכי מסקרנת אתכם? על המנצחת נדבר דקה.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מה מחכה לנו היום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פחות הקשבה, יותר כתיבה: היום אתם עובדים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45952" y="1874519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92023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חדשות ומשחק חימום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94767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6296FF"/>
                </a:solidFill>
                <a:latin typeface="Arial"/>
                <a:cs typeface="Arial"/>
              </a:rPr>
              <a:t>10 דק'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45952" y="2423160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46887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נוסחת הזהב וחמשת הכללים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4963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6296FF"/>
                </a:solidFill>
                <a:latin typeface="Arial"/>
                <a:cs typeface="Arial"/>
              </a:rPr>
              <a:t>25 דק'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5952" y="2971800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017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בלייב או משימה? ראיון ומשחק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04495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6296FF"/>
                </a:solidFill>
                <a:latin typeface="Arial"/>
                <a:cs typeface="Arial"/>
              </a:rPr>
              <a:t>15 דק'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45952" y="3520439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56615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מיילים: לכתוב, לסקור, לענות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593591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6296FF"/>
                </a:solidFill>
                <a:latin typeface="Arial"/>
                <a:cs typeface="Arial"/>
              </a:rPr>
              <a:t>13 דק'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45952" y="4069079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11479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סיכומים ומחקר: NotebookLM, Perplexity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142231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6296FF"/>
                </a:solidFill>
                <a:latin typeface="Arial"/>
                <a:cs typeface="Arial"/>
              </a:rPr>
              <a:t>11 דק'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045952" y="4617720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663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לדבר במקום להקליד: Wispr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69087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6296FF"/>
                </a:solidFill>
                <a:latin typeface="Arial"/>
                <a:cs typeface="Arial"/>
              </a:rPr>
              <a:t>3 דק'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045952" y="5166359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21207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סדנה: אפיון העסק שלכם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2395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6296FF"/>
                </a:solidFill>
                <a:latin typeface="Arial"/>
                <a:cs typeface="Arial"/>
              </a:rPr>
              <a:t>20 דק'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45952" y="5715000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760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גלריה, סיכום ומשימה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78815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6296FF"/>
                </a:solidFill>
                <a:latin typeface="Arial"/>
                <a:cs typeface="Arial"/>
              </a:rPr>
              <a:t>10 דק'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1920240"/>
            <a:ext cx="2103120" cy="1874519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219456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4400" b="1" i="0" lang="he-IL">
                <a:solidFill>
                  <a:srgbClr val="6296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30632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כללי כתיבה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90087" y="1920240"/>
            <a:ext cx="2103120" cy="1874519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990087" y="219456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4400" b="1" i="0" lang="he-IL">
                <a:solidFill>
                  <a:srgbClr val="6296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7247" y="30632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משחקים חיים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069080"/>
            <a:ext cx="2103120" cy="1874519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8368" y="43434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4400" b="1" i="0" lang="he-IL">
                <a:solidFill>
                  <a:srgbClr val="6296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" y="52120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אפיון עסק ביד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90087" y="4069080"/>
            <a:ext cx="2103120" cy="1874519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990087" y="43434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4400" b="1" i="0" lang="he-IL">
                <a:solidFill>
                  <a:srgbClr val="6296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27247" y="52120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בנק הנחיות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שתי דרכים לעבוד עם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כתיבה בלייב מול בניית משימה. שתיהן נכונות, למצבים שונים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874519"/>
            <a:ext cx="5678424" cy="34290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80760" y="201168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2000" b="1" i="0" lang="he-IL">
                <a:solidFill>
                  <a:srgbClr val="F2F5FA"/>
                </a:solidFill>
                <a:latin typeface="Arial"/>
                <a:cs typeface="Arial"/>
              </a:rPr>
              <a:t>💬  כתיבה בלייב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25603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שיחה קצרה, צעד אחרי צעד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3017520"/>
            <a:ext cx="5212080" cy="21945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כותבים שורה, רואים, ומשפרים</a:t>
            </a:r>
          </a:p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"קצר יותר", "עכשיו כטבלה"</a:t>
            </a:r>
          </a:p>
          <a:p>
            <a:pPr rtl="1" algn="r" marL="285750" indent="-285750">
              <a:lnSpc>
                <a:spcPct val="108000"/>
              </a:lnSpc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מתאים ל: מייל, רעיון, תשובה מהירה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4983480" cy="342900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4526280" cy="411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2000" b="1" i="0" lang="he-IL">
                <a:solidFill>
                  <a:srgbClr val="F2F5FA"/>
                </a:solidFill>
                <a:latin typeface="Arial"/>
                <a:cs typeface="Arial"/>
              </a:rPr>
              <a:t>🧱  בניית משימה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6032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הנחיה אחת מלאה, מראש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17520"/>
            <a:ext cx="4526280" cy="21945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תפקיד, הקשר, משימה, פורמט, גבולות</a:t>
            </a:r>
          </a:p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מצרפים חומר ודוגמה</a:t>
            </a:r>
          </a:p>
          <a:p>
            <a:pPr rtl="1" algn="r" marL="285750" indent="-285750">
              <a:lnSpc>
                <a:spcPct val="108000"/>
              </a:lnSpc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מתאים ל: אפיון, הצעת מחיר, מסמך ארוך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🧭  הכלל: משימה של דקה? בלייב. משימה של שעה? בונים משימה. ומשימה שחוזרת? שומרים בבנק.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itle"/>
          <p:cNvSpPr txBox="1"/>
          <p:nvPr/>
        </p:nvSpPr>
        <p:spPr>
          <a:xfrm>
            <a:off x="5230368" y="502920"/>
            <a:ext cx="6300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📬 סקירת מיילים ומענה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1280160"/>
            <a:ext cx="6300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תיבה מלאה? מדביקים ומקבלים סדר ותשובות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30368" y="1874519"/>
            <a:ext cx="6300216" cy="224028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58968" y="2057400"/>
            <a:ext cx="58430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📋  ההנחיה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58968" y="2532887"/>
            <a:ext cx="5843016" cy="1417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5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"הנה 5 מיילים שקיבלתי: [מדביקים]. סדר בטבלה: שולח, נושא, דחוף / לענות / לארכיון. לשניים הדחופים, כתוב טיוטת תשובה קצרה בטון אדיב ועניני."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27664" y="4343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437083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מעתיקים מיילים (בלי פרטים רגישים)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476402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או מצלמים מסך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27664" y="5001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50292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מקבלים טבלה וטיוטות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5422392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ומשפרים בשיחה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5715000"/>
            <a:ext cx="6300216" cy="54864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58968" y="5715000"/>
            <a:ext cx="5843016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🏆  אתגר באפליקציה: "מענה למייל עצבני"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itle"/>
          <p:cNvSpPr txBox="1"/>
          <p:nvPr/>
        </p:nvSpPr>
        <p:spPr>
          <a:xfrm>
            <a:off x="5230368" y="502920"/>
            <a:ext cx="6300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🎙️ Wispr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1280160"/>
            <a:ext cx="6300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מדברים במקום להקליד: הנחיה ארוכה ב-20 שניות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368" y="203911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מתקינים ומחזיקים מקש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243230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מדברים, ומשחררים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27664" y="2926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95351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הוא מנקה ומסדר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334670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בלי "אממ", עם פיסוק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27664" y="3840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386791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עובד בכל מקום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426110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צ'אט ג'יפיטי, קלוד, וואטסאפ, מייל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4892040"/>
            <a:ext cx="6300216" cy="5486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58968" y="4892040"/>
            <a:ext cx="5843016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🇮🇱  בעברית: בהגדרות בוחרים עברית כשפה. גרסה חינמית.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0368" y="5577840"/>
            <a:ext cx="6300216" cy="54864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58968" y="5577840"/>
            <a:ext cx="5843016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💡  כשמדברים, כותבים הנחיות ארוכות ומפורטות יותר. וזה בדיוק מה שצריך.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🛠️ סדנה: אפיון העסק שלכם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ה-AI מראיין אתכם, ובונה אפיון שילווה אתכם עד סוף הקורס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5669280" cy="3520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20574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📋  ההנחיה (בצ'אט ובחוברת)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532887"/>
            <a:ext cx="5212080" cy="2697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5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"אתה יועץ עסקי. אני רוצה לבנות אפיון לעסק שלי: [משפט אחד]. ראיין אותי: שאל שאלה אחת בכל פעם על הלקוח, הבעיה, הפתרון, מה מייחד אותי, המחירים והטון. אחרי 8 שאלות, כתוב אפיון של עמוד אחד עם כותרות."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27664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4767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מדביקים בקלוד או בצ'אט ג'יפיטי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40864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ועונים בכנות, אפשר גם בקול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27664" y="2807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מקבלים אפיון של עמוד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27832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לקוח, בעיה, פתרון, ייחוד, טון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27664" y="3694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2160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משפרים פעם אחת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11480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"מה חסר? מה לא ברור ללקוח?"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27664" y="4581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60857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שומרים בבנק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001768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במפגש הבא הוא יקבל צבעים ועיצוב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🏆  אתגר באפליקציה: "אפיון העסק שלי במשפט אחד". הכי ברור וחד מנצח.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📌 תרגול בית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שלושה דברים, ומביאים למפגש הבא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27664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9476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מסיימים את האפיון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340864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עמוד אחד, ברור, שמור בבנק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27664" y="2807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5 הנחיות לבנק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22783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אחת מהן עם תפקיד: "אתה..."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27664" y="3694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721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עונים על 3 מיילים אמיתיים עם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ומתקנים לפני ששולחים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920240"/>
            <a:ext cx="5120640" cy="338328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21031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00" b="1" i="0" lang="he-IL">
                <a:solidFill>
                  <a:srgbClr val="F2F5FA"/>
                </a:solidFill>
                <a:latin typeface="Arial"/>
                <a:cs typeface="Arial"/>
              </a:rPr>
              <a:t>🔮  רמז למפגש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651760"/>
            <a:ext cx="4663440" cy="2560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5000"/>
              </a:lnSpc>
              <a:buNone/>
            </a:pPr>
            <a:r>
              <a:rPr sz="1600" b="0" i="0" lang="he-IL">
                <a:solidFill>
                  <a:srgbClr val="EBEDF0"/>
                </a:solidFill>
                <a:latin typeface="Arial"/>
                <a:cs typeface="Arial"/>
              </a:rPr>
              <a:t>האפיון שכתבתם הופך למותג, לאפליקציה, למצגת, לתמונת פרופיל ואפילו לסרטון שבו אתם מדברים. תביאו סלפי טוב.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📤  את האפיון מדביקים גם באפליקציית הקורס. הוא ישמש אותנו בשני המפגשים הבאים.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🧰 ארגז הכלים של היום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הקישורים להעתקה. חלקם נותנים לכם קרדיטים או ניסיון חינם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08776" y="1874519"/>
            <a:ext cx="5321808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10344" y="1874519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18504" y="1874519"/>
            <a:ext cx="3264408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chatgpt.com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2569463"/>
            <a:ext cx="5321808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10344" y="2569463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569463"/>
            <a:ext cx="3264408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claude.ai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264408"/>
            <a:ext cx="5321808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10344" y="326440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3264408"/>
            <a:ext cx="3264408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gemini.google.com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874519"/>
            <a:ext cx="5321808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059936" y="1874519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Perplexity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1874519"/>
            <a:ext cx="3264408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perplexity.ai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569463"/>
            <a:ext cx="5321808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059936" y="2569463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NotebookLM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569463"/>
            <a:ext cx="3264408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notebooklm.google.com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64408"/>
            <a:ext cx="5321808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059936" y="326440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Wispr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264408"/>
            <a:ext cx="3264408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wisprflow.ai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📋  כל הקישורים נמצאים גם בארגז הכלים באפליקציית הקורס ובחוברת.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2026-09-29T21:49:57Z</dcterms:created>
  <dcterms:modified xsi:type="dcterms:W3CDTF">2026-09-29T21:49:57Z</dcterms:modified>
</cp:coreProperties>
</file>