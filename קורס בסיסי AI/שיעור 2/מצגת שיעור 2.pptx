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3.svg" ContentType="image/svg+xml"/>
  <Override PartName="/ppt/media/image-10-6.svg" ContentType="image/svg+xml"/>
  <Override PartName="/ppt/media/image-10-8.svg" ContentType="image/svg+xml"/>
  <Override PartName="/ppt/media/image-11-3.svg" ContentType="image/svg+xml"/>
  <Override PartName="/ppt/media/image-11-5.svg" ContentType="image/svg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image-6-4.svg" ContentType="image/svg+xml"/>
  <Override PartName="/ppt/media/image-7-10.svg" ContentType="image/svg+xml"/>
  <Override PartName="/ppt/media/image-7-2.svg" ContentType="image/svg+xml"/>
  <Override PartName="/ppt/media/image-7-4.svg" ContentType="image/svg+xml"/>
  <Override PartName="/ppt/media/image-7-6.svg" ContentType="image/svg+xml"/>
  <Override PartName="/ppt/media/image-7-8.svg" ContentType="image/svg+xml"/>
  <Override PartName="/ppt/media/image-9-3.svg" ContentType="image/svg+xml"/>
  <Override PartName="/ppt/media/image-9-5.svg" ContentType="image/svg+xml"/>
  <Override PartName="/ppt/media/s3-image-2-3.svg" ContentType="image/svg+xml"/>
  <Override PartName="/ppt/media/s3-image-2-7.svg" ContentType="image/svg+xml"/>
  <Override PartName="/ppt/media/s3-image-6-2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83" r:id="rId36"/>
    <p:sldId id="284" r:id="rId37"/>
    <p:sldId id="257" r:id="rId3"/>
    <p:sldId id="259" r:id="rId5"/>
    <p:sldId id="260" r:id="rId6"/>
    <p:sldId id="261" r:id="rId7"/>
    <p:sldId id="262" r:id="rId8"/>
    <p:sldId id="285" r:id="rId38"/>
    <p:sldId id="264" r:id="rId10"/>
    <p:sldId id="265" r:id="rId11"/>
    <p:sldId id="266" r:id="rId12"/>
    <p:sldId id="286" r:id="rId39"/>
    <p:sldId id="267" r:id="rId13"/>
    <p:sldId id="290" r:id="rId43"/>
    <p:sldId id="271" r:id="rIdS32"/>
    <p:sldId id="272" r:id="rIdS33"/>
    <p:sldId id="273" r:id="rIdS34"/>
    <p:sldId id="274" r:id="rIdS35"/>
    <p:sldId id="275" r:id="rIdS36"/>
    <p:sldId id="278" r:id="rIdS39"/>
    <p:sldId id="279" r:id="rIdS310"/>
    <p:sldId id="280" r:id="rIdS311"/>
    <p:sldId id="281" r:id="rIdS312"/>
    <p:sldId id="293" r:id="rId46"/>
    <p:sldId id="294" r:id="rId47"/>
    <p:sldId id="282" r:id="rIdS313"/>
    <p:sldId id="295" r:id="rId48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10" Type="http://schemas.openxmlformats.org/officeDocument/2006/relationships/slide" Target="slides/slide24.xml"/><Relationship Id="rIdS311" Type="http://schemas.openxmlformats.org/officeDocument/2006/relationships/slide" Target="slides/slide25.xml"/><Relationship Id="rIdS312" Type="http://schemas.openxmlformats.org/officeDocument/2006/relationships/slide" Target="slides/slide26.xml"/><Relationship Id="rIdS313" Type="http://schemas.openxmlformats.org/officeDocument/2006/relationships/slide" Target="slides/slide27.xml"/><Relationship Id="rIdS32" Type="http://schemas.openxmlformats.org/officeDocument/2006/relationships/slide" Target="slides/slide16.xml"/><Relationship Id="rIdS33" Type="http://schemas.openxmlformats.org/officeDocument/2006/relationships/slide" Target="slides/slide17.xml"/><Relationship Id="rIdS34" Type="http://schemas.openxmlformats.org/officeDocument/2006/relationships/slide" Target="slides/slide18.xml"/><Relationship Id="rIdS35" Type="http://schemas.openxmlformats.org/officeDocument/2006/relationships/slide" Target="slides/slide19.xml"/><Relationship Id="rIdS36" Type="http://schemas.openxmlformats.org/officeDocument/2006/relationships/slide" Target="slides/slide20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S3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לחבר את המפגש לחוויה של המשתתפים מהשבוע, ולהציג את ההבטחה: היום מתקנים את האכזבות.</a:t>
            </a:r>
          </a:p>
          <a:p/>
          <a:p>
            <a:r>
              <a:t>🧰 הכנה מראש: פותחים מראש: המשחק Prompt Lab במסך המרצה, צ'אט ג'יפיטי בלשונית נפרדת, וקובץ ההדבקות לצ'אט.</a:t>
            </a:r>
          </a:p>
          <a:p/>
          <a:p>
            <a:r>
              <a:t>🗣 מה לומר:</a:t>
            </a:r>
          </a:p>
          <a:p>
            <a:r>
              <a:t>ערב טוב לכולם, איזה כיף לראות אתכם שוב.</a:t>
            </a:r>
          </a:p>
          <a:p>
            <a:r>
              <a:t>בשבוע שעבר קיבלתם משימה: להשתמש בכלי AI פעם ביום. אז לפני הכול, אני רוצה לשמוע מכם.</a:t>
            </a:r>
          </a:p>
          <a:p>
            <a:r>
              <a:t>כתבו בצ'אט במשפט אחד: מה עבד לכם השבוע? ומה אכזב?</a:t>
            </a:r>
          </a:p>
          <a:p>
            <a:r>
              <a:t>(מחכים לצ'אט ומקריאים 3 עד 4 תשובות. מבקשים ממשתתף אחד לפתוח מיקרופון ולספר)</a:t>
            </a:r>
          </a:p>
          <a:p>
            <a:r>
              <a:t>שמעתם? רוב האכזבות נשמעות אותו דבר: "הוא נתן לי משהו כללי", "זה לא מה שרציתי", "יצא ארוך מדי".</a:t>
            </a:r>
          </a:p>
          <a:p>
            <a:r>
              <a:t>והנה הסוד, וזה כתוב כאן על המסך: רוב האכזבות הן לא בעיה של הכלי. הן בעיה של ההנחיה.</a:t>
            </a:r>
          </a:p>
          <a:p>
            <a:r>
              <a:t>והחדשות הטובות? את זה מתקנים. היום. לתמיד.</a:t>
            </a:r>
          </a:p>
          <a:p/>
          <a:p>
            <a:r>
              <a:t>🖐 פעולה: רושמים לעצמכם 2 אכזבות שעלו בצ'אט. נחזור אליהן בתרגיל המהיר.</a:t>
            </a:r>
          </a:p>
          <a:p/>
          <a:p>
            <a:r>
              <a:t>➡️ מעבר: אז הנה מה שמחכה לנו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להמחיש בפועל את הפער בין הנחיה כללית להנחיה ממוקדת.</a:t>
            </a:r>
          </a:p>
          <a:p/>
          <a:p>
            <a:r>
              <a:t>🧰 הכנה מראש: צ'אט ג'יפיטי פתוח, עם שתי ההנחיות מוכנות להדבקה.</a:t>
            </a:r>
          </a:p>
          <a:p/>
          <a:p>
            <a:r>
              <a:t>🗣 מה לומר:</a:t>
            </a:r>
          </a:p>
          <a:p>
            <a:r>
              <a:t>שתי הנחיות על אותו נושא.</a:t>
            </a:r>
          </a:p>
          <a:p>
            <a:r>
              <a:t>הנחיה א': "כתוב לי מייל ללקוח".</a:t>
            </a:r>
          </a:p>
          <a:p>
            <a:r>
              <a:t>הנחיה ב': "כתוב מייל ללקוח שמאחר בתשלום 30 יום, טון אדיב אך תקיף, עד 5 שורות, סיום עם הצעת פריסה".</a:t>
            </a:r>
          </a:p>
          <a:p>
            <a:r>
              <a:t>לפני שאני מריצה, כתבו בצ'אט: מה יצא מכל אחת?</a:t>
            </a:r>
          </a:p>
          <a:p>
            <a:r>
              <a:t>(משתפים מסך ומריצים את שתיהן, אחת אחרי השנייה)</a:t>
            </a:r>
          </a:p>
          <a:p>
            <a:r>
              <a:t>תראו את ההבדל. הראשונה כללית, יכולה להתאים לכל לקוח בעולם. השנייה כמעט מוכנה לשליחה.</a:t>
            </a:r>
          </a:p>
          <a:p>
            <a:r>
              <a:t>אותו כלי, אותו נושא. ההבדל היחיד: מה כתבנו.</a:t>
            </a:r>
          </a:p>
          <a:p/>
          <a:p>
            <a:r>
              <a:t>➡️ מעבר: והנה מה שיצא, שחור על גבי לבן.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 דקות  |  🎯 לסגור את הניסוי עם מסקנה אחת ברורה.</a:t>
            </a:r>
          </a:p>
          <a:p/>
          <a:p>
            <a:r>
              <a:t>🗣 מה לומר:</a:t>
            </a:r>
          </a:p>
          <a:p>
            <a:r>
              <a:t>מימין, מה שיצא מהנחיה א': "שלום, אנא שלם את חשבונך. תודה." מייל גנרי, חסר ערך.</a:t>
            </a:r>
          </a:p>
          <a:p>
            <a:r>
              <a:t>משמאל, מהנחיה ב': מייל עם מספר חשבון, תאריך, הצעת פריסה. מוכן לשליחה.</a:t>
            </a:r>
          </a:p>
          <a:p>
            <a:r>
              <a:t>אותו כלי. כמעט אותו מאמץ. פער עצום.</a:t>
            </a:r>
          </a:p>
          <a:p>
            <a:r>
              <a:t>והמסקנה הכי חשובה של הערב: ההנחיה היא 80% מהתוצאה.</a:t>
            </a:r>
          </a:p>
          <a:p/>
          <a:p>
            <a:r>
              <a:t>➡️ מעבר: אז איך כותבים הנחיה טובה? יש נוסחה.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את נוסחת מי, מה, איך כבסיס לכל הנחיה.</a:t>
            </a:r>
          </a:p>
          <a:p/>
          <a:p>
            <a:r>
              <a:t>🗣 מה לומר:</a:t>
            </a:r>
          </a:p>
          <a:p>
            <a:r>
              <a:t>שלושה מרכיבים לכל הנחיה טובה.</a:t>
            </a:r>
          </a:p>
          <a:p>
            <a:r>
              <a:t>מי אני ומה ההקשר: תנו לכלי את הרקע שהוא צריך. הוא לא מכיר אתכם.</a:t>
            </a:r>
          </a:p>
          <a:p>
            <a:r>
              <a:t>מה בדיוק אני צריך: היו ספציפיים. נושא, מטרה, קהל.</a:t>
            </a:r>
          </a:p>
          <a:p>
            <a:r>
              <a:t>ובאיזה פורמט וסגנון: טבלה? מייל? שלושה משפטים? איזה טון?</a:t>
            </a:r>
          </a:p>
          <a:p>
            <a:r>
              <a:t>מעכשיו, לפני כל הנחיה ששולחים, בודקים: עניתי על שלוש השאלות?</a:t>
            </a:r>
          </a:p>
          <a:p>
            <a:r>
              <a:t>בואו ננסה ביחד. "כתוב פוסט". כתבו בצ'אט: מה חסר? מי? מה? איך?</a:t>
            </a:r>
          </a:p>
          <a:p>
            <a:r>
              <a:t>(אוספים תשובות מהצ'אט ומחברים כל אחת לאחד המרכיבים)</a:t>
            </a:r>
          </a:p>
          <a:p/>
          <a:p>
            <a:r>
              <a:t>➡️ מעבר: ועכשיו לכללים, אחד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להעמיק בשני הכללים הראשונים: ספציפיות, והקשר עם תפקיד.</a:t>
            </a:r>
          </a:p>
          <a:p/>
          <a:p>
            <a:r>
              <a:t>🗣 מה לומר:</a:t>
            </a:r>
          </a:p>
          <a:p>
            <a:r>
              <a:t>כלל 1: תהיו ספציפיים.</a:t>
            </a:r>
          </a:p>
          <a:p>
            <a:r>
              <a:t>במקום "תן דוגמאות", כתבו "תן 3 דוגמאות מתחום הקמעונאות".</a:t>
            </a:r>
          </a:p>
          <a:p>
            <a:r>
              <a:t>במקום "שפר את הטקסט", כתבו "קצר את הטקסט לחצי בלי לאבד את המסר המרכזי".</a:t>
            </a:r>
          </a:p>
          <a:p>
            <a:r>
              <a:t>כלל 2: תנו הקשר ותפקיד.</a:t>
            </a:r>
          </a:p>
          <a:p>
            <a:r>
              <a:t>משפט אחד כמו "אני מנהלת כספים בחברת בנייה בינונית" משנה את כל התשובה. הכלי יודע עם מי הוא מדבר.</a:t>
            </a:r>
          </a:p>
          <a:p>
            <a:r>
              <a:t>ואפשר גם לתת לכלי תפקיד: "אתה יועץ מס ותיק. הסבר לי...". פתאום התשובה נשמעת כמו של מומחה.</a:t>
            </a:r>
          </a:p>
          <a:p>
            <a:r>
              <a:t>שאלה לצ'אט: איזה תפקיד הייתם נותנים לכלי בעבודה שלכם?</a:t>
            </a:r>
          </a:p>
          <a:p/>
          <a:p>
            <a:r>
              <a:t>➡️ מעבר: והכלל השלישי הוא זה שהכי הרבה אנשים שוכחים.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להראות שפורמט מוגדר חוסך את רוב התיקונים.</a:t>
            </a:r>
          </a:p>
          <a:p/>
          <a:p>
            <a:r>
              <a:t>🗣 מה לומר:</a:t>
            </a:r>
          </a:p>
          <a:p>
            <a:r>
              <a:t>כלל 3: הגדירו פורמט.</a:t>
            </a:r>
          </a:p>
          <a:p>
            <a:r>
              <a:t>טבלה. רשימה ממוספרת. שלושה משפטים. מייל. נקודות לדיבור.</a:t>
            </a:r>
          </a:p>
          <a:p>
            <a:r>
              <a:t>ותסתכלו על המשבצת הצהובה: מה שלא תגדירו, הכלי יחליט בשבילכם. ובדרך כלל הוא יחליט ארוך מדי.</a:t>
            </a:r>
          </a:p>
          <a:p>
            <a:r>
              <a:t>דוגמה שכדאי לזכור בעל פה: "ענה ב-3 נקודות בלבד, ללא הקדמה, ללא סיכום".</a:t>
            </a:r>
          </a:p>
          <a:p/>
          <a:p>
            <a:r>
              <a:t>➡️ מעבר: מספיק הקשבה. עכשיו אתם כותבים.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איסורים ודוגמה לסגנון.</a:t>
            </a:r>
          </a:p>
          <a:p/>
          <a:p>
            <a:r>
              <a:t>🗣 מה לומר:</a:t>
            </a:r>
          </a:p>
          <a:p>
            <a:r>
              <a:t>הכלי הראשון: מה לא לעשות.</a:t>
            </a:r>
          </a:p>
          <a:p>
            <a:r>
              <a:t>ה-AI מנסה לרצות. אם לא תגבילו אותו, הוא יוסיף הקדמות, סימני קריאה, "בוודאי! אשמח לעזור" וסיכום שלא ביקשתם.</a:t>
            </a:r>
          </a:p>
          <a:p>
            <a:r>
              <a:t>אז כותבים לו במפורש: בלי הקדמה, בלי סימני קריאה, בלי סיכום בסוף.</a:t>
            </a:r>
          </a:p>
          <a:p>
            <a:r>
              <a:t>הכלי השני: דוגמה לסגנון. במקצוע זה נקרא Few-Shot.</a:t>
            </a:r>
          </a:p>
          <a:p>
            <a:r>
              <a:t>הדרך הכי מהירה ללמד את הכלי את הסגנון שלכם: "הנה מייל שכתבתי בעבר: [מדביקים]. כתוב מייל דומה ל...".</a:t>
            </a:r>
          </a:p>
          <a:p>
            <a:r>
              <a:t>הוא ילמד את הטון, האורך והמבנה, בלי שתצטרכו להסביר במילים.</a:t>
            </a:r>
          </a:p>
          <a:p/>
          <a:p>
            <a:r>
              <a:t>➡️ מעבר: ומה עושים כשהתשובה הראשונה לא מושלמת?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להפוך את התשובה הראשונה לנקודת פתיחה ולא לסוף.</a:t>
            </a:r>
          </a:p>
          <a:p/>
          <a:p>
            <a:r>
              <a:t>🗣 מה לומר:</a:t>
            </a:r>
          </a:p>
          <a:p>
            <a:r>
              <a:t>כלל 4: שיחה, לא מברק.</a:t>
            </a:r>
          </a:p>
          <a:p>
            <a:r>
              <a:t>לא חייבים לקלוע בפעם הראשונה. הכלי זוכר את כל השיחה.</a:t>
            </a:r>
          </a:p>
          <a:p>
            <a:r>
              <a:t>אז ממשיכים: "קצר יותר". "פחות רשמי". "תן גרסה נוספת". "עכשיו כטבלה".</a:t>
            </a:r>
          </a:p>
          <a:p>
            <a:r>
              <a:t>(לוקחים את המייל מהניסוי ומבקשים בשידור חי: "פחות רשמי", ואז "עכשיו בשלוש שורות")</a:t>
            </a:r>
          </a:p>
          <a:p>
            <a:r>
              <a:t>ראיתם? שתי מילים, ותוצאה אחרת לגמרי.</a:t>
            </a:r>
          </a:p>
          <a:p/>
          <a:p>
            <a:r>
              <a:t>➡️ מעבר: והכלל החמישי הופך את ה-AI מכותב לעורך.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ללמד להשתמש בכלי כעורך ומבקר.</a:t>
            </a:r>
          </a:p>
          <a:p/>
          <a:p>
            <a:r>
              <a:t>🗣 מה לומר:</a:t>
            </a:r>
          </a:p>
          <a:p>
            <a:r>
              <a:t>כלל 5: בקשו ביקורת.</a:t>
            </a:r>
          </a:p>
          <a:p>
            <a:r>
              <a:t>הכלי הוא לא רק כותב. הוא עורך מצוין.</a:t>
            </a:r>
          </a:p>
          <a:p>
            <a:r>
              <a:t>שלוש שאלות שכדאי לשמור:</a:t>
            </a:r>
          </a:p>
          <a:p>
            <a:r>
              <a:t>"מה חסר בטקסט הזה?"</a:t>
            </a:r>
          </a:p>
          <a:p>
            <a:r>
              <a:t>"אילו שאלות ישאל אותי הלקוח אחרי שיקרא?"</a:t>
            </a:r>
          </a:p>
          <a:p>
            <a:r>
              <a:t>"מצא 3 חולשות בטיעון שלי."</a:t>
            </a:r>
          </a:p>
          <a:p>
            <a:r>
              <a:t>והטיפ: אל תבקשו ממנו "תגיד מה דעתך". הוא נוטה להחמיא. בקשו ממנו לחפש חולשות. זוכרים חנפנות מהמפגש הקודם?</a:t>
            </a:r>
          </a:p>
          <a:p/>
          <a:p>
            <a:r>
              <a:t>➡️ מעבר: ועכשיו, טכניקה שאני הכי אוהבת. בשביל הימים שבהם לא יודעים מה לכתוב.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 דקות  |  🎯 לתרגל זיהוי ותיקון של הנחיות חלשות, בצורת משחק.</a:t>
            </a:r>
          </a:p>
          <a:p/>
          <a:p>
            <a:r>
              <a:t>🧪 משחק: סבב "תקנו את ההנחיה": כל הנחיה חלשה מוצגת, והמשתתפים כותבים תיקון.</a:t>
            </a:r>
          </a:p>
          <a:p/>
          <a:p>
            <a:r>
              <a:t>🗣 מה לומר:</a:t>
            </a:r>
          </a:p>
          <a:p>
            <a:r>
              <a:t>ארבע הנחיות חלשות. כל אחת עם בעיה אחרת. אתם המאבחנים.</a:t>
            </a:r>
          </a:p>
          <a:p>
            <a:r>
              <a:t>(לפני שחושפים את הפתרון, מציגים כל הנחיה ושואלים: מה הבעיה? כתבו בצ'אט או במשחק)</a:t>
            </a:r>
          </a:p>
          <a:p>
            <a:r>
              <a:t>אחת: "כתוב פוסט". מה חסר? הכול. נושא, קהל, אורך, פלטפורמה.</a:t>
            </a:r>
          </a:p>
          <a:p>
            <a:r>
              <a:t>שתיים: "תסביר לי על מס". כללית מדי. איזה מס? למי? לאיזה צורך?</a:t>
            </a:r>
          </a:p>
          <a:p>
            <a:r>
              <a:t>שלוש: "כתוב מייל קצר ומפורט עם כל הפרטים". בקשות סותרות. קצר ומפורט לא הולכים יחד.</a:t>
            </a:r>
          </a:p>
          <a:p>
            <a:r>
              <a:t>ארבע: "סכם את המסמך", בלי לצרף מסמך. חסר ההקשר עצמו.</a:t>
            </a:r>
          </a:p>
          <a:p>
            <a:r>
              <a:t>ולכל אחת, תראו את ה"אחרי" בכתום. כל אחת נוסחה מחדש לפי מי, מה, איך.</a:t>
            </a:r>
          </a:p>
          <a:p/>
          <a:p>
            <a:r>
              <a:t>➡️ מעבר: ואם יש לנו זמן, קרב הנחיות. אם לא, מדלגים ישר לעבודה האמיתית.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לתת מפת דרך, ולהדגיש שהמפגש מעשי ונגמר בתוצר אמיתי.</a:t>
            </a:r>
          </a:p>
          <a:p/>
          <a:p>
            <a:r>
              <a:t>🗣 מה לומר:</a:t>
            </a:r>
          </a:p>
          <a:p>
            <a:r>
              <a:t>ההבדל הגדול בין המפגש הקודם להיום: בפעם שעברה הכרנו את הכלים. היום אתם עובדים.</a:t>
            </a:r>
          </a:p>
          <a:p>
            <a:r>
              <a:t>המפגש בנוי משני חלקים.</a:t>
            </a:r>
          </a:p>
          <a:p>
            <a:r>
              <a:t>בחלק הראשון לומדים לכתוב: נוסחת הזהב, חמישה כללים, תרגיל מהיר ומשחק.</a:t>
            </a:r>
          </a:p>
          <a:p>
            <a:r>
              <a:t>בחלק השני מדביקים את זה על העבודה האמיתית שלכם: ממפים את השבוע, עוברים שלוש תחנות עבודה, מכירים שלושה כלי עזר חדשים, ויוצאים לסדנה.</a:t>
            </a:r>
          </a:p>
          <a:p>
            <a:r>
              <a:t>והמטרה: שכל אחד ייצא מכאן עם תוצר אמיתי אחד ביד, ועם הנחיות שמורות בבנק.</a:t>
            </a:r>
          </a:p>
          <a:p/>
          <a:p>
            <a:r>
              <a:t>➡️ מעבר: ובשביל להתחיל באנרגיה, נכנסים למעבדה.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שכל המשתתפים יתחברו למשחק ויעשו סבב חימום ראשון.</a:t>
            </a:r>
          </a:p>
          <a:p/>
          <a:p>
            <a:r>
              <a:t>🧰 הכנה מראש: מסך המרצה של המשחק פתוח ומאופס. הקישור מוכן להדבקה בצ'אט.</a:t>
            </a:r>
          </a:p>
          <a:p/>
          <a:p>
            <a:r>
              <a:t>🧪 משחק: פותחים את המשחק ומפעילים את סבב החימום הראשון.</a:t>
            </a:r>
          </a:p>
          <a:p/>
          <a:p>
            <a:r>
              <a:t>🗣 מה לומר:</a:t>
            </a:r>
          </a:p>
          <a:p>
            <a:r>
              <a:t>עכשיו משהו שילווה אותנו כל הערב. אני מדביקה לכם בצ'אט קישור.</a:t>
            </a:r>
          </a:p>
          <a:p>
            <a:r>
              <a:t>(מדביקים בצ'אט: https://prompt-lab-live.talwa3.chatgpt.site)</a:t>
            </a:r>
          </a:p>
          <a:p>
            <a:r>
              <a:t>פתחו אותו בלשונית חדשה, ליד הזום, והצטרפו עם כינוי.</a:t>
            </a:r>
          </a:p>
          <a:p>
            <a:r>
              <a:t>(משתפים את מסך המשחק ומחכים שרוב המשתתפים יופיעו)</a:t>
            </a:r>
          </a:p>
          <a:p>
            <a:r>
              <a:t>יופי, אני רואה אתכם מתחברים. בואו נעשה סבב ראשון.</a:t>
            </a:r>
          </a:p>
          <a:p>
            <a:r>
              <a:t>(מפעילים את סבב החימום ומשתפים את התוצאות)</a:t>
            </a:r>
          </a:p>
          <a:p>
            <a:r>
              <a:t>תשאירו את המשחק פתוח. נחזור אליו כמה פעמים היום, ומי שיצבור הכי הרבה, ננצח ביחד בסוף.</a:t>
            </a:r>
          </a:p>
          <a:p/>
          <a:p>
            <a:r>
              <a:t>➡️ מעבר: ועכשיו, ניסוי.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תרגול ראשון של הנוסחה על משימה אמיתית.</a:t>
            </a:r>
          </a:p>
          <a:p/>
          <a:p>
            <a:r>
              <a:t>🗣 מה לומר:</a:t>
            </a:r>
          </a:p>
          <a:p>
            <a:r>
              <a:t>יש לכם חמש דקות.</a:t>
            </a:r>
          </a:p>
          <a:p>
            <a:r>
              <a:t>קחו את ההנחיה החלשה, "כתוב לי מייל ללקוח", והפכו אותה למנצחת.</a:t>
            </a:r>
          </a:p>
          <a:p>
            <a:r>
              <a:t>אחת: בחרו לקוח ומצב אמיתי מהעבודה שלכם. תשלום שמתעכב, הצעת מחיר, תודה, התנצלות.</a:t>
            </a:r>
          </a:p>
          <a:p>
            <a:r>
              <a:t>שתיים: כתבו לפי מי, מה, איך. שתיים או שלוש שורות מספיקות.</a:t>
            </a:r>
          </a:p>
          <a:p>
            <a:r>
              <a:t>שלוש: הריצו בכלי שלכם.</a:t>
            </a:r>
          </a:p>
          <a:p>
            <a:r>
              <a:t>ארבע: הדביקו בצ'אט את ההנחיה שכתבתם.</a:t>
            </a:r>
          </a:p>
          <a:p>
            <a:r>
              <a:t>(מפעילים טיימר של 5 דקות. אחרי 4 דקות מזכירים להדביק בצ'אט)</a:t>
            </a:r>
          </a:p>
          <a:p>
            <a:r>
              <a:t>(בוחרים 3 הנחיות מהצ'אט, מריצים אותן בשידור חי, ומראים מה כל אחת עשתה טוב)</a:t>
            </a:r>
          </a:p>
          <a:p>
            <a:r>
              <a:t>לא צריך מושלם. צריך יותר טוב מ"כתוב לי מייל ללקוח". ותראו כמה יותר טוב יצא.</a:t>
            </a:r>
          </a:p>
          <a:p/>
          <a:p>
            <a:r>
              <a:t>➡️ מעבר: ועכשיו, שני כלים שמשדרגים כל הנחיה.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ללמד את טכניקת הראיון, שפותרת את בעיית הדף הלבן.</a:t>
            </a:r>
          </a:p>
          <a:p/>
          <a:p>
            <a:r>
              <a:t>🗣 מה לומר:</a:t>
            </a:r>
          </a:p>
          <a:p>
            <a:r>
              <a:t>מכירים את זה שיודעים מה רוצים, אבל לא יודעים איך להסביר?</a:t>
            </a:r>
          </a:p>
          <a:p>
            <a:r>
              <a:t>אז הופכים את התפקידים. ה-AI שואל, ואתם עונים.</a:t>
            </a:r>
          </a:p>
          <a:p>
            <a:r>
              <a:t>ההנחיה פשוטה, והיא כבר בצ'אט: "אני רוצה לכתוב [מה]. לפני שאתה כותב, שאל אותי 5 שאלות שיעזרו לך לדייק. שאל שאלה אחת בכל פעם, וחכה לתשובה שלי."</a:t>
            </a:r>
          </a:p>
          <a:p>
            <a:r>
              <a:t>(מדביקים את ההנחיה בצ'אט)</a:t>
            </a:r>
          </a:p>
          <a:p>
            <a:r>
              <a:t>למה זה עובד? כי ה-AI יודע אילו פרטים חסרים לו. הוא ישאל על הקהל, המטרה, הטון, האורך. דברים שלא חשבתם לכתוב.</a:t>
            </a:r>
          </a:p>
          <a:p>
            <a:r>
              <a:t>בואו ננסה עכשיו, דקה וחצי: "אני רוצה לכתוב ברכה ליום הולדת 50 של חבר. לפני שאתה כותב, שאל אותי 5 שאלות."</a:t>
            </a:r>
          </a:p>
          <a:p>
            <a:r>
              <a:t>(נותנים דקה וחצי, ושואלים: מה הייתה השאלה הכי מפתיעה שה-AI שאל אתכם?)</a:t>
            </a:r>
          </a:p>
          <a:p/>
          <a:p>
            <a:r>
              <a:t>➡️ מעבר: ועכשיו משחק. בואו נראה אם אתם מזהים הנחיות חלשות.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 דקות  |  🎯 תחרות חיה שממחישה מה עושה הנחיה למנצחת.</a:t>
            </a:r>
          </a:p>
          <a:p/>
          <a:p>
            <a:r>
              <a:t>🧰 הכנה מראש: מבקשים מראש שני מתנדבים, או בוחרים מהצ'אט. מכינים שתי לשוניות של אותו כלי.</a:t>
            </a:r>
          </a:p>
          <a:p/>
          <a:p>
            <a:r>
              <a:t>🧪 משחק: הצבעה: איזו תוצאה ניצחה, 1 או 2.</a:t>
            </a:r>
          </a:p>
          <a:p/>
          <a:p>
            <a:r>
              <a:t>🗣 מה לומר:</a:t>
            </a:r>
          </a:p>
          <a:p>
            <a:r>
              <a:t>(שקופית אופציונלית. אם עברתם את הדקה ה-60, מדלגים לשקופית הבאה)</a:t>
            </a:r>
          </a:p>
          <a:p>
            <a:r>
              <a:t>אני צריכה שני מתנדבים אמיצים. הרימו יד בזום.</a:t>
            </a:r>
          </a:p>
          <a:p>
            <a:r>
              <a:t>(בוחרים שניים)</a:t>
            </a:r>
          </a:p>
          <a:p>
            <a:r>
              <a:t>המשימה: הזמנה לאירוע צוות של סוף שנה. עד 100 מילה, כולל תאריך, שעה ומקום. טון כיפי, אבל לא ילדותי.</a:t>
            </a:r>
          </a:p>
          <a:p>
            <a:r>
              <a:t>יש לכם שלוש דקות לכתוב הנחיה, ולשלוח לי אותה בצ'אט הפרטי.</a:t>
            </a:r>
          </a:p>
          <a:p>
            <a:r>
              <a:t>(בזמן שהם כותבים, שואלים את הקהל: מה הייתם מכניסים להנחיה?)</a:t>
            </a:r>
          </a:p>
          <a:p>
            <a:r>
              <a:t>(מריצים את שתי ההנחיות באותו כלי, ומציגים זו לצד זו)</a:t>
            </a:r>
          </a:p>
          <a:p>
            <a:r>
              <a:t>עכשיו אתם השופטים. הקריטריון: איזו תוצאה הייתם שולחים לצוות בלי לשנות אף מילה? הצביעו.</a:t>
            </a:r>
          </a:p>
          <a:p>
            <a:r>
              <a:t>(מכריזים על המנצח, ושואלים את המנצח: מה הכנסת להנחיה שעשה את ההבדל?)</a:t>
            </a:r>
          </a:p>
          <a:p/>
          <a:p>
            <a:r>
              <a:t>➡️ מעבר: עד עכשיו תרגלנו על דוגמאות. מכאן והלאה, הכול על העבודה האמיתית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לגרום לכל משתתף לזהות משימות אמיתיות שלו שמתאימות ל-AI.</a:t>
            </a:r>
          </a:p>
          <a:p/>
          <a:p>
            <a:r>
              <a:t>🗣 מה לומר:</a:t>
            </a:r>
          </a:p>
          <a:p>
            <a:r>
              <a:t>עד עכשיו כתבנו על מיילים לדוגמה. עכשיו, העבודה שלכם.</a:t>
            </a:r>
          </a:p>
          <a:p>
            <a:r>
              <a:t>קחו דף או פתק במחשב. יש לכם שתי דקות.</a:t>
            </a:r>
          </a:p>
          <a:p>
            <a:r>
              <a:t>אחת: רשמו 10 משימות שעשיתם בשבוע שעבר. הכול נחשב: הודעות, שיחות, קבצים, מצגות, שיעורים.</a:t>
            </a:r>
          </a:p>
          <a:p>
            <a:r>
              <a:t>(מפעילים טיימר של שתי דקות)</a:t>
            </a:r>
          </a:p>
          <a:p>
            <a:r>
              <a:t>שתיים: סמנו כל משימה שיש בה אחד מאלה: ניסוח, סיכום, חיפוש, הכנה לפגישה, הסבר למישהו, תמלול, או מסמך ארוך.</a:t>
            </a:r>
          </a:p>
          <a:p>
            <a:r>
              <a:t>כתבו בצ'אט: כמה סימנתם מתוך העשר?</a:t>
            </a:r>
          </a:p>
          <a:p>
            <a:r>
              <a:t>(מקריאים כמה מספרים מהצ'אט)</a:t>
            </a:r>
          </a:p>
          <a:p>
            <a:r>
              <a:t>אצל רוב האנשים יוצא שש עד שמונה מתוך עשר. אלה המועמדות שלכם. לא "משימות משרד" כלליות, משימות שלכם.</a:t>
            </a:r>
          </a:p>
          <a:p>
            <a:r>
              <a:t>שמרו את הדף. בסדנה בסוף תבחרו ממנו משימה אחת.</a:t>
            </a:r>
          </a:p>
          <a:p/>
          <a:p>
            <a:r>
              <a:t>➡️ מעבר: אז יש לכם רשימה. איך יודעים איזה כלי לפתוח לכל משימה?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לתת עץ החלטה פשוט לבחירת כלי לפי המשימה.</a:t>
            </a:r>
          </a:p>
          <a:p/>
          <a:p>
            <a:r>
              <a:t>🗣 מה לומר:</a:t>
            </a:r>
          </a:p>
          <a:p>
            <a:r>
              <a:t>הטעות הכי נפוצה: פותחים כלי ואז מחפשים מה לעשות איתו. אנחנו עושים הפוך. קודם משימה, אחר כך כלי.</a:t>
            </a:r>
          </a:p>
          <a:p>
            <a:r>
              <a:t>ארבע שאלות, לפי הסדר.</a:t>
            </a:r>
          </a:p>
          <a:p>
            <a:r>
              <a:t>יש לכם קובץ ארוך, או כמה קבצים? קלוד, או נוטבוק אל אם, שנכיר עוד מעט.</a:t>
            </a:r>
          </a:p>
          <a:p>
            <a:r>
              <a:t>צריכים עובדה עם מקור? פרפלקסיטי. ואחר כך חוזרים לכתוב בכלי הרגיל.</a:t>
            </a:r>
          </a:p>
          <a:p>
            <a:r>
              <a:t>המשימה כבר פתוחה בגוגל או באופיס? ג'מיני או קופיילוט, בתוך המקום. לא מעתיקים החוצה.</a:t>
            </a:r>
          </a:p>
          <a:p>
            <a:r>
              <a:t>וכל השאר? צ'אט ג'יפיטי או קלוד. בוחרים אחד, ונשארים איתו שבועיים.</a:t>
            </a:r>
          </a:p>
          <a:p>
            <a:r>
              <a:t>והשורה החשובה ביותר: הנחיה חלשה נכשלת בכל הכלים. קודם מי, מה, איך.</a:t>
            </a:r>
          </a:p>
          <a:p>
            <a:r>
              <a:t>שאלה לצ'אט: קחו משימה אחת מהרשימה שלכם. לאיזה ענף בעץ היא שייכת?</a:t>
            </a:r>
          </a:p>
          <a:p/>
          <a:p>
            <a:r>
              <a:t>➡️ מעבר: ועכשיו, שלוש תחנות. כל אחת היא סוג משימה שחוזר אצל כמעט כולם.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להדגים הנחיה מלאה למייל רגיש, ולתת שלושה שלדים לשימוש חוזר.</a:t>
            </a:r>
          </a:p>
          <a:p/>
          <a:p>
            <a:r>
              <a:t>🧰 הכנה מראש: צ'אט ג'יפיטי או קלוד פתוח. ההנחיה של מייל הדחייה מוכנה בקובץ ההדבקות.</a:t>
            </a:r>
          </a:p>
          <a:p/>
          <a:p>
            <a:r>
              <a:t>🗣 מה לומר:</a:t>
            </a:r>
          </a:p>
          <a:p>
            <a:r>
              <a:t>תחנה ראשונה: כתיבה לאדם אמיתי. המיילים שהכי קשה לנסח.</a:t>
            </a:r>
          </a:p>
          <a:p>
            <a:r>
              <a:t>שלושה שלדים: דחייה בנימוס, בקשה ברורה עם תאריך יעד אחד, ותזכורת בלי מלחמה.</a:t>
            </a:r>
          </a:p>
          <a:p>
            <a:r>
              <a:t>אני מדגימה את הדחייה. תסתכלו איך ההנחיה בנויה לפי מי, מה, איך.</a:t>
            </a:r>
          </a:p>
          <a:p>
            <a:r>
              <a:t>מי: "אתה עוזר שלי. אני [תפקיד] ב[מקום]".</a:t>
            </a:r>
          </a:p>
          <a:p>
            <a:r>
              <a:t>מה: "מייל דחייה. בחרנו באפשרות אחרת. דלת פתוחה לעתיד. המטרה: לסגור בלי לפתוח משא ומתן".</a:t>
            </a:r>
          </a:p>
          <a:p>
            <a:r>
              <a:t>איך: "טון חם ומקצועי, עד 6 שורות, בלי התנצלות, בלי 'אשמח לעזור', בלי סימני קריאה".</a:t>
            </a:r>
          </a:p>
          <a:p>
            <a:r>
              <a:t>(מריצים בשידור חי)</a:t>
            </a:r>
          </a:p>
          <a:p>
            <a:r>
              <a:t>ועכשיו שני סבבים, כמו שלמדנו: "קצר לשלוש שורות". ואז: "מה ישאלו אחרי שיקראו?"</a:t>
            </a:r>
          </a:p>
          <a:p>
            <a:r>
              <a:t>(מריצים את שניהם)</a:t>
            </a:r>
          </a:p>
          <a:p>
            <a:r>
              <a:t>שימו לב: לא החלפתי כלי באמצע. נשארים באותו צ'אט עד שהמשימה נגמרת.</a:t>
            </a:r>
          </a:p>
          <a:p>
            <a:r>
              <a:t>(מדביקים את שלושת השלדים בצ'אט)</a:t>
            </a:r>
          </a:p>
          <a:p/>
          <a:p>
            <a:r>
              <a:t>➡️ מעבר: תחנה שנייה: ההנחיה שהכי הרבה אנשים אומרים לי שחסכה להם זמן.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ללמד להפוך נקודות גולמיות מפגישה למסמך עבודה.</a:t>
            </a:r>
          </a:p>
          <a:p/>
          <a:p>
            <a:r>
              <a:t>🧰 הכנה מראש: נקודות גולמיות של פגישה (בקובץ ההדבקות) מוכנות להדבקה.</a:t>
            </a:r>
          </a:p>
          <a:p/>
          <a:p>
            <a:r>
              <a:t>🗣 מה לומר:</a:t>
            </a:r>
          </a:p>
          <a:p>
            <a:r>
              <a:t>תחנה שנייה: סיכום. מתאים לישיבת צוות, פגישת לקוח, שיעור, שיחה עם ספק, ראיון.</a:t>
            </a:r>
          </a:p>
          <a:p>
            <a:r>
              <a:t>זו ההנחיה הכי טובה שתכניסו לבנק היום. היא כבר בצ'אט.</a:t>
            </a:r>
          </a:p>
          <a:p>
            <a:r>
              <a:t>(מדביקים את ההנחיה בצ'אט)</a:t>
            </a:r>
          </a:p>
          <a:p>
            <a:r>
              <a:t>מי: הסיכום הולך למי שלא היה בחדר.</a:t>
            </a:r>
          </a:p>
          <a:p>
            <a:r>
              <a:t>מה: הנה הנקודות הגולמיות, הפוך אותן למסמך שאפשר לעבוד ממנו מחר בבוקר.</a:t>
            </a:r>
          </a:p>
          <a:p>
            <a:r>
              <a:t>איך: שלושה חלקים. החלטות. משימות, עם אחראי ותאריך. ומה נשאר פתוח. בלי הקדמה ובלי סיכום בסוף.</a:t>
            </a:r>
          </a:p>
          <a:p>
            <a:r>
              <a:t>(מדביקים את הנקודות הגולמיות ומריצים בשידור חי)</a:t>
            </a:r>
          </a:p>
          <a:p>
            <a:r>
              <a:t>וזוכרים את כלל 4? שיחה, לא מברק: "עכשיו רק את טבלת המשימות, כהודעת וואטסאפ".</a:t>
            </a:r>
          </a:p>
          <a:p>
            <a:r>
              <a:t>(מריצים)</a:t>
            </a:r>
          </a:p>
          <a:p>
            <a:r>
              <a:t>ויש גשר: ברגע שיש סיכום, אפשר להדביק אותו בגאמה ולקבל שש שקופיות. נראה את זה עוד מעט. לא מתחילים עיצוב לפני שיש תוכן.</a:t>
            </a:r>
          </a:p>
          <a:p/>
          <a:p>
            <a:r>
              <a:t>➡️ מעבר: תחנה שלישית: הרגע שבו יש לכם מסמך ארוך ושעה לפגישה.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ללמד עבודה בשכבות על מסמך ארוך, באותה שיחה.</a:t>
            </a:r>
          </a:p>
          <a:p/>
          <a:p>
            <a:r>
              <a:t>🧰 הכנה מראש: מסמך PDF לא סודי של 10 עד 40 עמודים (הצעה, נוהל או דוח) מוכן להעלאה לקלוד.</a:t>
            </a:r>
          </a:p>
          <a:p/>
          <a:p>
            <a:r>
              <a:t>🗣 מה לומר:</a:t>
            </a:r>
          </a:p>
          <a:p>
            <a:r>
              <a:t>תחנה שלישית. יש לכם מסמך ארוך: הצעה, נוהל, הסכם, דוח. והפגישה בעוד שעה.</a:t>
            </a:r>
          </a:p>
          <a:p>
            <a:r>
              <a:t>הטעות: "סכם ב-5 נקודות", ונגמר. הדרך הנכונה: ארבע שכבות, באותו צ'אט.</a:t>
            </a:r>
          </a:p>
          <a:p>
            <a:r>
              <a:t>(מעלים את המסמך לקלוד)</a:t>
            </a:r>
          </a:p>
          <a:p>
            <a:r>
              <a:t>שכבה 1, בסיס: "סכם את המסמך".</a:t>
            </a:r>
          </a:p>
          <a:p>
            <a:r>
              <a:t>שכבה 2, הקשר: "אני [תפקיד], לקראת [פגישה או החלטה]. מה חשוב לי לדעת לפני שאני מגיבה?"</a:t>
            </a:r>
          </a:p>
          <a:p>
            <a:r>
              <a:t>שכבה 3, פורמט: "טבלה: נושא, מה כתוב, למה זה חשוב, ואיפה הזהירות. עד 8 שורות".</a:t>
            </a:r>
          </a:p>
          <a:p>
            <a:r>
              <a:t>שכבה 4, ביקורת: "3 שאלות לשאול בחדר, ו-3 נקודות שעלולות לעבוד לרעתי".</a:t>
            </a:r>
          </a:p>
          <a:p>
            <a:r>
              <a:t>(מריצים שכבה אחרי שכבה)</a:t>
            </a:r>
          </a:p>
          <a:p>
            <a:r>
              <a:t>ככה מגיעים מ-40 עמודים למוכנות של פגישה, בעשר דקות.</a:t>
            </a:r>
          </a:p>
          <a:p>
            <a:r>
              <a:t>ואיזה כלי? קובץ אחד: קלוד. תיק של כמה קבצים: נוטבוק אל אם.</a:t>
            </a:r>
          </a:p>
          <a:p/>
          <a:p>
            <a:r>
              <a:t>➡️ מעבר: ומה עושים כשצריך עובדה עדכנית, עם מקור?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מתי פרפלקסיטי במקום, ואיך משרשרים אותו לכלי הכתיבה.</a:t>
            </a:r>
          </a:p>
          <a:p/>
          <a:p>
            <a:r>
              <a:t>🗣 מה לומר:</a:t>
            </a:r>
          </a:p>
          <a:p>
            <a:r>
              <a:t>פרפלקסיטי. זה לא עוד צ'אט, וזה גם לא גוגל. זה מנוע תשובות עם מקורות, בזמן אמת.</a:t>
            </a:r>
          </a:p>
          <a:p>
            <a:r>
              <a:t>מתי כן? כשצריך לדעת מה השתנה עכשיו: תקנה, מחיר, כלי, מתחרה. כשצריך מאמר עם תאריך.</a:t>
            </a:r>
          </a:p>
          <a:p>
            <a:r>
              <a:t>מתי לא? לנסח מייל, לסכם ישיבה, לשכתב טון. לזה יש את הכלים שכבר הכרנו.</a:t>
            </a:r>
          </a:p>
          <a:p>
            <a:r>
              <a:t>ההנחיה: "[שאלה אחת ספציפית]. תשובה קצרה, מקור ותאריך לכל נתון. אם יש מחלוקת, כתוב".</a:t>
            </a:r>
          </a:p>
          <a:p>
            <a:r>
              <a:t>והשרשרת: מצאתם עובדה? מעתיקים לצ'אט ג'יפיטי או לקלוד, וכותבים: "עדכן את הטיוטה לפי זה, בלי להוסיף עובדות חדשות".</a:t>
            </a:r>
          </a:p>
          <a:p>
            <a:r>
              <a:t>(אם יש זמן: מריצים שאלה אחת בשידור חי ומראים את המקורות)</a:t>
            </a:r>
          </a:p>
          <a:p/>
          <a:p>
            <a:r>
              <a:t>➡️ מעבר: ושני כלים שרוב האנשים מפספסים.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את נוטבוק אל אם ואת המעבר מתמלול לסיכום.</a:t>
            </a:r>
          </a:p>
          <a:p/>
          <a:p>
            <a:r>
              <a:t>🗣 מה לומר:</a:t>
            </a:r>
          </a:p>
          <a:p>
            <a:r>
              <a:t>נוטבוק אל אם של גוגל. מעלים תיק של 5 עד 15 קבצים, והוא עונה רק מתוך מה שהעליתם.</a:t>
            </a:r>
          </a:p>
          <a:p>
            <a:r>
              <a:t>זה היתרון הגדול: הוא לא ממציא. כל תשובה מגיעה עם הפניה למקום בקובץ.</a:t>
            </a:r>
          </a:p>
          <a:p>
            <a:r>
              <a:t>מושלם לדף הכנה לפגישה, או לשאלה על כמה מסמכים בבת אחת.</a:t>
            </a:r>
          </a:p>
          <a:p>
            <a:r>
              <a:t>והכלי השני הוא בעצם שרשרת: תמלול. הקלטה של זום, שיעור או שיחת לקוח, הופכת לטקסט גולמי. ואת הטקסט מכניסים להנחיה של תחנה 2.</a:t>
            </a:r>
          </a:p>
          <a:p>
            <a:r>
              <a:t>רק משפט אחד חשוב להוסיף: "אל תמציא החלטה שלא נאמרה".</a:t>
            </a:r>
          </a:p>
          <a:p>
            <a:r>
              <a:t>וזה לא רק למי שיושב במשרד: מורים, אנשי מכירות, עובדי שטח, מראיינים.</a:t>
            </a:r>
          </a:p>
          <a:p>
            <a:r>
              <a:t>שאלה לצ'אט: איזו הקלטה או איזה תיק מסמכים הייתם מכניסים לשם השבוע?</a:t>
            </a:r>
          </a:p>
          <a:p/>
          <a:p>
            <a:r>
              <a:t>➡️ מעבר: ועכשיו, איך הופכים את כל זה למצגת.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להראות שמצגת מתחילה מתוכן מוכן, ורק אז עיצוב.</a:t>
            </a:r>
          </a:p>
          <a:p/>
          <a:p>
            <a:r>
              <a:t>🧰 הכנה מראש: גאמה פתוח, והסיכום מתחנה 2 מוכן להדבקה.</a:t>
            </a:r>
          </a:p>
          <a:p/>
          <a:p>
            <a:r>
              <a:t>🗣 מה לומר:</a:t>
            </a:r>
          </a:p>
          <a:p>
            <a:r>
              <a:t>גאמה. מדביקים את הסיכום מתחנה 2, ומקבלים מצגת.</a:t>
            </a:r>
          </a:p>
          <a:p>
            <a:r>
              <a:t>ההנחיה כבר בצ'אט: "בנה מצגת מ-6 שקפים מהסיכום. קהל: מי שיושב מול המסך. שקף 1 מטרה, 2 עד 4 החלטות, משימות ומה פתוח, 5 הצעד הבא, 6 משפט סגירה. עברית, בלי קישוט".</a:t>
            </a:r>
          </a:p>
          <a:p>
            <a:r>
              <a:t>(מדביקים ומריצים בשידור חי, או מראים תוצאה מוכנה)</a:t>
            </a:r>
          </a:p>
          <a:p>
            <a:r>
              <a:t>וידוי קטן: חלק מהמצגות של הקורס הזה נבנו בדיוק ככה.</a:t>
            </a:r>
          </a:p>
          <a:p>
            <a:r>
              <a:t>ויש לכם מצגת ישנה שצריך לרענן? ביוטיפול AI או קנבה מעצבים מחדש. שם לא נוגעים בתוכן, רק בעיצוב.</a:t>
            </a:r>
          </a:p>
          <a:p/>
          <a:p>
            <a:r>
              <a:t>➡️ מעבר: מספיק הדגמות. עכשיו הסדנה.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שכל משתתף ייצר תוצר אמיתי אחד ממשימה מהשבוע שלו, וישמור את ההנחיה בבנק.</a:t>
            </a:r>
          </a:p>
          <a:p/>
          <a:p>
            <a:r>
              <a:t>🧰 הכנה מראש: חדרי עבודה בזוגות ל-15 דקות, עם סגירה אוטומטית והודעת דקה לסיום. שש השלבים מוכנים להדבקה בצ'אט.</a:t>
            </a:r>
          </a:p>
          <a:p/>
          <a:p>
            <a:r>
              <a:t>🧪 משחק: בסוף: כל זוג מדביק במשחק את ההנחיה הכי טובה שלו, לפני ואחרי.</a:t>
            </a:r>
          </a:p>
          <a:p/>
          <a:p>
            <a:r>
              <a:t>🗣 מה לומר:</a:t>
            </a:r>
          </a:p>
          <a:p>
            <a:r>
              <a:t>עכשיו אתם עובדים. עשרים דקות, ותוצר אמיתי ביד.</a:t>
            </a:r>
          </a:p>
          <a:p>
            <a:r>
              <a:t>שישה שלבים, והם כבר בצ'אט כי בחדר לא תראו את המצגת.</a:t>
            </a:r>
          </a:p>
          <a:p>
            <a:r>
              <a:t>(מדביקים את השלבים בצ'אט)</a:t>
            </a:r>
          </a:p>
          <a:p>
            <a:r>
              <a:t>אחת: בחרו משימה אחת מדף העשר שלכם.</a:t>
            </a:r>
          </a:p>
          <a:p>
            <a:r>
              <a:t>שתיים: כתבו הנחיה לפי מי, מה, איך.</a:t>
            </a:r>
          </a:p>
          <a:p>
            <a:r>
              <a:t>שלוש: בחרו כלי לפי עץ ההחלטה, ותגידו לשותף בקול למה דווקא הוא.</a:t>
            </a:r>
          </a:p>
          <a:p>
            <a:r>
              <a:t>ארבע: הריצו פעם אחת.</a:t>
            </a:r>
          </a:p>
          <a:p>
            <a:r>
              <a:t>חמש: שפרו פעם אחת. "קצר יותר", "פורמט אחר", או "מה חסר?".</a:t>
            </a:r>
          </a:p>
          <a:p>
            <a:r>
              <a:t>שש: ההנחיה שעבדה, ושם הכלי, נכנסים לבנק.</a:t>
            </a:r>
          </a:p>
          <a:p>
            <a:r>
              <a:t>כלל אחד: לא מחליפים כלי באמצע הסיבוב.</a:t>
            </a:r>
          </a:p>
          <a:p>
            <a:r>
              <a:t>ומשהו לקחת לחיים: כלל 5 הדקות. משימה שלוקחת יותר מחמש דקות ויש בה טקסט, הסבר או מסמך? קודם בודקים עם AI.</a:t>
            </a:r>
          </a:p>
          <a:p>
            <a:r>
              <a:t>(פותחים חדרי עבודה ל-15 דקות. נכנסים לשניים או שלושה חדרים ועוזרים)</a:t>
            </a:r>
          </a:p>
          <a:p>
            <a:r>
              <a:t>(בחזרה: מבקשים מכל זוג להדביק במשחק או בצ'אט את ההנחיה הכי טובה שלו)</a:t>
            </a:r>
          </a:p>
          <a:p/>
          <a:p>
            <a:r>
              <a:t>➡️ מעבר: וכשכולם חזרו, הגיע הזמן לגלריה.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ללמוד מההנחיות הטובות של המשתתפים עצמם.</a:t>
            </a:r>
          </a:p>
          <a:p/>
          <a:p>
            <a:r>
              <a:t>🧪 משחק: הצבעה: הנחיית הערב.</a:t>
            </a:r>
          </a:p>
          <a:p/>
          <a:p>
            <a:r>
              <a:t>🗣 מה לומר:</a:t>
            </a:r>
          </a:p>
          <a:p>
            <a:r>
              <a:t>בחרתי שלוש הנחיות מהסדנה. בואו נסתכל עליהן ביחד.</a:t>
            </a:r>
          </a:p>
          <a:p>
            <a:r>
              <a:t>(מציגים את הראשונה, לפני ואחרי)</a:t>
            </a:r>
          </a:p>
          <a:p>
            <a:r>
              <a:t>שאלה לצ'אט: איזה רכיב עשה פה את ההבדל? תפקיד? הקשר? פורמט? גבולות?</a:t>
            </a:r>
          </a:p>
          <a:p>
            <a:r>
              <a:t>(חוזרים על זה עם השתיים האחרות)</a:t>
            </a:r>
          </a:p>
          <a:p>
            <a:r>
              <a:t>ועכשיו הצבעה: מהי הנחיית הערב? המנצחת נכנסת לבנק של כולם, ואשלח אותה במייל.</a:t>
            </a:r>
          </a:p>
          <a:p>
            <a:r>
              <a:t>(מכריזים על המנצחת, ומבקשים מהכותב לספר במשפט איך הגיע אליה)</a:t>
            </a:r>
          </a:p>
          <a:p/>
          <a:p>
            <a:r>
              <a:t>➡️ מעבר: וכדי שתזכרו את כל הכלים, הנה כרטיס הכיס.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לסכם את כל הכלים בשקופית אחת לשמירה.</a:t>
            </a:r>
          </a:p>
          <a:p/>
          <a:p>
            <a:r>
              <a:t>🗣 מה לומר:</a:t>
            </a:r>
          </a:p>
          <a:p>
            <a:r>
              <a:t>כל מה שלמדנו היום, בשקופית אחת. צלמו מסך. הכרטיס יישלח גם במייל.</a:t>
            </a:r>
          </a:p>
          <a:p>
            <a:r>
              <a:t>מי, מה, איך. ספציפיות. תפקיד. פורמט. גבולות. דוגמה. שיחה. וביקורת וראיון.</a:t>
            </a:r>
          </a:p>
          <a:p>
            <a:r>
              <a:t>והמשפט למטה חשוב: לא צריך את כולם בכל הנחיה. שלושה כלים נכונים כבר משנים את התוצאה.</a:t>
            </a:r>
          </a:p>
          <a:p/>
          <a:p>
            <a:r>
              <a:t>➡️ מעבר: ועכשיו, איך הופכים את זה לשגרה.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להפוך את המפגש לשגרה: שלוש הנחיות שמורות שמשמשות כל שבוע.</a:t>
            </a:r>
          </a:p>
          <a:p/>
          <a:p>
            <a:r>
              <a:t>🗣 מה לומר:</a:t>
            </a:r>
          </a:p>
          <a:p>
            <a:r>
              <a:t>המשימה לשבוע הקרוב היא לוח שבועי אישי. שלוש הנחיות שמורות בבנק.</a:t>
            </a:r>
          </a:p>
          <a:p>
            <a:r>
              <a:t>אחת: משהו שחוזר כל שבוע. הנחיה קבועה, שמשתמשים בה שוב ושוב.</a:t>
            </a:r>
          </a:p>
          <a:p>
            <a:r>
              <a:t>שתיים: משהו שצריך לנסח לאדם אמיתי. עם "אתה...", כמו בתחנה 1.</a:t>
            </a:r>
          </a:p>
          <a:p>
            <a:r>
              <a:t>שלוש: משהו עם חומר גלם. מסמך, נקודות או תמלול. בקלוד או בנוטבוק אל אם, שלוש הודעות באותו צ'אט.</a:t>
            </a:r>
          </a:p>
          <a:p>
            <a:r>
              <a:t>ולמפגש הבא, תביאו שלושה דברים: את התוצר שאתם הכי גאים בו, את שלוש ההנחיות עצמן, וכישלון אחד שעדיין לא נסגר.</a:t>
            </a:r>
          </a:p>
          <a:p>
            <a:r>
              <a:t>ועוד דבר אחד: מסמך אחד לא סודי. נצטרך אותו.</a:t>
            </a:r>
          </a:p>
          <a:p>
            <a:r>
              <a:t>רמז למפגש הבא: מפסיקים לכתוב הנחיות מאפס. בונים לכם עוזר אישי.</a:t>
            </a:r>
          </a:p>
          <a:p>
            <a:r>
              <a:t>(מדביקים את משימת הבית בצ'אט, ושולחים גם במייל אחרי המפגש)</a:t>
            </a:r>
          </a:p>
          <a:p/>
          <a:p>
            <a:r>
              <a:t>➡️ מעבר: ולפני שנפרדים, שלושה דברים לקחת הביתה.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לסגור את המפגש עם שלושה מסרים ברורים וחגיגת מנצחים.</a:t>
            </a:r>
          </a:p>
          <a:p/>
          <a:p>
            <a:r>
              <a:t>🧪 משחק: מציגים את התוצאות הסופיות והמנצחים במשחק.</a:t>
            </a:r>
          </a:p>
          <a:p/>
          <a:p>
            <a:r>
              <a:t>🗣 מה לומר:</a:t>
            </a:r>
          </a:p>
          <a:p>
            <a:r>
              <a:t>אם תזכרו רק שלושה דברים מהערב:</a:t>
            </a:r>
          </a:p>
          <a:p>
            <a:r>
              <a:t>אחת: ההנחיה היא 80% מהתוצאה. 30 שניות של כתיבה חוסכות 30 דקות של תיקונים.</a:t>
            </a:r>
          </a:p>
          <a:p>
            <a:r>
              <a:t>שתיים: שיחה, לא מברק. הטיוטה הראשונה היא רק נקודת פתיחה.</a:t>
            </a:r>
          </a:p>
          <a:p>
            <a:r>
              <a:t>שלוש: בנק הנחיות הוא נכס. כל הנחיה שעבדה, נשמרת ומשמשת שוב.</a:t>
            </a:r>
          </a:p>
          <a:p>
            <a:r>
              <a:t>ועכשיו, הרגע שחיכינו לו: התוצאות הסופיות מהמשחק.</a:t>
            </a:r>
          </a:p>
          <a:p>
            <a:r>
              <a:t>(משתפים את לוח התוצאות ומכריזים על המנצחים)</a:t>
            </a:r>
          </a:p>
          <a:p>
            <a:r>
              <a:t>תודה רבה לכולם. הייתם מעולים. נתראה בשבוע הבא, עם הנחיות מנצחות, וגם עם כישלון אחד.</a:t>
            </a:r>
          </a:p>
          <a:p/>
          <a:p>
            <a:r>
              <a:t>➡️ מעבר: סוף המפגש. נשארים לשאלות אישיות.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3.png"/><Relationship Id="rId6" Type="http://schemas.openxmlformats.org/officeDocument/2006/relationships/image" Target="../media/image-6-4.sv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4.png"/><Relationship Id="rId7" Type="http://schemas.openxmlformats.org/officeDocument/2006/relationships/image" Target="../media/image-9-5.svg"/><Relationship Id="rId8" Type="http://schemas.openxmlformats.org/officeDocument/2006/relationships/image" Target="../media/image-9-4.png"/><Relationship Id="rId9" Type="http://schemas.openxmlformats.org/officeDocument/2006/relationships/image" Target="../media/image-9-5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image" Target="../media/image-11-4.png"/><Relationship Id="rId5" Type="http://schemas.openxmlformats.org/officeDocument/2006/relationships/image" Target="../media/image-11-5.svg"/><Relationship Id="rId6" Type="http://schemas.openxmlformats.org/officeDocument/2006/relationships/image" Target="../media/image-11-2.png"/><Relationship Id="rId7" Type="http://schemas.openxmlformats.org/officeDocument/2006/relationships/image" Target="../media/image-11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2-1.jpeg"/><Relationship Id="rId2" Type="http://schemas.openxmlformats.org/officeDocument/2006/relationships/image" Target="../media/s3-image-2-2.png"/><Relationship Id="rId3" Type="http://schemas.openxmlformats.org/officeDocument/2006/relationships/image" Target="../media/s3-image-2-3.svg"/><Relationship Id="rId4" Type="http://schemas.openxmlformats.org/officeDocument/2006/relationships/image" Target="../media/s3-image-2-2.png"/><Relationship Id="rId5" Type="http://schemas.openxmlformats.org/officeDocument/2006/relationships/image" Target="../media/s3-image-2-3.svg"/><Relationship Id="rId6" Type="http://schemas.openxmlformats.org/officeDocument/2006/relationships/image" Target="../media/s3-image-2-6.png"/><Relationship Id="rId7" Type="http://schemas.openxmlformats.org/officeDocument/2006/relationships/image" Target="../media/s3-image-2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5-1.jpeg"/><Relationship Id="rId2" Type="http://schemas.openxmlformats.org/officeDocument/2006/relationships/image" Target="../media/s3-image-5-2.png"/><Relationship Id="rId3" Type="http://schemas.openxmlformats.org/officeDocument/2006/relationships/image" Target="../media/s3-image-5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6-1.png"/><Relationship Id="rId2" Type="http://schemas.openxmlformats.org/officeDocument/2006/relationships/image" Target="../media/s3-image-6-2.svg"/><Relationship Id="rId3" Type="http://schemas.openxmlformats.org/officeDocument/2006/relationships/image" Target="../media/s3-image-6-1.png"/><Relationship Id="rId4" Type="http://schemas.openxmlformats.org/officeDocument/2006/relationships/image" Target="../media/s3-image-6-2.svg"/><Relationship Id="rId5" Type="http://schemas.openxmlformats.org/officeDocument/2006/relationships/image" Target="../media/s3-image-6-1.png"/><Relationship Id="rId6" Type="http://schemas.openxmlformats.org/officeDocument/2006/relationships/image" Target="../media/s3-image-6-2.svg"/><Relationship Id="rId7" Type="http://schemas.openxmlformats.org/officeDocument/2006/relationships/image" Target="../media/s3-image-6-1.png"/><Relationship Id="rId8" Type="http://schemas.openxmlformats.org/officeDocument/2006/relationships/image" Target="../media/s3-image-6-2.svg"/><Relationship Id="rId9" Type="http://schemas.openxmlformats.org/officeDocument/2006/relationships/image" Target="../media/s3-image-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9-1.jpeg"/><Relationship Id="rId2" Type="http://schemas.openxmlformats.org/officeDocument/2006/relationships/image" Target="../media/s3-image-8-10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2-1.jpeg"/><Relationship Id="rId2" Type="http://schemas.openxmlformats.org/officeDocument/2006/relationships/image" Target="../media/s3-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כתיבת הנחיות (פרומפטים)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פתיחה: סבב מתרגול הבית – מה עבד? מה אכזב?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רוב האכזבות = הנחיה חלשה. היום מתקנים את זה לתמיד.</a:t>
            </a:r>
            <a:endParaRPr lang="he-IL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42388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הניסוי: שתי הנחיות, אותו נושא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525350" y="2321620"/>
            <a:ext cx="3190101" cy="2654102"/>
          </a:xfrm>
          <a:prstGeom prst="roundRect">
            <a:avLst>
              <a:gd name="adj" fmla="val 5128"/>
            </a:avLst>
          </a:prstGeom>
          <a:solidFill>
            <a:srgbClr val="1F2A5D">
              <a:alpha val="9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2759403" y="2534245"/>
            <a:ext cx="767041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</p:sp>
      <p:sp>
        <p:nvSpPr>
          <p:cNvPr id="6" name="Text 3"/>
          <p:cNvSpPr/>
          <p:nvPr/>
        </p:nvSpPr>
        <p:spPr>
          <a:xfrm>
            <a:off x="2263222" y="2590899"/>
            <a:ext cx="114981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א׳</a:t>
            </a:r>
            <a:endParaRPr lang="he-IL" sz="1150" dirty="0"/>
          </a:p>
        </p:txBody>
      </p:sp>
      <p:sp>
        <p:nvSpPr>
          <p:cNvPr id="7" name="Text 4"/>
          <p:cNvSpPr/>
          <p:nvPr/>
        </p:nvSpPr>
        <p:spPr>
          <a:xfrm>
            <a:off x="714357" y="2896989"/>
            <a:ext cx="281208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לי מייל ללקוח"</a:t>
            </a:r>
            <a:endParaRPr lang="he-IL" sz="1850" dirty="0"/>
          </a:p>
        </p:txBody>
      </p:sp>
      <p:sp>
        <p:nvSpPr>
          <p:cNvPr id="8" name="Text 5"/>
          <p:cNvSpPr/>
          <p:nvPr/>
        </p:nvSpPr>
        <p:spPr>
          <a:xfrm>
            <a:off x="714357" y="3393083"/>
            <a:ext cx="281208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כללית, חסרת פרטים, תניב תוצאה גנרית.</a:t>
            </a:r>
            <a:endParaRPr lang="he-IL" sz="1450" dirty="0"/>
          </a:p>
        </p:txBody>
      </p:sp>
      <p:sp>
        <p:nvSpPr>
          <p:cNvPr id="9" name="Shape 6"/>
          <p:cNvSpPr/>
          <p:nvPr/>
        </p:nvSpPr>
        <p:spPr>
          <a:xfrm>
            <a:off x="6207466" y="2534245"/>
            <a:ext cx="757219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</p:sp>
      <p:sp>
        <p:nvSpPr>
          <p:cNvPr id="10" name="Text 7"/>
          <p:cNvSpPr/>
          <p:nvPr/>
        </p:nvSpPr>
        <p:spPr>
          <a:xfrm>
            <a:off x="5711285" y="2590899"/>
            <a:ext cx="113999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ב׳</a:t>
            </a:r>
            <a:endParaRPr lang="he-IL" sz="1150" dirty="0"/>
          </a:p>
        </p:txBody>
      </p:sp>
      <p:sp>
        <p:nvSpPr>
          <p:cNvPr id="11" name="Text 8"/>
          <p:cNvSpPr/>
          <p:nvPr/>
        </p:nvSpPr>
        <p:spPr>
          <a:xfrm>
            <a:off x="4046833" y="2896989"/>
            <a:ext cx="2917851" cy="122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ללקוח שמאחר בתשלום 30 יום, טון אדיב אך תקיף, עד 5 שורות, סיום עם הצעת פריסה"</a:t>
            </a:r>
            <a:endParaRPr lang="he-IL" sz="1850" dirty="0"/>
          </a:p>
        </p:txBody>
      </p:sp>
      <p:sp>
        <p:nvSpPr>
          <p:cNvPr id="12" name="Text 9"/>
          <p:cNvSpPr/>
          <p:nvPr/>
        </p:nvSpPr>
        <p:spPr>
          <a:xfrm>
            <a:off x="4046833" y="4314329"/>
            <a:ext cx="2917851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ממוקדת, עם הקשר, פורמט וסגנון ברורים.</a:t>
            </a:r>
            <a:endParaRPr lang="he-IL" sz="1450" dirty="0"/>
          </a:p>
        </p:txBody>
      </p:sp>
      <p:sp>
        <p:nvSpPr>
          <p:cNvPr id="13" name="Text 10"/>
          <p:cNvSpPr/>
          <p:nvPr/>
        </p:nvSpPr>
        <p:spPr>
          <a:xfrm>
            <a:off x="356682" y="5188347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יצא מכל אחת?</a:t>
            </a:r>
            <a:endParaRPr lang="he-IL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18431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על המסך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10718"/>
            <a:ext cx="10868745" cy="1687016"/>
          </a:xfrm>
          <a:prstGeom prst="roundRect">
            <a:avLst>
              <a:gd name="adj" fmla="val 4706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5848" y="2429768"/>
            <a:ext cx="5415323" cy="1648916"/>
          </a:xfrm>
          <a:custGeom>
            <a:avLst/>
            <a:gdLst/>
            <a:ahLst/>
            <a:cxnLst/>
            <a:rect l="l" t="t" r="r" b="b"/>
            <a:pathLst>
              <a:path w="5415323" h="1648916">
                <a:moveTo>
                  <a:pt x="66156" y="0"/>
                </a:moveTo>
                <a:lnTo>
                  <a:pt x="5415323" y="0"/>
                </a:lnTo>
                <a:lnTo>
                  <a:pt x="5415323" y="1648916"/>
                </a:lnTo>
                <a:lnTo>
                  <a:pt x="66156" y="1648916"/>
                </a:lnTo>
                <a:arcTo hR="66158" wR="66156" stAng="5400000" swAng="5400000"/>
                <a:lnTo>
                  <a:pt x="0" y="66158"/>
                </a:lnTo>
                <a:arcTo hR="66158" wR="66156" stAng="10800000" swAng="5400000"/>
                <a:close/>
              </a:path>
            </a:pathLst>
          </a:custGeom>
          <a:solidFill>
            <a:srgbClr val="101620"/>
          </a:solidFill>
          <a:ln/>
        </p:spPr>
      </p:sp>
      <p:sp>
        <p:nvSpPr>
          <p:cNvPr id="5" name="Text 3"/>
          <p:cNvSpPr/>
          <p:nvPr/>
        </p:nvSpPr>
        <p:spPr>
          <a:xfrm>
            <a:off x="6284854" y="2618780"/>
            <a:ext cx="50373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א׳</a:t>
            </a:r>
            <a:endParaRPr lang="he-IL" sz="1850" dirty="0"/>
          </a:p>
        </p:txBody>
      </p:sp>
      <p:sp>
        <p:nvSpPr>
          <p:cNvPr id="6" name="Text 4"/>
          <p:cNvSpPr/>
          <p:nvPr/>
        </p:nvSpPr>
        <p:spPr>
          <a:xfrm>
            <a:off x="6284854" y="3039269"/>
            <a:ext cx="5037309" cy="604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גנרי חסר ערך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"שלום, אנא שלם את חשבונך. תודה."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680524" y="2429768"/>
            <a:ext cx="5415323" cy="1648916"/>
          </a:xfrm>
          <a:custGeom>
            <a:avLst/>
            <a:gdLst/>
            <a:ahLst/>
            <a:cxnLst/>
            <a:rect l="l" t="t" r="r" b="b"/>
            <a:pathLst>
              <a:path w="5415323" h="1648916">
                <a:moveTo>
                  <a:pt x="0" y="0"/>
                </a:moveTo>
                <a:lnTo>
                  <a:pt x="5349167" y="0"/>
                </a:lnTo>
                <a:arcTo hR="66158" wR="66156" stAng="16200000" swAng="5400000"/>
                <a:lnTo>
                  <a:pt x="5415323" y="1582758"/>
                </a:lnTo>
                <a:arcTo hR="66158" wR="66156" stAng="0" swAng="5400000"/>
                <a:lnTo>
                  <a:pt x="0" y="1648916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</p:sp>
      <p:sp>
        <p:nvSpPr>
          <p:cNvPr id="8" name="Shape 6"/>
          <p:cNvSpPr/>
          <p:nvPr/>
        </p:nvSpPr>
        <p:spPr>
          <a:xfrm>
            <a:off x="680524" y="2429768"/>
            <a:ext cx="25399" cy="1648916"/>
          </a:xfrm>
          <a:prstGeom prst="roundRect">
            <a:avLst>
              <a:gd name="adj" fmla="val 50001"/>
            </a:avLst>
          </a:prstGeom>
          <a:solidFill>
            <a:srgbClr val="002A80"/>
          </a:solidFill>
          <a:ln/>
        </p:spPr>
      </p:sp>
      <p:sp>
        <p:nvSpPr>
          <p:cNvPr id="9" name="Text 7"/>
          <p:cNvSpPr/>
          <p:nvPr/>
        </p:nvSpPr>
        <p:spPr>
          <a:xfrm>
            <a:off x="869531" y="2618780"/>
            <a:ext cx="50373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ב׳</a:t>
            </a:r>
            <a:endParaRPr lang="he-IL" sz="1850" dirty="0"/>
          </a:p>
        </p:txBody>
      </p:sp>
      <p:sp>
        <p:nvSpPr>
          <p:cNvPr id="10" name="Text 8"/>
          <p:cNvSpPr/>
          <p:nvPr/>
        </p:nvSpPr>
        <p:spPr>
          <a:xfrm>
            <a:off x="869531" y="3039269"/>
            <a:ext cx="5037309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מוכן לשליחה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"שלום [שם], שמנו לב שחשבון מס׳ 1042 טרם שולם (30 יום). נשמח לסייע בפריסה נוחה — צרו קשר עד יום ה׳. בברכה, [שם]"</a:t>
            </a:r>
            <a:endParaRPr lang="he-IL" sz="1450" dirty="0"/>
          </a:p>
        </p:txBody>
      </p:sp>
      <p:sp>
        <p:nvSpPr>
          <p:cNvPr id="11" name="Text 9"/>
          <p:cNvSpPr/>
          <p:nvPr/>
        </p:nvSpPr>
        <p:spPr>
          <a:xfrm>
            <a:off x="51890" y="4310360"/>
            <a:ext cx="1147833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כלי, כמעט אותו מאמץ – פער עצום.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51890" y="4981277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המסקנה: ההנחיה היא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מהתוצאה.</a:t>
            </a:r>
            <a:endParaRPr lang="he-IL" sz="1450" dirty="0"/>
          </a:p>
        </p:txBody>
      </p:sp>
      <p:sp>
        <p:nvSpPr>
          <p:cNvPr id="13" name="Shape 11"/>
          <p:cNvSpPr/>
          <p:nvPr/>
        </p:nvSpPr>
        <p:spPr>
          <a:xfrm>
            <a:off x="11504821" y="4768652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690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נוסחת הזהב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36775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מרכיבים לכל הנחיה טובה</a:t>
            </a:r>
            <a:endParaRPr lang="he-IL" sz="1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7338" y="2727325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6345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ומה ההקשר</a:t>
            </a:r>
            <a:endParaRPr lang="he-IL" sz="1850" dirty="0"/>
          </a:p>
        </p:txBody>
      </p:sp>
      <p:sp>
        <p:nvSpPr>
          <p:cNvPr id="6" name="Text 3"/>
          <p:cNvSpPr/>
          <p:nvPr/>
        </p:nvSpPr>
        <p:spPr>
          <a:xfrm>
            <a:off x="8096345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לכלי את הרקע שהוא צריך</a:t>
            </a:r>
            <a:endParaRPr lang="he-IL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456" y="2727325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463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בדיוק אני צריך</a:t>
            </a:r>
            <a:endParaRPr lang="he-IL" sz="1850" dirty="0"/>
          </a:p>
        </p:txBody>
      </p:sp>
      <p:sp>
        <p:nvSpPr>
          <p:cNvPr id="9" name="Text 5"/>
          <p:cNvSpPr/>
          <p:nvPr/>
        </p:nvSpPr>
        <p:spPr>
          <a:xfrm>
            <a:off x="4473463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היה ספציפי: נושא, מטרה, קהל</a:t>
            </a:r>
            <a:endParaRPr lang="he-IL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2727325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50581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פורמט וסגנון</a:t>
            </a:r>
            <a:endParaRPr lang="he-IL" sz="1850" dirty="0"/>
          </a:p>
        </p:txBody>
      </p:sp>
      <p:sp>
        <p:nvSpPr>
          <p:cNvPr id="12" name="Text 7"/>
          <p:cNvSpPr/>
          <p:nvPr/>
        </p:nvSpPr>
        <p:spPr>
          <a:xfrm>
            <a:off x="850581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טבלה? מייל? 3 משפטים? טון?</a:t>
            </a:r>
            <a:endParaRPr lang="he-IL" sz="1450" dirty="0"/>
          </a:p>
        </p:txBody>
      </p:sp>
      <p:sp>
        <p:nvSpPr>
          <p:cNvPr id="13" name="Text 8"/>
          <p:cNvSpPr/>
          <p:nvPr/>
        </p:nvSpPr>
        <p:spPr>
          <a:xfrm>
            <a:off x="51890" y="4952802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הנחיה שתכתבו מהיום — בדקו: האם ענינו על שלושת השאלות?</a:t>
            </a:r>
            <a:endParaRPr lang="he-IL" sz="1450" dirty="0"/>
          </a:p>
        </p:txBody>
      </p:sp>
      <p:sp>
        <p:nvSpPr>
          <p:cNvPr id="14" name="Shape 9"/>
          <p:cNvSpPr/>
          <p:nvPr/>
        </p:nvSpPr>
        <p:spPr>
          <a:xfrm>
            <a:off x="11504821" y="4740176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1073051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כללים 1 ו-2: ספציפיות והקשר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6438838" y="2183408"/>
            <a:ext cx="1712374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602" y="2251373"/>
            <a:ext cx="151206" cy="1512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942658" y="2240062"/>
            <a:ext cx="186834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1: תהיו ספציפיים</a:t>
            </a:r>
            <a:endParaRPr lang="he-IL" sz="11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683173"/>
            <a:ext cx="2917851" cy="135007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47767" y="2897584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דוגמאות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3 דוגמאות מתחום הקמעונאות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222254"/>
            <a:ext cx="2917851" cy="135007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47767" y="4436666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שפר את הטקסט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את הטקסט לחצי בלי לאבד את המסר המרכזי</a:t>
            </a:r>
            <a:endParaRPr lang="he-IL" sz="1850" dirty="0"/>
          </a:p>
        </p:txBody>
      </p:sp>
      <p:sp>
        <p:nvSpPr>
          <p:cNvPr id="11" name="Shape 5"/>
          <p:cNvSpPr/>
          <p:nvPr/>
        </p:nvSpPr>
        <p:spPr>
          <a:xfrm>
            <a:off x="9580918" y="2183408"/>
            <a:ext cx="1955652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1960" y="2251373"/>
            <a:ext cx="151206" cy="151209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084738" y="2240062"/>
            <a:ext cx="2111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2: תנו הקשר ותפקיד</a:t>
            </a:r>
            <a:endParaRPr lang="he-IL" sz="1150" dirty="0"/>
          </a:p>
        </p:txBody>
      </p:sp>
      <p:sp>
        <p:nvSpPr>
          <p:cNvPr id="14" name="Text 7"/>
          <p:cNvSpPr/>
          <p:nvPr/>
        </p:nvSpPr>
        <p:spPr>
          <a:xfrm>
            <a:off x="8618719" y="2683173"/>
            <a:ext cx="2917851" cy="907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מנהלת כספים בחברת בנייה בינונית" משנה את כל התשובה.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ואפשר לתת תפקיד לכלי:</a:t>
            </a:r>
            <a:endParaRPr lang="he-IL" sz="1450" dirty="0"/>
          </a:p>
        </p:txBody>
      </p:sp>
      <p:sp>
        <p:nvSpPr>
          <p:cNvPr id="15" name="Text 8"/>
          <p:cNvSpPr/>
          <p:nvPr/>
        </p:nvSpPr>
        <p:spPr>
          <a:xfrm>
            <a:off x="8009134" y="3972917"/>
            <a:ext cx="32439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יועץ מס ותיק. הסבר לי..."</a:t>
            </a:r>
            <a:endParaRPr lang="he-IL" sz="1450" dirty="0"/>
          </a:p>
        </p:txBody>
      </p:sp>
      <p:sp>
        <p:nvSpPr>
          <p:cNvPr id="16" name="Shape 9"/>
          <p:cNvSpPr/>
          <p:nvPr/>
        </p:nvSpPr>
        <p:spPr>
          <a:xfrm>
            <a:off x="11511171" y="3802856"/>
            <a:ext cx="25399" cy="58578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5760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3: הגדירו פורמט</a:t>
            </a:r>
            <a:endParaRPr lang="he-IL" sz="3650" dirty="0"/>
          </a:p>
        </p:txBody>
      </p:sp>
      <p:sp>
        <p:nvSpPr>
          <p:cNvPr id="3" name="Shape 1"/>
          <p:cNvSpPr/>
          <p:nvPr/>
        </p:nvSpPr>
        <p:spPr>
          <a:xfrm>
            <a:off x="8029473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669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0536" y="1855291"/>
            <a:ext cx="251116" cy="2511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34553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בטבלה</a:t>
            </a:r>
            <a:endParaRPr lang="he-IL" sz="1800" dirty="0"/>
          </a:p>
        </p:txBody>
      </p:sp>
      <p:sp>
        <p:nvSpPr>
          <p:cNvPr id="7" name="Shape 4"/>
          <p:cNvSpPr/>
          <p:nvPr/>
        </p:nvSpPr>
        <p:spPr>
          <a:xfrm>
            <a:off x="4345474" y="1496715"/>
            <a:ext cx="350084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830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6636" y="1855291"/>
            <a:ext cx="251116" cy="2511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50554" y="2443163"/>
            <a:ext cx="309068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ברשימה ממוספרת</a:t>
            </a:r>
            <a:endParaRPr lang="he-IL" sz="1800" dirty="0"/>
          </a:p>
        </p:txBody>
      </p:sp>
      <p:sp>
        <p:nvSpPr>
          <p:cNvPr id="11" name="Shape 7"/>
          <p:cNvSpPr/>
          <p:nvPr/>
        </p:nvSpPr>
        <p:spPr>
          <a:xfrm>
            <a:off x="661574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399050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2637" y="1855291"/>
            <a:ext cx="251116" cy="25112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6654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ב-3 משפטים</a:t>
            </a:r>
            <a:endParaRPr lang="he-IL" sz="1800" dirty="0"/>
          </a:p>
        </p:txBody>
      </p:sp>
      <p:sp>
        <p:nvSpPr>
          <p:cNvPr id="15" name="Shape 10"/>
          <p:cNvSpPr/>
          <p:nvPr/>
        </p:nvSpPr>
        <p:spPr>
          <a:xfrm>
            <a:off x="6187523" y="3133725"/>
            <a:ext cx="534269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076694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20536" y="3492302"/>
            <a:ext cx="251116" cy="2511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92603" y="4080173"/>
            <a:ext cx="493253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כמייל</a:t>
            </a:r>
            <a:endParaRPr lang="he-IL" sz="1800" dirty="0"/>
          </a:p>
        </p:txBody>
      </p:sp>
      <p:sp>
        <p:nvSpPr>
          <p:cNvPr id="19" name="Shape 13"/>
          <p:cNvSpPr/>
          <p:nvPr/>
        </p:nvSpPr>
        <p:spPr>
          <a:xfrm>
            <a:off x="661574" y="3133725"/>
            <a:ext cx="534279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24109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94686" y="3492302"/>
            <a:ext cx="251116" cy="25112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66654" y="4080173"/>
            <a:ext cx="493263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כנקודות לדיבור</a:t>
            </a:r>
            <a:endParaRPr lang="he-IL" sz="1800" dirty="0"/>
          </a:p>
        </p:txBody>
      </p:sp>
      <p:sp>
        <p:nvSpPr>
          <p:cNvPr id="23" name="Shape 16"/>
          <p:cNvSpPr/>
          <p:nvPr/>
        </p:nvSpPr>
        <p:spPr>
          <a:xfrm>
            <a:off x="661475" y="4793555"/>
            <a:ext cx="10868745" cy="680740"/>
          </a:xfrm>
          <a:prstGeom prst="roundRect">
            <a:avLst>
              <a:gd name="adj" fmla="val 11480"/>
            </a:avLst>
          </a:prstGeom>
          <a:solidFill>
            <a:srgbClr val="4B3F02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505" y="5025430"/>
            <a:ext cx="232563" cy="18603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56514" y="5023148"/>
            <a:ext cx="1068767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תגדירו – הכלי יחליט בשבילכם.</a:t>
            </a:r>
            <a:endParaRPr lang="he-IL" sz="1450" dirty="0"/>
          </a:p>
        </p:txBody>
      </p:sp>
      <p:sp>
        <p:nvSpPr>
          <p:cNvPr id="26" name="Text 18"/>
          <p:cNvSpPr/>
          <p:nvPr/>
        </p:nvSpPr>
        <p:spPr>
          <a:xfrm>
            <a:off x="51890" y="5886252"/>
            <a:ext cx="1119923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 "ענה ב-3 נקודות בלבד, ללא הקדמה, ללא סיכום"</a:t>
            </a:r>
            <a:endParaRPr lang="he-IL" sz="1450" dirty="0"/>
          </a:p>
        </p:txBody>
      </p:sp>
      <p:sp>
        <p:nvSpPr>
          <p:cNvPr id="27" name="Shape 19"/>
          <p:cNvSpPr/>
          <p:nvPr/>
        </p:nvSpPr>
        <p:spPr>
          <a:xfrm>
            <a:off x="11504821" y="5680273"/>
            <a:ext cx="25399" cy="65186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46894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350" b="1" spc="-6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שמשדרגים כל הנחיה</a:t>
            </a:r>
            <a:endParaRPr lang="he-IL" sz="3350" dirty="0"/>
          </a:p>
        </p:txBody>
      </p:sp>
      <p:sp>
        <p:nvSpPr>
          <p:cNvPr id="4" name="Shape 1"/>
          <p:cNvSpPr/>
          <p:nvPr/>
        </p:nvSpPr>
        <p:spPr>
          <a:xfrm>
            <a:off x="2116878" y="1510903"/>
            <a:ext cx="1484077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</p:sp>
      <p:sp>
        <p:nvSpPr>
          <p:cNvPr id="5" name="Text 2"/>
          <p:cNvSpPr/>
          <p:nvPr/>
        </p:nvSpPr>
        <p:spPr>
          <a:xfrm>
            <a:off x="1609982" y="1562199"/>
            <a:ext cx="1888284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לעשות (איסורים)</a:t>
            </a:r>
            <a:endParaRPr lang="he-IL" sz="1050" dirty="0"/>
          </a:p>
        </p:txBody>
      </p:sp>
      <p:sp>
        <p:nvSpPr>
          <p:cNvPr id="6" name="Text 3"/>
          <p:cNvSpPr/>
          <p:nvPr/>
        </p:nvSpPr>
        <p:spPr>
          <a:xfrm>
            <a:off x="661475" y="1945680"/>
            <a:ext cx="2939480" cy="636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מנסה לרצות — אם לא תגבילו, הוא יוסיף הקדמות, בולטים, סימני קריאה וסיכומים שלא ביקשתם.</a:t>
            </a:r>
            <a:endParaRPr lang="he-IL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56991"/>
            <a:ext cx="2939480" cy="9372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1772" y="2947293"/>
            <a:ext cx="2482689" cy="5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הקדמה — קפוץ ישר לתוכן</a:t>
            </a:r>
            <a:endParaRPr lang="he-IL" sz="16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849390"/>
            <a:ext cx="2939480" cy="658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1772" y="403969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סימני קריאה</a:t>
            </a:r>
            <a:endParaRPr lang="he-IL" sz="16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663480"/>
            <a:ext cx="2939480" cy="65891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1772" y="485378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'בוודאי! אשמח לעזור'</a:t>
            </a:r>
            <a:endParaRPr lang="he-IL" sz="16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5477570"/>
            <a:ext cx="2939480" cy="6589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51772" y="566787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סיכום בסוף</a:t>
            </a:r>
            <a:endParaRPr lang="he-IL" sz="1650" dirty="0"/>
          </a:p>
        </p:txBody>
      </p:sp>
      <p:sp>
        <p:nvSpPr>
          <p:cNvPr id="15" name="Shape 8"/>
          <p:cNvSpPr/>
          <p:nvPr/>
        </p:nvSpPr>
        <p:spPr>
          <a:xfrm>
            <a:off x="5247152" y="1510903"/>
            <a:ext cx="1717533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</p:sp>
      <p:sp>
        <p:nvSpPr>
          <p:cNvPr id="16" name="Text 9"/>
          <p:cNvSpPr/>
          <p:nvPr/>
        </p:nvSpPr>
        <p:spPr>
          <a:xfrm>
            <a:off x="4740256" y="1562199"/>
            <a:ext cx="2121740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לסגנון (FEW-SHOT)</a:t>
            </a:r>
            <a:endParaRPr lang="he-IL" sz="1050" dirty="0"/>
          </a:p>
        </p:txBody>
      </p:sp>
      <p:sp>
        <p:nvSpPr>
          <p:cNvPr id="17" name="Text 10"/>
          <p:cNvSpPr/>
          <p:nvPr/>
        </p:nvSpPr>
        <p:spPr>
          <a:xfrm>
            <a:off x="4025204" y="1945680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הכי מהירה ללמד את הכלי את הסגנון שלכם — תנו לו דוגמה.</a:t>
            </a:r>
            <a:endParaRPr lang="he-IL" sz="1300" dirty="0"/>
          </a:p>
        </p:txBody>
      </p:sp>
      <p:sp>
        <p:nvSpPr>
          <p:cNvPr id="18" name="Text 11"/>
          <p:cNvSpPr/>
          <p:nvPr/>
        </p:nvSpPr>
        <p:spPr>
          <a:xfrm>
            <a:off x="4025204" y="2684463"/>
            <a:ext cx="2682609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מייל שכתבתי בעבר: [מדביקים דוגמה]. כתוב מייל דומה ל...</a:t>
            </a:r>
            <a:endParaRPr lang="he-IL" sz="1300" dirty="0"/>
          </a:p>
        </p:txBody>
      </p:sp>
      <p:sp>
        <p:nvSpPr>
          <p:cNvPr id="19" name="Shape 12"/>
          <p:cNvSpPr/>
          <p:nvPr/>
        </p:nvSpPr>
        <p:spPr>
          <a:xfrm>
            <a:off x="6945635" y="2544763"/>
            <a:ext cx="19050" cy="70385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20" name="Text 13"/>
          <p:cNvSpPr/>
          <p:nvPr/>
        </p:nvSpPr>
        <p:spPr>
          <a:xfrm>
            <a:off x="4025204" y="3423245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ילמד את הטון, האורך, והמבנה — בלי שתסבירו אותם במילים.</a:t>
            </a:r>
            <a:endParaRPr lang="he-IL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27149"/>
            <a:ext cx="6296860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050" b="1" spc="-6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שיחה, לא מברק</a:t>
            </a:r>
            <a:endParaRPr lang="he-IL" sz="3050" dirty="0"/>
          </a:p>
        </p:txBody>
      </p:sp>
      <p:sp>
        <p:nvSpPr>
          <p:cNvPr id="4" name="Text 1"/>
          <p:cNvSpPr/>
          <p:nvPr/>
        </p:nvSpPr>
        <p:spPr>
          <a:xfrm>
            <a:off x="51890" y="1230213"/>
            <a:ext cx="6906444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חייבים לקלוע בפעם הראשונה.</a:t>
            </a:r>
            <a:endParaRPr lang="he-IL" sz="1200" dirty="0"/>
          </a:p>
        </p:txBody>
      </p:sp>
      <p:sp>
        <p:nvSpPr>
          <p:cNvPr id="5" name="Shape 2"/>
          <p:cNvSpPr/>
          <p:nvPr/>
        </p:nvSpPr>
        <p:spPr>
          <a:xfrm>
            <a:off x="6332280" y="1562001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7934" y="1914227"/>
            <a:ext cx="234746" cy="2347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1475" y="1718469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"קצר יותר"</a:t>
            </a:r>
            <a:endParaRPr lang="he-IL" sz="1500" dirty="0"/>
          </a:p>
        </p:txBody>
      </p:sp>
      <p:sp>
        <p:nvSpPr>
          <p:cNvPr id="8" name="Shape 4"/>
          <p:cNvSpPr/>
          <p:nvPr/>
        </p:nvSpPr>
        <p:spPr>
          <a:xfrm>
            <a:off x="6332280" y="2630785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34" y="2983012"/>
            <a:ext cx="234746" cy="2347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2787253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"פחות רשמי"</a:t>
            </a:r>
            <a:endParaRPr lang="he-IL" sz="1500" dirty="0"/>
          </a:p>
        </p:txBody>
      </p:sp>
      <p:sp>
        <p:nvSpPr>
          <p:cNvPr id="11" name="Shape 6"/>
          <p:cNvSpPr/>
          <p:nvPr/>
        </p:nvSpPr>
        <p:spPr>
          <a:xfrm>
            <a:off x="6332280" y="3699570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27934" y="4051796"/>
            <a:ext cx="234746" cy="2347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61475" y="3856038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"תן גרסה נוספת"</a:t>
            </a:r>
            <a:endParaRPr lang="he-IL" sz="1500" dirty="0"/>
          </a:p>
        </p:txBody>
      </p:sp>
      <p:sp>
        <p:nvSpPr>
          <p:cNvPr id="14" name="Shape 8"/>
          <p:cNvSpPr/>
          <p:nvPr/>
        </p:nvSpPr>
        <p:spPr>
          <a:xfrm>
            <a:off x="6332280" y="4768354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7934" y="5120580"/>
            <a:ext cx="234746" cy="23475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1475" y="4924822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"עכשיו כטבלה"</a:t>
            </a:r>
            <a:endParaRPr lang="he-IL" sz="1500" dirty="0"/>
          </a:p>
        </p:txBody>
      </p:sp>
      <p:sp>
        <p:nvSpPr>
          <p:cNvPr id="17" name="Text 10"/>
          <p:cNvSpPr/>
          <p:nvPr/>
        </p:nvSpPr>
        <p:spPr>
          <a:xfrm>
            <a:off x="51890" y="5999063"/>
            <a:ext cx="667169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זוכר את כל השיחה – נצלו את זה.</a:t>
            </a:r>
            <a:endParaRPr lang="he-IL" sz="1200" dirty="0"/>
          </a:p>
        </p:txBody>
      </p:sp>
      <p:sp>
        <p:nvSpPr>
          <p:cNvPr id="18" name="Shape 11"/>
          <p:cNvSpPr/>
          <p:nvPr/>
        </p:nvSpPr>
        <p:spPr>
          <a:xfrm>
            <a:off x="6939285" y="5853311"/>
            <a:ext cx="19050" cy="477540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151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5: בקשו ביקורת</a:t>
            </a:r>
            <a:endParaRPr lang="he-IL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921867"/>
            <a:ext cx="6903269" cy="39118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22667" y="2180927"/>
            <a:ext cx="411380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הוא לא רק כותב – הוא עורך מצוין.</a:t>
            </a:r>
            <a:endParaRPr lang="he-IL" sz="14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2251" y="2639219"/>
            <a:ext cx="3504219" cy="7359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46658" y="2853630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"מה חסר בטקסט הזה?"</a:t>
            </a:r>
            <a:endParaRPr lang="he-IL" sz="18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2251" y="3564136"/>
            <a:ext cx="3504219" cy="104298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46658" y="3778548"/>
            <a:ext cx="297380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"אילו שאלות ישאל אותי הלקוח אחרי שיקרא?"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32251" y="4796135"/>
            <a:ext cx="3504219" cy="73590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246658" y="5010547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"מצא 3 חולשות בטיעון שלי"</a:t>
            </a:r>
            <a:endParaRPr lang="he-IL" sz="1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3512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תרגיל אבחון: 4 הנחיות חלשות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1110497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7586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4014" y="1886446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פוסט"</a:t>
            </a:r>
            <a:endParaRPr lang="he-IL" sz="1850" dirty="0"/>
          </a:p>
        </p:txBody>
      </p:sp>
      <p:sp>
        <p:nvSpPr>
          <p:cNvPr id="6" name="Text 4"/>
          <p:cNvSpPr/>
          <p:nvPr/>
        </p:nvSpPr>
        <p:spPr>
          <a:xfrm>
            <a:off x="6214014" y="2306935"/>
            <a:ext cx="4701958" cy="109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הבעיה? חסר הכל: נושא, קהל, אורך, פלטפורמה.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פוסט לינקדאין של 150 מילה לבעלי עסקים קטנים על טעות נפוצה בניהול תזרים מזומנים. טון מקצועי, סיום עם שאלה לקהל."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555253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2342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61475" y="1886446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"תסביר לי על מס"</a:t>
            </a:r>
            <a:endParaRPr lang="he-IL" sz="1850" dirty="0"/>
          </a:p>
        </p:txBody>
      </p:sp>
      <p:sp>
        <p:nvSpPr>
          <p:cNvPr id="10" name="Text 8"/>
          <p:cNvSpPr/>
          <p:nvPr/>
        </p:nvSpPr>
        <p:spPr>
          <a:xfrm>
            <a:off x="661475" y="2306935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כללית מדי – איזה מס, למי, לאיזה צורך?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"אני עצמאי בתחום הייעוץ. הסבר לי בשפה פשוטה מה זה מס ערך מוסף ומתי אני חייב להירשם — ב-5 נקודות."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1110497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7586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4014" y="3840063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קצר ומפורט עם כל הפרטים"</a:t>
            </a:r>
            <a:endParaRPr lang="he-IL" sz="1850" dirty="0"/>
          </a:p>
        </p:txBody>
      </p:sp>
      <p:sp>
        <p:nvSpPr>
          <p:cNvPr id="14" name="Text 12"/>
          <p:cNvSpPr/>
          <p:nvPr/>
        </p:nvSpPr>
        <p:spPr>
          <a:xfrm>
            <a:off x="6214014" y="4260552"/>
            <a:ext cx="4701958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סותרות – קצר ומפורט לא הולכים יחד.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מייל של עד 5 שורות ללקוח שמאחר בתשלום. כלול: סכום, תאריך פירעון, הצעת פריסה. טון אדיב."</a:t>
            </a:r>
            <a:endParaRPr lang="he-IL" sz="1450" dirty="0"/>
          </a:p>
        </p:txBody>
      </p:sp>
      <p:sp>
        <p:nvSpPr>
          <p:cNvPr id="15" name="Shape 13"/>
          <p:cNvSpPr/>
          <p:nvPr/>
        </p:nvSpPr>
        <p:spPr>
          <a:xfrm>
            <a:off x="555253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2342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1475" y="3840063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"סכם את המסמך" בלי לצרף מסמך</a:t>
            </a:r>
            <a:endParaRPr lang="he-IL" sz="1850" dirty="0"/>
          </a:p>
        </p:txBody>
      </p:sp>
      <p:sp>
        <p:nvSpPr>
          <p:cNvPr id="18" name="Text 16"/>
          <p:cNvSpPr/>
          <p:nvPr/>
        </p:nvSpPr>
        <p:spPr>
          <a:xfrm>
            <a:off x="661475" y="4260552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 ההקשר עצמו.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[מדביקים את המסמך] "סכם ב-3 נקודות: מה הבעיה, מה הפתרון המוצע, מה הצעד הבא."</a:t>
            </a:r>
            <a:endParaRPr lang="he-IL" sz="1450" dirty="0"/>
          </a:p>
        </p:txBody>
      </p:sp>
      <p:sp>
        <p:nvSpPr>
          <p:cNvPr id="19" name="Shape 17"/>
          <p:cNvSpPr/>
          <p:nvPr/>
        </p:nvSpPr>
        <p:spPr>
          <a:xfrm>
            <a:off x="661475" y="532358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565874"/>
            <a:ext cx="236234" cy="18901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66138" y="5559822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כל אחת מנוסחת מחדש לפי נוסחת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מי-מה-איך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757734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שבוע העבודה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04458" y="1655465"/>
            <a:ext cx="3053877" cy="237351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18042" y="1791593"/>
            <a:ext cx="226808" cy="2947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50" b="1" spc="-30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50" dirty="0"/>
          </a:p>
        </p:txBody>
      </p:sp>
      <p:sp>
        <p:nvSpPr>
          <p:cNvPr id="6" name="Text 2"/>
          <p:cNvSpPr/>
          <p:nvPr/>
        </p:nvSpPr>
        <p:spPr>
          <a:xfrm>
            <a:off x="4118864" y="2411413"/>
            <a:ext cx="26250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תרגיל פתיחה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4118864" y="2831902"/>
            <a:ext cx="2625064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רשמו 10 משימות מהשבוע שעבר (גם הודעות, שיעורים, שיחות, קבצים, מצגות)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1655465"/>
            <a:ext cx="3053976" cy="237351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075059" y="1791593"/>
            <a:ext cx="226808" cy="2947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50" b="1" spc="-30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50" dirty="0"/>
          </a:p>
        </p:txBody>
      </p:sp>
      <p:sp>
        <p:nvSpPr>
          <p:cNvPr id="10" name="Text 5"/>
          <p:cNvSpPr/>
          <p:nvPr/>
        </p:nvSpPr>
        <p:spPr>
          <a:xfrm>
            <a:off x="875881" y="2411413"/>
            <a:ext cx="26251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סמנו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875881" y="2831902"/>
            <a:ext cx="2625163" cy="982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משימה שיש בה אחד מאלה: ניסוח · סיכום · חיפוש · הכנה לפגישה · הסבר למישהו · תמלול/הקלטה · מסמך ארוך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217988"/>
            <a:ext cx="6296860" cy="18821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696550" y="4354116"/>
            <a:ext cx="226808" cy="2947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50" b="1" spc="-30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875881" y="4973935"/>
            <a:ext cx="58680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875881" y="5394424"/>
            <a:ext cx="586804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אצל רוב האנשים 6–8 מתוך 10. אלה המועמדות — לא "משימות משרד", משימות שלכם</a:t>
            </a:r>
            <a:endParaRPr lang="he-IL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611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קודם משימה — אחר כך כלי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6190401" y="1936948"/>
            <a:ext cx="5339820" cy="189012"/>
          </a:xfrm>
          <a:prstGeom prst="roundRect">
            <a:avLst>
              <a:gd name="adj" fmla="val 420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379408" y="2314972"/>
            <a:ext cx="4961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קובץ ארוך / כמה קבצים?</a:t>
            </a:r>
            <a:endParaRPr lang="he-IL" sz="1850" dirty="0"/>
          </a:p>
        </p:txBody>
      </p:sp>
      <p:sp>
        <p:nvSpPr>
          <p:cNvPr id="5" name="Text 3"/>
          <p:cNvSpPr/>
          <p:nvPr/>
        </p:nvSpPr>
        <p:spPr>
          <a:xfrm>
            <a:off x="6379408" y="2735461"/>
            <a:ext cx="4961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Claude או NotebookLM</a:t>
            </a:r>
            <a:endParaRPr lang="he-IL" sz="1450" dirty="0"/>
          </a:p>
        </p:txBody>
      </p:sp>
      <p:sp>
        <p:nvSpPr>
          <p:cNvPr id="6" name="Shape 4"/>
          <p:cNvSpPr/>
          <p:nvPr/>
        </p:nvSpPr>
        <p:spPr>
          <a:xfrm>
            <a:off x="661475" y="1653480"/>
            <a:ext cx="5339919" cy="189012"/>
          </a:xfrm>
          <a:prstGeom prst="roundRect">
            <a:avLst>
              <a:gd name="adj" fmla="val 420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482" y="2031504"/>
            <a:ext cx="496190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עובדה עם מקור?</a:t>
            </a:r>
            <a:endParaRPr lang="he-IL" sz="1850" dirty="0"/>
          </a:p>
        </p:txBody>
      </p:sp>
      <p:sp>
        <p:nvSpPr>
          <p:cNvPr id="8" name="Text 6"/>
          <p:cNvSpPr/>
          <p:nvPr/>
        </p:nvSpPr>
        <p:spPr>
          <a:xfrm>
            <a:off x="850482" y="2451993"/>
            <a:ext cx="496190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Perplexity, ואז חזרה לכתיבה</a:t>
            </a:r>
            <a:endParaRPr lang="he-IL" sz="1450" dirty="0"/>
          </a:p>
        </p:txBody>
      </p:sp>
      <p:sp>
        <p:nvSpPr>
          <p:cNvPr id="9" name="Shape 7"/>
          <p:cNvSpPr/>
          <p:nvPr/>
        </p:nvSpPr>
        <p:spPr>
          <a:xfrm>
            <a:off x="6190401" y="3642618"/>
            <a:ext cx="5339820" cy="189012"/>
          </a:xfrm>
          <a:prstGeom prst="roundRect">
            <a:avLst>
              <a:gd name="adj" fmla="val 420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9408" y="4020641"/>
            <a:ext cx="496180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פתוחה בגוגל / אופיס?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379408" y="4441130"/>
            <a:ext cx="496180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Gemini או Copilot במקום</a:t>
            </a:r>
            <a:endParaRPr lang="he-IL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3359150"/>
            <a:ext cx="5339919" cy="189012"/>
          </a:xfrm>
          <a:prstGeom prst="roundRect">
            <a:avLst>
              <a:gd name="adj" fmla="val 420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482" y="3737173"/>
            <a:ext cx="496190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השאר</a:t>
            </a:r>
            <a:endParaRPr lang="he-IL" sz="1850" dirty="0"/>
          </a:p>
        </p:txBody>
      </p:sp>
      <p:sp>
        <p:nvSpPr>
          <p:cNvPr id="14" name="Text 12"/>
          <p:cNvSpPr/>
          <p:nvPr/>
        </p:nvSpPr>
        <p:spPr>
          <a:xfrm>
            <a:off x="850482" y="4157662"/>
            <a:ext cx="496190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ChatGPT או Claude. בוחרים אחד לשבועיים</a:t>
            </a:r>
            <a:endParaRPr lang="he-IL" sz="1450" dirty="0"/>
          </a:p>
        </p:txBody>
      </p:sp>
      <p:sp>
        <p:nvSpPr>
          <p:cNvPr id="15" name="Shape 13"/>
          <p:cNvSpPr/>
          <p:nvPr/>
        </p:nvSpPr>
        <p:spPr>
          <a:xfrm>
            <a:off x="661475" y="5088434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4B3F02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330726"/>
            <a:ext cx="236234" cy="1890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66138" y="5324673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חלשה נכשלת בכל הכלים. קודם מי־מה־איך</a:t>
            </a:r>
            <a:endParaRPr lang="he-IL" sz="1450" dirty="0"/>
          </a:p>
        </p:txBody>
      </p:sp>
      <p:sp>
        <p:nvSpPr>
          <p:cNvPr id="18" name="Text 15"/>
          <p:cNvSpPr/>
          <p:nvPr/>
        </p:nvSpPr>
        <p:spPr>
          <a:xfrm>
            <a:off x="51890" y="6000254"/>
            <a:ext cx="11478330" cy="196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מצגת → קודם סיכום, אחר כך Gamma · עובדה / חוזה / סודיות → הכלי נבחר לפי זה</a:t>
            </a:r>
            <a:endParaRPr lang="he-IL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6659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1 — לכתוב לאדם אמיתי</a:t>
            </a:r>
            <a:endParaRPr lang="he-IL" sz="3650" dirty="0"/>
          </a:p>
        </p:txBody>
      </p:sp>
      <p:sp>
        <p:nvSpPr>
          <p:cNvPr id="3" name="Text 1"/>
          <p:cNvSpPr/>
          <p:nvPr/>
        </p:nvSpPr>
        <p:spPr>
          <a:xfrm>
            <a:off x="661475" y="1639193"/>
            <a:ext cx="520746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שלדים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3356784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561864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דחייה בנימוס (ספק / מועמד / שיתוף)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661475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6555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ברורה (עם תאריך יעד אחד)</a:t>
            </a:r>
            <a:endParaRPr lang="he-IL" sz="1800" dirty="0"/>
          </a:p>
        </p:txBody>
      </p:sp>
      <p:sp>
        <p:nvSpPr>
          <p:cNvPr id="8" name="Shape 6"/>
          <p:cNvSpPr/>
          <p:nvPr/>
        </p:nvSpPr>
        <p:spPr>
          <a:xfrm>
            <a:off x="661475" y="3345458"/>
            <a:ext cx="5207465" cy="712490"/>
          </a:xfrm>
          <a:prstGeom prst="roundRect">
            <a:avLst>
              <a:gd name="adj" fmla="val 10968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6555" y="3550543"/>
            <a:ext cx="479730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תזכורת בלי מלחמה (מסמך, משימה, אישור)</a:t>
            </a:r>
            <a:endParaRPr lang="he-IL" sz="1800" dirty="0"/>
          </a:p>
        </p:txBody>
      </p:sp>
      <p:sp>
        <p:nvSpPr>
          <p:cNvPr id="10" name="Text 8"/>
          <p:cNvSpPr/>
          <p:nvPr/>
        </p:nvSpPr>
        <p:spPr>
          <a:xfrm>
            <a:off x="51890" y="4263926"/>
            <a:ext cx="58170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ממלאים את הסוגריים מהשבוע שלכם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6195163" y="1456035"/>
            <a:ext cx="5475349" cy="4825206"/>
          </a:xfrm>
          <a:prstGeom prst="roundRect">
            <a:avLst>
              <a:gd name="adj" fmla="val 2776"/>
            </a:avLst>
          </a:prstGeom>
          <a:solidFill>
            <a:srgbClr val="1F2A5D">
              <a:alpha val="95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381193" y="1639193"/>
            <a:ext cx="5103288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— דחייה</a:t>
            </a:r>
            <a:endParaRPr lang="he-IL" sz="1800" dirty="0"/>
          </a:p>
        </p:txBody>
      </p:sp>
      <p:sp>
        <p:nvSpPr>
          <p:cNvPr id="13" name="Text 11"/>
          <p:cNvSpPr/>
          <p:nvPr/>
        </p:nvSpPr>
        <p:spPr>
          <a:xfrm>
            <a:off x="6381193" y="2124670"/>
            <a:ext cx="5103288" cy="274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עוזר שלי. אני [תפקיד] ב[מקום]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דחייה. בחרנו באפשרות אחרת. דלת פתוחה לעתיד. המטרה: לסגור בלי לפתוח משא ומתן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חם ומקצועי · עד 6 שורות · בלי התנצלות · בלי 'אשמח לעזור' · בלי סימני קריאה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5771609" y="5032772"/>
            <a:ext cx="5712873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התוצאה על המסך:</a:t>
            </a:r>
            <a:endParaRPr lang="he-IL" sz="1150" dirty="0"/>
          </a:p>
        </p:txBody>
      </p:sp>
      <p:sp>
        <p:nvSpPr>
          <p:cNvPr id="15" name="Shape 13"/>
          <p:cNvSpPr/>
          <p:nvPr/>
        </p:nvSpPr>
        <p:spPr>
          <a:xfrm>
            <a:off x="11391516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16" name="Text 14"/>
          <p:cNvSpPr/>
          <p:nvPr/>
        </p:nvSpPr>
        <p:spPr>
          <a:xfrm>
            <a:off x="9047333" y="5430639"/>
            <a:ext cx="216103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לשלוש שורות</a:t>
            </a:r>
            <a:endParaRPr lang="he-IL" sz="1450" dirty="0"/>
          </a:p>
        </p:txBody>
      </p:sp>
      <p:sp>
        <p:nvSpPr>
          <p:cNvPr id="17" name="Shape 15"/>
          <p:cNvSpPr/>
          <p:nvPr/>
        </p:nvSpPr>
        <p:spPr>
          <a:xfrm>
            <a:off x="8725475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81193" y="5430639"/>
            <a:ext cx="216112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ישאלו אחרי שיקראו?</a:t>
            </a:r>
            <a:endParaRPr lang="he-IL" sz="1450" dirty="0"/>
          </a:p>
        </p:txBody>
      </p:sp>
      <p:sp>
        <p:nvSpPr>
          <p:cNvPr id="19" name="Text 17"/>
          <p:cNvSpPr/>
          <p:nvPr/>
        </p:nvSpPr>
        <p:spPr>
          <a:xfrm>
            <a:off x="5771609" y="5876528"/>
            <a:ext cx="5712873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ChatGPT או Claude. לא מחליפים כלי באמצע הסיבוב</a:t>
            </a:r>
            <a:endParaRPr lang="he-IL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25574"/>
            <a:ext cx="6296860" cy="105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150" b="1" spc="-6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2 — מרשימה מבולגנת לכלי עבודה</a:t>
            </a:r>
            <a:endParaRPr lang="he-IL" sz="3150" dirty="0"/>
          </a:p>
        </p:txBody>
      </p:sp>
      <p:sp>
        <p:nvSpPr>
          <p:cNvPr id="4" name="Text 1"/>
          <p:cNvSpPr/>
          <p:nvPr/>
        </p:nvSpPr>
        <p:spPr>
          <a:xfrm>
            <a:off x="4623776" y="1890613"/>
            <a:ext cx="6906444" cy="15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0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מתאים ל: ישיבת צוות · פגישת לקוח · שיעור · שיחת ספק · ראיון</a:t>
            </a:r>
            <a:endParaRPr lang="he-IL" sz="1000" dirty="0"/>
          </a:p>
        </p:txBody>
      </p:sp>
      <p:sp>
        <p:nvSpPr>
          <p:cNvPr id="5" name="Shape 2"/>
          <p:cNvSpPr/>
          <p:nvPr/>
        </p:nvSpPr>
        <p:spPr>
          <a:xfrm>
            <a:off x="5233360" y="2204641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78" y="2384723"/>
            <a:ext cx="202996" cy="1624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51606" y="2384723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ההנחיה הכי טובה שתכניסו לבנק היום</a:t>
            </a:r>
            <a:endParaRPr lang="he-IL" sz="1250" dirty="0"/>
          </a:p>
        </p:txBody>
      </p:sp>
      <p:sp>
        <p:nvSpPr>
          <p:cNvPr id="8" name="Text 4"/>
          <p:cNvSpPr/>
          <p:nvPr/>
        </p:nvSpPr>
        <p:spPr>
          <a:xfrm>
            <a:off x="5233360" y="3061097"/>
            <a:ext cx="6053284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"מי: הסיכום הולך למי שלא היה בחדר — [מנהל / צוות / לקוח / שותף]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 נקודות גולמיות: [מדביקים]. הפוך למסמך שאפשר לעבוד ממנו מחר בבוקר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 1) החלטות 2) משימות: משימה | אחראי | תאריך 3) מה פתוח. בלי הקדמה, בלי סיכום בסוף"</a:t>
            </a:r>
            <a:endParaRPr lang="he-IL" sz="1250" dirty="0"/>
          </a:p>
        </p:txBody>
      </p:sp>
      <p:sp>
        <p:nvSpPr>
          <p:cNvPr id="9" name="Shape 5"/>
          <p:cNvSpPr/>
          <p:nvPr/>
        </p:nvSpPr>
        <p:spPr>
          <a:xfrm>
            <a:off x="11511171" y="2904133"/>
            <a:ext cx="19050" cy="902692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0" name="Shape 6"/>
          <p:cNvSpPr/>
          <p:nvPr/>
        </p:nvSpPr>
        <p:spPr>
          <a:xfrm>
            <a:off x="5233360" y="3963789"/>
            <a:ext cx="6296860" cy="1215827"/>
          </a:xfrm>
          <a:prstGeom prst="roundRect">
            <a:avLst>
              <a:gd name="adj" fmla="val 561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38179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56853" y="0"/>
                </a:moveTo>
                <a:lnTo>
                  <a:pt x="3129380" y="0"/>
                </a:lnTo>
                <a:lnTo>
                  <a:pt x="3129380" y="588863"/>
                </a:lnTo>
                <a:lnTo>
                  <a:pt x="0" y="588863"/>
                </a:lnTo>
                <a:lnTo>
                  <a:pt x="0" y="56855"/>
                </a:lnTo>
                <a:arcTo hR="56855" wR="56853" stAng="10800000" swAng="5400000"/>
                <a:close/>
              </a:path>
            </a:pathLst>
          </a:custGeom>
          <a:solidFill>
            <a:srgbClr val="101620"/>
          </a:solidFill>
          <a:ln/>
        </p:spPr>
      </p:sp>
      <p:sp>
        <p:nvSpPr>
          <p:cNvPr id="12" name="Text 8"/>
          <p:cNvSpPr/>
          <p:nvPr/>
        </p:nvSpPr>
        <p:spPr>
          <a:xfrm>
            <a:off x="854420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שהתקבלו</a:t>
            </a:r>
            <a:endParaRPr lang="he-IL" sz="1550" dirty="0"/>
          </a:p>
        </p:txBody>
      </p:sp>
      <p:sp>
        <p:nvSpPr>
          <p:cNvPr id="13" name="Shape 9"/>
          <p:cNvSpPr/>
          <p:nvPr/>
        </p:nvSpPr>
        <p:spPr>
          <a:xfrm>
            <a:off x="525241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0" y="0"/>
                </a:moveTo>
                <a:lnTo>
                  <a:pt x="3072527" y="0"/>
                </a:lnTo>
                <a:arcTo hR="56855" wR="56853" stAng="16200000" swAng="5400000"/>
                <a:lnTo>
                  <a:pt x="3129380" y="588863"/>
                </a:lnTo>
                <a:lnTo>
                  <a:pt x="0" y="588863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</p:sp>
      <p:sp>
        <p:nvSpPr>
          <p:cNvPr id="14" name="Shape 10"/>
          <p:cNvSpPr/>
          <p:nvPr/>
        </p:nvSpPr>
        <p:spPr>
          <a:xfrm>
            <a:off x="5252410" y="3982839"/>
            <a:ext cx="19050" cy="58886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</p:sp>
      <p:sp>
        <p:nvSpPr>
          <p:cNvPr id="15" name="Text 11"/>
          <p:cNvSpPr/>
          <p:nvPr/>
        </p:nvSpPr>
        <p:spPr>
          <a:xfrm>
            <a:off x="541482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עם אחראי ותאריך</a:t>
            </a:r>
            <a:endParaRPr lang="he-IL" sz="1550" dirty="0"/>
          </a:p>
        </p:txBody>
      </p:sp>
      <p:sp>
        <p:nvSpPr>
          <p:cNvPr id="16" name="Shape 12"/>
          <p:cNvSpPr/>
          <p:nvPr/>
        </p:nvSpPr>
        <p:spPr>
          <a:xfrm>
            <a:off x="5252410" y="4571702"/>
            <a:ext cx="6258761" cy="588863"/>
          </a:xfrm>
          <a:custGeom>
            <a:avLst/>
            <a:gdLst/>
            <a:ahLst/>
            <a:cxnLst/>
            <a:rect l="l" t="t" r="r" b="b"/>
            <a:pathLst>
              <a:path w="6258761" h="588863">
                <a:moveTo>
                  <a:pt x="0" y="0"/>
                </a:moveTo>
                <a:lnTo>
                  <a:pt x="6258761" y="0"/>
                </a:lnTo>
                <a:lnTo>
                  <a:pt x="6258761" y="532009"/>
                </a:lnTo>
                <a:arcTo hR="56855" wR="56853" stAng="0" swAng="5400000"/>
                <a:lnTo>
                  <a:pt x="56853" y="588863"/>
                </a:lnTo>
                <a:arcTo hR="56855" wR="56853" stAng="5400000" swAng="5400000"/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</p:sp>
      <p:sp>
        <p:nvSpPr>
          <p:cNvPr id="17" name="Shape 13"/>
          <p:cNvSpPr/>
          <p:nvPr/>
        </p:nvSpPr>
        <p:spPr>
          <a:xfrm>
            <a:off x="5252410" y="4571702"/>
            <a:ext cx="6258761" cy="1905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</p:sp>
      <p:sp>
        <p:nvSpPr>
          <p:cNvPr id="18" name="Text 14"/>
          <p:cNvSpPr/>
          <p:nvPr/>
        </p:nvSpPr>
        <p:spPr>
          <a:xfrm>
            <a:off x="5414827" y="4734123"/>
            <a:ext cx="593392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נושאים פתוחים</a:t>
            </a:r>
            <a:endParaRPr lang="he-IL" sz="1550" dirty="0"/>
          </a:p>
        </p:txBody>
      </p:sp>
      <p:sp>
        <p:nvSpPr>
          <p:cNvPr id="19" name="Text 15"/>
          <p:cNvSpPr/>
          <p:nvPr/>
        </p:nvSpPr>
        <p:spPr>
          <a:xfrm>
            <a:off x="4623776" y="5336580"/>
            <a:ext cx="6906444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"עכשיו רק טבלת המשימות כהודעת וואטסאפ" — שיחה, לא מברק</a:t>
            </a:r>
            <a:endParaRPr lang="he-IL" sz="1250" dirty="0"/>
          </a:p>
        </p:txBody>
      </p:sp>
      <p:sp>
        <p:nvSpPr>
          <p:cNvPr id="20" name="Shape 16"/>
          <p:cNvSpPr/>
          <p:nvPr/>
        </p:nvSpPr>
        <p:spPr>
          <a:xfrm>
            <a:off x="5233360" y="5689798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778" y="5869880"/>
            <a:ext cx="202996" cy="1624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51606" y="5869880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גשר: יש סיכום? הדבקה ב־Gamma → 6 שקפים. לא מתחילים עיצוב לפני שיש תוכן</a:t>
            </a:r>
            <a:endParaRPr lang="he-IL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8084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3 — מסמך ארוך, שעה לפגישה</a:t>
            </a:r>
            <a:endParaRPr lang="he-IL" sz="3650" dirty="0"/>
          </a:p>
        </p:txBody>
      </p:sp>
      <p:sp>
        <p:nvSpPr>
          <p:cNvPr id="3" name="Text 1"/>
          <p:cNvSpPr/>
          <p:nvPr/>
        </p:nvSpPr>
        <p:spPr>
          <a:xfrm>
            <a:off x="51890" y="1519039"/>
            <a:ext cx="1147833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= הצעה, נוהל, הסכם, דוח, תוכנית, חומר לימוד. מה שיש לכם בתיקיה</a:t>
            </a:r>
            <a:endParaRPr lang="he-IL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2148086"/>
            <a:ext cx="6339721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שכבות על הקובץ (Claude)</a:t>
            </a:r>
            <a:endParaRPr lang="he-IL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22912" y="2656384"/>
            <a:ext cx="3078284" cy="16321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34342" y="2867819"/>
            <a:ext cx="255382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בסיס: סכם את המסמך</a:t>
            </a:r>
            <a:endParaRPr lang="he-IL" sz="1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656384"/>
            <a:ext cx="3078284" cy="16321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2905" y="2867819"/>
            <a:ext cx="2553827" cy="1209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הקשר: אני [תפקיד], לקראת [פגישה/החלטה]. מה חשוב לי לפני שאני מגיבה</a:t>
            </a:r>
            <a:endParaRPr lang="he-IL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22912" y="4471690"/>
            <a:ext cx="3078284" cy="16321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134342" y="4683125"/>
            <a:ext cx="2553827" cy="1209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פורמט: טבלה נושא | מה כתוב | למה זה חשוב / איפה הזהירות — עד 8 שורות</a:t>
            </a:r>
            <a:endParaRPr lang="he-IL" sz="18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4471690"/>
            <a:ext cx="3078284" cy="163214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72905" y="4683125"/>
            <a:ext cx="2553827" cy="906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ביקורת: 3 שאלות לחדר + 3 נקודות שעלולות לעבוד לרעתי</a:t>
            </a:r>
            <a:endParaRPr lang="he-IL" sz="1800" dirty="0"/>
          </a:p>
        </p:txBody>
      </p:sp>
      <p:sp>
        <p:nvSpPr>
          <p:cNvPr id="13" name="Text 7"/>
          <p:cNvSpPr/>
          <p:nvPr/>
        </p:nvSpPr>
        <p:spPr>
          <a:xfrm>
            <a:off x="7461361" y="3240286"/>
            <a:ext cx="4075209" cy="644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כך:</a:t>
            </a:r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"סכם ב־5 נקודות"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כך:</a:t>
            </a:r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שכבה אחר שכבה, באותו צ'אט</a:t>
            </a:r>
            <a:endParaRPr lang="he-IL" sz="1450" dirty="0"/>
          </a:p>
        </p:txBody>
      </p:sp>
      <p:sp>
        <p:nvSpPr>
          <p:cNvPr id="14" name="Shape 8"/>
          <p:cNvSpPr/>
          <p:nvPr/>
        </p:nvSpPr>
        <p:spPr>
          <a:xfrm>
            <a:off x="7461361" y="4090888"/>
            <a:ext cx="4075209" cy="902295"/>
          </a:xfrm>
          <a:prstGeom prst="roundRect">
            <a:avLst>
              <a:gd name="adj" fmla="val 8661"/>
            </a:avLst>
          </a:prstGeom>
          <a:solidFill>
            <a:srgbClr val="002A80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7391" y="4335463"/>
            <a:ext cx="232563" cy="18603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065985" y="4302125"/>
            <a:ext cx="3284555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קובץ אחד → Claude. תיק של כמה קבצים → NotebookLM</a:t>
            </a:r>
            <a:endParaRPr lang="he-IL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66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3400" b="1" spc="-69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— כשחייבים מקור</a:t>
            </a:r>
            <a:endParaRPr lang="he-IL" sz="3400" dirty="0"/>
          </a:p>
        </p:txBody>
      </p:sp>
      <p:sp>
        <p:nvSpPr>
          <p:cNvPr id="4" name="Text 1"/>
          <p:cNvSpPr/>
          <p:nvPr/>
        </p:nvSpPr>
        <p:spPr>
          <a:xfrm>
            <a:off x="51890" y="1391444"/>
            <a:ext cx="6906444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גוגל. תשובות עם הסבר, מקורות וציטוטים – בזמן אמת.</a:t>
            </a:r>
            <a:endParaRPr lang="he-IL" sz="1350" dirty="0"/>
          </a:p>
        </p:txBody>
      </p:sp>
      <p:sp>
        <p:nvSpPr>
          <p:cNvPr id="5" name="Text 2"/>
          <p:cNvSpPr/>
          <p:nvPr/>
        </p:nvSpPr>
        <p:spPr>
          <a:xfrm>
            <a:off x="661475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endParaRPr lang="he-IL" sz="1700" dirty="0"/>
          </a:p>
        </p:txBody>
      </p:sp>
      <p:sp>
        <p:nvSpPr>
          <p:cNvPr id="6" name="Shape 3"/>
          <p:cNvSpPr/>
          <p:nvPr/>
        </p:nvSpPr>
        <p:spPr>
          <a:xfrm>
            <a:off x="35102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61475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השתנה עכשיו</a:t>
            </a:r>
            <a:endParaRPr lang="he-IL" sz="1350" dirty="0"/>
          </a:p>
        </p:txBody>
      </p:sp>
      <p:sp>
        <p:nvSpPr>
          <p:cNvPr id="8" name="Shape 5"/>
          <p:cNvSpPr/>
          <p:nvPr/>
        </p:nvSpPr>
        <p:spPr>
          <a:xfrm>
            <a:off x="35102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61475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תקנה, מחיר, כלי, מתחרה</a:t>
            </a:r>
            <a:endParaRPr lang="he-IL" sz="1350" dirty="0"/>
          </a:p>
        </p:txBody>
      </p:sp>
      <p:sp>
        <p:nvSpPr>
          <p:cNvPr id="10" name="Shape 7"/>
          <p:cNvSpPr/>
          <p:nvPr/>
        </p:nvSpPr>
        <p:spPr>
          <a:xfrm>
            <a:off x="35102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1475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מאמר עם תאריך</a:t>
            </a:r>
            <a:endParaRPr lang="he-IL" sz="1350" dirty="0"/>
          </a:p>
        </p:txBody>
      </p:sp>
      <p:sp>
        <p:nvSpPr>
          <p:cNvPr id="12" name="Text 9"/>
          <p:cNvSpPr/>
          <p:nvPr/>
        </p:nvSpPr>
        <p:spPr>
          <a:xfrm>
            <a:off x="4028776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</a:t>
            </a:r>
            <a:endParaRPr lang="he-IL" sz="1700" dirty="0"/>
          </a:p>
        </p:txBody>
      </p:sp>
      <p:sp>
        <p:nvSpPr>
          <p:cNvPr id="13" name="Shape 10"/>
          <p:cNvSpPr/>
          <p:nvPr/>
        </p:nvSpPr>
        <p:spPr>
          <a:xfrm>
            <a:off x="68775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028776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מייל</a:t>
            </a:r>
            <a:endParaRPr lang="he-IL" sz="1350" dirty="0"/>
          </a:p>
        </p:txBody>
      </p:sp>
      <p:sp>
        <p:nvSpPr>
          <p:cNvPr id="15" name="Shape 12"/>
          <p:cNvSpPr/>
          <p:nvPr/>
        </p:nvSpPr>
        <p:spPr>
          <a:xfrm>
            <a:off x="68775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4028776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לסכם ישיבה</a:t>
            </a:r>
            <a:endParaRPr lang="he-IL" sz="1350" dirty="0"/>
          </a:p>
        </p:txBody>
      </p:sp>
      <p:sp>
        <p:nvSpPr>
          <p:cNvPr id="17" name="Shape 14"/>
          <p:cNvSpPr/>
          <p:nvPr/>
        </p:nvSpPr>
        <p:spPr>
          <a:xfrm>
            <a:off x="68775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028776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לשכתב טון</a:t>
            </a:r>
            <a:endParaRPr lang="he-IL" sz="1350" dirty="0"/>
          </a:p>
        </p:txBody>
      </p:sp>
      <p:sp>
        <p:nvSpPr>
          <p:cNvPr id="19" name="Text 16"/>
          <p:cNvSpPr/>
          <p:nvPr/>
        </p:nvSpPr>
        <p:spPr>
          <a:xfrm>
            <a:off x="661475" y="4251424"/>
            <a:ext cx="6035524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"[שאלה אחת ספציפית]. תשובה קצרה + מקור + תאריך לכל נתון. אם יש מחלוקת — כתוב"</a:t>
            </a:r>
            <a:endParaRPr lang="he-IL" sz="1350" dirty="0"/>
          </a:p>
        </p:txBody>
      </p:sp>
      <p:sp>
        <p:nvSpPr>
          <p:cNvPr id="20" name="Shape 17"/>
          <p:cNvSpPr/>
          <p:nvPr/>
        </p:nvSpPr>
        <p:spPr>
          <a:xfrm>
            <a:off x="6939285" y="4070747"/>
            <a:ext cx="19050" cy="79652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61475" y="5047952"/>
            <a:ext cx="6296860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שרשרת: מצאתם עובדה → מעתיקים ל־ChatGPT/Claude → "עדכן את הטיוטה לפי זה, בלי להוסיף עובדות חדשות"</a:t>
            </a:r>
            <a:endParaRPr lang="he-IL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7092"/>
            <a:ext cx="10868745" cy="595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00" b="1" spc="-7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שרוב האנשים מפספסים</a:t>
            </a:r>
            <a:endParaRPr lang="he-IL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spc="-36" kern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1890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של 5–15 קבצים. עונה רק מתוך מה שהעליתם.</a:t>
            </a:r>
            <a:endParaRPr lang="he-IL" sz="1400" dirty="0"/>
          </a:p>
        </p:txBody>
      </p:sp>
      <p:sp>
        <p:nvSpPr>
          <p:cNvPr id="5" name="Shape 3"/>
          <p:cNvSpPr/>
          <p:nvPr/>
        </p:nvSpPr>
        <p:spPr>
          <a:xfrm>
            <a:off x="5781034" y="2567484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249426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הכנה לפגישה עם הפניה למקור</a:t>
            </a:r>
            <a:endParaRPr lang="he-IL" sz="1400" dirty="0"/>
          </a:p>
        </p:txBody>
      </p:sp>
      <p:sp>
        <p:nvSpPr>
          <p:cNvPr id="7" name="Shape 5"/>
          <p:cNvSpPr/>
          <p:nvPr/>
        </p:nvSpPr>
        <p:spPr>
          <a:xfrm>
            <a:off x="5781034" y="315654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8" name="Text 6"/>
          <p:cNvSpPr/>
          <p:nvPr/>
        </p:nvSpPr>
        <p:spPr>
          <a:xfrm>
            <a:off x="661475" y="3083322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על כמה מסמכים בו-זמנית</a:t>
            </a:r>
            <a:endParaRPr lang="he-IL" sz="1400" dirty="0"/>
          </a:p>
        </p:txBody>
      </p:sp>
      <p:sp>
        <p:nvSpPr>
          <p:cNvPr id="9" name="Shape 7"/>
          <p:cNvSpPr/>
          <p:nvPr/>
        </p:nvSpPr>
        <p:spPr>
          <a:xfrm>
            <a:off x="5781034" y="374560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3672384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ממציא — רק מה שבקבצים</a:t>
            </a:r>
            <a:endParaRPr lang="he-IL" sz="1400" dirty="0"/>
          </a:p>
        </p:txBody>
      </p:sp>
      <p:sp>
        <p:nvSpPr>
          <p:cNvPr id="11" name="Text 9"/>
          <p:cNvSpPr/>
          <p:nvPr/>
        </p:nvSpPr>
        <p:spPr>
          <a:xfrm>
            <a:off x="6325533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6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תמלול → סיכום</a:t>
            </a:r>
            <a:endParaRPr lang="he-IL" sz="1800" dirty="0"/>
          </a:p>
        </p:txBody>
      </p:sp>
      <p:sp>
        <p:nvSpPr>
          <p:cNvPr id="12" name="Text 10"/>
          <p:cNvSpPr/>
          <p:nvPr/>
        </p:nvSpPr>
        <p:spPr>
          <a:xfrm>
            <a:off x="5715948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זום / שיעור / שיחת לקוח → טקסט גולמי → הנחיית תחנה 2</a:t>
            </a:r>
            <a:endParaRPr lang="he-IL" sz="1400" dirty="0"/>
          </a:p>
        </p:txBody>
      </p:sp>
      <p:sp>
        <p:nvSpPr>
          <p:cNvPr id="13" name="Text 11"/>
          <p:cNvSpPr/>
          <p:nvPr/>
        </p:nvSpPr>
        <p:spPr>
          <a:xfrm>
            <a:off x="5715948" y="2653903"/>
            <a:ext cx="5545991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תמציא החלטה שלא נאמרה"</a:t>
            </a:r>
            <a:endParaRPr lang="he-IL" sz="1400" dirty="0"/>
          </a:p>
        </p:txBody>
      </p:sp>
      <p:sp>
        <p:nvSpPr>
          <p:cNvPr id="14" name="Shape 12"/>
          <p:cNvSpPr/>
          <p:nvPr/>
        </p:nvSpPr>
        <p:spPr>
          <a:xfrm>
            <a:off x="11511171" y="2494260"/>
            <a:ext cx="25399" cy="553641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45093" y="3320653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25533" y="324743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מורים</a:t>
            </a:r>
            <a:endParaRPr lang="he-IL" sz="1400" dirty="0"/>
          </a:p>
        </p:txBody>
      </p:sp>
      <p:sp>
        <p:nvSpPr>
          <p:cNvPr id="17" name="Shape 15"/>
          <p:cNvSpPr/>
          <p:nvPr/>
        </p:nvSpPr>
        <p:spPr>
          <a:xfrm>
            <a:off x="11445093" y="390971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25533" y="3836491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מכירות</a:t>
            </a:r>
            <a:endParaRPr lang="he-IL" sz="1400" dirty="0"/>
          </a:p>
        </p:txBody>
      </p:sp>
      <p:sp>
        <p:nvSpPr>
          <p:cNvPr id="19" name="Shape 17"/>
          <p:cNvSpPr/>
          <p:nvPr/>
        </p:nvSpPr>
        <p:spPr>
          <a:xfrm>
            <a:off x="11445093" y="449877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20" name="Text 18"/>
          <p:cNvSpPr/>
          <p:nvPr/>
        </p:nvSpPr>
        <p:spPr>
          <a:xfrm>
            <a:off x="6325533" y="4425553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שטח</a:t>
            </a:r>
            <a:endParaRPr lang="he-IL" sz="1400" dirty="0"/>
          </a:p>
        </p:txBody>
      </p:sp>
      <p:sp>
        <p:nvSpPr>
          <p:cNvPr id="21" name="Shape 19"/>
          <p:cNvSpPr/>
          <p:nvPr/>
        </p:nvSpPr>
        <p:spPr>
          <a:xfrm>
            <a:off x="11445093" y="5087838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</p:sp>
      <p:sp>
        <p:nvSpPr>
          <p:cNvPr id="22" name="Text 20"/>
          <p:cNvSpPr/>
          <p:nvPr/>
        </p:nvSpPr>
        <p:spPr>
          <a:xfrm>
            <a:off x="6325533" y="5014615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661475" y="5648027"/>
            <a:ext cx="10868745" cy="662781"/>
          </a:xfrm>
          <a:prstGeom prst="roundRect">
            <a:avLst>
              <a:gd name="adj" fmla="val 11604"/>
            </a:avLst>
          </a:prstGeom>
          <a:solidFill>
            <a:srgbClr val="002A80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29" y="5875933"/>
            <a:ext cx="228793" cy="183059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46791" y="5871071"/>
            <a:ext cx="10700375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מי שכותב במשרד</a:t>
            </a:r>
            <a:endParaRPr lang="he-IL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32719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קודם תוכן — אחר כך שקפים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525350" y="2330450"/>
            <a:ext cx="7175519" cy="3094732"/>
          </a:xfrm>
          <a:prstGeom prst="roundRect">
            <a:avLst>
              <a:gd name="adj" fmla="val 4398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4357" y="2519462"/>
            <a:ext cx="679750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50" b="1" spc="-37" kern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Gamma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104772" y="3015555"/>
            <a:ext cx="74070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מדביקים את הסיכום מתחנה 2. 6 שקפים. קהל מוגדר בהנחיה.</a:t>
            </a:r>
            <a:endParaRPr lang="he-IL" sz="1450" dirty="0"/>
          </a:p>
        </p:txBody>
      </p:sp>
      <p:sp>
        <p:nvSpPr>
          <p:cNvPr id="6" name="Text 4"/>
          <p:cNvSpPr/>
          <p:nvPr/>
        </p:nvSpPr>
        <p:spPr>
          <a:xfrm>
            <a:off x="714357" y="3643908"/>
            <a:ext cx="6514044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"בנה מצגת מ־6 שקפים מהסיכום. קהל: [מי מול המסך]. שקף 1 מטרה, 2–4 החלטות/משימות/פתוח, 5 הצעד הבא, 6 משפט סגירה. עברית, בלי קישוט"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7486463" y="3473847"/>
            <a:ext cx="25399" cy="831453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14357" y="4517926"/>
            <a:ext cx="6797505" cy="680244"/>
          </a:xfrm>
          <a:prstGeom prst="roundRect">
            <a:avLst>
              <a:gd name="adj" fmla="val 11670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364" y="4772918"/>
            <a:ext cx="236234" cy="1890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19020" y="4735215"/>
            <a:ext cx="660383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וידוי: חלק ממצגות הקורס נבנו בדיוק כך</a:t>
            </a:r>
            <a:endParaRPr lang="he-IL" sz="1450" dirty="0"/>
          </a:p>
        </p:txBody>
      </p:sp>
      <p:sp>
        <p:nvSpPr>
          <p:cNvPr id="11" name="Text 8"/>
          <p:cNvSpPr/>
          <p:nvPr/>
        </p:nvSpPr>
        <p:spPr>
          <a:xfrm>
            <a:off x="8032251" y="2519462"/>
            <a:ext cx="35042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מצגת ישנה?</a:t>
            </a:r>
            <a:endParaRPr lang="he-IL" sz="1850" dirty="0"/>
          </a:p>
        </p:txBody>
      </p:sp>
      <p:sp>
        <p:nvSpPr>
          <p:cNvPr id="12" name="Text 9"/>
          <p:cNvSpPr/>
          <p:nvPr/>
        </p:nvSpPr>
        <p:spPr>
          <a:xfrm>
            <a:off x="8032251" y="3015555"/>
            <a:ext cx="3504219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Beautiful.ai / Canva מעצבים מחדש. לא נוגעים בתוכן כאן.</a:t>
            </a:r>
            <a:endParaRPr lang="he-IL" sz="1450" dirty="0"/>
          </a:p>
        </p:txBody>
      </p:sp>
      <p:sp>
        <p:nvSpPr>
          <p:cNvPr id="13" name="Shape 10"/>
          <p:cNvSpPr/>
          <p:nvPr/>
        </p:nvSpPr>
        <p:spPr>
          <a:xfrm>
            <a:off x="11442017" y="3795117"/>
            <a:ext cx="94454" cy="94456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032251" y="3719513"/>
            <a:ext cx="322075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שדרוג מצגות ישנות</a:t>
            </a:r>
            <a:endParaRPr lang="he-IL" sz="1450" dirty="0"/>
          </a:p>
        </p:txBody>
      </p:sp>
      <p:sp>
        <p:nvSpPr>
          <p:cNvPr id="15" name="Shape 12"/>
          <p:cNvSpPr/>
          <p:nvPr/>
        </p:nvSpPr>
        <p:spPr>
          <a:xfrm>
            <a:off x="11442017" y="4418806"/>
            <a:ext cx="94454" cy="94456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032251" y="4343202"/>
            <a:ext cx="322075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עיצוב אחיד לכל השקופיות</a:t>
            </a:r>
            <a:endParaRPr lang="he-IL" sz="1450" dirty="0"/>
          </a:p>
        </p:txBody>
      </p:sp>
      <p:sp>
        <p:nvSpPr>
          <p:cNvPr id="17" name="Shape 14"/>
          <p:cNvSpPr/>
          <p:nvPr/>
        </p:nvSpPr>
        <p:spPr>
          <a:xfrm>
            <a:off x="11442017" y="5042495"/>
            <a:ext cx="94454" cy="94456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032251" y="4966891"/>
            <a:ext cx="322075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תבניות מקצועיות מוכנות</a:t>
            </a:r>
            <a:endParaRPr lang="he-IL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59296"/>
            <a:ext cx="6296860" cy="422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2550" b="1" spc="-5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סדנה — 20 דקות, תוצר אמיתי</a:t>
            </a:r>
            <a:endParaRPr lang="he-IL" sz="2550" dirty="0"/>
          </a:p>
        </p:txBody>
      </p:sp>
      <p:sp>
        <p:nvSpPr>
          <p:cNvPr id="4" name="Shape 1"/>
          <p:cNvSpPr/>
          <p:nvPr/>
        </p:nvSpPr>
        <p:spPr>
          <a:xfrm>
            <a:off x="6440723" y="1115516"/>
            <a:ext cx="517611" cy="197346"/>
          </a:xfrm>
          <a:prstGeom prst="roundRect">
            <a:avLst>
              <a:gd name="adj" fmla="val 22125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5909023" y="1154410"/>
            <a:ext cx="971426" cy="119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8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</a:t>
            </a:r>
            <a:endParaRPr lang="he-IL" sz="800" dirty="0"/>
          </a:p>
        </p:txBody>
      </p:sp>
      <p:sp>
        <p:nvSpPr>
          <p:cNvPr id="6" name="Text 3"/>
          <p:cNvSpPr/>
          <p:nvPr/>
        </p:nvSpPr>
        <p:spPr>
          <a:xfrm>
            <a:off x="6698487" y="1413371"/>
            <a:ext cx="259847" cy="168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spc="-2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61475" y="1621532"/>
            <a:ext cx="6296860" cy="1905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61475" y="1724521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b="1" spc="-26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בחרו משימה מדף העשר</a:t>
            </a:r>
            <a:endParaRPr lang="he-IL" sz="1250" dirty="0"/>
          </a:p>
        </p:txBody>
      </p:sp>
      <p:sp>
        <p:nvSpPr>
          <p:cNvPr id="9" name="Text 6"/>
          <p:cNvSpPr/>
          <p:nvPr/>
        </p:nvSpPr>
        <p:spPr>
          <a:xfrm>
            <a:off x="6698487" y="2122388"/>
            <a:ext cx="259847" cy="168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spc="-2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1475" y="2317552"/>
            <a:ext cx="6296860" cy="1905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1475" y="2433538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b="1" spc="-26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כתבו הנחיה מי־מה־איך</a:t>
            </a:r>
            <a:endParaRPr lang="he-IL" sz="1250" dirty="0"/>
          </a:p>
        </p:txBody>
      </p:sp>
      <p:sp>
        <p:nvSpPr>
          <p:cNvPr id="12" name="Text 9"/>
          <p:cNvSpPr/>
          <p:nvPr/>
        </p:nvSpPr>
        <p:spPr>
          <a:xfrm>
            <a:off x="6698487" y="2831405"/>
            <a:ext cx="259847" cy="168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spc="-2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1475" y="3013670"/>
            <a:ext cx="6296860" cy="1905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61475" y="3142555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b="1" spc="-26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בחרו כלי לפי עץ ההחלטה — אמרו בקול למה</a:t>
            </a:r>
            <a:endParaRPr lang="he-IL" sz="1250" dirty="0"/>
          </a:p>
        </p:txBody>
      </p:sp>
      <p:sp>
        <p:nvSpPr>
          <p:cNvPr id="15" name="Text 12"/>
          <p:cNvSpPr/>
          <p:nvPr/>
        </p:nvSpPr>
        <p:spPr>
          <a:xfrm>
            <a:off x="6698487" y="3540423"/>
            <a:ext cx="259847" cy="168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spc="-2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1475" y="3709690"/>
            <a:ext cx="6296860" cy="1905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61475" y="3851573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b="1" spc="-26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הריצו פעם אחת</a:t>
            </a:r>
            <a:endParaRPr lang="he-IL" sz="1250" dirty="0"/>
          </a:p>
        </p:txBody>
      </p:sp>
      <p:sp>
        <p:nvSpPr>
          <p:cNvPr id="18" name="Text 15"/>
          <p:cNvSpPr/>
          <p:nvPr/>
        </p:nvSpPr>
        <p:spPr>
          <a:xfrm>
            <a:off x="6698487" y="4249440"/>
            <a:ext cx="259847" cy="168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spc="-2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61475" y="4405809"/>
            <a:ext cx="6296860" cy="1905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61475" y="4560590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b="1" spc="-26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שפרו פעם אחת: קצר יותר / פורמט אחר / "מה חסר?"</a:t>
            </a:r>
            <a:endParaRPr lang="he-IL" sz="1250" dirty="0"/>
          </a:p>
        </p:txBody>
      </p:sp>
      <p:sp>
        <p:nvSpPr>
          <p:cNvPr id="21" name="Text 18"/>
          <p:cNvSpPr/>
          <p:nvPr/>
        </p:nvSpPr>
        <p:spPr>
          <a:xfrm>
            <a:off x="6698487" y="4958457"/>
            <a:ext cx="259847" cy="1688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000" spc="-2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61475" y="5101828"/>
            <a:ext cx="6296860" cy="19050"/>
          </a:xfrm>
          <a:prstGeom prst="rect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61475" y="5269607"/>
            <a:ext cx="6296860" cy="211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250" b="1" spc="-26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ההנחיה שעבדה + שם הכלי → לבנק</a:t>
            </a:r>
            <a:endParaRPr lang="he-IL" sz="1250" dirty="0"/>
          </a:p>
        </p:txBody>
      </p:sp>
      <p:sp>
        <p:nvSpPr>
          <p:cNvPr id="24" name="Text 21"/>
          <p:cNvSpPr/>
          <p:nvPr/>
        </p:nvSpPr>
        <p:spPr>
          <a:xfrm>
            <a:off x="51890" y="5678686"/>
            <a:ext cx="6906444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1000"/>
              </a:lnSpc>
              <a:buNone/>
            </a:pPr>
            <a:r>
              <a:rPr lang="he-IL" altLang="en-US" sz="10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עוברים כלי באמצע הסיבוב</a:t>
            </a:r>
            <a:endParaRPr lang="he-IL" sz="1000" dirty="0"/>
          </a:p>
        </p:txBody>
      </p:sp>
      <p:sp>
        <p:nvSpPr>
          <p:cNvPr id="25" name="Shape 22"/>
          <p:cNvSpPr/>
          <p:nvPr/>
        </p:nvSpPr>
        <p:spPr>
          <a:xfrm>
            <a:off x="661475" y="5843984"/>
            <a:ext cx="6296860" cy="377031"/>
          </a:xfrm>
          <a:prstGeom prst="roundRect">
            <a:avLst>
              <a:gd name="adj" fmla="val 14476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349" y="5965726"/>
            <a:ext cx="162417" cy="12987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74055" y="6043414"/>
            <a:ext cx="6354405" cy="142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1000"/>
              </a:lnSpc>
              <a:buNone/>
            </a:pPr>
            <a:r>
              <a:rPr lang="he-IL" alt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5 הדקות:</a:t>
            </a:r>
            <a:pPr rtl="1" algn="r" indent="0" marL="0">
              <a:lnSpc>
                <a:spcPct val="91000"/>
              </a:lnSpc>
              <a:buNone/>
            </a:pPr>
            <a:r>
              <a:rPr lang="he-IL" alt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מעל 5 דקות ויש בה טקסט, הסבר או מסמך — בודקים עם AI</a:t>
            </a:r>
            <a:endParaRPr lang="he-IL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736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שבועי — 3 הנחיות שמורות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04107"/>
            <a:ext cx="520379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שבועי אישי</a:t>
            </a:r>
            <a:endParaRPr lang="he-IL" sz="1850" dirty="0"/>
          </a:p>
        </p:txBody>
      </p:sp>
      <p:sp>
        <p:nvSpPr>
          <p:cNvPr id="4" name="Shape 2"/>
          <p:cNvSpPr/>
          <p:nvPr/>
        </p:nvSpPr>
        <p:spPr>
          <a:xfrm>
            <a:off x="5440028" y="2423815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510918" y="2452191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61475" y="2482850"/>
            <a:ext cx="458954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משהו שחוזר כל שבוע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2978944"/>
            <a:ext cx="458954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קבועה בבנק</a:t>
            </a:r>
            <a:endParaRPr lang="he-IL" sz="1450" dirty="0"/>
          </a:p>
        </p:txBody>
      </p:sp>
      <p:sp>
        <p:nvSpPr>
          <p:cNvPr id="8" name="Shape 6"/>
          <p:cNvSpPr/>
          <p:nvPr/>
        </p:nvSpPr>
        <p:spPr>
          <a:xfrm>
            <a:off x="5440028" y="3602633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0918" y="3631009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1475" y="3661668"/>
            <a:ext cx="458954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משהו שצריך לנסח לאדם אמיתי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4157762"/>
            <a:ext cx="458954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"אתה…"</a:t>
            </a:r>
            <a:endParaRPr lang="he-IL" sz="1450" dirty="0"/>
          </a:p>
        </p:txBody>
      </p:sp>
      <p:sp>
        <p:nvSpPr>
          <p:cNvPr id="12" name="Shape 10"/>
          <p:cNvSpPr/>
          <p:nvPr/>
        </p:nvSpPr>
        <p:spPr>
          <a:xfrm>
            <a:off x="5440028" y="478145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510918" y="4809827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1475" y="4840486"/>
            <a:ext cx="458954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משהו עם חומר גלם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61475" y="5336580"/>
            <a:ext cx="4589546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/ נקודות / תמלול — ב־Claude או NotebookLM, שלוש הודעות</a:t>
            </a:r>
            <a:endParaRPr lang="he-IL" sz="1450" dirty="0"/>
          </a:p>
        </p:txBody>
      </p:sp>
      <p:sp>
        <p:nvSpPr>
          <p:cNvPr id="16" name="Shape 14"/>
          <p:cNvSpPr/>
          <p:nvPr/>
        </p:nvSpPr>
        <p:spPr>
          <a:xfrm>
            <a:off x="6196651" y="1715095"/>
            <a:ext cx="5476043" cy="4325441"/>
          </a:xfrm>
          <a:prstGeom prst="roundRect">
            <a:avLst>
              <a:gd name="adj" fmla="val 3146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85658" y="1904107"/>
            <a:ext cx="509802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1850" dirty="0"/>
          </a:p>
        </p:txBody>
      </p:sp>
      <p:sp>
        <p:nvSpPr>
          <p:cNvPr id="18" name="Text 16"/>
          <p:cNvSpPr/>
          <p:nvPr/>
        </p:nvSpPr>
        <p:spPr>
          <a:xfrm>
            <a:off x="5776073" y="2400201"/>
            <a:ext cx="57076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בצעו את השלוש. והביאו למפגש הבא:</a:t>
            </a:r>
            <a:endParaRPr lang="he-IL" sz="1450" dirty="0"/>
          </a:p>
        </p:txBody>
      </p:sp>
      <p:sp>
        <p:nvSpPr>
          <p:cNvPr id="19" name="Text 17"/>
          <p:cNvSpPr/>
          <p:nvPr/>
        </p:nvSpPr>
        <p:spPr>
          <a:xfrm>
            <a:off x="6385658" y="2815927"/>
            <a:ext cx="5098029" cy="1180902"/>
          </a:xfrm>
          <a:prstGeom prst="rect">
            <a:avLst/>
          </a:prstGeom>
          <a:noFill/>
          <a:ln/>
        </p:spPr>
        <p:txBody>
          <a:bodyPr wrap="square" lIns="0" tIns="0" rIns="75608" bIns="0" rtlCol="0" anchor="t">
            <a:normAutofit/>
          </a:bodyPr>
          <a:lstStyle/>
          <a:p>
            <a:pPr rtl="1" algn="r" marL="294640" indent="-294640">
              <a:lnSpc>
                <a:spcPct val="108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התוצר שהכי גאים בו</a:t>
            </a:r>
            <a:endParaRPr lang="he-IL" sz="1450" dirty="0"/>
          </a:p>
          <a:p>
            <a:pPr rtl="1" algn="r" marL="294640" indent="-294640">
              <a:lnSpc>
                <a:spcPct val="108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ההנחיות עצמן, לא רק התוצרים</a:t>
            </a:r>
            <a:endParaRPr lang="he-IL" sz="1450" dirty="0"/>
          </a:p>
          <a:p>
            <a:pPr rtl="1" algn="r" marL="294640" indent="-294640">
              <a:lnSpc>
                <a:spcPct val="108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כישלון אחד שעדיין לא נסגר</a:t>
            </a:r>
            <a:endParaRPr lang="he-IL" sz="1450" dirty="0"/>
          </a:p>
          <a:p>
            <a:pPr rtl="1" algn="r" marL="294640" indent="-294640">
              <a:lnSpc>
                <a:spcPct val="108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מסמך אחד לא סודי למפגש 3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385658" y="4209455"/>
            <a:ext cx="5098029" cy="680244"/>
          </a:xfrm>
          <a:prstGeom prst="roundRect">
            <a:avLst>
              <a:gd name="adj" fmla="val 11670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665" y="4464447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390321" y="4426744"/>
            <a:ext cx="490435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רמז למפגש 3: בונים לכם עוזר אישי.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he-IL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מה מחכה לנו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פחות הקשבה, יותר כתיבה: היום אתם עובדים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202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פתיחה ומשחק חימום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947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8 דק'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2316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4688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נוסחת הזהב וחמשת הכללים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4963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25 דק'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29718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017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תרגיל מהיר, ראיון ומשחק אבחון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0449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16 דק'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5204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5661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מההנחיה לשגרה: מיפוי ועץ החלטה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59359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8 דק'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06907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79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שלוש תחנות עבודה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14223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15 דק'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61772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כלי עזר: Perplexity, NotebookLM, Gamma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6908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9 דק'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45952" y="516635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120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סדנה בחדרי עבודה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20 דק'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45952" y="57150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760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גלריה, סיכום ומשימה לבית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7881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כללי כתיבה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0087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0087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7247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תחנות עבודה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8368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כלי עזר חדשים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90087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990087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27247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תוצר אמיתי ביד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1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🧪 נכנסים למעבדה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משחק Prompt Lab ילווה אותנו לאורך כל המפגש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הקישור (נשלח עכשיו בצ'אט):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prompt-lab-live.talwa3.chatgpt.site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פתחו את הקישור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בלשונית חדשה, ליד הזום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הצטרפו עם כינוי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שם אמיתי או שם מצחיק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סבב חימום ראשון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מתחילים לצבור נקודות כבר עכשיו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השאירו את המשחק פתוח. נחזור אליו כמה פעמים היום.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תרגיל מהיר: 5 דקות, מייל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קחו את ההנחיה החלשה והפכו אותה למנצחת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1371600"/>
          </a:xfrm>
          <a:prstGeom prst="roundRect">
            <a:avLst>
              <a:gd name="adj" fmla="val 3000"/>
            </a:avLst>
          </a:prstGeom>
          <a:solidFill>
            <a:srgbClr val="4A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❌  ההנחיה החלשה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603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"כתוב לי מייל ללקוח"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520440"/>
            <a:ext cx="5120640" cy="17830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בדקו את עצמכם: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1148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מי אני ומה ההקשר?</a:t>
            </a:r>
          </a:p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מה בדיוק אני צריך?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באיזה פורמט וטון?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בחרו לקוח ומצב אמיתי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תשלום שמתעכב, הצעת מחיר, תודה, התנצלות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כתבו לפי מי, מה, איך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שתיים או שלוש שורות מספיקות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הריצו בכלי שלכם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 או ג'מיני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הדביקו בצ'אט את ההנחיה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נבחר שלוש ונריץ בשידור חי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חמש דקות. לא צריך מושלם, צריך יותר טוב מ"כתוב לי מייל ללקוח".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טכניקה: תנו לו לראיין אתכם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לא יודעים מה לכתוב? בקשו מה-AI לשאול אתכם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39496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להעתקה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"אני רוצה לכתוב [מה]. לפני שאתה כותב, שאל אותי 5 שאלות שיעזרו לך לדייק. שאל שאלה אחת בכל פעם, וחכה לתשובה שלי."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99064" y="214884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756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לא צריך לדעת מראש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ה-AI יודע אילו פרטים חסרים לו, ושואל עליהם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081528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799064" y="331012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369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חושף מה ששכחתם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קהל, מטרה, טון, אורך: הכול עולה בשאלות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42816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799064" y="4471416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9826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מתאים במיוחד ל...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914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נאומים, הצעות מחיר, תוכניות עבודה, מכתבים רגישים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🎯  נסו עכשיו: "אני רוצה לכתוב ברכה ליום הולדת 50 של חבר. לפני שאתה כותב, שאל אותי 5 שאלות."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⚔️ קרב 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שני מתנדבים, משימה אחת, הקהל מכריע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🎯  המשימה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700" b="0" i="0" lang="he-IL">
                <a:solidFill>
                  <a:srgbClr val="EBEDF0"/>
                </a:solidFill>
                <a:latin typeface="Arial"/>
                <a:cs typeface="Arial"/>
              </a:rPr>
              <a:t>הזמנה לאירוע צוות של סוף שנה. עד 100 מילה, כולל תאריך, שעה ומקום. טון כיפי, אבל לא ילדותי.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שני מתנדבים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אחד כותב הנחיה, שלוש דקות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מריצים בשידור חי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אותו כלי, שתי הנחיות, זו לצד זו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הקהל מצביע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במשחק או בצ'אט: 1 או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את המנצחת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 בדיוק עשה את ההבדל?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הקריטריון: איזו תוצאה הייתם שולחים לצוות בלי לשנות אף מילה?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🖼️ גלריית ההנחיות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הכי טובות מהסדנה, על המסך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שלוש הנחיות על המסך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מהמשחק או מהצ'אט, לפני ואחרי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כל אחת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איזה רכיב עשה את ההבדל?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את הנחיית הערב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הצבעה במשחק, והמנצחת נכנסת לבנק של כולם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מה מחפשים בהנחיה טובה: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תפקיד וקהל ברורים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הקשר: מי אני ומה המצב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משימה ספציפית ומדידה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פורמט ואורך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גבולות: מה לא לעשות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👏  כל הנחיה שעבדה היום היא נכס. שמרו אותה לפני שסוגרים את החלון.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כרטיס הכיס: 8 כלים להנחיה מנצחת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צלמו מסך. הכרטיס נשלח גם במייל אחרי המפגש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7696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0576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מי, מה, איך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576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הקשר, משימה ופורמט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01928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ספציפיות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מספרים, קהל, מטרה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"אתה יועץ מנוסה..."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45973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טבלה, רשימה, 3 משפטים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"בלי הקדמה, בלי סיכום"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01928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מדביקים סגנון שאוהבים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1024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שיחה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1024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45973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ביקורת וראיון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"מה חסר?" "שאל אותי"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🧠  לא צריך את כולם בכל הנחיה. שלושה כלים נכונים כבר משנים את התוצאה.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אם תזכרו רק את זה, המפגש הצליח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ההנחיה היא 80% מהתוצאה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30 שניות של כתיבה חוסכות 30 דקות של תיקונים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שיחה, לא מברק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הטיוטה הראשונה היא נקודת פתיחה. משפרים בסבבים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בנק הנחיות = נכס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כל הנחיה שעבדה נשמרת, ומשמשת שוב ושוב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🧪  ועכשיו: התוצאות הסופיות מהמשחק, והמנצחים של הערב!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