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3.png"/><Relationship Id="rId6" Type="http://schemas.openxmlformats.org/officeDocument/2006/relationships/image" Target="../media/image-6-4.sv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4.png"/><Relationship Id="rId7" Type="http://schemas.openxmlformats.org/officeDocument/2006/relationships/image" Target="../media/image-9-5.svg"/><Relationship Id="rId8" Type="http://schemas.openxmlformats.org/officeDocument/2006/relationships/image" Target="../media/image-9-4.png"/><Relationship Id="rId9" Type="http://schemas.openxmlformats.org/officeDocument/2006/relationships/image" Target="../media/image-9-5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2.png"/><Relationship Id="rId7" Type="http://schemas.openxmlformats.org/officeDocument/2006/relationships/image" Target="../media/image-11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image" Target="../media/image-13-4.png"/><Relationship Id="rId5" Type="http://schemas.openxmlformats.org/officeDocument/2006/relationships/image" Target="../media/image-13-5.svg"/><Relationship Id="rId6" Type="http://schemas.openxmlformats.org/officeDocument/2006/relationships/image" Target="../media/image-13-6.png"/><Relationship Id="rId7" Type="http://schemas.openxmlformats.org/officeDocument/2006/relationships/image" Target="../media/image-13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1.png"/><Relationship Id="rId4" Type="http://schemas.openxmlformats.org/officeDocument/2006/relationships/image" Target="../media/image-14-2.svg"/><Relationship Id="rId5" Type="http://schemas.openxmlformats.org/officeDocument/2006/relationships/image" Target="../media/image-14-1.png"/><Relationship Id="rId6" Type="http://schemas.openxmlformats.org/officeDocument/2006/relationships/image" Target="../media/image-14-2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209998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 AI בסיסי למתחילים</a:t>
            </a:r>
            <a:endParaRPr lang="he-IL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899866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2: כתיבת הנחיות (פרומפטים)</a:t>
            </a:r>
            <a:endParaRPr lang="he-IL" sz="1850" dirty="0"/>
          </a:p>
        </p:txBody>
      </p:sp>
      <p:sp>
        <p:nvSpPr>
          <p:cNvPr id="5" name="Text 2"/>
          <p:cNvSpPr/>
          <p:nvPr/>
        </p:nvSpPr>
        <p:spPr>
          <a:xfrm>
            <a:off x="4928568" y="3490416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פתיחה: סבב מתרגול הבית – מה עבד? מה אכזב?</a:t>
            </a:r>
            <a:endParaRPr lang="he-IL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3948708"/>
            <a:ext cx="6296860" cy="699195"/>
          </a:xfrm>
          <a:prstGeom prst="roundRect">
            <a:avLst>
              <a:gd name="adj" fmla="val 11354"/>
            </a:avLst>
          </a:prstGeom>
          <a:solidFill>
            <a:srgbClr val="002A8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67" y="4191000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8024" y="4184948"/>
            <a:ext cx="610319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הסוד: רוב האכזבות = הנחיה חלשה. היום מתקנים את זה לתמיד.</a:t>
            </a:r>
            <a:endParaRPr lang="he-IL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423888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הניסוי: שתי הנחיות, אותו נושא</a:t>
            </a:r>
            <a:endParaRPr lang="he-IL" sz="3700" dirty="0"/>
          </a:p>
        </p:txBody>
      </p:sp>
      <p:sp>
        <p:nvSpPr>
          <p:cNvPr id="4" name="Shape 1"/>
          <p:cNvSpPr/>
          <p:nvPr/>
        </p:nvSpPr>
        <p:spPr>
          <a:xfrm>
            <a:off x="525350" y="2321620"/>
            <a:ext cx="3190101" cy="2654102"/>
          </a:xfrm>
          <a:prstGeom prst="roundRect">
            <a:avLst>
              <a:gd name="adj" fmla="val 5128"/>
            </a:avLst>
          </a:prstGeom>
          <a:solidFill>
            <a:srgbClr val="1F2A5D">
              <a:alpha val="9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759403" y="2534245"/>
            <a:ext cx="767041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</p:sp>
      <p:sp>
        <p:nvSpPr>
          <p:cNvPr id="6" name="Text 3"/>
          <p:cNvSpPr/>
          <p:nvPr/>
        </p:nvSpPr>
        <p:spPr>
          <a:xfrm>
            <a:off x="2263222" y="2590899"/>
            <a:ext cx="114981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he-IL" altLang="en-US" sz="11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 א׳</a:t>
            </a:r>
            <a:endParaRPr lang="he-IL" sz="1150" dirty="0"/>
          </a:p>
        </p:txBody>
      </p:sp>
      <p:sp>
        <p:nvSpPr>
          <p:cNvPr id="7" name="Text 4"/>
          <p:cNvSpPr/>
          <p:nvPr/>
        </p:nvSpPr>
        <p:spPr>
          <a:xfrm>
            <a:off x="714357" y="2896989"/>
            <a:ext cx="281208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"כתוב לי מייל ללקוח"</a:t>
            </a:r>
            <a:endParaRPr lang="he-IL" sz="1850" dirty="0"/>
          </a:p>
        </p:txBody>
      </p:sp>
      <p:sp>
        <p:nvSpPr>
          <p:cNvPr id="8" name="Text 5"/>
          <p:cNvSpPr/>
          <p:nvPr/>
        </p:nvSpPr>
        <p:spPr>
          <a:xfrm>
            <a:off x="714357" y="3393083"/>
            <a:ext cx="281208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 כללית, חסרת פרטים, תניב תוצאה גנרית.</a:t>
            </a:r>
            <a:endParaRPr lang="he-IL" sz="1450" dirty="0"/>
          </a:p>
        </p:txBody>
      </p:sp>
      <p:sp>
        <p:nvSpPr>
          <p:cNvPr id="9" name="Shape 6"/>
          <p:cNvSpPr/>
          <p:nvPr/>
        </p:nvSpPr>
        <p:spPr>
          <a:xfrm>
            <a:off x="6207466" y="2534245"/>
            <a:ext cx="757219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</p:sp>
      <p:sp>
        <p:nvSpPr>
          <p:cNvPr id="10" name="Text 7"/>
          <p:cNvSpPr/>
          <p:nvPr/>
        </p:nvSpPr>
        <p:spPr>
          <a:xfrm>
            <a:off x="5711285" y="2590899"/>
            <a:ext cx="113999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he-IL" altLang="en-US" sz="11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 ב׳</a:t>
            </a:r>
            <a:endParaRPr lang="he-IL" sz="1150" dirty="0"/>
          </a:p>
        </p:txBody>
      </p:sp>
      <p:sp>
        <p:nvSpPr>
          <p:cNvPr id="11" name="Text 8"/>
          <p:cNvSpPr/>
          <p:nvPr/>
        </p:nvSpPr>
        <p:spPr>
          <a:xfrm>
            <a:off x="4046833" y="2896989"/>
            <a:ext cx="2917851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"כתוב מייל ללקוח שמאחר בתשלום 30 יום, טון אדיב אך תקיף, עד 5 שורות, סיום עם הצעת פריסה"</a:t>
            </a:r>
            <a:endParaRPr lang="he-IL" sz="1850" dirty="0"/>
          </a:p>
        </p:txBody>
      </p:sp>
      <p:sp>
        <p:nvSpPr>
          <p:cNvPr id="12" name="Text 9"/>
          <p:cNvSpPr/>
          <p:nvPr/>
        </p:nvSpPr>
        <p:spPr>
          <a:xfrm>
            <a:off x="4046833" y="4314329"/>
            <a:ext cx="2917851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 ממוקדת, עם הקשר, פורמט וסגנון ברורים.</a:t>
            </a:r>
            <a:endParaRPr lang="he-IL" sz="1450" dirty="0"/>
          </a:p>
        </p:txBody>
      </p:sp>
      <p:sp>
        <p:nvSpPr>
          <p:cNvPr id="13" name="Text 10"/>
          <p:cNvSpPr/>
          <p:nvPr/>
        </p:nvSpPr>
        <p:spPr>
          <a:xfrm>
            <a:off x="356682" y="5188347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יצא מכל אחת?</a:t>
            </a:r>
            <a:endParaRPr lang="he-IL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1394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שאתה כותב = מה שאתה מקבל</a:t>
            </a:r>
            <a:endParaRPr lang="he-IL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81262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שכבה שמוסיפים — התשובה משתפרת</a:t>
            </a:r>
            <a:endParaRPr lang="he-IL" sz="1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71812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/>
                <a:gridCol w="3622915"/>
                <a:gridCol w="3622915"/>
              </a:tblGrid>
              <a:tr h="48834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מה כותבים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מה מקבלים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רמה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7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שאל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תשובה גרועה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 חלש</a:t>
                      </a:r>
                      <a:endParaRPr lang="en-US" sz="11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7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שאל + פרטים + כללים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תשובה טובה יותר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 בינוני</a:t>
                      </a:r>
                      <a:endParaRPr lang="en-US" sz="11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4597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שאל + פרטים + כללים + מטרה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תשובה שימושית ומדויקת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 מנצח</a:t>
                      </a:r>
                      <a:endParaRPr lang="en-US" sz="11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1890" y="5408315"/>
            <a:ext cx="1119486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ככל שמוסיפים שכבות — התשובה משתפרת. 30 שניות של כתיבה = פער עצום בתוצאה.</a:t>
            </a:r>
            <a:endParaRPr lang="he-IL" sz="1450" dirty="0"/>
          </a:p>
        </p:txBody>
      </p:sp>
      <p:sp>
        <p:nvSpPr>
          <p:cNvPr id="6" name="Shape 3"/>
          <p:cNvSpPr/>
          <p:nvPr/>
        </p:nvSpPr>
        <p:spPr>
          <a:xfrm>
            <a:off x="11504821" y="5195689"/>
            <a:ext cx="25399" cy="670917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18431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ההבדל על המסך</a:t>
            </a:r>
            <a:endParaRPr lang="he-IL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10718"/>
            <a:ext cx="10868745" cy="1687016"/>
          </a:xfrm>
          <a:prstGeom prst="roundRect">
            <a:avLst>
              <a:gd name="adj" fmla="val 4706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5848" y="2429768"/>
            <a:ext cx="5415323" cy="1648916"/>
          </a:xfrm>
          <a:custGeom>
            <a:avLst/>
            <a:gdLst/>
            <a:ahLst/>
            <a:cxnLst/>
            <a:rect l="l" t="t" r="r" b="b"/>
            <a:pathLst>
              <a:path w="5415323" h="1648916">
                <a:moveTo>
                  <a:pt x="66156" y="0"/>
                </a:moveTo>
                <a:lnTo>
                  <a:pt x="5415323" y="0"/>
                </a:lnTo>
                <a:lnTo>
                  <a:pt x="5415323" y="1648916"/>
                </a:lnTo>
                <a:lnTo>
                  <a:pt x="66156" y="1648916"/>
                </a:lnTo>
                <a:arcTo hR="66158" wR="66156" stAng="5400000" swAng="5400000"/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5" name="Text 3"/>
          <p:cNvSpPr/>
          <p:nvPr/>
        </p:nvSpPr>
        <p:spPr>
          <a:xfrm>
            <a:off x="6284854" y="2618780"/>
            <a:ext cx="503730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 א׳</a:t>
            </a:r>
            <a:endParaRPr lang="he-IL" sz="1850" dirty="0"/>
          </a:p>
        </p:txBody>
      </p:sp>
      <p:sp>
        <p:nvSpPr>
          <p:cNvPr id="6" name="Text 4"/>
          <p:cNvSpPr/>
          <p:nvPr/>
        </p:nvSpPr>
        <p:spPr>
          <a:xfrm>
            <a:off x="6284854" y="3039269"/>
            <a:ext cx="5037309" cy="604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spcAft>
                <a:spcPts val="850"/>
              </a:spcAft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מייל גנרי חסר ערך</a:t>
            </a:r>
            <a:endParaRPr lang="he-IL" sz="1450" dirty="0"/>
          </a:p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"שלום, אנא שלם את חשבונך. תודה."</a:t>
            </a:r>
            <a:endParaRPr lang="he-IL" sz="1450" dirty="0"/>
          </a:p>
        </p:txBody>
      </p:sp>
      <p:sp>
        <p:nvSpPr>
          <p:cNvPr id="7" name="Shape 5"/>
          <p:cNvSpPr/>
          <p:nvPr/>
        </p:nvSpPr>
        <p:spPr>
          <a:xfrm>
            <a:off x="680524" y="2429768"/>
            <a:ext cx="5415323" cy="1648916"/>
          </a:xfrm>
          <a:custGeom>
            <a:avLst/>
            <a:gdLst/>
            <a:ahLst/>
            <a:cxnLst/>
            <a:rect l="l" t="t" r="r" b="b"/>
            <a:pathLst>
              <a:path w="5415323" h="1648916">
                <a:moveTo>
                  <a:pt x="0" y="0"/>
                </a:moveTo>
                <a:lnTo>
                  <a:pt x="5349167" y="0"/>
                </a:lnTo>
                <a:arcTo hR="66158" wR="66156" stAng="16200000" swAng="5400000"/>
                <a:lnTo>
                  <a:pt x="5415323" y="1582758"/>
                </a:lnTo>
                <a:arcTo hR="66158" wR="66156" stAng="0" swAng="5400000"/>
                <a:lnTo>
                  <a:pt x="0" y="1648916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8" name="Shape 6"/>
          <p:cNvSpPr/>
          <p:nvPr/>
        </p:nvSpPr>
        <p:spPr>
          <a:xfrm>
            <a:off x="680524" y="2429768"/>
            <a:ext cx="25399" cy="1648916"/>
          </a:xfrm>
          <a:prstGeom prst="roundRect">
            <a:avLst>
              <a:gd name="adj" fmla="val 50001"/>
            </a:avLst>
          </a:prstGeom>
          <a:solidFill>
            <a:srgbClr val="002A80"/>
          </a:solidFill>
          <a:ln/>
        </p:spPr>
      </p:sp>
      <p:sp>
        <p:nvSpPr>
          <p:cNvPr id="9" name="Text 7"/>
          <p:cNvSpPr/>
          <p:nvPr/>
        </p:nvSpPr>
        <p:spPr>
          <a:xfrm>
            <a:off x="869531" y="2618780"/>
            <a:ext cx="503730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 ב׳</a:t>
            </a:r>
            <a:endParaRPr lang="he-IL" sz="1850" dirty="0"/>
          </a:p>
        </p:txBody>
      </p:sp>
      <p:sp>
        <p:nvSpPr>
          <p:cNvPr id="10" name="Text 8"/>
          <p:cNvSpPr/>
          <p:nvPr/>
        </p:nvSpPr>
        <p:spPr>
          <a:xfrm>
            <a:off x="869531" y="3039269"/>
            <a:ext cx="5037309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spcAft>
                <a:spcPts val="850"/>
              </a:spcAft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מייל מוכן לשליחה</a:t>
            </a:r>
            <a:endParaRPr lang="he-IL" sz="1450" dirty="0"/>
          </a:p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"שלום [שם], שמנו לב שחשבון מס׳ 1042 טרם שולם (30 יום). נשמח לסייע בפריסה נוחה — צרו קשר עד יום ה׳. בברכה, [שם]"</a:t>
            </a:r>
            <a:endParaRPr lang="he-IL" sz="1450" dirty="0"/>
          </a:p>
        </p:txBody>
      </p:sp>
      <p:sp>
        <p:nvSpPr>
          <p:cNvPr id="11" name="Text 9"/>
          <p:cNvSpPr/>
          <p:nvPr/>
        </p:nvSpPr>
        <p:spPr>
          <a:xfrm>
            <a:off x="51890" y="4310360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כלי, כמעט אותו מאמץ – פער עצום.</a:t>
            </a:r>
            <a:endParaRPr lang="he-IL" sz="1450" dirty="0"/>
          </a:p>
        </p:txBody>
      </p:sp>
      <p:sp>
        <p:nvSpPr>
          <p:cNvPr id="12" name="Text 10"/>
          <p:cNvSpPr/>
          <p:nvPr/>
        </p:nvSpPr>
        <p:spPr>
          <a:xfrm>
            <a:off x="51890" y="4981277"/>
            <a:ext cx="1119486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המסקנה: ההנחיה היא 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450" b="1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מהתוצאה.</a:t>
            </a:r>
            <a:endParaRPr lang="he-IL" sz="1450" dirty="0"/>
          </a:p>
        </p:txBody>
      </p:sp>
      <p:sp>
        <p:nvSpPr>
          <p:cNvPr id="13" name="Shape 11"/>
          <p:cNvSpPr/>
          <p:nvPr/>
        </p:nvSpPr>
        <p:spPr>
          <a:xfrm>
            <a:off x="11504821" y="4768652"/>
            <a:ext cx="25399" cy="670917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46907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נוסחת הזהב</a:t>
            </a:r>
            <a:endParaRPr lang="he-IL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36775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מרכיבים לכל הנחיה טובה</a:t>
            </a:r>
            <a:endParaRPr lang="he-IL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7338" y="2727325"/>
            <a:ext cx="3622882" cy="7560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96345" y="3672384"/>
            <a:ext cx="324486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אני ומה ההקשר</a:t>
            </a:r>
            <a:endParaRPr lang="he-IL" sz="1850" dirty="0"/>
          </a:p>
        </p:txBody>
      </p:sp>
      <p:sp>
        <p:nvSpPr>
          <p:cNvPr id="6" name="Text 3"/>
          <p:cNvSpPr/>
          <p:nvPr/>
        </p:nvSpPr>
        <p:spPr>
          <a:xfrm>
            <a:off x="8096345" y="4092873"/>
            <a:ext cx="324486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תן לכלי את הרקע שהוא צריך</a:t>
            </a:r>
            <a:endParaRPr lang="he-IL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456" y="2727325"/>
            <a:ext cx="3622882" cy="7560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73463" y="3672384"/>
            <a:ext cx="324486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בדיוק אני צריך</a:t>
            </a:r>
            <a:endParaRPr lang="he-IL" sz="1850" dirty="0"/>
          </a:p>
        </p:txBody>
      </p:sp>
      <p:sp>
        <p:nvSpPr>
          <p:cNvPr id="9" name="Text 5"/>
          <p:cNvSpPr/>
          <p:nvPr/>
        </p:nvSpPr>
        <p:spPr>
          <a:xfrm>
            <a:off x="4473463" y="4092873"/>
            <a:ext cx="324486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היה ספציפי: נושא, מטרה, קהל</a:t>
            </a:r>
            <a:endParaRPr lang="he-IL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2727325"/>
            <a:ext cx="3622882" cy="7560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0581" y="3672384"/>
            <a:ext cx="324486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באיזה פורמט וסגנון</a:t>
            </a:r>
            <a:endParaRPr lang="he-IL" sz="1850" dirty="0"/>
          </a:p>
        </p:txBody>
      </p:sp>
      <p:sp>
        <p:nvSpPr>
          <p:cNvPr id="12" name="Text 7"/>
          <p:cNvSpPr/>
          <p:nvPr/>
        </p:nvSpPr>
        <p:spPr>
          <a:xfrm>
            <a:off x="850581" y="4092873"/>
            <a:ext cx="324486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טבלה? מייל? 3 משפטים? טון?</a:t>
            </a:r>
            <a:endParaRPr lang="he-IL" sz="1450" dirty="0"/>
          </a:p>
        </p:txBody>
      </p:sp>
      <p:sp>
        <p:nvSpPr>
          <p:cNvPr id="13" name="Text 8"/>
          <p:cNvSpPr/>
          <p:nvPr/>
        </p:nvSpPr>
        <p:spPr>
          <a:xfrm>
            <a:off x="51890" y="4952802"/>
            <a:ext cx="1119486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הנחיה שתכתבו מהיום — בדקו: האם ענינו על שלושת השאלות?</a:t>
            </a:r>
            <a:endParaRPr lang="he-IL" sz="1450" dirty="0"/>
          </a:p>
        </p:txBody>
      </p:sp>
      <p:sp>
        <p:nvSpPr>
          <p:cNvPr id="14" name="Shape 9"/>
          <p:cNvSpPr/>
          <p:nvPr/>
        </p:nvSpPr>
        <p:spPr>
          <a:xfrm>
            <a:off x="11504821" y="4740176"/>
            <a:ext cx="25399" cy="670917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073051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כללים 1 ו-2: ספציפיות והקשר</a:t>
            </a:r>
            <a:endParaRPr lang="he-IL" sz="3700" dirty="0"/>
          </a:p>
        </p:txBody>
      </p:sp>
      <p:sp>
        <p:nvSpPr>
          <p:cNvPr id="4" name="Shape 1"/>
          <p:cNvSpPr/>
          <p:nvPr/>
        </p:nvSpPr>
        <p:spPr>
          <a:xfrm>
            <a:off x="6438838" y="2183408"/>
            <a:ext cx="1712374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602" y="2251373"/>
            <a:ext cx="151206" cy="1512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2658" y="2240062"/>
            <a:ext cx="186834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he-IL" altLang="en-US" sz="11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1: תהיו ספציפיים</a:t>
            </a:r>
            <a:endParaRPr lang="he-IL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683173"/>
            <a:ext cx="2917851" cy="13500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47767" y="2897584"/>
            <a:ext cx="2387441" cy="92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trike="sngStrike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תן דוגמאות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← 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48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תן 3 דוגמאות מתחום הקמעונאות</a:t>
            </a:r>
            <a:endParaRPr lang="he-IL" sz="1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4222254"/>
            <a:ext cx="2917851" cy="135007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447767" y="4436666"/>
            <a:ext cx="2387441" cy="92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trike="sngStrike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שפר את הטקסט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← 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48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קצר את הטקסט לחצי בלי לאבד את המסר המרכזי</a:t>
            </a:r>
            <a:endParaRPr lang="he-IL" sz="1850" dirty="0"/>
          </a:p>
        </p:txBody>
      </p:sp>
      <p:sp>
        <p:nvSpPr>
          <p:cNvPr id="11" name="Shape 5"/>
          <p:cNvSpPr/>
          <p:nvPr/>
        </p:nvSpPr>
        <p:spPr>
          <a:xfrm>
            <a:off x="9580918" y="2183408"/>
            <a:ext cx="1955652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1960" y="2251373"/>
            <a:ext cx="151206" cy="151209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084738" y="2240062"/>
            <a:ext cx="211162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he-IL" altLang="en-US" sz="11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2: תנו הקשר ותפקיד</a:t>
            </a:r>
            <a:endParaRPr lang="he-IL" sz="1150" dirty="0"/>
          </a:p>
        </p:txBody>
      </p:sp>
      <p:sp>
        <p:nvSpPr>
          <p:cNvPr id="14" name="Text 7"/>
          <p:cNvSpPr/>
          <p:nvPr/>
        </p:nvSpPr>
        <p:spPr>
          <a:xfrm>
            <a:off x="8618719" y="2683173"/>
            <a:ext cx="2917851" cy="907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"אני מנהלת כספים בחברת בנייה בינונית" משנה את כל התשובה.</a:t>
            </a:r>
            <a:endParaRPr lang="he-IL" sz="1450" dirty="0"/>
          </a:p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ואפשר לתת תפקיד לכלי:</a:t>
            </a:r>
            <a:endParaRPr lang="he-IL" sz="1450" dirty="0"/>
          </a:p>
        </p:txBody>
      </p:sp>
      <p:sp>
        <p:nvSpPr>
          <p:cNvPr id="15" name="Text 8"/>
          <p:cNvSpPr/>
          <p:nvPr/>
        </p:nvSpPr>
        <p:spPr>
          <a:xfrm>
            <a:off x="8009134" y="3972917"/>
            <a:ext cx="324397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"אתה יועץ מס ותיק. הסבר לי..."</a:t>
            </a:r>
            <a:endParaRPr lang="he-IL" sz="1450" dirty="0"/>
          </a:p>
        </p:txBody>
      </p:sp>
      <p:sp>
        <p:nvSpPr>
          <p:cNvPr id="16" name="Shape 9"/>
          <p:cNvSpPr/>
          <p:nvPr/>
        </p:nvSpPr>
        <p:spPr>
          <a:xfrm>
            <a:off x="11511171" y="3802856"/>
            <a:ext cx="25399" cy="585787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760"/>
            <a:ext cx="10868745" cy="604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650" b="1" spc="-73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3: הגדירו פורמט</a:t>
            </a:r>
            <a:endParaRPr lang="he-IL" sz="3650" dirty="0"/>
          </a:p>
        </p:txBody>
      </p:sp>
      <p:sp>
        <p:nvSpPr>
          <p:cNvPr id="3" name="Shape 1"/>
          <p:cNvSpPr/>
          <p:nvPr/>
        </p:nvSpPr>
        <p:spPr>
          <a:xfrm>
            <a:off x="8029473" y="1496715"/>
            <a:ext cx="3500747" cy="1453852"/>
          </a:xfrm>
          <a:prstGeom prst="roundRect">
            <a:avLst>
              <a:gd name="adj" fmla="val 537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66949" y="1701800"/>
            <a:ext cx="558191" cy="55820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0536" y="1855291"/>
            <a:ext cx="251116" cy="2511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34553" y="2443163"/>
            <a:ext cx="3090587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בטבלה</a:t>
            </a:r>
            <a:endParaRPr lang="he-IL" sz="1800" dirty="0"/>
          </a:p>
        </p:txBody>
      </p:sp>
      <p:sp>
        <p:nvSpPr>
          <p:cNvPr id="7" name="Shape 4"/>
          <p:cNvSpPr/>
          <p:nvPr/>
        </p:nvSpPr>
        <p:spPr>
          <a:xfrm>
            <a:off x="4345474" y="1496715"/>
            <a:ext cx="3500846" cy="1453852"/>
          </a:xfrm>
          <a:prstGeom prst="roundRect">
            <a:avLst>
              <a:gd name="adj" fmla="val 537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3049" y="1701800"/>
            <a:ext cx="558191" cy="55820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6636" y="1855291"/>
            <a:ext cx="251116" cy="2511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50554" y="2443163"/>
            <a:ext cx="3090686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ברשימה ממוספרת</a:t>
            </a:r>
            <a:endParaRPr lang="he-IL" sz="1800" dirty="0"/>
          </a:p>
        </p:txBody>
      </p:sp>
      <p:sp>
        <p:nvSpPr>
          <p:cNvPr id="11" name="Shape 7"/>
          <p:cNvSpPr/>
          <p:nvPr/>
        </p:nvSpPr>
        <p:spPr>
          <a:xfrm>
            <a:off x="661574" y="1496715"/>
            <a:ext cx="3500747" cy="1453852"/>
          </a:xfrm>
          <a:prstGeom prst="roundRect">
            <a:avLst>
              <a:gd name="adj" fmla="val 537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399050" y="1701800"/>
            <a:ext cx="558191" cy="55820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2637" y="1855291"/>
            <a:ext cx="251116" cy="25112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6654" y="2443163"/>
            <a:ext cx="3090587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ב-3 משפטים</a:t>
            </a:r>
            <a:endParaRPr lang="he-IL" sz="1800" dirty="0"/>
          </a:p>
        </p:txBody>
      </p:sp>
      <p:sp>
        <p:nvSpPr>
          <p:cNvPr id="15" name="Shape 10"/>
          <p:cNvSpPr/>
          <p:nvPr/>
        </p:nvSpPr>
        <p:spPr>
          <a:xfrm>
            <a:off x="6187523" y="3133725"/>
            <a:ext cx="5342697" cy="1453852"/>
          </a:xfrm>
          <a:prstGeom prst="roundRect">
            <a:avLst>
              <a:gd name="adj" fmla="val 537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0766949" y="3338810"/>
            <a:ext cx="558191" cy="55820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20536" y="3492302"/>
            <a:ext cx="251116" cy="25112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92603" y="4080173"/>
            <a:ext cx="4932537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כמייל</a:t>
            </a:r>
            <a:endParaRPr lang="he-IL" sz="1800" dirty="0"/>
          </a:p>
        </p:txBody>
      </p:sp>
      <p:sp>
        <p:nvSpPr>
          <p:cNvPr id="19" name="Shape 13"/>
          <p:cNvSpPr/>
          <p:nvPr/>
        </p:nvSpPr>
        <p:spPr>
          <a:xfrm>
            <a:off x="661574" y="3133725"/>
            <a:ext cx="5342796" cy="1453852"/>
          </a:xfrm>
          <a:prstGeom prst="roundRect">
            <a:avLst>
              <a:gd name="adj" fmla="val 537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241099" y="3338810"/>
            <a:ext cx="558191" cy="55820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94686" y="3492302"/>
            <a:ext cx="251116" cy="25112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66654" y="4080173"/>
            <a:ext cx="4932636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כנקודות לדיבור</a:t>
            </a:r>
            <a:endParaRPr lang="he-IL" sz="1800" dirty="0"/>
          </a:p>
        </p:txBody>
      </p:sp>
      <p:sp>
        <p:nvSpPr>
          <p:cNvPr id="23" name="Shape 16"/>
          <p:cNvSpPr/>
          <p:nvPr/>
        </p:nvSpPr>
        <p:spPr>
          <a:xfrm>
            <a:off x="661475" y="4793555"/>
            <a:ext cx="10868745" cy="680740"/>
          </a:xfrm>
          <a:prstGeom prst="roundRect">
            <a:avLst>
              <a:gd name="adj" fmla="val 11480"/>
            </a:avLst>
          </a:prstGeom>
          <a:solidFill>
            <a:srgbClr val="4B3F02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505" y="5025430"/>
            <a:ext cx="232563" cy="18603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56514" y="5023148"/>
            <a:ext cx="1068767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שלא תגדירו – הכלי יחליט בשבילכם.</a:t>
            </a:r>
            <a:endParaRPr lang="he-IL" sz="1450" dirty="0"/>
          </a:p>
        </p:txBody>
      </p:sp>
      <p:sp>
        <p:nvSpPr>
          <p:cNvPr id="26" name="Text 18"/>
          <p:cNvSpPr/>
          <p:nvPr/>
        </p:nvSpPr>
        <p:spPr>
          <a:xfrm>
            <a:off x="51890" y="5886252"/>
            <a:ext cx="1119923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לדוגמה: "ענה ב-3 נקודות בלבד, ללא הקדמה, ללא סיכום"</a:t>
            </a:r>
            <a:endParaRPr lang="he-IL" sz="1450" dirty="0"/>
          </a:p>
        </p:txBody>
      </p:sp>
      <p:sp>
        <p:nvSpPr>
          <p:cNvPr id="27" name="Shape 19"/>
          <p:cNvSpPr/>
          <p:nvPr/>
        </p:nvSpPr>
        <p:spPr>
          <a:xfrm>
            <a:off x="11504821" y="5680273"/>
            <a:ext cx="25399" cy="651867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2902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הדגמה חיה: בנייה שכבה-שכבה</a:t>
            </a:r>
            <a:endParaRPr lang="he-IL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362770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אותה פגישה, ארבע הרצות — רואים את הפער בזמן אמת</a:t>
            </a:r>
            <a:endParaRPr lang="he-IL" sz="1850" dirty="0"/>
          </a:p>
        </p:txBody>
      </p:sp>
      <p:sp>
        <p:nvSpPr>
          <p:cNvPr id="4" name="Text 2"/>
          <p:cNvSpPr/>
          <p:nvPr/>
        </p:nvSpPr>
        <p:spPr>
          <a:xfrm>
            <a:off x="11152206" y="1953320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90401" y="2258616"/>
            <a:ext cx="5339820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6" name="Text 4"/>
          <p:cNvSpPr/>
          <p:nvPr/>
        </p:nvSpPr>
        <p:spPr>
          <a:xfrm>
            <a:off x="6190401" y="2403872"/>
            <a:ext cx="533982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בסיס — סכם לי את הפגישה.</a:t>
            </a:r>
            <a:endParaRPr lang="he-IL" sz="1850" dirty="0"/>
          </a:p>
        </p:txBody>
      </p:sp>
      <p:sp>
        <p:nvSpPr>
          <p:cNvPr id="7" name="Text 5"/>
          <p:cNvSpPr/>
          <p:nvPr/>
        </p:nvSpPr>
        <p:spPr>
          <a:xfrm>
            <a:off x="6190401" y="2824361"/>
            <a:ext cx="533982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תוצאה: סיכום כללי וחסר</a:t>
            </a:r>
            <a:endParaRPr lang="he-IL" sz="1450" dirty="0"/>
          </a:p>
        </p:txBody>
      </p:sp>
      <p:sp>
        <p:nvSpPr>
          <p:cNvPr id="8" name="Text 6"/>
          <p:cNvSpPr/>
          <p:nvPr/>
        </p:nvSpPr>
        <p:spPr>
          <a:xfrm>
            <a:off x="5623380" y="1953320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2258616"/>
            <a:ext cx="5339919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2403872"/>
            <a:ext cx="5339919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הקשר — סכם פגישת לקוח שדנה בחריגה מתקציב. ציין מטרות ונקודות מרכזיות.</a:t>
            </a:r>
            <a:endParaRPr lang="he-IL" sz="1850" dirty="0"/>
          </a:p>
        </p:txBody>
      </p:sp>
      <p:sp>
        <p:nvSpPr>
          <p:cNvPr id="11" name="Text 9"/>
          <p:cNvSpPr/>
          <p:nvPr/>
        </p:nvSpPr>
        <p:spPr>
          <a:xfrm>
            <a:off x="661475" y="3131443"/>
            <a:ext cx="533991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תוצאה: ממוקד יותר</a:t>
            </a:r>
            <a:endParaRPr lang="he-IL" sz="1450" dirty="0"/>
          </a:p>
        </p:txBody>
      </p:sp>
      <p:sp>
        <p:nvSpPr>
          <p:cNvPr id="12" name="Text 10"/>
          <p:cNvSpPr/>
          <p:nvPr/>
        </p:nvSpPr>
        <p:spPr>
          <a:xfrm>
            <a:off x="11152206" y="3707805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90401" y="3994150"/>
            <a:ext cx="5339820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4" name="Text 12"/>
          <p:cNvSpPr/>
          <p:nvPr/>
        </p:nvSpPr>
        <p:spPr>
          <a:xfrm>
            <a:off x="6190401" y="4158357"/>
            <a:ext cx="5339820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פורמט — ...בטבלה: נושא | החלטה | אחראי | תאריך יעד.</a:t>
            </a:r>
            <a:endParaRPr lang="he-IL" sz="1850" dirty="0"/>
          </a:p>
        </p:txBody>
      </p:sp>
      <p:sp>
        <p:nvSpPr>
          <p:cNvPr id="15" name="Text 13"/>
          <p:cNvSpPr/>
          <p:nvPr/>
        </p:nvSpPr>
        <p:spPr>
          <a:xfrm>
            <a:off x="6190401" y="4885928"/>
            <a:ext cx="533982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תוצאה: מוכן לשימוש</a:t>
            </a:r>
            <a:endParaRPr lang="he-IL" sz="1450" dirty="0"/>
          </a:p>
        </p:txBody>
      </p:sp>
      <p:sp>
        <p:nvSpPr>
          <p:cNvPr id="16" name="Text 14"/>
          <p:cNvSpPr/>
          <p:nvPr/>
        </p:nvSpPr>
        <p:spPr>
          <a:xfrm>
            <a:off x="5623380" y="3707805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4013101"/>
            <a:ext cx="5339919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158357"/>
            <a:ext cx="533991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קהל — ...לשליחה למנהל הפרויקט שלא היה בפגישה.</a:t>
            </a:r>
            <a:endParaRPr lang="he-IL" sz="1850" dirty="0"/>
          </a:p>
        </p:txBody>
      </p:sp>
      <p:sp>
        <p:nvSpPr>
          <p:cNvPr id="19" name="Text 17"/>
          <p:cNvSpPr/>
          <p:nvPr/>
        </p:nvSpPr>
        <p:spPr>
          <a:xfrm>
            <a:off x="661475" y="4578846"/>
            <a:ext cx="533991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תוצאה: מוכן לשליחה</a:t>
            </a:r>
            <a:endParaRPr lang="he-IL" sz="1450" dirty="0"/>
          </a:p>
        </p:txBody>
      </p:sp>
      <p:sp>
        <p:nvSpPr>
          <p:cNvPr id="20" name="Shape 18"/>
          <p:cNvSpPr/>
          <p:nvPr/>
        </p:nvSpPr>
        <p:spPr>
          <a:xfrm>
            <a:off x="661475" y="5448102"/>
            <a:ext cx="10868745" cy="699195"/>
          </a:xfrm>
          <a:prstGeom prst="roundRect">
            <a:avLst>
              <a:gd name="adj" fmla="val 11354"/>
            </a:avLst>
          </a:prstGeom>
          <a:solidFill>
            <a:srgbClr val="183A13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690394"/>
            <a:ext cx="236234" cy="18901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66138" y="5722144"/>
            <a:ext cx="1067507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שלב מוסיף שכבה — ורואים את התשובה משתפרת בזמן אמת.</a:t>
            </a:r>
            <a:endParaRPr lang="he-IL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46894"/>
            <a:ext cx="6296860" cy="55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350" b="1" spc="-6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כלים שמשדרגים כל הנחיה</a:t>
            </a:r>
            <a:endParaRPr lang="he-IL" sz="3350" dirty="0"/>
          </a:p>
        </p:txBody>
      </p:sp>
      <p:sp>
        <p:nvSpPr>
          <p:cNvPr id="4" name="Shape 1"/>
          <p:cNvSpPr/>
          <p:nvPr/>
        </p:nvSpPr>
        <p:spPr>
          <a:xfrm>
            <a:off x="2116878" y="1510903"/>
            <a:ext cx="1484077" cy="260152"/>
          </a:xfrm>
          <a:prstGeom prst="roundRect">
            <a:avLst>
              <a:gd name="adj" fmla="val 22124"/>
            </a:avLst>
          </a:prstGeom>
          <a:solidFill>
            <a:srgbClr val="00194D"/>
          </a:solidFill>
          <a:ln/>
        </p:spPr>
      </p:sp>
      <p:sp>
        <p:nvSpPr>
          <p:cNvPr id="5" name="Text 2"/>
          <p:cNvSpPr/>
          <p:nvPr/>
        </p:nvSpPr>
        <p:spPr>
          <a:xfrm>
            <a:off x="1609982" y="1562199"/>
            <a:ext cx="1888284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he-IL" altLang="en-US" sz="10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לא לעשות (איסורים)</a:t>
            </a:r>
            <a:endParaRPr lang="he-IL" sz="1050" dirty="0"/>
          </a:p>
        </p:txBody>
      </p:sp>
      <p:sp>
        <p:nvSpPr>
          <p:cNvPr id="6" name="Text 3"/>
          <p:cNvSpPr/>
          <p:nvPr/>
        </p:nvSpPr>
        <p:spPr>
          <a:xfrm>
            <a:off x="661475" y="1945680"/>
            <a:ext cx="2939480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3000"/>
              </a:lnSpc>
              <a:buNone/>
            </a:pPr>
            <a:r>
              <a:rPr lang="he-IL" altLang="en-US" sz="13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הכלי מנסה לרצות — אם לא תגבילו, הוא יוסיף הקדמות, בולטים, סימני קריאה וסיכומים שלא ביקשתם.</a:t>
            </a:r>
            <a:endParaRPr lang="he-IL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56991"/>
            <a:ext cx="2939480" cy="9372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1772" y="2947293"/>
            <a:ext cx="2482689" cy="556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650" b="1" spc="-34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הקדמה — קפוץ ישר לתוכן</a:t>
            </a:r>
            <a:endParaRPr lang="he-IL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849390"/>
            <a:ext cx="2939480" cy="6589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1772" y="4039691"/>
            <a:ext cx="2482689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650" b="1" spc="-34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סימני קריאה</a:t>
            </a:r>
            <a:endParaRPr lang="he-IL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663480"/>
            <a:ext cx="2939480" cy="65891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1772" y="4853781"/>
            <a:ext cx="2482689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650" b="1" spc="-34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'בוודאי! אשמח לעזור'</a:t>
            </a:r>
            <a:endParaRPr lang="he-IL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477570"/>
            <a:ext cx="2939480" cy="6589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51772" y="5667871"/>
            <a:ext cx="2482689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650" b="1" spc="-34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סיכום בסוף</a:t>
            </a:r>
            <a:endParaRPr lang="he-IL" sz="1650" dirty="0"/>
          </a:p>
        </p:txBody>
      </p:sp>
      <p:sp>
        <p:nvSpPr>
          <p:cNvPr id="15" name="Shape 8"/>
          <p:cNvSpPr/>
          <p:nvPr/>
        </p:nvSpPr>
        <p:spPr>
          <a:xfrm>
            <a:off x="5247152" y="1510903"/>
            <a:ext cx="1717533" cy="260152"/>
          </a:xfrm>
          <a:prstGeom prst="roundRect">
            <a:avLst>
              <a:gd name="adj" fmla="val 22124"/>
            </a:avLst>
          </a:prstGeom>
          <a:solidFill>
            <a:srgbClr val="00194D"/>
          </a:solidFill>
          <a:ln/>
        </p:spPr>
      </p:sp>
      <p:sp>
        <p:nvSpPr>
          <p:cNvPr id="16" name="Text 9"/>
          <p:cNvSpPr/>
          <p:nvPr/>
        </p:nvSpPr>
        <p:spPr>
          <a:xfrm>
            <a:off x="4740256" y="1562199"/>
            <a:ext cx="2121740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he-IL" altLang="en-US" sz="10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לסגנון (FEW-SHOT)</a:t>
            </a:r>
            <a:endParaRPr lang="he-IL" sz="1050" dirty="0"/>
          </a:p>
        </p:txBody>
      </p:sp>
      <p:sp>
        <p:nvSpPr>
          <p:cNvPr id="17" name="Text 10"/>
          <p:cNvSpPr/>
          <p:nvPr/>
        </p:nvSpPr>
        <p:spPr>
          <a:xfrm>
            <a:off x="4025204" y="1945680"/>
            <a:ext cx="2939480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3000"/>
              </a:lnSpc>
              <a:buNone/>
            </a:pPr>
            <a:r>
              <a:rPr lang="he-IL" altLang="en-US" sz="13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הדרך הכי מהירה ללמד את הכלי את הסגנון שלכם — תנו לו דוגמה.</a:t>
            </a:r>
            <a:endParaRPr lang="he-IL" sz="1300" dirty="0"/>
          </a:p>
        </p:txBody>
      </p:sp>
      <p:sp>
        <p:nvSpPr>
          <p:cNvPr id="18" name="Text 11"/>
          <p:cNvSpPr/>
          <p:nvPr/>
        </p:nvSpPr>
        <p:spPr>
          <a:xfrm>
            <a:off x="4025204" y="2684463"/>
            <a:ext cx="2682609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3000"/>
              </a:lnSpc>
              <a:buNone/>
            </a:pPr>
            <a:r>
              <a:rPr lang="he-IL" altLang="en-US" sz="13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הנה מייל שכתבתי בעבר: [מדביקים דוגמה]. כתוב מייל דומה ל...</a:t>
            </a:r>
            <a:endParaRPr lang="he-IL" sz="1300" dirty="0"/>
          </a:p>
        </p:txBody>
      </p:sp>
      <p:sp>
        <p:nvSpPr>
          <p:cNvPr id="19" name="Shape 12"/>
          <p:cNvSpPr/>
          <p:nvPr/>
        </p:nvSpPr>
        <p:spPr>
          <a:xfrm>
            <a:off x="6945635" y="2544763"/>
            <a:ext cx="19050" cy="703858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  <p:sp>
        <p:nvSpPr>
          <p:cNvPr id="20" name="Text 13"/>
          <p:cNvSpPr/>
          <p:nvPr/>
        </p:nvSpPr>
        <p:spPr>
          <a:xfrm>
            <a:off x="4025204" y="3423245"/>
            <a:ext cx="2939480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3000"/>
              </a:lnSpc>
              <a:buNone/>
            </a:pPr>
            <a:r>
              <a:rPr lang="he-IL" altLang="en-US" sz="13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הכלי ילמד את הטון, האורך, והמבנה — בלי שתסבירו אותם במילים.</a:t>
            </a:r>
            <a:endParaRPr lang="he-IL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27149"/>
            <a:ext cx="6296860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050" b="1" spc="-62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4: שיחה, לא מברק</a:t>
            </a:r>
            <a:endParaRPr lang="he-IL" sz="3050" dirty="0"/>
          </a:p>
        </p:txBody>
      </p:sp>
      <p:sp>
        <p:nvSpPr>
          <p:cNvPr id="4" name="Text 1"/>
          <p:cNvSpPr/>
          <p:nvPr/>
        </p:nvSpPr>
        <p:spPr>
          <a:xfrm>
            <a:off x="51890" y="1230213"/>
            <a:ext cx="690644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9000"/>
              </a:lnSpc>
              <a:buNone/>
            </a:pPr>
            <a:r>
              <a:rPr lang="he-IL" altLang="en-US" sz="12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חייבים לקלוע בפעם הראשונה.</a:t>
            </a:r>
            <a:endParaRPr lang="he-IL" sz="1200" dirty="0"/>
          </a:p>
        </p:txBody>
      </p:sp>
      <p:sp>
        <p:nvSpPr>
          <p:cNvPr id="5" name="Shape 2"/>
          <p:cNvSpPr/>
          <p:nvPr/>
        </p:nvSpPr>
        <p:spPr>
          <a:xfrm>
            <a:off x="6332280" y="1562001"/>
            <a:ext cx="626055" cy="939205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7934" y="1914227"/>
            <a:ext cx="234746" cy="2347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1718469"/>
            <a:ext cx="554122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500" b="1" spc="-31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"קצר יותר"</a:t>
            </a:r>
            <a:endParaRPr lang="he-IL" sz="1500" dirty="0"/>
          </a:p>
        </p:txBody>
      </p:sp>
      <p:sp>
        <p:nvSpPr>
          <p:cNvPr id="8" name="Shape 4"/>
          <p:cNvSpPr/>
          <p:nvPr/>
        </p:nvSpPr>
        <p:spPr>
          <a:xfrm>
            <a:off x="6332280" y="2630785"/>
            <a:ext cx="626055" cy="939205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934" y="2983012"/>
            <a:ext cx="234746" cy="2347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2787253"/>
            <a:ext cx="554122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500" b="1" spc="-31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"פחות רשמי"</a:t>
            </a:r>
            <a:endParaRPr lang="he-IL" sz="1500" dirty="0"/>
          </a:p>
        </p:txBody>
      </p:sp>
      <p:sp>
        <p:nvSpPr>
          <p:cNvPr id="11" name="Shape 6"/>
          <p:cNvSpPr/>
          <p:nvPr/>
        </p:nvSpPr>
        <p:spPr>
          <a:xfrm>
            <a:off x="6332280" y="3699570"/>
            <a:ext cx="626055" cy="939205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7934" y="4051796"/>
            <a:ext cx="234746" cy="2347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3856038"/>
            <a:ext cx="554122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500" b="1" spc="-31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"תן גרסה נוספת"</a:t>
            </a:r>
            <a:endParaRPr lang="he-IL" sz="1500" dirty="0"/>
          </a:p>
        </p:txBody>
      </p:sp>
      <p:sp>
        <p:nvSpPr>
          <p:cNvPr id="14" name="Shape 8"/>
          <p:cNvSpPr/>
          <p:nvPr/>
        </p:nvSpPr>
        <p:spPr>
          <a:xfrm>
            <a:off x="6332280" y="4768354"/>
            <a:ext cx="626055" cy="939205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7934" y="5120580"/>
            <a:ext cx="234746" cy="23475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4924822"/>
            <a:ext cx="554122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500" b="1" spc="-31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"עכשיו כטבלה"</a:t>
            </a:r>
            <a:endParaRPr lang="he-IL" sz="1500" dirty="0"/>
          </a:p>
        </p:txBody>
      </p:sp>
      <p:sp>
        <p:nvSpPr>
          <p:cNvPr id="17" name="Text 10"/>
          <p:cNvSpPr/>
          <p:nvPr/>
        </p:nvSpPr>
        <p:spPr>
          <a:xfrm>
            <a:off x="51890" y="5999063"/>
            <a:ext cx="667169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9000"/>
              </a:lnSpc>
              <a:buNone/>
            </a:pPr>
            <a:r>
              <a:rPr lang="he-IL" altLang="en-US" sz="12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הכלי זוכר את כל השיחה – נצלו את זה.</a:t>
            </a:r>
            <a:endParaRPr lang="he-IL" sz="1200" dirty="0"/>
          </a:p>
        </p:txBody>
      </p:sp>
      <p:sp>
        <p:nvSpPr>
          <p:cNvPr id="18" name="Shape 11"/>
          <p:cNvSpPr/>
          <p:nvPr/>
        </p:nvSpPr>
        <p:spPr>
          <a:xfrm>
            <a:off x="6939285" y="5853311"/>
            <a:ext cx="19050" cy="477540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1510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5: בקשו ביקורת</a:t>
            </a:r>
            <a:endParaRPr lang="he-IL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21867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22667" y="2180927"/>
            <a:ext cx="411380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הכלי הוא לא רק כותב – הוא עורך מצוין.</a:t>
            </a:r>
            <a:endParaRPr lang="he-IL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2251" y="2639219"/>
            <a:ext cx="3504219" cy="7359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46658" y="2853630"/>
            <a:ext cx="297380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"מה חסר בטקסט הזה?"</a:t>
            </a:r>
            <a:endParaRPr lang="he-IL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2251" y="3564136"/>
            <a:ext cx="3504219" cy="10429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46658" y="3778548"/>
            <a:ext cx="2973809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"אילו שאלות ישאל אותי הלקוח אחרי שיקרא?"</a:t>
            </a:r>
            <a:endParaRPr lang="he-IL" sz="1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32251" y="4796135"/>
            <a:ext cx="3504219" cy="73590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246658" y="5010547"/>
            <a:ext cx="297380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"מצא 3 חולשות בטיעון שלי"</a:t>
            </a:r>
            <a:endParaRPr lang="he-IL" sz="1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5124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 אבחון: 4 הנחיות חלשות</a:t>
            </a:r>
            <a:endParaRPr lang="he-IL" sz="3700" dirty="0"/>
          </a:p>
        </p:txBody>
      </p:sp>
      <p:sp>
        <p:nvSpPr>
          <p:cNvPr id="3" name="Shape 1"/>
          <p:cNvSpPr/>
          <p:nvPr/>
        </p:nvSpPr>
        <p:spPr>
          <a:xfrm>
            <a:off x="11104979" y="182741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75869" y="1855788"/>
            <a:ext cx="28346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2200" b="1" spc="-4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4014" y="1886446"/>
            <a:ext cx="47019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"כתוב פוסט"</a:t>
            </a:r>
            <a:endParaRPr lang="he-IL" sz="1850" dirty="0"/>
          </a:p>
        </p:txBody>
      </p:sp>
      <p:sp>
        <p:nvSpPr>
          <p:cNvPr id="6" name="Text 4"/>
          <p:cNvSpPr/>
          <p:nvPr/>
        </p:nvSpPr>
        <p:spPr>
          <a:xfrm>
            <a:off x="6214014" y="2306935"/>
            <a:ext cx="4701958" cy="1096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spcAft>
                <a:spcPts val="850"/>
              </a:spcAft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הבעיה? חסר הכל: נושא, קהל, אורך, פלטפורמה.</a:t>
            </a:r>
            <a:endParaRPr lang="he-IL" sz="1450" dirty="0"/>
          </a:p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אחרי: "כתוב פוסט לינקדאין של 150 מילה לבעלי עסקים קטנים על טעות נפוצה בניהול תזרים מזומנים. טון מקצועי, סיום עם שאלה לקהל."</a:t>
            </a:r>
            <a:endParaRPr lang="he-IL" sz="1450" dirty="0"/>
          </a:p>
        </p:txBody>
      </p:sp>
      <p:sp>
        <p:nvSpPr>
          <p:cNvPr id="7" name="Shape 5"/>
          <p:cNvSpPr/>
          <p:nvPr/>
        </p:nvSpPr>
        <p:spPr>
          <a:xfrm>
            <a:off x="5552539" y="182741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429" y="1855788"/>
            <a:ext cx="28346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2200" b="1" spc="-4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1475" y="1886446"/>
            <a:ext cx="470205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"תסביר לי על מס"</a:t>
            </a:r>
            <a:endParaRPr lang="he-IL" sz="1850" dirty="0"/>
          </a:p>
        </p:txBody>
      </p:sp>
      <p:sp>
        <p:nvSpPr>
          <p:cNvPr id="10" name="Text 8"/>
          <p:cNvSpPr/>
          <p:nvPr/>
        </p:nvSpPr>
        <p:spPr>
          <a:xfrm>
            <a:off x="661475" y="2306935"/>
            <a:ext cx="4702057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spcAft>
                <a:spcPts val="850"/>
              </a:spcAft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כללית מדי – איזה מס, למי, לאיזה צורך?</a:t>
            </a:r>
            <a:endParaRPr lang="he-IL" sz="1450" dirty="0"/>
          </a:p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אחרי: "אני עצמאי בתחום הייעוץ. הסבר לי בשפה פשוטה מה זה מס ערך מוסף ומתי אני חייב להירשם — ב-5 נקודות."</a:t>
            </a:r>
            <a:endParaRPr lang="he-IL" sz="1450" dirty="0"/>
          </a:p>
        </p:txBody>
      </p:sp>
      <p:sp>
        <p:nvSpPr>
          <p:cNvPr id="11" name="Shape 9"/>
          <p:cNvSpPr/>
          <p:nvPr/>
        </p:nvSpPr>
        <p:spPr>
          <a:xfrm>
            <a:off x="11104979" y="378102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75869" y="3809405"/>
            <a:ext cx="28346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2200" b="1" spc="-4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4014" y="3840063"/>
            <a:ext cx="47019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"כתוב מייל קצר ומפורט עם כל הפרטים"</a:t>
            </a:r>
            <a:endParaRPr lang="he-IL" sz="1850" dirty="0"/>
          </a:p>
        </p:txBody>
      </p:sp>
      <p:sp>
        <p:nvSpPr>
          <p:cNvPr id="14" name="Text 12"/>
          <p:cNvSpPr/>
          <p:nvPr/>
        </p:nvSpPr>
        <p:spPr>
          <a:xfrm>
            <a:off x="6214014" y="4260552"/>
            <a:ext cx="4701958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spcAft>
                <a:spcPts val="850"/>
              </a:spcAft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בקשות סותרות – קצר ומפורט לא הולכים יחד.</a:t>
            </a:r>
            <a:endParaRPr lang="he-IL" sz="1450" dirty="0"/>
          </a:p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אחרי: "כתוב מייל של עד 5 שורות ללקוח שמאחר בתשלום. כלול: סכום, תאריך פירעון, הצעת פריסה. טון אדיב."</a:t>
            </a:r>
            <a:endParaRPr lang="he-IL" sz="1450" dirty="0"/>
          </a:p>
        </p:txBody>
      </p:sp>
      <p:sp>
        <p:nvSpPr>
          <p:cNvPr id="15" name="Shape 13"/>
          <p:cNvSpPr/>
          <p:nvPr/>
        </p:nvSpPr>
        <p:spPr>
          <a:xfrm>
            <a:off x="5552539" y="378102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429" y="3809405"/>
            <a:ext cx="28346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2200" b="1" spc="-4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1475" y="3840063"/>
            <a:ext cx="470205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"סכם את המסמך" בלי לצרף מסמך</a:t>
            </a:r>
            <a:endParaRPr lang="he-IL" sz="1850" dirty="0"/>
          </a:p>
        </p:txBody>
      </p:sp>
      <p:sp>
        <p:nvSpPr>
          <p:cNvPr id="18" name="Text 16"/>
          <p:cNvSpPr/>
          <p:nvPr/>
        </p:nvSpPr>
        <p:spPr>
          <a:xfrm>
            <a:off x="661475" y="4260552"/>
            <a:ext cx="4702057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spcAft>
                <a:spcPts val="850"/>
              </a:spcAft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ההקשר עצמו.</a:t>
            </a:r>
            <a:endParaRPr lang="he-IL" sz="1450" dirty="0"/>
          </a:p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אחרי: [מדביקים את המסמך] "סכם ב-3 נקודות: מה הבעיה, מה הפתרון המוצע, מה הצעד הבא."</a:t>
            </a:r>
            <a:endParaRPr lang="he-IL" sz="1450" dirty="0"/>
          </a:p>
        </p:txBody>
      </p:sp>
      <p:sp>
        <p:nvSpPr>
          <p:cNvPr id="19" name="Shape 17"/>
          <p:cNvSpPr/>
          <p:nvPr/>
        </p:nvSpPr>
        <p:spPr>
          <a:xfrm>
            <a:off x="661475" y="5323582"/>
            <a:ext cx="10868745" cy="699195"/>
          </a:xfrm>
          <a:prstGeom prst="roundRect">
            <a:avLst>
              <a:gd name="adj" fmla="val 11354"/>
            </a:avLst>
          </a:prstGeom>
          <a:solidFill>
            <a:srgbClr val="183A13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565874"/>
            <a:ext cx="236234" cy="18901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66138" y="5559822"/>
            <a:ext cx="1067507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הפתרון: כל אחת מנוסחת מחדש לפי נוסחת 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מי-מה-איך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he-IL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258689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התרגיל המרכזי (20 דקות)</a:t>
            </a:r>
            <a:endParaRPr lang="he-IL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9328" y="2222500"/>
            <a:ext cx="189007" cy="18901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904458" y="2461716"/>
            <a:ext cx="3053877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6" name="Text 2"/>
          <p:cNvSpPr/>
          <p:nvPr/>
        </p:nvSpPr>
        <p:spPr>
          <a:xfrm>
            <a:off x="3904458" y="2606973"/>
            <a:ext cx="305387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כתיבה אישית</a:t>
            </a:r>
            <a:endParaRPr lang="he-IL" sz="1850" dirty="0"/>
          </a:p>
        </p:txBody>
      </p:sp>
      <p:sp>
        <p:nvSpPr>
          <p:cNvPr id="7" name="Text 3"/>
          <p:cNvSpPr/>
          <p:nvPr/>
        </p:nvSpPr>
        <p:spPr>
          <a:xfrm>
            <a:off x="3904458" y="3027462"/>
            <a:ext cx="305387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משתתף כותב 3 הנחיות אמיתיות מהעבודה שלו לפי הנוסחה, מריץ ומשפר פעם אחת.</a:t>
            </a:r>
            <a:endParaRPr lang="he-IL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26444" y="2222500"/>
            <a:ext cx="189007" cy="18901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61475" y="2480667"/>
            <a:ext cx="3053976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0" name="Text 5"/>
          <p:cNvSpPr/>
          <p:nvPr/>
        </p:nvSpPr>
        <p:spPr>
          <a:xfrm>
            <a:off x="661475" y="2606973"/>
            <a:ext cx="305397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עבודה בזוגות</a:t>
            </a:r>
            <a:endParaRPr lang="he-IL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3027462"/>
            <a:ext cx="305397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אחד מציג לשכן את הלפני-אחרי.</a:t>
            </a:r>
            <a:endParaRPr lang="he-IL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69328" y="4123432"/>
            <a:ext cx="189007" cy="18901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61475" y="4381599"/>
            <a:ext cx="6296860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4" name="Text 8"/>
          <p:cNvSpPr/>
          <p:nvPr/>
        </p:nvSpPr>
        <p:spPr>
          <a:xfrm>
            <a:off x="661475" y="4545707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בנק ההנחיות האישי</a:t>
            </a:r>
            <a:endParaRPr lang="he-IL" sz="1850" dirty="0"/>
          </a:p>
        </p:txBody>
      </p:sp>
      <p:sp>
        <p:nvSpPr>
          <p:cNvPr id="15" name="Text 9"/>
          <p:cNvSpPr/>
          <p:nvPr/>
        </p:nvSpPr>
        <p:spPr>
          <a:xfrm>
            <a:off x="661475" y="4966196"/>
            <a:ext cx="629686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פותחים מסמך שמור – כל הנחיה שעבדה נכנסת פנימה. תוך חודש יש לכם ספריית עבודה משלכם.</a:t>
            </a:r>
            <a:endParaRPr lang="he-IL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967"/>
            <a:ext cx="10868745" cy="585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500" b="1" spc="-71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תרגול בית</a:t>
            </a:r>
            <a:endParaRPr lang="he-IL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1734" y="1491952"/>
            <a:ext cx="3508486" cy="22365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67980" y="1621631"/>
            <a:ext cx="21609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70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7211" y="2212479"/>
            <a:ext cx="3097532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50" b="1" spc="-35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בנו 5 הנחיות לבנק שלכם</a:t>
            </a:r>
            <a:endParaRPr lang="he-IL" sz="1750" dirty="0"/>
          </a:p>
        </p:txBody>
      </p:sp>
      <p:sp>
        <p:nvSpPr>
          <p:cNvPr id="6" name="Text 3"/>
          <p:cNvSpPr/>
          <p:nvPr/>
        </p:nvSpPr>
        <p:spPr>
          <a:xfrm>
            <a:off x="8227211" y="2608262"/>
            <a:ext cx="3097532" cy="914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אספו הנחיות שעובדות. הגדירו מראש איפה נשמר הבנק (Notion / Google Docs / תיקייה) — בלי מיקום קבוע, זה יישאר סיסמה.</a:t>
            </a:r>
            <a:endParaRPr lang="he-IL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1605" y="1491952"/>
            <a:ext cx="3508486" cy="22365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7851" y="1621631"/>
            <a:ext cx="21609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70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547082" y="2212479"/>
            <a:ext cx="3097532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50" b="1" spc="-35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אחת לפחות עם תפקיד</a:t>
            </a:r>
            <a:endParaRPr lang="he-IL" sz="1750" dirty="0"/>
          </a:p>
        </p:txBody>
      </p:sp>
      <p:sp>
        <p:nvSpPr>
          <p:cNvPr id="10" name="Text 6"/>
          <p:cNvSpPr/>
          <p:nvPr/>
        </p:nvSpPr>
        <p:spPr>
          <a:xfrm>
            <a:off x="4547082" y="2608262"/>
            <a:ext cx="3097532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בניסוח "אתה..." כדי לתת לכלי תפקיד ברור.</a:t>
            </a:r>
            <a:endParaRPr lang="he-IL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1491952"/>
            <a:ext cx="3508486" cy="223658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07721" y="1621631"/>
            <a:ext cx="21609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70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66952" y="2212479"/>
            <a:ext cx="3097532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50" b="1" spc="-35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הביאו את הטובה ביותר</a:t>
            </a:r>
            <a:endParaRPr lang="he-IL" sz="1750" dirty="0"/>
          </a:p>
        </p:txBody>
      </p:sp>
      <p:sp>
        <p:nvSpPr>
          <p:cNvPr id="14" name="Text 9"/>
          <p:cNvSpPr/>
          <p:nvPr/>
        </p:nvSpPr>
        <p:spPr>
          <a:xfrm>
            <a:off x="866952" y="2608262"/>
            <a:ext cx="3097532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למפגש הבא – שלושה מציגים ייבחרו להציג את ההנחיה הטובה ביותר שלהם.</a:t>
            </a:r>
            <a:endParaRPr lang="he-IL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900190"/>
            <a:ext cx="10868745" cy="155049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87851" y="4029869"/>
            <a:ext cx="21609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70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866952" y="4620716"/>
            <a:ext cx="10457792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50" b="1" spc="-35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הביאו גם כישלון אחד</a:t>
            </a:r>
            <a:endParaRPr lang="he-IL" sz="1750" dirty="0"/>
          </a:p>
        </p:txBody>
      </p:sp>
      <p:sp>
        <p:nvSpPr>
          <p:cNvPr id="18" name="Text 12"/>
          <p:cNvSpPr/>
          <p:nvPr/>
        </p:nvSpPr>
        <p:spPr>
          <a:xfrm>
            <a:off x="866952" y="5016500"/>
            <a:ext cx="10457792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 שניסיתם ועדיין לא עבדה. זה חומר הגלם הכי טוב למפגש הבא.</a:t>
            </a:r>
            <a:endParaRPr lang="he-IL" sz="1400" dirty="0"/>
          </a:p>
        </p:txBody>
      </p:sp>
      <p:sp>
        <p:nvSpPr>
          <p:cNvPr id="19" name="Shape 13"/>
          <p:cNvSpPr/>
          <p:nvPr/>
        </p:nvSpPr>
        <p:spPr>
          <a:xfrm>
            <a:off x="661475" y="5643860"/>
            <a:ext cx="10868745" cy="651073"/>
          </a:xfrm>
          <a:prstGeom prst="roundRect">
            <a:avLst>
              <a:gd name="adj" fmla="val 11622"/>
            </a:avLst>
          </a:prstGeom>
          <a:solidFill>
            <a:srgbClr val="002A80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552" y="5861546"/>
            <a:ext cx="225122" cy="18008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7167" y="5860455"/>
            <a:ext cx="10712976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נתראה במפגש הבא עם הנחיות מנצחות! </a:t>
            </a:r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🚀</a:t>
            </a:r>
            <a:endParaRPr lang="he-IL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2026-09-29T21:49:57Z</dcterms:created>
  <dcterms:modified xsi:type="dcterms:W3CDTF">2026-09-29T21:49:57Z</dcterms:modified>
</cp:coreProperties>
</file>